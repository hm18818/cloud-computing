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3"/>
    <p:sldId id="260" r:id="rId4"/>
    <p:sldId id="257" r:id="rId5"/>
    <p:sldId id="258" r:id="rId6"/>
    <p:sldId id="275" r:id="rId7"/>
    <p:sldId id="310" r:id="rId8"/>
    <p:sldId id="311" r:id="rId9"/>
    <p:sldId id="294" r:id="rId10"/>
    <p:sldId id="295" r:id="rId11"/>
    <p:sldId id="296" r:id="rId12"/>
    <p:sldId id="259" r:id="rId13"/>
    <p:sldId id="328" r:id="rId14"/>
    <p:sldId id="297" r:id="rId15"/>
    <p:sldId id="281" r:id="rId16"/>
    <p:sldId id="293" r:id="rId17"/>
    <p:sldId id="263" r:id="rId18"/>
    <p:sldId id="286" r:id="rId19"/>
    <p:sldId id="265" r:id="rId20"/>
    <p:sldId id="299" r:id="rId21"/>
    <p:sldId id="301" r:id="rId22"/>
    <p:sldId id="300" r:id="rId23"/>
    <p:sldId id="303" r:id="rId24"/>
    <p:sldId id="304"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6EA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1" autoAdjust="0"/>
    <p:restoredTop sz="94660"/>
  </p:normalViewPr>
  <p:slideViewPr>
    <p:cSldViewPr snapToGrid="0">
      <p:cViewPr varScale="1">
        <p:scale>
          <a:sx n="77" d="100"/>
          <a:sy n="77" d="100"/>
        </p:scale>
        <p:origin x="-114" y="-576"/>
      </p:cViewPr>
      <p:guideLst>
        <p:guide orient="horz" pos="2159"/>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DA5E15-EA7C-4AE6-A7FE-6EE8949B26F4}"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3C74D-DBCC-462F-80C9-23B653553D8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3C74D-DBCC-462F-80C9-23B653553D8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2229" y="365125"/>
            <a:ext cx="11684000" cy="1071789"/>
          </a:xfrm>
        </p:spPr>
        <p:txBody>
          <a:bodyPr/>
          <a:lstStyle>
            <a:lvl1pPr>
              <a:defRPr b="1">
                <a:solidFill>
                  <a:schemeClr val="bg1"/>
                </a:solidFill>
                <a:latin typeface="Candara" panose="020E0502030303020204" pitchFamily="34" charset="0"/>
              </a:defRPr>
            </a:lvl1pPr>
          </a:lstStyle>
          <a:p>
            <a:r>
              <a:rPr lang="en-US" dirty="0" smtClean="0"/>
              <a:t>Topic: </a:t>
            </a:r>
            <a:endParaRPr lang="en-US" dirty="0"/>
          </a:p>
        </p:txBody>
      </p:sp>
      <p:sp>
        <p:nvSpPr>
          <p:cNvPr id="3" name="Content Placeholder 2"/>
          <p:cNvSpPr>
            <a:spLocks noGrp="1"/>
          </p:cNvSpPr>
          <p:nvPr>
            <p:ph idx="1"/>
          </p:nvPr>
        </p:nvSpPr>
        <p:spPr>
          <a:xfrm>
            <a:off x="232229" y="1553029"/>
            <a:ext cx="11684000" cy="4623934"/>
          </a:xfrm>
        </p:spPr>
        <p:txBody>
          <a:bodyPr/>
          <a:lstStyle>
            <a:lvl1pPr>
              <a:defRPr>
                <a:solidFill>
                  <a:schemeClr val="tx1">
                    <a:lumMod val="85000"/>
                    <a:lumOff val="15000"/>
                  </a:schemeClr>
                </a:solidFill>
                <a:latin typeface="Candara" panose="020E0502030303020204" pitchFamily="34" charset="0"/>
              </a:defRPr>
            </a:lvl1pPr>
            <a:lvl2pPr>
              <a:defRPr>
                <a:solidFill>
                  <a:schemeClr val="tx1">
                    <a:lumMod val="85000"/>
                    <a:lumOff val="15000"/>
                  </a:schemeClr>
                </a:solidFill>
                <a:latin typeface="Candara" panose="020E0502030303020204" pitchFamily="34" charset="0"/>
              </a:defRPr>
            </a:lvl2pPr>
            <a:lvl3pPr>
              <a:defRPr>
                <a:solidFill>
                  <a:schemeClr val="tx1">
                    <a:lumMod val="85000"/>
                    <a:lumOff val="15000"/>
                  </a:schemeClr>
                </a:solidFill>
                <a:latin typeface="Candara" panose="020E0502030303020204" pitchFamily="34" charset="0"/>
              </a:defRPr>
            </a:lvl3pPr>
            <a:lvl4pPr>
              <a:defRPr>
                <a:solidFill>
                  <a:schemeClr val="tx1">
                    <a:lumMod val="85000"/>
                    <a:lumOff val="15000"/>
                  </a:schemeClr>
                </a:solidFill>
                <a:latin typeface="Candara" panose="020E0502030303020204" pitchFamily="34" charset="0"/>
              </a:defRPr>
            </a:lvl4pPr>
            <a:lvl5pPr>
              <a:defRPr>
                <a:solidFill>
                  <a:schemeClr val="tx1">
                    <a:lumMod val="85000"/>
                    <a:lumOff val="15000"/>
                  </a:schemeClr>
                </a:solidFill>
                <a:latin typeface="Candara" panose="020E0502030303020204" pitchFamily="34" charset="0"/>
              </a:defRPr>
            </a:lvl5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p:spPr>
        <p:txBody>
          <a:bodyPr anchor="b"/>
          <a:lstStyle>
            <a:lvl1pPr>
              <a:defRPr sz="6000" baseline="0"/>
            </a:lvl1pPr>
          </a:lstStyle>
          <a:p>
            <a:r>
              <a:rPr lang="en-US" dirty="0" smtClean="0"/>
              <a:t>Chapter name</a:t>
            </a:r>
            <a:endParaRPr lang="en-US" dirty="0"/>
          </a:p>
        </p:txBody>
      </p:sp>
      <p:sp>
        <p:nvSpPr>
          <p:cNvPr id="3" name="Text Placeholder 2"/>
          <p:cNvSpPr>
            <a:spLocks noGrp="1"/>
          </p:cNvSpPr>
          <p:nvPr>
            <p:ph type="body" idx="1" hasCustomPrompt="1"/>
          </p:nvPr>
        </p:nvSpPr>
        <p:spPr>
          <a:xfrm>
            <a:off x="831850" y="4589463"/>
            <a:ext cx="10515600" cy="1500187"/>
          </a:xfrm>
        </p:spPr>
        <p:txBody>
          <a:bodyPr>
            <a:normAutofit/>
          </a:bodyPr>
          <a:lstStyle>
            <a:lvl1pPr marL="0" indent="0">
              <a:buNone/>
              <a:defRPr sz="3600" baseline="0">
                <a:solidFill>
                  <a:schemeClr val="bg2">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smtClean="0"/>
              <a:t>Chapter no</a:t>
            </a:r>
            <a:endParaRPr lang="en-US" dirty="0" smtClean="0"/>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bg2">
                    <a:lumMod val="50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C3C95271-EAF6-4654-82A8-BE1747C448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C3C95271-EAF6-4654-82A8-BE1747C4483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C95271-EAF6-4654-82A8-BE1747C4483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C95271-EAF6-4654-82A8-BE1747C4483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68F581-6023-4562-B0C8-C7FA9B9410A5}" type="slidenum">
              <a:rPr lang="en-US" smtClean="0"/>
            </a:fld>
            <a:endParaRPr lang="en-US"/>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49597" y="890117"/>
            <a:ext cx="3604203" cy="4801691"/>
          </a:xfrm>
          <a:prstGeom prst="rect">
            <a:avLst/>
          </a:prstGeom>
          <a:ln w="3175">
            <a:solidFill>
              <a:schemeClr val="bg1">
                <a:lumMod val="75000"/>
              </a:schemeClr>
            </a:solidFill>
          </a:ln>
          <a:effectLst>
            <a:outerShdw blurRad="50800" dist="38100" dir="2700000" algn="tl" rotWithShape="0">
              <a:prstClr val="black">
                <a:alpha val="40000"/>
              </a:prstClr>
            </a:outerShdw>
          </a:effectLst>
        </p:spPr>
      </p:pic>
      <p:sp>
        <p:nvSpPr>
          <p:cNvPr id="6" name="TextBox 5"/>
          <p:cNvSpPr txBox="1"/>
          <p:nvPr userDrawn="1"/>
        </p:nvSpPr>
        <p:spPr>
          <a:xfrm>
            <a:off x="1524000" y="2191658"/>
            <a:ext cx="5602514" cy="3970318"/>
          </a:xfrm>
          <a:prstGeom prst="rect">
            <a:avLst/>
          </a:prstGeom>
          <a:noFill/>
        </p:spPr>
        <p:txBody>
          <a:bodyPr wrap="square" rtlCol="0">
            <a:spAutoFit/>
          </a:bodyPr>
          <a:lstStyle/>
          <a:p>
            <a:pPr algn="r"/>
            <a:r>
              <a:rPr lang="en-US" sz="7200" b="1" dirty="0" smtClean="0">
                <a:solidFill>
                  <a:schemeClr val="bg1"/>
                </a:solidFill>
                <a:latin typeface="Candara" panose="020E0502030303020204" pitchFamily="34" charset="0"/>
              </a:rPr>
              <a:t>CLOUD COMPUTING</a:t>
            </a:r>
            <a:endParaRPr lang="en-US" sz="7200" b="1" dirty="0" smtClean="0">
              <a:solidFill>
                <a:schemeClr val="bg1"/>
              </a:solidFill>
              <a:latin typeface="Candara" panose="020E0502030303020204" pitchFamily="34" charset="0"/>
            </a:endParaRPr>
          </a:p>
          <a:p>
            <a:endParaRPr lang="en-US" dirty="0" smtClean="0"/>
          </a:p>
          <a:p>
            <a:pPr algn="ctr"/>
            <a:r>
              <a:rPr lang="en-US" b="1" dirty="0" err="1" smtClean="0">
                <a:solidFill>
                  <a:schemeClr val="tx1">
                    <a:lumMod val="85000"/>
                    <a:lumOff val="15000"/>
                  </a:schemeClr>
                </a:solidFill>
              </a:rPr>
              <a:t>Shailendra</a:t>
            </a:r>
            <a:r>
              <a:rPr lang="en-US" b="1" dirty="0" smtClean="0">
                <a:solidFill>
                  <a:schemeClr val="tx1">
                    <a:lumMod val="85000"/>
                    <a:lumOff val="15000"/>
                  </a:schemeClr>
                </a:solidFill>
              </a:rPr>
              <a:t> Singh</a:t>
            </a:r>
            <a:endParaRPr lang="en-US" b="1" dirty="0" smtClean="0">
              <a:solidFill>
                <a:schemeClr val="tx1">
                  <a:lumMod val="85000"/>
                  <a:lumOff val="15000"/>
                </a:schemeClr>
              </a:solidFill>
            </a:endParaRPr>
          </a:p>
          <a:p>
            <a:pPr algn="ctr"/>
            <a:r>
              <a:rPr lang="en-US" b="1" dirty="0" smtClean="0">
                <a:solidFill>
                  <a:schemeClr val="tx1">
                    <a:lumMod val="85000"/>
                    <a:lumOff val="15000"/>
                  </a:schemeClr>
                </a:solidFill>
              </a:rPr>
              <a:t>Professor</a:t>
            </a:r>
            <a:endParaRPr lang="en-US" b="1" dirty="0" smtClean="0">
              <a:solidFill>
                <a:schemeClr val="tx1">
                  <a:lumMod val="85000"/>
                  <a:lumOff val="15000"/>
                </a:schemeClr>
              </a:solidFill>
            </a:endParaRPr>
          </a:p>
          <a:p>
            <a:pPr algn="ctr"/>
            <a:r>
              <a:rPr lang="en-US" b="1" dirty="0" smtClean="0">
                <a:solidFill>
                  <a:schemeClr val="tx1">
                    <a:lumMod val="85000"/>
                    <a:lumOff val="15000"/>
                  </a:schemeClr>
                </a:solidFill>
              </a:rPr>
              <a:t>Department of Computer Science &amp; Engineering</a:t>
            </a:r>
            <a:endParaRPr lang="en-US" b="1" dirty="0" smtClean="0">
              <a:solidFill>
                <a:schemeClr val="tx1">
                  <a:lumMod val="85000"/>
                  <a:lumOff val="15000"/>
                </a:schemeClr>
              </a:solidFill>
            </a:endParaRPr>
          </a:p>
          <a:p>
            <a:pPr algn="ctr"/>
            <a:r>
              <a:rPr lang="en-US" b="1" dirty="0" smtClean="0">
                <a:solidFill>
                  <a:schemeClr val="tx1">
                    <a:lumMod val="85000"/>
                    <a:lumOff val="15000"/>
                  </a:schemeClr>
                </a:solidFill>
              </a:rPr>
              <a:t>NITTTR, Bhopal</a:t>
            </a:r>
            <a:endParaRPr lang="en-US" b="1" dirty="0" smtClean="0">
              <a:solidFill>
                <a:schemeClr val="tx1">
                  <a:lumMod val="85000"/>
                  <a:lumOff val="15000"/>
                </a:schemeClr>
              </a:solidFill>
            </a:endParaRPr>
          </a:p>
          <a:p>
            <a:pPr algn="ctr"/>
            <a:endParaRPr lang="en-US" dirty="0">
              <a:solidFill>
                <a:schemeClr val="tx1">
                  <a:lumMod val="85000"/>
                  <a:lumOff val="15000"/>
                </a:schemeClr>
              </a:solidFill>
            </a:endParaRPr>
          </a:p>
        </p:txBody>
      </p:sp>
      <p:cxnSp>
        <p:nvCxnSpPr>
          <p:cNvPr id="8" name="Straight Connector 7"/>
          <p:cNvCxnSpPr/>
          <p:nvPr userDrawn="1"/>
        </p:nvCxnSpPr>
        <p:spPr>
          <a:xfrm>
            <a:off x="2046514" y="4455887"/>
            <a:ext cx="544285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stretch>
            <a:fillRect/>
          </a:stretch>
        </p:blipFill>
        <p:spPr>
          <a:xfrm>
            <a:off x="612850" y="352793"/>
            <a:ext cx="2054530" cy="107298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3C95271-EAF6-4654-82A8-BE1747C448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3C95271-EAF6-4654-82A8-BE1747C448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4000">
              <a:srgbClr val="A1AED2"/>
            </a:gs>
            <a:gs pos="0">
              <a:srgbClr val="566EAE"/>
            </a:gs>
            <a:gs pos="100000">
              <a:srgbClr val="FFFFFF"/>
            </a:gs>
          </a:gsLst>
          <a:lin ang="78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95271-EAF6-4654-82A8-BE1747C4483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8F581-6023-4562-B0C8-C7FA9B9410A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microsoft.com/office/2007/relationships/media" Target="file:///C:\Users\KIIT01\Desktop\Grid%20Computing.mp4" TargetMode="External"/><Relationship Id="rId1" Type="http://schemas.openxmlformats.org/officeDocument/2006/relationships/video" Target="file:///C:\Users\KIIT01\Desktop\Grid%20Computing.mp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Calibri" panose="020F0502020204030204" pitchFamily="34" charset="0"/>
              </a:rPr>
              <a:t>Chapter 3</a:t>
            </a:r>
            <a:endParaRPr lang="en-US" b="1" dirty="0">
              <a:latin typeface="Calibri" panose="020F0502020204030204" pitchFamily="34" charset="0"/>
            </a:endParaRPr>
          </a:p>
        </p:txBody>
      </p:sp>
      <p:sp>
        <p:nvSpPr>
          <p:cNvPr id="3" name="Text Placeholder 2"/>
          <p:cNvSpPr>
            <a:spLocks noGrp="1"/>
          </p:cNvSpPr>
          <p:nvPr>
            <p:ph type="body" idx="1"/>
          </p:nvPr>
        </p:nvSpPr>
        <p:spPr/>
        <p:txBody>
          <a:bodyPr/>
          <a:lstStyle/>
          <a:p>
            <a:r>
              <a:rPr lang="en-US" b="1" dirty="0" smtClean="0">
                <a:solidFill>
                  <a:schemeClr val="tx1"/>
                </a:solidFill>
                <a:latin typeface="Calibri" panose="020F0502020204030204" pitchFamily="34" charset="0"/>
              </a:rPr>
              <a:t>Cloud Computing Architecture</a:t>
            </a:r>
            <a:endParaRPr lang="en-US" b="1" dirty="0">
              <a:solidFill>
                <a:schemeClr val="tx1"/>
              </a:solidFill>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rgbClr val="A1AED2"/>
            </a:gs>
            <a:gs pos="0">
              <a:srgbClr val="566EAE"/>
            </a:gs>
            <a:gs pos="100000">
              <a:srgbClr val="FFFFFF"/>
            </a:gs>
          </a:gsLst>
          <a:lin ang="7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Learning Outcomes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p:txBody>
          <a:bodyPr>
            <a:normAutofit/>
          </a:bodyPr>
          <a:lstStyle/>
          <a:p>
            <a:pPr marL="0" indent="0">
              <a:buNone/>
            </a:pPr>
            <a:endParaRPr lang="en-US" dirty="0">
              <a:latin typeface="+mn-lt"/>
            </a:endParaRPr>
          </a:p>
          <a:p>
            <a:pPr marL="0" indent="0">
              <a:buNone/>
            </a:pPr>
            <a:r>
              <a:rPr lang="en-US" b="1" dirty="0">
                <a:solidFill>
                  <a:srgbClr val="FFFF00"/>
                </a:solidFill>
                <a:latin typeface="Calibri" panose="020F0502020204030204" pitchFamily="34" charset="0"/>
              </a:rPr>
              <a:t>At the end of the session you will be able to:</a:t>
            </a:r>
            <a:r>
              <a:rPr lang="en-US" dirty="0">
                <a:solidFill>
                  <a:schemeClr val="tx1"/>
                </a:solidFill>
                <a:latin typeface="Calibri" panose="020F0502020204030204" pitchFamily="34" charset="0"/>
              </a:rPr>
              <a:t> </a:t>
            </a:r>
            <a:endParaRPr lang="en-US" dirty="0">
              <a:solidFill>
                <a:schemeClr val="tx1"/>
              </a:solidFill>
              <a:latin typeface="Calibri" panose="020F0502020204030204" pitchFamily="34" charset="0"/>
            </a:endParaRPr>
          </a:p>
          <a:p>
            <a:r>
              <a:rPr lang="en-US" dirty="0" smtClean="0">
                <a:latin typeface="+mn-lt"/>
              </a:rPr>
              <a:t>Comprehend </a:t>
            </a:r>
            <a:r>
              <a:rPr lang="en-US" dirty="0">
                <a:latin typeface="+mn-lt"/>
              </a:rPr>
              <a:t>characteristics of cloud computing</a:t>
            </a:r>
            <a:endParaRPr lang="en-US" dirty="0">
              <a:latin typeface="+mn-lt"/>
            </a:endParaRPr>
          </a:p>
          <a:p>
            <a:r>
              <a:rPr lang="en-US" dirty="0">
                <a:latin typeface="+mn-lt"/>
              </a:rPr>
              <a:t> </a:t>
            </a:r>
            <a:r>
              <a:rPr lang="en-US" dirty="0" smtClean="0">
                <a:latin typeface="+mn-lt"/>
              </a:rPr>
              <a:t>Define </a:t>
            </a:r>
            <a:r>
              <a:rPr lang="en-US" dirty="0">
                <a:latin typeface="+mn-lt"/>
              </a:rPr>
              <a:t>grid computing</a:t>
            </a:r>
            <a:endParaRPr lang="en-US" dirty="0">
              <a:latin typeface="+mn-lt"/>
            </a:endParaRPr>
          </a:p>
          <a:p>
            <a:r>
              <a:rPr lang="en-US" dirty="0">
                <a:latin typeface="+mn-lt"/>
              </a:rPr>
              <a:t> </a:t>
            </a:r>
            <a:r>
              <a:rPr lang="en-US" dirty="0" smtClean="0">
                <a:latin typeface="+mn-lt"/>
              </a:rPr>
              <a:t>Explain </a:t>
            </a:r>
            <a:r>
              <a:rPr lang="en-US" dirty="0">
                <a:latin typeface="+mn-lt"/>
              </a:rPr>
              <a:t>important features of cloud and grid computing</a:t>
            </a:r>
            <a:endParaRPr lang="en-US" dirty="0">
              <a:latin typeface="+mn-lt"/>
            </a:endParaRPr>
          </a:p>
          <a:p>
            <a:r>
              <a:rPr lang="en-US" dirty="0">
                <a:latin typeface="+mn-lt"/>
              </a:rPr>
              <a:t> </a:t>
            </a:r>
            <a:r>
              <a:rPr lang="en-US" dirty="0" smtClean="0">
                <a:latin typeface="+mn-lt"/>
              </a:rPr>
              <a:t>Describe </a:t>
            </a:r>
            <a:r>
              <a:rPr lang="en-US" dirty="0">
                <a:latin typeface="+mn-lt"/>
              </a:rPr>
              <a:t>grid architecture and cloud </a:t>
            </a:r>
            <a:r>
              <a:rPr lang="en-US" dirty="0" smtClean="0">
                <a:latin typeface="+mn-lt"/>
              </a:rPr>
              <a:t>computing architecture</a:t>
            </a:r>
            <a:endParaRPr lang="en-US" dirty="0">
              <a:latin typeface="+mn-lt"/>
            </a:endParaRPr>
          </a:p>
          <a:p>
            <a:r>
              <a:rPr lang="en-US" dirty="0">
                <a:latin typeface="+mn-lt"/>
              </a:rPr>
              <a:t> </a:t>
            </a:r>
            <a:r>
              <a:rPr lang="en-US" dirty="0" smtClean="0">
                <a:latin typeface="+mn-lt"/>
              </a:rPr>
              <a:t>Differentiate </a:t>
            </a:r>
            <a:r>
              <a:rPr lang="en-US" dirty="0">
                <a:latin typeface="+mn-lt"/>
              </a:rPr>
              <a:t>between grid and cloud computing</a:t>
            </a:r>
            <a:endParaRPr lang="en-US" dirty="0">
              <a:latin typeface="+mn-lt"/>
            </a:endParaRPr>
          </a:p>
          <a:p>
            <a:endParaRPr lang="en-US" dirty="0">
              <a:solidFill>
                <a:schemeClr val="tx1"/>
              </a:solidFill>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9"/>
            <a:ext cx="11684000" cy="4432992"/>
          </a:xfrm>
        </p:spPr>
        <p:txBody>
          <a:bodyPr>
            <a:normAutofit/>
          </a:bodyPr>
          <a:lstStyle/>
          <a:p>
            <a:endParaRPr lang="en-US" dirty="0" smtClean="0">
              <a:latin typeface="Calibri" panose="020F0502020204030204" pitchFamily="34" charset="0"/>
            </a:endParaRPr>
          </a:p>
          <a:p>
            <a:r>
              <a:rPr lang="en-US" dirty="0" smtClean="0">
                <a:latin typeface="Calibri" panose="020F0502020204030204" pitchFamily="34" charset="0"/>
              </a:rPr>
              <a:t>Grid </a:t>
            </a:r>
            <a:r>
              <a:rPr lang="en-US" dirty="0">
                <a:latin typeface="Calibri" panose="020F0502020204030204" pitchFamily="34" charset="0"/>
              </a:rPr>
              <a:t>computing is the integration of computer resources for achieving similar objective</a:t>
            </a:r>
            <a:r>
              <a:rPr lang="en-US" dirty="0" smtClean="0">
                <a:latin typeface="Calibri" panose="020F0502020204030204" pitchFamily="34" charset="0"/>
              </a:rPr>
              <a:t>.</a:t>
            </a:r>
            <a:endParaRPr lang="en-US" dirty="0">
              <a:latin typeface="Calibri" panose="020F0502020204030204" pitchFamily="34" charset="0"/>
            </a:endParaRPr>
          </a:p>
          <a:p>
            <a:r>
              <a:rPr lang="en-US" dirty="0">
                <a:latin typeface="Calibri" panose="020F0502020204030204" pitchFamily="34" charset="0"/>
              </a:rPr>
              <a:t>The grid </a:t>
            </a:r>
            <a:r>
              <a:rPr lang="en-US" dirty="0" smtClean="0">
                <a:latin typeface="Calibri" panose="020F0502020204030204" pitchFamily="34" charset="0"/>
              </a:rPr>
              <a:t>may be </a:t>
            </a:r>
            <a:r>
              <a:rPr lang="en-US" dirty="0">
                <a:latin typeface="Calibri" panose="020F0502020204030204" pitchFamily="34" charset="0"/>
              </a:rPr>
              <a:t>a dispersed system along with non-interactive workloads which comprise a huge number of files</a:t>
            </a:r>
            <a:r>
              <a:rPr lang="en-US" dirty="0" smtClean="0">
                <a:latin typeface="Calibri" panose="020F0502020204030204" pitchFamily="34" charset="0"/>
              </a:rPr>
              <a:t>.</a:t>
            </a:r>
            <a:endParaRPr lang="en-US" dirty="0">
              <a:latin typeface="Calibri" panose="020F0502020204030204" pitchFamily="34" charset="0"/>
            </a:endParaRPr>
          </a:p>
          <a:p>
            <a:r>
              <a:rPr lang="en-US" dirty="0">
                <a:latin typeface="Calibri" panose="020F0502020204030204" pitchFamily="34" charset="0"/>
              </a:rPr>
              <a:t>Grids are frequently created with middleware software libraries of a common grid</a:t>
            </a:r>
            <a:r>
              <a:rPr lang="en-US" dirty="0" smtClean="0">
                <a:latin typeface="Calibri" panose="020F0502020204030204" pitchFamily="34" charset="0"/>
              </a:rPr>
              <a:t>.</a:t>
            </a:r>
            <a:endParaRPr lang="en-US" dirty="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Introduction</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smtClean="0">
              <a:latin typeface="+mn-lt"/>
            </a:endParaRPr>
          </a:p>
          <a:p>
            <a:r>
              <a:rPr lang="en-US" dirty="0" smtClean="0">
                <a:latin typeface="+mn-lt"/>
              </a:rPr>
              <a:t>Grids </a:t>
            </a:r>
            <a:r>
              <a:rPr lang="en-US" dirty="0">
                <a:latin typeface="+mn-lt"/>
              </a:rPr>
              <a:t>are a type of dispersed computing system, whereas a virtualized super computer is made </a:t>
            </a:r>
            <a:r>
              <a:rPr lang="en-US" dirty="0" smtClean="0">
                <a:latin typeface="+mn-lt"/>
              </a:rPr>
              <a:t>from various networked.</a:t>
            </a:r>
            <a:endParaRPr lang="en-US" dirty="0" smtClean="0">
              <a:latin typeface="+mn-lt"/>
            </a:endParaRPr>
          </a:p>
          <a:p>
            <a:r>
              <a:rPr lang="en-US" dirty="0">
                <a:latin typeface="+mn-lt"/>
              </a:rPr>
              <a:t>Grids focus on two different but associated objectives—supplying isolated access to </a:t>
            </a:r>
            <a:r>
              <a:rPr lang="en-US" dirty="0" smtClean="0">
                <a:latin typeface="+mn-lt"/>
              </a:rPr>
              <a:t>IT resources </a:t>
            </a:r>
            <a:r>
              <a:rPr lang="en-US" dirty="0">
                <a:latin typeface="+mn-lt"/>
              </a:rPr>
              <a:t>and building up processing control</a:t>
            </a:r>
            <a:r>
              <a:rPr lang="en-US" dirty="0" smtClean="0">
                <a:latin typeface="+mn-lt"/>
              </a:rPr>
              <a:t>.</a:t>
            </a:r>
            <a:endParaRPr lang="en-US" dirty="0" smtClean="0">
              <a:latin typeface="+mn-lt"/>
            </a:endParaRPr>
          </a:p>
          <a:p>
            <a:r>
              <a:rPr lang="en-US" dirty="0">
                <a:latin typeface="+mn-lt"/>
              </a:rPr>
              <a:t>The grid is a technology which controls two factors—allocation and trust</a:t>
            </a:r>
            <a:r>
              <a:rPr lang="en-US" dirty="0" smtClean="0">
                <a:latin typeface="+mn-lt"/>
              </a:rPr>
              <a:t>.</a:t>
            </a:r>
            <a:endParaRPr lang="en-US" dirty="0" smtClean="0">
              <a:latin typeface="+mn-lt"/>
            </a:endParaRPr>
          </a:p>
          <a:p>
            <a:r>
              <a:rPr lang="en-US" dirty="0">
                <a:latin typeface="+mn-lt"/>
              </a:rPr>
              <a:t>Grid computing is a versatile technology which has its base in e-science and has progressed </a:t>
            </a:r>
            <a:r>
              <a:rPr lang="en-US" dirty="0" smtClean="0">
                <a:latin typeface="+mn-lt"/>
              </a:rPr>
              <a:t>from previous </a:t>
            </a:r>
            <a:r>
              <a:rPr lang="en-US" dirty="0">
                <a:latin typeface="+mn-lt"/>
              </a:rPr>
              <a:t>expansions in parallel and high-performance computing (HPC).</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mn-lt"/>
              </a:rPr>
              <a:t>Grid Framework</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Grid Computing</a:t>
            </a:r>
            <a:endParaRPr lang="en-US"/>
          </a:p>
        </p:txBody>
      </p:sp>
      <p:pic>
        <p:nvPicPr>
          <p:cNvPr id="101" name="Content Placeholder 100"/>
          <p:cNvPicPr/>
          <p:nvPr>
            <p:ph idx="1"/>
          </p:nvPr>
        </p:nvPicPr>
        <p:blipFill>
          <a:blip r:embed="rId1"/>
          <a:stretch>
            <a:fillRect/>
          </a:stretch>
        </p:blipFill>
        <p:spPr>
          <a:xfrm>
            <a:off x="232410" y="1553210"/>
            <a:ext cx="11684000" cy="462407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Grid Computing</a:t>
            </a:r>
            <a:endParaRPr lang="en-US"/>
          </a:p>
        </p:txBody>
      </p:sp>
      <p:pic>
        <p:nvPicPr>
          <p:cNvPr id="5" name="Grid Computing">
            <a:hlinkClick r:id="" action="ppaction://media"/>
          </p:cNvPr>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544830" y="1604010"/>
            <a:ext cx="10638155" cy="412305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5"/>
                </p:tgtEl>
              </p:cMediaNode>
            </p:video>
            <p:seq concurrent="1" nextAc="seek">
              <p:cTn id="3" restart="whenNotActive" fill="hold" evtFilter="cancelBubble" nodeType="interactiveSeq">
                <p:stCondLst>
                  <p:cond evt="onClick" delay="0">
                    <p:tgtEl>
                      <p:spTgt spid="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US" dirty="0" smtClean="0">
              <a:latin typeface="+mn-lt"/>
            </a:endParaRPr>
          </a:p>
          <a:p>
            <a:pPr marL="0" indent="0">
              <a:buNone/>
            </a:pPr>
            <a:r>
              <a:rPr lang="en-US" b="1" dirty="0" smtClean="0">
                <a:solidFill>
                  <a:srgbClr val="FFFF00"/>
                </a:solidFill>
                <a:latin typeface="+mn-lt"/>
              </a:rPr>
              <a:t>The </a:t>
            </a:r>
            <a:r>
              <a:rPr lang="en-US" b="1" dirty="0">
                <a:solidFill>
                  <a:srgbClr val="FFFF00"/>
                </a:solidFill>
                <a:latin typeface="+mn-lt"/>
              </a:rPr>
              <a:t>main resources that can be shared in a grid are:</a:t>
            </a:r>
            <a:endParaRPr lang="en-US" b="1" dirty="0">
              <a:solidFill>
                <a:srgbClr val="FFFF00"/>
              </a:solidFill>
              <a:latin typeface="+mn-lt"/>
            </a:endParaRPr>
          </a:p>
          <a:p>
            <a:pPr marL="0" indent="0">
              <a:buNone/>
            </a:pPr>
            <a:r>
              <a:rPr lang="en-US" dirty="0">
                <a:latin typeface="+mn-lt"/>
              </a:rPr>
              <a:t>1. Processing and computing power</a:t>
            </a:r>
            <a:endParaRPr lang="en-US" dirty="0">
              <a:latin typeface="+mn-lt"/>
            </a:endParaRPr>
          </a:p>
          <a:p>
            <a:pPr marL="0" indent="0">
              <a:buNone/>
            </a:pPr>
            <a:r>
              <a:rPr lang="en-US" dirty="0">
                <a:latin typeface="+mn-lt"/>
              </a:rPr>
              <a:t>2. Networked file and data storage systems</a:t>
            </a:r>
            <a:endParaRPr lang="en-US" dirty="0">
              <a:latin typeface="+mn-lt"/>
            </a:endParaRPr>
          </a:p>
          <a:p>
            <a:pPr marL="0" indent="0">
              <a:buNone/>
            </a:pPr>
            <a:r>
              <a:rPr lang="en-US" dirty="0">
                <a:latin typeface="+mn-lt"/>
              </a:rPr>
              <a:t>3. Bandwidth and communications</a:t>
            </a:r>
            <a:endParaRPr lang="en-US" dirty="0">
              <a:latin typeface="+mn-lt"/>
            </a:endParaRPr>
          </a:p>
          <a:p>
            <a:pPr marL="0" indent="0">
              <a:buNone/>
            </a:pPr>
            <a:r>
              <a:rPr lang="en-US" dirty="0">
                <a:latin typeface="+mn-lt"/>
              </a:rPr>
              <a:t>4. Application software</a:t>
            </a:r>
            <a:endParaRPr lang="en-US" dirty="0">
              <a:latin typeface="+mn-lt"/>
            </a:endParaRPr>
          </a:p>
          <a:p>
            <a:pPr marL="0" indent="0">
              <a:buNone/>
            </a:pPr>
            <a:r>
              <a:rPr lang="en-US" dirty="0">
                <a:latin typeface="+mn-lt"/>
              </a:rPr>
              <a:t>5. Tools used for scientific </a:t>
            </a:r>
            <a:r>
              <a:rPr lang="en-US" dirty="0" smtClean="0">
                <a:latin typeface="+mn-lt"/>
              </a:rPr>
              <a:t>purpose</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mn-lt"/>
              </a:rPr>
              <a:t>Grid Framework</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4913759"/>
          </a:xfrm>
        </p:spPr>
        <p:txBody>
          <a:bodyPr>
            <a:normAutofit/>
          </a:bodyPr>
          <a:lstStyle/>
          <a:p>
            <a:pPr marL="0" indent="0">
              <a:buNone/>
            </a:pPr>
            <a:endParaRPr lang="en-US" dirty="0" smtClean="0">
              <a:latin typeface="+mn-lt"/>
            </a:endParaRPr>
          </a:p>
          <a:p>
            <a:pPr marL="0" indent="0">
              <a:buNone/>
            </a:pPr>
            <a:r>
              <a:rPr lang="en-US" dirty="0" smtClean="0">
                <a:latin typeface="+mn-lt"/>
              </a:rPr>
              <a:t>The </a:t>
            </a:r>
            <a:r>
              <a:rPr lang="en-US" dirty="0">
                <a:latin typeface="+mn-lt"/>
              </a:rPr>
              <a:t>distinct definitions for grid and grid computing are:</a:t>
            </a:r>
            <a:endParaRPr lang="en-US" dirty="0">
              <a:latin typeface="+mn-lt"/>
            </a:endParaRPr>
          </a:p>
          <a:p>
            <a:r>
              <a:rPr lang="en-US" b="1" dirty="0">
                <a:solidFill>
                  <a:srgbClr val="FFFF00"/>
                </a:solidFill>
                <a:latin typeface="+mn-lt"/>
              </a:rPr>
              <a:t>Grid </a:t>
            </a:r>
            <a:r>
              <a:rPr lang="en-US" b="1" dirty="0" smtClean="0">
                <a:solidFill>
                  <a:srgbClr val="FFFF00"/>
                </a:solidFill>
                <a:latin typeface="+mn-lt"/>
              </a:rPr>
              <a:t>middleware </a:t>
            </a:r>
            <a:r>
              <a:rPr lang="en-US" dirty="0">
                <a:latin typeface="+mn-lt"/>
              </a:rPr>
              <a:t>is exclusive software that offers the essential functionality needed to </a:t>
            </a:r>
            <a:r>
              <a:rPr lang="en-US" dirty="0" smtClean="0">
                <a:latin typeface="+mn-lt"/>
              </a:rPr>
              <a:t>facilitate sharing </a:t>
            </a:r>
            <a:r>
              <a:rPr lang="en-US" dirty="0">
                <a:latin typeface="+mn-lt"/>
              </a:rPr>
              <a:t>of various resources and setting up of virtual businesses. Grid middleware is exclusive </a:t>
            </a:r>
            <a:r>
              <a:rPr lang="en-US" dirty="0" smtClean="0">
                <a:latin typeface="+mn-lt"/>
              </a:rPr>
              <a:t>software that </a:t>
            </a:r>
            <a:r>
              <a:rPr lang="en-US" dirty="0">
                <a:latin typeface="+mn-lt"/>
              </a:rPr>
              <a:t>is incorporated into the infrastructure of the concerned corporation. Grid middleware offers a </a:t>
            </a:r>
            <a:r>
              <a:rPr lang="en-US" dirty="0" smtClean="0">
                <a:latin typeface="+mn-lt"/>
              </a:rPr>
              <a:t>unique virtualization </a:t>
            </a:r>
            <a:r>
              <a:rPr lang="en-US" dirty="0">
                <a:latin typeface="+mn-lt"/>
              </a:rPr>
              <a:t>and sharing layer which is positioned among the various infrastructures and the </a:t>
            </a:r>
            <a:r>
              <a:rPr lang="en-US" dirty="0" smtClean="0">
                <a:latin typeface="+mn-lt"/>
              </a:rPr>
              <a:t>particular user </a:t>
            </a:r>
            <a:r>
              <a:rPr lang="en-US" dirty="0">
                <a:latin typeface="+mn-lt"/>
              </a:rPr>
              <a:t>applications using it</a:t>
            </a:r>
            <a:r>
              <a:rPr lang="en-US" dirty="0" smtClean="0">
                <a:latin typeface="+mn-lt"/>
              </a:rPr>
              <a:t>.</a:t>
            </a:r>
            <a:endParaRPr lang="en-US" dirty="0">
              <a:latin typeface="+mn-lt"/>
            </a:endParaRPr>
          </a:p>
          <a:p>
            <a:r>
              <a:rPr lang="en-US" b="1" dirty="0">
                <a:solidFill>
                  <a:srgbClr val="FFFF00"/>
                </a:solidFill>
                <a:latin typeface="+mn-lt"/>
              </a:rPr>
              <a:t>Grid computing </a:t>
            </a:r>
            <a:r>
              <a:rPr lang="en-US" dirty="0">
                <a:latin typeface="+mn-lt"/>
              </a:rPr>
              <a:t>is fundamentally the installed Grid middleware or the computing permitted by </a:t>
            </a:r>
            <a:r>
              <a:rPr lang="en-US" dirty="0" smtClean="0">
                <a:latin typeface="+mn-lt"/>
              </a:rPr>
              <a:t>grid middleware </a:t>
            </a:r>
            <a:r>
              <a:rPr lang="en-US" dirty="0">
                <a:latin typeface="+mn-lt"/>
              </a:rPr>
              <a:t>based on synchronized, safe, flexible resource sharing among a collection of </a:t>
            </a:r>
            <a:r>
              <a:rPr lang="en-US" dirty="0" smtClean="0">
                <a:latin typeface="+mn-lt"/>
              </a:rPr>
              <a:t>resources, people</a:t>
            </a:r>
            <a:r>
              <a:rPr lang="en-US" dirty="0">
                <a:latin typeface="+mn-lt"/>
              </a:rPr>
              <a:t>, and organizations</a:t>
            </a:r>
            <a:r>
              <a:rPr lang="en-US" dirty="0" smtClean="0">
                <a:latin typeface="+mn-lt"/>
              </a:rPr>
              <a:t>.</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mn-lt"/>
              </a:rPr>
              <a:t>Grid Framework</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b="1" dirty="0" smtClean="0">
              <a:latin typeface="+mn-lt"/>
            </a:endParaRPr>
          </a:p>
          <a:p>
            <a:r>
              <a:rPr lang="en-US" b="1" dirty="0" smtClean="0">
                <a:solidFill>
                  <a:srgbClr val="FFFF00"/>
                </a:solidFill>
                <a:latin typeface="+mn-lt"/>
              </a:rPr>
              <a:t>Grid </a:t>
            </a:r>
            <a:r>
              <a:rPr lang="en-US" b="1" dirty="0">
                <a:solidFill>
                  <a:srgbClr val="FFFF00"/>
                </a:solidFill>
                <a:latin typeface="+mn-lt"/>
              </a:rPr>
              <a:t>infrastructure </a:t>
            </a:r>
            <a:r>
              <a:rPr lang="en-US" dirty="0">
                <a:latin typeface="+mn-lt"/>
              </a:rPr>
              <a:t>refers to the union of grid middleware and hardware which converts </a:t>
            </a:r>
            <a:r>
              <a:rPr lang="en-US" dirty="0" smtClean="0">
                <a:latin typeface="+mn-lt"/>
              </a:rPr>
              <a:t>single portions </a:t>
            </a:r>
            <a:r>
              <a:rPr lang="en-US" dirty="0">
                <a:latin typeface="+mn-lt"/>
              </a:rPr>
              <a:t>of data resources and hardware into an incorporated virtualized infrastructure that is </a:t>
            </a:r>
            <a:r>
              <a:rPr lang="en-US" dirty="0" smtClean="0">
                <a:latin typeface="+mn-lt"/>
              </a:rPr>
              <a:t>displayed to </a:t>
            </a:r>
            <a:r>
              <a:rPr lang="en-US" dirty="0">
                <a:latin typeface="+mn-lt"/>
              </a:rPr>
              <a:t>the user as the only </a:t>
            </a:r>
            <a:r>
              <a:rPr lang="en-US" dirty="0" smtClean="0">
                <a:latin typeface="+mn-lt"/>
              </a:rPr>
              <a:t>computer in spite of heterogeneity of the fundamental infrastructure</a:t>
            </a:r>
            <a:r>
              <a:rPr lang="en-US" dirty="0" smtClean="0">
                <a:latin typeface="+mn-lt"/>
              </a:rPr>
              <a:t>.</a:t>
            </a:r>
            <a:endParaRPr lang="en-US" dirty="0" smtClean="0">
              <a:latin typeface="+mn-lt"/>
            </a:endParaRPr>
          </a:p>
          <a:p>
            <a:r>
              <a:rPr lang="en-US" b="1" dirty="0">
                <a:solidFill>
                  <a:srgbClr val="FFFF00"/>
                </a:solidFill>
                <a:latin typeface="+mn-lt"/>
              </a:rPr>
              <a:t>Utility computing </a:t>
            </a:r>
            <a:r>
              <a:rPr lang="en-US" dirty="0">
                <a:latin typeface="+mn-lt"/>
              </a:rPr>
              <a:t>is a type of computing that provides customized applications of grid and computing as a service. It is based on pay-as-per-utilization business modules.</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mn-lt"/>
              </a:rPr>
              <a:t>Grid Framework</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410" y="1553210"/>
            <a:ext cx="7220585" cy="4800600"/>
          </a:xfrm>
        </p:spPr>
        <p:txBody>
          <a:bodyPr>
            <a:normAutofit lnSpcReduction="20000"/>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The </a:t>
            </a:r>
            <a:r>
              <a:rPr lang="en-US" dirty="0">
                <a:latin typeface="+mn-lt"/>
              </a:rPr>
              <a:t>grid design offers an outline of the grid constituents, describes the objective and operations of </a:t>
            </a:r>
            <a:r>
              <a:rPr lang="en-US" dirty="0" smtClean="0">
                <a:latin typeface="+mn-lt"/>
              </a:rPr>
              <a:t>its constituents</a:t>
            </a:r>
            <a:r>
              <a:rPr lang="en-US" dirty="0">
                <a:latin typeface="+mn-lt"/>
              </a:rPr>
              <a:t>, and shows how the constituents interrelate </a:t>
            </a:r>
            <a:r>
              <a:rPr lang="en-US" dirty="0" smtClean="0">
                <a:latin typeface="+mn-lt"/>
              </a:rPr>
              <a:t>with </a:t>
            </a:r>
            <a:r>
              <a:rPr lang="en-US" dirty="0">
                <a:latin typeface="+mn-lt"/>
              </a:rPr>
              <a:t>each other</a:t>
            </a:r>
            <a:r>
              <a:rPr lang="en-US" dirty="0" smtClean="0">
                <a:latin typeface="+mn-lt"/>
              </a:rPr>
              <a:t>. </a:t>
            </a:r>
            <a:r>
              <a:rPr lang="en-US" dirty="0">
                <a:latin typeface="+mn-lt"/>
              </a:rPr>
              <a:t>Various layers of the grid architecture </a:t>
            </a:r>
            <a:r>
              <a:rPr lang="en-US" dirty="0" smtClean="0">
                <a:latin typeface="+mn-lt"/>
              </a:rPr>
              <a:t>are:</a:t>
            </a:r>
            <a:endParaRPr lang="en-US" dirty="0" smtClean="0">
              <a:latin typeface="+mn-lt"/>
            </a:endParaRPr>
          </a:p>
          <a:p>
            <a:pPr>
              <a:buFont typeface="Wingdings" panose="05000000000000000000" pitchFamily="2" charset="2"/>
              <a:buChar char="Ø"/>
            </a:pPr>
            <a:endParaRPr lang="en-US" dirty="0" smtClean="0">
              <a:latin typeface="+mn-lt"/>
            </a:endParaRPr>
          </a:p>
          <a:p>
            <a:r>
              <a:rPr lang="en-US" dirty="0">
                <a:latin typeface="+mn-lt"/>
              </a:rPr>
              <a:t>Fabric </a:t>
            </a:r>
            <a:r>
              <a:rPr lang="en-US" dirty="0" smtClean="0">
                <a:latin typeface="+mn-lt"/>
              </a:rPr>
              <a:t>layer</a:t>
            </a:r>
            <a:endParaRPr lang="en-US" dirty="0" smtClean="0">
              <a:latin typeface="+mn-lt"/>
            </a:endParaRPr>
          </a:p>
          <a:p>
            <a:r>
              <a:rPr lang="en-US" dirty="0">
                <a:latin typeface="+mn-lt"/>
              </a:rPr>
              <a:t>Connectivity </a:t>
            </a:r>
            <a:r>
              <a:rPr lang="en-US" dirty="0" smtClean="0">
                <a:latin typeface="+mn-lt"/>
              </a:rPr>
              <a:t>layer</a:t>
            </a:r>
            <a:endParaRPr lang="en-US" dirty="0" smtClean="0">
              <a:latin typeface="+mn-lt"/>
            </a:endParaRPr>
          </a:p>
          <a:p>
            <a:r>
              <a:rPr lang="en-US" dirty="0">
                <a:latin typeface="+mn-lt"/>
              </a:rPr>
              <a:t>Resource </a:t>
            </a:r>
            <a:r>
              <a:rPr lang="en-US" dirty="0" smtClean="0">
                <a:latin typeface="+mn-lt"/>
              </a:rPr>
              <a:t>layer</a:t>
            </a:r>
            <a:endParaRPr lang="en-US" dirty="0" smtClean="0">
              <a:latin typeface="+mn-lt"/>
            </a:endParaRPr>
          </a:p>
          <a:p>
            <a:r>
              <a:rPr lang="en-US" dirty="0">
                <a:latin typeface="+mn-lt"/>
              </a:rPr>
              <a:t>Collective </a:t>
            </a:r>
            <a:r>
              <a:rPr lang="en-US" dirty="0" smtClean="0">
                <a:latin typeface="+mn-lt"/>
              </a:rPr>
              <a:t>layer</a:t>
            </a:r>
            <a:endParaRPr lang="en-US" dirty="0" smtClean="0">
              <a:latin typeface="+mn-lt"/>
            </a:endParaRPr>
          </a:p>
          <a:p>
            <a:r>
              <a:rPr lang="en-US" dirty="0">
                <a:latin typeface="+mn-lt"/>
              </a:rPr>
              <a:t>Application layer</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Grid Architecture</a:t>
            </a:r>
            <a:endParaRPr lang="en-US" dirty="0">
              <a:solidFill>
                <a:schemeClr val="tx1"/>
              </a:solidFill>
              <a:latin typeface="Calibri" panose="020F0502020204030204" pitchFamily="34" charset="0"/>
            </a:endParaRPr>
          </a:p>
        </p:txBody>
      </p:sp>
      <p:pic>
        <p:nvPicPr>
          <p:cNvPr id="2" name="Picture 1"/>
          <p:cNvPicPr>
            <a:picLocks noChangeAspect="1"/>
          </p:cNvPicPr>
          <p:nvPr/>
        </p:nvPicPr>
        <p:blipFill>
          <a:blip r:embed="rId1"/>
          <a:stretch>
            <a:fillRect/>
          </a:stretch>
        </p:blipFill>
        <p:spPr>
          <a:xfrm>
            <a:off x="7775575" y="1901825"/>
            <a:ext cx="3794760" cy="467233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Grid Layers</a:t>
            </a:r>
            <a:endParaRPr lang="en-US"/>
          </a:p>
        </p:txBody>
      </p:sp>
      <p:pic>
        <p:nvPicPr>
          <p:cNvPr id="4" name="Content Placeholder 3"/>
          <p:cNvPicPr>
            <a:picLocks noChangeAspect="1"/>
          </p:cNvPicPr>
          <p:nvPr>
            <p:ph idx="1"/>
          </p:nvPr>
        </p:nvPicPr>
        <p:blipFill>
          <a:blip r:embed="rId1"/>
          <a:stretch>
            <a:fillRect/>
          </a:stretch>
        </p:blipFill>
        <p:spPr>
          <a:xfrm>
            <a:off x="4150995" y="1048385"/>
            <a:ext cx="7510145" cy="56330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solidFill>
                  <a:srgbClr val="FFFF00"/>
                </a:solidFill>
                <a:latin typeface="+mn-lt"/>
              </a:rPr>
              <a:t>The key functionalities of a grid middleware are as follows:</a:t>
            </a:r>
            <a:endParaRPr lang="en-US" b="1" dirty="0">
              <a:solidFill>
                <a:srgbClr val="FFFF00"/>
              </a:solidFill>
              <a:latin typeface="+mn-lt"/>
            </a:endParaRPr>
          </a:p>
          <a:p>
            <a:pPr marL="0" indent="0">
              <a:buNone/>
            </a:pPr>
            <a:r>
              <a:rPr lang="en-US" dirty="0">
                <a:latin typeface="+mn-lt"/>
              </a:rPr>
              <a:t>1. Integration and virtualization of various independent resources</a:t>
            </a:r>
            <a:endParaRPr lang="en-US" dirty="0">
              <a:latin typeface="+mn-lt"/>
            </a:endParaRPr>
          </a:p>
          <a:p>
            <a:pPr marL="0" indent="0">
              <a:buNone/>
            </a:pPr>
            <a:r>
              <a:rPr lang="en-US" dirty="0">
                <a:latin typeface="+mn-lt"/>
              </a:rPr>
              <a:t>2. Requirement of information concerning resources and their accessibility</a:t>
            </a:r>
            <a:endParaRPr lang="en-US" dirty="0">
              <a:latin typeface="+mn-lt"/>
            </a:endParaRPr>
          </a:p>
          <a:p>
            <a:pPr marL="0" indent="0">
              <a:buNone/>
            </a:pPr>
            <a:r>
              <a:rPr lang="en-US" dirty="0">
                <a:latin typeface="+mn-lt"/>
              </a:rPr>
              <a:t>3. Lively and flexible resource administration and allotment</a:t>
            </a:r>
            <a:endParaRPr lang="en-US" dirty="0">
              <a:latin typeface="+mn-lt"/>
            </a:endParaRPr>
          </a:p>
          <a:p>
            <a:pPr marL="0" indent="0">
              <a:buNone/>
            </a:pPr>
            <a:r>
              <a:rPr lang="en-US" dirty="0">
                <a:latin typeface="+mn-lt"/>
              </a:rPr>
              <a:t>4. Brokerage of resources based on open markets or corporation strategies</a:t>
            </a:r>
            <a:endParaRPr lang="en-US" dirty="0">
              <a:latin typeface="+mn-lt"/>
            </a:endParaRPr>
          </a:p>
          <a:p>
            <a:pPr marL="0" indent="0">
              <a:buNone/>
            </a:pPr>
            <a:r>
              <a:rPr lang="en-US" dirty="0">
                <a:latin typeface="+mn-lt"/>
              </a:rPr>
              <a:t>5. Safety comprising agreement and confirmation of users and </a:t>
            </a:r>
            <a:r>
              <a:rPr lang="en-US" dirty="0" smtClean="0">
                <a:latin typeface="+mn-lt"/>
              </a:rPr>
              <a:t>accountability</a:t>
            </a:r>
            <a:endParaRPr lang="en-US" dirty="0">
              <a:latin typeface="+mn-lt"/>
            </a:endParaRPr>
          </a:p>
          <a:p>
            <a:pPr marL="0" indent="0">
              <a:buNone/>
            </a:pPr>
            <a:r>
              <a:rPr lang="en-US" dirty="0">
                <a:latin typeface="+mn-lt"/>
              </a:rPr>
              <a:t>6. Licenses administration</a:t>
            </a:r>
            <a:endParaRPr lang="en-US" dirty="0">
              <a:latin typeface="+mn-lt"/>
            </a:endParaRPr>
          </a:p>
          <a:p>
            <a:pPr marL="0" indent="0">
              <a:buNone/>
            </a:pPr>
            <a:r>
              <a:rPr lang="en-US" dirty="0">
                <a:latin typeface="+mn-lt"/>
              </a:rPr>
              <a:t>7. Expense and invoicing</a:t>
            </a:r>
            <a:endParaRPr lang="en-US" dirty="0">
              <a:latin typeface="+mn-lt"/>
            </a:endParaRPr>
          </a:p>
          <a:p>
            <a:pPr marL="0" indent="0">
              <a:buNone/>
            </a:pPr>
            <a:r>
              <a:rPr lang="en-US" dirty="0">
                <a:latin typeface="+mn-lt"/>
              </a:rPr>
              <a:t>8. Transport of non-insignificant ‘Quality of Service’</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Grid Architecture</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79" y="1553029"/>
            <a:ext cx="11863450" cy="4623934"/>
          </a:xfrm>
        </p:spPr>
        <p:txBody>
          <a:bodyPr>
            <a:noAutofit/>
          </a:bodyPr>
          <a:lstStyle/>
          <a:p>
            <a:pPr algn="just"/>
            <a:r>
              <a:rPr lang="en-US" sz="2400" dirty="0">
                <a:latin typeface="+mn-lt"/>
              </a:rPr>
              <a:t>It is not enough to just change the prevailing spread IT infrastructure into a grid. In majority </a:t>
            </a:r>
            <a:r>
              <a:rPr lang="en-US" sz="2400" dirty="0" smtClean="0">
                <a:latin typeface="+mn-lt"/>
              </a:rPr>
              <a:t>of instances</a:t>
            </a:r>
            <a:r>
              <a:rPr lang="en-US" sz="2400" dirty="0">
                <a:latin typeface="+mn-lt"/>
              </a:rPr>
              <a:t>, </a:t>
            </a:r>
            <a:r>
              <a:rPr lang="en-US" sz="2400" dirty="0">
                <a:solidFill>
                  <a:srgbClr val="FF0000"/>
                </a:solidFill>
                <a:latin typeface="+mn-lt"/>
              </a:rPr>
              <a:t>investments are required for making the existing applications to work on a grid </a:t>
            </a:r>
            <a:r>
              <a:rPr lang="en-US" sz="2400" dirty="0" smtClean="0">
                <a:solidFill>
                  <a:srgbClr val="FF0000"/>
                </a:solidFill>
                <a:latin typeface="+mn-lt"/>
              </a:rPr>
              <a:t>infrastructure</a:t>
            </a:r>
            <a:r>
              <a:rPr lang="en-US" sz="2400" dirty="0">
                <a:solidFill>
                  <a:srgbClr val="FF0000"/>
                </a:solidFill>
                <a:latin typeface="+mn-lt"/>
              </a:rPr>
              <a:t>.</a:t>
            </a:r>
            <a:endParaRPr lang="en-US" sz="2400" dirty="0">
              <a:solidFill>
                <a:srgbClr val="FF0000"/>
              </a:solidFill>
              <a:latin typeface="+mn-lt"/>
            </a:endParaRPr>
          </a:p>
          <a:p>
            <a:pPr algn="just"/>
            <a:r>
              <a:rPr lang="en-US" sz="2400" dirty="0" smtClean="0">
                <a:solidFill>
                  <a:srgbClr val="FF0000"/>
                </a:solidFill>
                <a:latin typeface="+mn-lt"/>
              </a:rPr>
              <a:t>Lack </a:t>
            </a:r>
            <a:r>
              <a:rPr lang="en-US" sz="2400" dirty="0">
                <a:solidFill>
                  <a:srgbClr val="FF0000"/>
                </a:solidFill>
                <a:latin typeface="+mn-lt"/>
              </a:rPr>
              <a:t>of values for grid computing make resources’ findings for grid technology difficult and risky.</a:t>
            </a:r>
            <a:endParaRPr lang="en-US" sz="2400" dirty="0">
              <a:solidFill>
                <a:srgbClr val="FF0000"/>
              </a:solidFill>
              <a:latin typeface="+mn-lt"/>
            </a:endParaRPr>
          </a:p>
          <a:p>
            <a:pPr algn="just"/>
            <a:r>
              <a:rPr lang="en-US" sz="2400" dirty="0" smtClean="0">
                <a:latin typeface="+mn-lt"/>
              </a:rPr>
              <a:t>Grid </a:t>
            </a:r>
            <a:r>
              <a:rPr lang="en-US" sz="2400" dirty="0">
                <a:latin typeface="+mn-lt"/>
              </a:rPr>
              <a:t>computing is a versatile technology and the launching of grid computing in a </a:t>
            </a:r>
            <a:r>
              <a:rPr lang="en-US" sz="2400" dirty="0" smtClean="0">
                <a:latin typeface="+mn-lt"/>
              </a:rPr>
              <a:t>corporation is </a:t>
            </a:r>
            <a:r>
              <a:rPr lang="en-US" sz="2400" dirty="0">
                <a:latin typeface="+mn-lt"/>
              </a:rPr>
              <a:t>characteristically a long-standing plan that needs time until the visibility of first </a:t>
            </a:r>
            <a:r>
              <a:rPr lang="en-US" sz="2400" dirty="0" smtClean="0">
                <a:latin typeface="+mn-lt"/>
              </a:rPr>
              <a:t>results. </a:t>
            </a:r>
            <a:endParaRPr lang="en-US" sz="2400" dirty="0" smtClean="0">
              <a:latin typeface="+mn-lt"/>
            </a:endParaRPr>
          </a:p>
          <a:p>
            <a:pPr algn="just"/>
            <a:r>
              <a:rPr lang="en-US" sz="2400" dirty="0" smtClean="0">
                <a:latin typeface="+mn-lt"/>
              </a:rPr>
              <a:t>The </a:t>
            </a:r>
            <a:r>
              <a:rPr lang="en-US" sz="2400" dirty="0">
                <a:latin typeface="+mn-lt"/>
              </a:rPr>
              <a:t>beginning of grid computing could need consistency of physical resources. Even if </a:t>
            </a:r>
            <a:r>
              <a:rPr lang="en-US" sz="2400" dirty="0" smtClean="0">
                <a:latin typeface="+mn-lt"/>
              </a:rPr>
              <a:t>grids would </a:t>
            </a:r>
            <a:r>
              <a:rPr lang="en-US" sz="2400" dirty="0">
                <a:latin typeface="+mn-lt"/>
              </a:rPr>
              <a:t>essentially be capable to handle heterogeneity of resources that are accessible, </a:t>
            </a:r>
            <a:r>
              <a:rPr lang="en-US" sz="2400" dirty="0" smtClean="0">
                <a:latin typeface="+mn-lt"/>
              </a:rPr>
              <a:t>advanced heterogeneity </a:t>
            </a:r>
            <a:r>
              <a:rPr lang="en-US" sz="2400" dirty="0">
                <a:latin typeface="+mn-lt"/>
              </a:rPr>
              <a:t>of resources might need advanced savings in terms of money and time </a:t>
            </a:r>
            <a:r>
              <a:rPr lang="en-US" sz="2400" dirty="0" smtClean="0">
                <a:latin typeface="+mn-lt"/>
              </a:rPr>
              <a:t>and hence increase </a:t>
            </a:r>
            <a:r>
              <a:rPr lang="en-US" sz="2400" dirty="0">
                <a:latin typeface="+mn-lt"/>
              </a:rPr>
              <a:t>the </a:t>
            </a:r>
            <a:r>
              <a:rPr lang="en-US" sz="2400" dirty="0" smtClean="0">
                <a:latin typeface="+mn-lt"/>
              </a:rPr>
              <a:t>downfall </a:t>
            </a:r>
            <a:r>
              <a:rPr lang="en-US" sz="2400" dirty="0">
                <a:latin typeface="+mn-lt"/>
              </a:rPr>
              <a:t>risk.</a:t>
            </a:r>
            <a:endParaRPr lang="en-US" sz="2400"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dirty="0" smtClean="0">
                <a:solidFill>
                  <a:schemeClr val="tx1"/>
                </a:solidFill>
                <a:latin typeface="Calibri" panose="020F0502020204030204" pitchFamily="34" charset="0"/>
              </a:rPr>
              <a:t>Challenges of Grid Computing </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9"/>
            <a:ext cx="11684000" cy="4800270"/>
          </a:xfrm>
        </p:spPr>
        <p:txBody>
          <a:bodyPr>
            <a:normAutofit/>
          </a:bodyPr>
          <a:lstStyle/>
          <a:p>
            <a:endParaRPr lang="en-US" dirty="0" smtClean="0">
              <a:latin typeface="+mn-lt"/>
            </a:endParaRPr>
          </a:p>
          <a:p>
            <a:r>
              <a:rPr lang="en-US" dirty="0" smtClean="0">
                <a:latin typeface="+mn-lt"/>
              </a:rPr>
              <a:t>In </a:t>
            </a:r>
            <a:r>
              <a:rPr lang="en-US" dirty="0">
                <a:latin typeface="+mn-lt"/>
              </a:rPr>
              <a:t>cloud computing environment, physical resources are made available to cloud users with the </a:t>
            </a:r>
            <a:r>
              <a:rPr lang="en-US" dirty="0" smtClean="0">
                <a:latin typeface="+mn-lt"/>
              </a:rPr>
              <a:t>help of </a:t>
            </a:r>
            <a:r>
              <a:rPr lang="en-US" dirty="0">
                <a:latin typeface="+mn-lt"/>
              </a:rPr>
              <a:t>virtualization software in the form of virtual resources</a:t>
            </a:r>
            <a:r>
              <a:rPr lang="en-US" dirty="0" smtClean="0">
                <a:latin typeface="+mn-lt"/>
              </a:rPr>
              <a:t>.</a:t>
            </a:r>
            <a:endParaRPr lang="en-US" dirty="0" smtClean="0">
              <a:latin typeface="+mn-lt"/>
            </a:endParaRPr>
          </a:p>
          <a:p>
            <a:r>
              <a:rPr lang="en-US" dirty="0">
                <a:latin typeface="+mn-lt"/>
              </a:rPr>
              <a:t>Cloud computing architecture is not fixed as </a:t>
            </a:r>
            <a:r>
              <a:rPr lang="en-US" dirty="0" smtClean="0">
                <a:latin typeface="+mn-lt"/>
              </a:rPr>
              <a:t>other computing </a:t>
            </a:r>
            <a:r>
              <a:rPr lang="en-US" dirty="0">
                <a:latin typeface="+mn-lt"/>
              </a:rPr>
              <a:t>architectures, but it is different on the basis of different jobs, resource </a:t>
            </a:r>
            <a:r>
              <a:rPr lang="en-US" dirty="0" smtClean="0">
                <a:latin typeface="+mn-lt"/>
              </a:rPr>
              <a:t>distri</a:t>
            </a:r>
            <a:r>
              <a:rPr lang="en-US" dirty="0" smtClean="0"/>
              <a:t>bution.</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rmAutofit/>
          </a:bodyPr>
          <a:lstStyle/>
          <a:p>
            <a:pPr algn="ctr"/>
            <a:r>
              <a:rPr lang="en-US" dirty="0" smtClean="0">
                <a:solidFill>
                  <a:schemeClr val="tx1"/>
                </a:solidFill>
                <a:latin typeface="+mn-lt"/>
              </a:rPr>
              <a:t>Cloud Computing Architecture</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a:solidFill>
                  <a:schemeClr val="tx1"/>
                </a:solidFill>
                <a:latin typeface="+mn-lt"/>
              </a:rPr>
              <a:t>Cloud Computing Architecture</a:t>
            </a:r>
            <a:endParaRPr lang="en-US" dirty="0">
              <a:solidFill>
                <a:schemeClr val="tx1"/>
              </a:solidFill>
              <a:latin typeface="+mn-lt"/>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7676" y="1674902"/>
            <a:ext cx="5955957" cy="4643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48281" y="1727537"/>
            <a:ext cx="5338119" cy="4678204"/>
          </a:xfrm>
          <a:prstGeom prst="rect">
            <a:avLst/>
          </a:prstGeom>
          <a:noFill/>
        </p:spPr>
        <p:txBody>
          <a:bodyPr wrap="square" rtlCol="0">
            <a:spAutoFit/>
          </a:bodyPr>
          <a:lstStyle/>
          <a:p>
            <a:r>
              <a:rPr lang="en-US" sz="2800" dirty="0"/>
              <a:t>Basic cloud computing environment is shown in the Fig. 3.1 in which various services such as available servers, virtual desktop, system software, application software, database, etc. are available for cloud users. Users can avail the services using any device such as desktop system, laptop, mobile, tablet, etc., </a:t>
            </a:r>
            <a:endParaRPr lang="en-US" sz="2800" dirty="0"/>
          </a:p>
          <a:p>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9"/>
            <a:ext cx="11684000" cy="4800270"/>
          </a:xfrm>
        </p:spPr>
        <p:txBody>
          <a:bodyPr>
            <a:normAutofit fontScale="92500" lnSpcReduction="20000"/>
          </a:bodyPr>
          <a:lstStyle/>
          <a:p>
            <a:pPr marL="0" indent="0">
              <a:buNone/>
            </a:pPr>
            <a:endParaRPr lang="en-US" sz="3100" dirty="0" smtClean="0">
              <a:latin typeface="+mn-lt"/>
            </a:endParaRPr>
          </a:p>
          <a:p>
            <a:pPr marL="0" indent="0">
              <a:buNone/>
            </a:pPr>
            <a:r>
              <a:rPr lang="en-US" sz="3100" b="1" dirty="0" smtClean="0">
                <a:solidFill>
                  <a:srgbClr val="FFFF00"/>
                </a:solidFill>
                <a:latin typeface="+mn-lt"/>
              </a:rPr>
              <a:t>The </a:t>
            </a:r>
            <a:r>
              <a:rPr lang="en-US" sz="3100" b="1" dirty="0">
                <a:solidFill>
                  <a:srgbClr val="FFFF00"/>
                </a:solidFill>
                <a:latin typeface="+mn-lt"/>
              </a:rPr>
              <a:t>Cloud Computing architecture is discussed based on different </a:t>
            </a:r>
            <a:r>
              <a:rPr lang="en-US" sz="3100" b="1" dirty="0" smtClean="0">
                <a:solidFill>
                  <a:srgbClr val="FFFF00"/>
                </a:solidFill>
                <a:latin typeface="+mn-lt"/>
              </a:rPr>
              <a:t>criteria</a:t>
            </a:r>
            <a:r>
              <a:rPr lang="en-US" sz="3100" b="1" dirty="0" smtClean="0">
                <a:solidFill>
                  <a:srgbClr val="FFFF00"/>
                </a:solidFill>
                <a:latin typeface="+mn-lt"/>
              </a:rPr>
              <a:t>:</a:t>
            </a:r>
            <a:endParaRPr lang="en-US" dirty="0" smtClean="0">
              <a:latin typeface="+mn-lt"/>
            </a:endParaRPr>
          </a:p>
          <a:p>
            <a:r>
              <a:rPr lang="en-US" sz="2700" dirty="0" smtClean="0">
                <a:latin typeface="+mn-lt"/>
              </a:rPr>
              <a:t>On </a:t>
            </a:r>
            <a:r>
              <a:rPr lang="en-US" sz="2700" dirty="0">
                <a:latin typeface="+mn-lt"/>
              </a:rPr>
              <a:t>the Basis of Load Balancing</a:t>
            </a:r>
            <a:endParaRPr lang="en-US" sz="2700" dirty="0">
              <a:latin typeface="+mn-lt"/>
            </a:endParaRPr>
          </a:p>
          <a:p>
            <a:r>
              <a:rPr lang="en-US" sz="2700" dirty="0">
                <a:latin typeface="+mn-lt"/>
              </a:rPr>
              <a:t>On the Basis of Disk Provisioning</a:t>
            </a:r>
            <a:endParaRPr lang="en-US" sz="2700" dirty="0">
              <a:latin typeface="+mn-lt"/>
            </a:endParaRPr>
          </a:p>
          <a:p>
            <a:r>
              <a:rPr lang="en-US" sz="2700" dirty="0">
                <a:latin typeface="+mn-lt"/>
              </a:rPr>
              <a:t>On the Basis of Storage Management</a:t>
            </a:r>
            <a:endParaRPr lang="en-US" sz="2700" dirty="0">
              <a:latin typeface="+mn-lt"/>
            </a:endParaRPr>
          </a:p>
          <a:p>
            <a:r>
              <a:rPr lang="en-US" sz="2700" dirty="0">
                <a:latin typeface="+mn-lt"/>
              </a:rPr>
              <a:t>On the Basis of Hypervisor Installed</a:t>
            </a:r>
            <a:endParaRPr lang="en-US" sz="2700" dirty="0">
              <a:latin typeface="+mn-lt"/>
            </a:endParaRPr>
          </a:p>
          <a:p>
            <a:r>
              <a:rPr lang="en-US" sz="2700" dirty="0">
                <a:latin typeface="+mn-lt"/>
              </a:rPr>
              <a:t>On the Basis of Migration</a:t>
            </a:r>
            <a:endParaRPr lang="en-US" sz="2700" dirty="0">
              <a:latin typeface="+mn-lt"/>
            </a:endParaRPr>
          </a:p>
          <a:p>
            <a:r>
              <a:rPr lang="en-US" sz="2700" dirty="0">
                <a:latin typeface="+mn-lt"/>
              </a:rPr>
              <a:t>On the Basis of Service Relocation</a:t>
            </a:r>
            <a:endParaRPr lang="en-US" sz="2700" dirty="0">
              <a:latin typeface="+mn-lt"/>
            </a:endParaRPr>
          </a:p>
          <a:p>
            <a:r>
              <a:rPr lang="en-US" sz="2700" dirty="0">
                <a:latin typeface="+mn-lt"/>
              </a:rPr>
              <a:t>On the Basis of Cloud Balancing</a:t>
            </a:r>
            <a:endParaRPr lang="en-US" sz="2700" dirty="0">
              <a:latin typeface="+mn-lt"/>
            </a:endParaRPr>
          </a:p>
          <a:p>
            <a:r>
              <a:rPr lang="en-US" sz="2700" dirty="0">
                <a:latin typeface="+mn-lt"/>
              </a:rPr>
              <a:t>On the Basis of Virtual Switches Load Balancing</a:t>
            </a:r>
            <a:endParaRPr lang="en-US" sz="2700" dirty="0">
              <a:latin typeface="+mn-lt"/>
            </a:endParaRPr>
          </a:p>
          <a:p>
            <a:r>
              <a:rPr lang="en-US" sz="2700" dirty="0">
                <a:latin typeface="+mn-lt"/>
              </a:rPr>
              <a:t>On the Basis of Failure Detection and Recovery</a:t>
            </a:r>
            <a:endParaRPr lang="en-US" sz="2700"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a:solidFill>
                  <a:schemeClr val="tx1"/>
                </a:solidFill>
                <a:latin typeface="+mn-lt"/>
              </a:rPr>
              <a:t>Cloud Computing Architecture</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a:bodyPr>
          <a:lstStyle/>
          <a:p>
            <a:endParaRPr lang="en-US" dirty="0" smtClean="0">
              <a:latin typeface="+mn-lt"/>
            </a:endParaRPr>
          </a:p>
          <a:p>
            <a:r>
              <a:rPr lang="en-US" dirty="0" smtClean="0">
                <a:latin typeface="+mn-lt"/>
              </a:rPr>
              <a:t>Cloud computing has </a:t>
            </a:r>
            <a:r>
              <a:rPr lang="en-US" dirty="0">
                <a:latin typeface="+mn-lt"/>
              </a:rPr>
              <a:t>various issues related to its </a:t>
            </a:r>
            <a:r>
              <a:rPr lang="en-US" dirty="0" smtClean="0">
                <a:latin typeface="+mn-lt"/>
              </a:rPr>
              <a:t>architecture: </a:t>
            </a:r>
            <a:endParaRPr lang="en-US" dirty="0" smtClean="0"/>
          </a:p>
          <a:p>
            <a:r>
              <a:rPr lang="en-US" b="1" dirty="0">
                <a:solidFill>
                  <a:srgbClr val="FFFF00"/>
                </a:solidFill>
                <a:latin typeface="+mn-lt"/>
              </a:rPr>
              <a:t>Issues at Design </a:t>
            </a:r>
            <a:r>
              <a:rPr lang="en-US" b="1" dirty="0" smtClean="0">
                <a:solidFill>
                  <a:srgbClr val="FFFF00"/>
                </a:solidFill>
                <a:latin typeface="+mn-lt"/>
              </a:rPr>
              <a:t>Level</a:t>
            </a:r>
            <a:endParaRPr lang="en-US" b="1" dirty="0" smtClean="0">
              <a:solidFill>
                <a:srgbClr val="FFFF00"/>
              </a:solidFill>
              <a:latin typeface="+mn-lt"/>
            </a:endParaRPr>
          </a:p>
          <a:p>
            <a:pPr marL="0" indent="0">
              <a:buNone/>
            </a:pPr>
            <a:r>
              <a:rPr lang="en-US" b="1" dirty="0">
                <a:latin typeface="+mn-lt"/>
              </a:rPr>
              <a:t>	</a:t>
            </a:r>
            <a:r>
              <a:rPr lang="en-US" b="1" dirty="0" smtClean="0">
                <a:latin typeface="+mn-lt"/>
              </a:rPr>
              <a:t> Issues </a:t>
            </a:r>
            <a:r>
              <a:rPr lang="en-US" b="1" dirty="0">
                <a:latin typeface="+mn-lt"/>
              </a:rPr>
              <a:t>of Architectural of Cloud </a:t>
            </a:r>
            <a:r>
              <a:rPr lang="en-US" b="1" dirty="0" smtClean="0">
                <a:latin typeface="+mn-lt"/>
              </a:rPr>
              <a:t>Computing</a:t>
            </a:r>
            <a:endParaRPr lang="en-US" b="1" dirty="0" smtClean="0">
              <a:latin typeface="+mn-lt"/>
            </a:endParaRPr>
          </a:p>
          <a:p>
            <a:pPr marL="0" indent="0">
              <a:buNone/>
            </a:pPr>
            <a:r>
              <a:rPr lang="en-US" b="1" dirty="0">
                <a:latin typeface="+mn-lt"/>
              </a:rPr>
              <a:t>	</a:t>
            </a:r>
            <a:r>
              <a:rPr lang="en-US" b="1" dirty="0" smtClean="0">
                <a:latin typeface="+mn-lt"/>
              </a:rPr>
              <a:t>  Platform </a:t>
            </a:r>
            <a:r>
              <a:rPr lang="en-US" b="1" dirty="0">
                <a:latin typeface="+mn-lt"/>
              </a:rPr>
              <a:t>Related </a:t>
            </a:r>
            <a:r>
              <a:rPr lang="en-US" b="1" dirty="0" smtClean="0">
                <a:latin typeface="+mn-lt"/>
              </a:rPr>
              <a:t>Issues</a:t>
            </a:r>
            <a:endParaRPr lang="en-US" b="1" dirty="0" smtClean="0">
              <a:latin typeface="+mn-lt"/>
            </a:endParaRPr>
          </a:p>
          <a:p>
            <a:r>
              <a:rPr lang="en-US" b="1" dirty="0">
                <a:solidFill>
                  <a:srgbClr val="FFFF00"/>
                </a:solidFill>
                <a:latin typeface="+mn-lt"/>
              </a:rPr>
              <a:t>Issues Related to the </a:t>
            </a:r>
            <a:r>
              <a:rPr lang="en-US" b="1" dirty="0" smtClean="0">
                <a:solidFill>
                  <a:srgbClr val="FFFF00"/>
                </a:solidFill>
                <a:latin typeface="+mn-lt"/>
              </a:rPr>
              <a:t>Implementation</a:t>
            </a:r>
            <a:endParaRPr lang="en-US" b="1" dirty="0" smtClean="0">
              <a:solidFill>
                <a:srgbClr val="FFFF00"/>
              </a:solidFill>
              <a:latin typeface="+mn-lt"/>
            </a:endParaRPr>
          </a:p>
          <a:p>
            <a:pPr marL="0" indent="0">
              <a:buNone/>
            </a:pPr>
            <a:r>
              <a:rPr lang="en-US" b="1" dirty="0">
                <a:latin typeface="+mn-lt"/>
              </a:rPr>
              <a:t>	</a:t>
            </a:r>
            <a:r>
              <a:rPr lang="en-US" b="1" dirty="0" smtClean="0">
                <a:latin typeface="+mn-lt"/>
              </a:rPr>
              <a:t> Issues </a:t>
            </a:r>
            <a:r>
              <a:rPr lang="en-US" b="1" dirty="0">
                <a:latin typeface="+mn-lt"/>
              </a:rPr>
              <a:t>related to </a:t>
            </a:r>
            <a:r>
              <a:rPr lang="en-US" b="1" dirty="0" smtClean="0">
                <a:latin typeface="+mn-lt"/>
              </a:rPr>
              <a:t>Business</a:t>
            </a:r>
            <a:endParaRPr lang="en-US" b="1" dirty="0" smtClean="0">
              <a:latin typeface="+mn-lt"/>
            </a:endParaRPr>
          </a:p>
          <a:p>
            <a:pPr marL="0" indent="0">
              <a:buNone/>
            </a:pPr>
            <a:r>
              <a:rPr lang="en-US" b="1" dirty="0">
                <a:latin typeface="+mn-lt"/>
              </a:rPr>
              <a:t>	</a:t>
            </a:r>
            <a:r>
              <a:rPr lang="en-US" b="1" dirty="0" smtClean="0">
                <a:latin typeface="+mn-lt"/>
              </a:rPr>
              <a:t>   Technical </a:t>
            </a:r>
            <a:r>
              <a:rPr lang="en-US" b="1" dirty="0">
                <a:latin typeface="+mn-lt"/>
              </a:rPr>
              <a:t>Issues</a:t>
            </a:r>
            <a:endParaRPr lang="en-US" b="1"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sz="3200" dirty="0" smtClean="0">
                <a:solidFill>
                  <a:schemeClr val="tx1"/>
                </a:solidFill>
                <a:latin typeface="+mn-lt"/>
              </a:rPr>
              <a:t>Key Design Aspects of Cloud Architecture, Cloud Services and</a:t>
            </a:r>
            <a:br>
              <a:rPr lang="en-US" sz="3200" dirty="0" smtClean="0">
                <a:solidFill>
                  <a:schemeClr val="tx1"/>
                </a:solidFill>
                <a:latin typeface="+mn-lt"/>
              </a:rPr>
            </a:br>
            <a:r>
              <a:rPr lang="en-US" sz="3200" dirty="0" smtClean="0">
                <a:solidFill>
                  <a:schemeClr val="tx1"/>
                </a:solidFill>
                <a:latin typeface="+mn-lt"/>
              </a:rPr>
              <a:t>Cloud Applications</a:t>
            </a:r>
            <a:endParaRPr lang="en-US" sz="3200" dirty="0">
              <a:solidFill>
                <a:schemeClr val="tx1"/>
              </a:solidFill>
              <a:latin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lnSpcReduction="10000"/>
          </a:bodyPr>
          <a:lstStyle/>
          <a:p>
            <a:pPr marL="0" indent="0">
              <a:buNone/>
            </a:pPr>
            <a:r>
              <a:rPr lang="en-US" b="1" dirty="0" smtClean="0">
                <a:solidFill>
                  <a:srgbClr val="FFFF00"/>
                </a:solidFill>
                <a:latin typeface="+mn-lt"/>
              </a:rPr>
              <a:t>Similarities:</a:t>
            </a:r>
            <a:endParaRPr lang="en-US" b="1" dirty="0" smtClean="0">
              <a:solidFill>
                <a:srgbClr val="FFFF00"/>
              </a:solidFill>
              <a:latin typeface="+mn-lt"/>
            </a:endParaRPr>
          </a:p>
          <a:p>
            <a:r>
              <a:rPr lang="en-US" dirty="0">
                <a:latin typeface="+mn-lt"/>
              </a:rPr>
              <a:t>Grid computing and cloud computing are </a:t>
            </a:r>
            <a:r>
              <a:rPr lang="en-US" dirty="0" smtClean="0">
                <a:latin typeface="+mn-lt"/>
              </a:rPr>
              <a:t>scalable.</a:t>
            </a:r>
            <a:endParaRPr lang="en-US" dirty="0" smtClean="0">
              <a:latin typeface="+mn-lt"/>
            </a:endParaRPr>
          </a:p>
          <a:p>
            <a:r>
              <a:rPr lang="en-US" dirty="0">
                <a:latin typeface="+mn-lt"/>
              </a:rPr>
              <a:t>Grid and </a:t>
            </a:r>
            <a:r>
              <a:rPr lang="en-US" dirty="0" smtClean="0">
                <a:latin typeface="+mn-lt"/>
              </a:rPr>
              <a:t>cloud computing </a:t>
            </a:r>
            <a:r>
              <a:rPr lang="en-US" dirty="0">
                <a:latin typeface="+mn-lt"/>
              </a:rPr>
              <a:t>offer service-level agreements (SLAs) for uptime accessibility of around 99 per cent. </a:t>
            </a:r>
            <a:r>
              <a:rPr lang="en-US" dirty="0" smtClean="0">
                <a:latin typeface="+mn-lt"/>
              </a:rPr>
              <a:t>If the </a:t>
            </a:r>
            <a:r>
              <a:rPr lang="en-US" dirty="0">
                <a:latin typeface="+mn-lt"/>
              </a:rPr>
              <a:t>service slides below the definite uptime service level, the service credit for receiving data to </a:t>
            </a:r>
            <a:r>
              <a:rPr lang="en-US" dirty="0" smtClean="0">
                <a:latin typeface="+mn-lt"/>
              </a:rPr>
              <a:t>the customer </a:t>
            </a:r>
            <a:r>
              <a:rPr lang="en-US" dirty="0">
                <a:latin typeface="+mn-lt"/>
              </a:rPr>
              <a:t>gets delayed</a:t>
            </a:r>
            <a:r>
              <a:rPr lang="en-US" dirty="0" smtClean="0">
                <a:latin typeface="+mn-lt"/>
              </a:rPr>
              <a:t>.</a:t>
            </a:r>
            <a:endParaRPr lang="en-US" dirty="0" smtClean="0">
              <a:latin typeface="+mn-lt"/>
            </a:endParaRPr>
          </a:p>
          <a:p>
            <a:pPr marL="0" indent="0">
              <a:buNone/>
            </a:pPr>
            <a:r>
              <a:rPr lang="en-US" b="1" dirty="0" smtClean="0">
                <a:solidFill>
                  <a:srgbClr val="FFFF00"/>
                </a:solidFill>
                <a:latin typeface="+mn-lt"/>
              </a:rPr>
              <a:t>Differences:</a:t>
            </a:r>
            <a:endParaRPr lang="en-US" dirty="0" smtClean="0">
              <a:solidFill>
                <a:srgbClr val="FFFF00"/>
              </a:solidFill>
              <a:latin typeface="+mn-lt"/>
            </a:endParaRPr>
          </a:p>
          <a:p>
            <a:r>
              <a:rPr lang="en-US" dirty="0" smtClean="0">
                <a:latin typeface="+mn-lt"/>
              </a:rPr>
              <a:t>Cloud computing offers SaaS applications, whereas grid computing is used when the processing authority of service or an application is distributed across multiple systems.</a:t>
            </a:r>
            <a:endParaRPr lang="en-US" dirty="0" smtClean="0">
              <a:latin typeface="+mn-lt"/>
            </a:endParaRPr>
          </a:p>
          <a:p>
            <a:r>
              <a:rPr lang="en-US" dirty="0" smtClean="0">
                <a:latin typeface="+mn-lt"/>
              </a:rPr>
              <a:t>With cloud computing, the corporation acquires feasibility and expense savings, whereas with grid computing the corporation acquires suppleness and authority.</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sz="3400" dirty="0" smtClean="0">
                <a:solidFill>
                  <a:schemeClr val="tx1"/>
                </a:solidFill>
                <a:latin typeface="+mn-lt"/>
              </a:rPr>
              <a:t>Similarities and Differences between Grid and Cloud Computing</a:t>
            </a:r>
            <a:endParaRPr lang="en-US" sz="3400" dirty="0">
              <a:solidFill>
                <a:schemeClr val="tx1"/>
              </a:solidFill>
              <a:latin typeface="+mn-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79" y="1553029"/>
            <a:ext cx="11863450" cy="4623934"/>
          </a:xfrm>
        </p:spPr>
        <p:txBody>
          <a:bodyPr>
            <a:noAutofit/>
          </a:bodyPr>
          <a:lstStyle/>
          <a:p>
            <a:r>
              <a:rPr lang="en-US" dirty="0" smtClean="0">
                <a:latin typeface="+mn-lt"/>
              </a:rPr>
              <a:t>  On-demand </a:t>
            </a:r>
            <a:r>
              <a:rPr lang="en-US" dirty="0">
                <a:latin typeface="+mn-lt"/>
              </a:rPr>
              <a:t>self service</a:t>
            </a:r>
            <a:endParaRPr lang="en-US" dirty="0">
              <a:latin typeface="+mn-lt"/>
            </a:endParaRPr>
          </a:p>
          <a:p>
            <a:r>
              <a:rPr lang="en-US" dirty="0">
                <a:latin typeface="+mn-lt"/>
              </a:rPr>
              <a:t> </a:t>
            </a:r>
            <a:r>
              <a:rPr lang="en-US" dirty="0" smtClean="0">
                <a:latin typeface="+mn-lt"/>
              </a:rPr>
              <a:t> Broad </a:t>
            </a:r>
            <a:r>
              <a:rPr lang="en-US" dirty="0">
                <a:latin typeface="+mn-lt"/>
              </a:rPr>
              <a:t>network access</a:t>
            </a:r>
            <a:endParaRPr lang="en-US" dirty="0">
              <a:latin typeface="+mn-lt"/>
            </a:endParaRPr>
          </a:p>
          <a:p>
            <a:r>
              <a:rPr lang="en-US" dirty="0">
                <a:latin typeface="+mn-lt"/>
              </a:rPr>
              <a:t> </a:t>
            </a:r>
            <a:r>
              <a:rPr lang="en-US" dirty="0" smtClean="0">
                <a:latin typeface="+mn-lt"/>
              </a:rPr>
              <a:t> Resource </a:t>
            </a:r>
            <a:r>
              <a:rPr lang="en-US" dirty="0">
                <a:latin typeface="+mn-lt"/>
              </a:rPr>
              <a:t>pooling</a:t>
            </a:r>
            <a:endParaRPr lang="en-US" dirty="0">
              <a:latin typeface="+mn-lt"/>
            </a:endParaRPr>
          </a:p>
          <a:p>
            <a:r>
              <a:rPr lang="en-US" dirty="0" smtClean="0">
                <a:latin typeface="+mn-lt"/>
              </a:rPr>
              <a:t>  Rapid </a:t>
            </a:r>
            <a:r>
              <a:rPr lang="en-US" dirty="0">
                <a:latin typeface="+mn-lt"/>
              </a:rPr>
              <a:t>elasticity</a:t>
            </a:r>
            <a:endParaRPr lang="en-US" dirty="0">
              <a:latin typeface="+mn-lt"/>
            </a:endParaRPr>
          </a:p>
          <a:p>
            <a:r>
              <a:rPr lang="en-US" dirty="0">
                <a:latin typeface="+mn-lt"/>
              </a:rPr>
              <a:t> </a:t>
            </a:r>
            <a:r>
              <a:rPr lang="en-US" dirty="0" smtClean="0">
                <a:latin typeface="+mn-lt"/>
              </a:rPr>
              <a:t> Measured service</a:t>
            </a:r>
            <a:endParaRPr lang="en-US" dirty="0" smtClean="0">
              <a:latin typeface="+mn-lt"/>
            </a:endParaRPr>
          </a:p>
          <a:p>
            <a:r>
              <a:rPr lang="en-US" dirty="0" smtClean="0">
                <a:latin typeface="+mn-lt"/>
              </a:rPr>
              <a:t>  </a:t>
            </a:r>
            <a:r>
              <a:rPr lang="en-US" dirty="0">
                <a:latin typeface="+mn-lt"/>
              </a:rPr>
              <a:t>Multi-persistence</a:t>
            </a:r>
            <a:endParaRPr lang="en-US" dirty="0">
              <a:latin typeface="+mn-lt"/>
            </a:endParaRPr>
          </a:p>
          <a:p>
            <a:r>
              <a:rPr lang="en-US" dirty="0">
                <a:latin typeface="+mn-lt"/>
              </a:rPr>
              <a:t>  Dynamic Computing Infrastructure</a:t>
            </a:r>
            <a:endParaRPr lang="en-US" dirty="0">
              <a:latin typeface="+mn-lt"/>
            </a:endParaRPr>
          </a:p>
          <a:p>
            <a:r>
              <a:rPr lang="en-US" dirty="0">
                <a:latin typeface="+mn-lt"/>
              </a:rPr>
              <a:t>  Elasticity and scalability</a:t>
            </a:r>
            <a:endParaRPr lang="en-US" dirty="0">
              <a:latin typeface="+mn-lt"/>
            </a:endParaRPr>
          </a:p>
          <a:p>
            <a:r>
              <a:rPr lang="en-US" dirty="0">
                <a:latin typeface="+mn-lt"/>
              </a:rPr>
              <a:t> </a:t>
            </a:r>
            <a:r>
              <a:rPr lang="en-US" dirty="0" smtClean="0">
                <a:latin typeface="+mn-lt"/>
              </a:rPr>
              <a:t> IT </a:t>
            </a:r>
            <a:r>
              <a:rPr lang="en-US" dirty="0">
                <a:latin typeface="+mn-lt"/>
              </a:rPr>
              <a:t>service-centric approach</a:t>
            </a:r>
            <a:endParaRPr lang="en-US" dirty="0">
              <a:latin typeface="+mn-lt"/>
            </a:endParaRPr>
          </a:p>
          <a:p>
            <a:r>
              <a:rPr lang="en-US" dirty="0">
                <a:latin typeface="+mn-lt"/>
              </a:rPr>
              <a:t> </a:t>
            </a:r>
            <a:r>
              <a:rPr lang="en-US" dirty="0" smtClean="0">
                <a:latin typeface="+mn-lt"/>
              </a:rPr>
              <a:t> Standardized </a:t>
            </a:r>
            <a:r>
              <a:rPr lang="en-US" dirty="0">
                <a:latin typeface="+mn-lt"/>
              </a:rPr>
              <a:t>Interfaces</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dirty="0" smtClean="0">
                <a:solidFill>
                  <a:schemeClr val="tx1"/>
                </a:solidFill>
                <a:latin typeface="+mn-lt"/>
              </a:rPr>
              <a:t>Features of Cloud Computing</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79" y="1553029"/>
            <a:ext cx="11863450" cy="4623934"/>
          </a:xfrm>
        </p:spPr>
        <p:txBody>
          <a:bodyPr>
            <a:noAutofit/>
          </a:bodyPr>
          <a:lstStyle/>
          <a:p>
            <a:r>
              <a:rPr lang="en-US" dirty="0">
                <a:latin typeface="+mn-lt"/>
              </a:rPr>
              <a:t>Cloud service characteristics include reduced cost, high scalability, pay-as-you-grow facility, </a:t>
            </a:r>
            <a:r>
              <a:rPr lang="en-US" dirty="0" smtClean="0">
                <a:latin typeface="+mn-lt"/>
              </a:rPr>
              <a:t>guaranteed data </a:t>
            </a:r>
            <a:r>
              <a:rPr lang="en-US" dirty="0">
                <a:latin typeface="+mn-lt"/>
              </a:rPr>
              <a:t>center and network uptime, better resource utilization, and lesser implementation time </a:t>
            </a:r>
            <a:r>
              <a:rPr lang="en-US" dirty="0" smtClean="0">
                <a:latin typeface="+mn-lt"/>
              </a:rPr>
              <a:t>since resources are available on demand.</a:t>
            </a:r>
            <a:endParaRPr lang="en-US" dirty="0" smtClean="0">
              <a:latin typeface="+mn-lt"/>
            </a:endParaRPr>
          </a:p>
          <a:p>
            <a:r>
              <a:rPr lang="en-US" dirty="0">
                <a:latin typeface="+mn-lt"/>
              </a:rPr>
              <a:t>Cloud services are exclusive as they permit </a:t>
            </a:r>
            <a:r>
              <a:rPr lang="en-US" dirty="0" smtClean="0">
                <a:latin typeface="+mn-lt"/>
              </a:rPr>
              <a:t>to </a:t>
            </a:r>
            <a:r>
              <a:rPr lang="en-US" dirty="0">
                <a:latin typeface="+mn-lt"/>
              </a:rPr>
              <a:t>see, </a:t>
            </a:r>
            <a:r>
              <a:rPr lang="en-US" dirty="0" smtClean="0">
                <a:latin typeface="+mn-lt"/>
              </a:rPr>
              <a:t>amend and </a:t>
            </a:r>
            <a:r>
              <a:rPr lang="en-US" dirty="0">
                <a:latin typeface="+mn-lt"/>
              </a:rPr>
              <a:t>share files saved on the </a:t>
            </a:r>
            <a:r>
              <a:rPr lang="en-US" dirty="0" smtClean="0">
                <a:latin typeface="+mn-lt"/>
              </a:rPr>
              <a:t>cloud. At </a:t>
            </a:r>
            <a:r>
              <a:rPr lang="en-US" dirty="0">
                <a:latin typeface="+mn-lt"/>
              </a:rPr>
              <a:t>the same time, as no two cloud services are alike, all of the services offer almost similar </a:t>
            </a:r>
            <a:r>
              <a:rPr lang="en-US" dirty="0" smtClean="0">
                <a:latin typeface="+mn-lt"/>
              </a:rPr>
              <a:t>basic functionality </a:t>
            </a:r>
            <a:r>
              <a:rPr lang="en-US" dirty="0">
                <a:latin typeface="+mn-lt"/>
              </a:rPr>
              <a:t>and features</a:t>
            </a:r>
            <a:r>
              <a:rPr lang="en-US" dirty="0" smtClean="0">
                <a:latin typeface="+mn-lt"/>
              </a:rPr>
              <a:t>.</a:t>
            </a:r>
            <a:endParaRPr lang="en-US" dirty="0" smtClean="0">
              <a:latin typeface="+mn-lt"/>
            </a:endParaRPr>
          </a:p>
          <a:p>
            <a:r>
              <a:rPr lang="en-US" dirty="0">
                <a:latin typeface="+mn-lt"/>
              </a:rPr>
              <a:t>The finest cloud computing services are those which permit </a:t>
            </a:r>
            <a:r>
              <a:rPr lang="en-US" dirty="0" smtClean="0">
                <a:latin typeface="+mn-lt"/>
              </a:rPr>
              <a:t>to </a:t>
            </a:r>
            <a:r>
              <a:rPr lang="en-US" dirty="0">
                <a:latin typeface="+mn-lt"/>
              </a:rPr>
              <a:t>store and upload any sort of file </a:t>
            </a:r>
            <a:r>
              <a:rPr lang="en-US" dirty="0" smtClean="0">
                <a:latin typeface="+mn-lt"/>
              </a:rPr>
              <a:t>one </a:t>
            </a:r>
            <a:r>
              <a:rPr lang="en-US" dirty="0">
                <a:latin typeface="+mn-lt"/>
              </a:rPr>
              <a:t>would keep on </a:t>
            </a:r>
            <a:r>
              <a:rPr lang="en-US" dirty="0" smtClean="0">
                <a:latin typeface="+mn-lt"/>
              </a:rPr>
              <a:t>his/her </a:t>
            </a:r>
            <a:r>
              <a:rPr lang="en-US" dirty="0">
                <a:latin typeface="+mn-lt"/>
              </a:rPr>
              <a:t>local hard drive, from word documents to music files</a:t>
            </a:r>
            <a:r>
              <a:rPr lang="en-US" dirty="0" smtClean="0">
                <a:latin typeface="+mn-lt"/>
              </a:rPr>
              <a:t>.</a:t>
            </a:r>
            <a:r>
              <a:rPr lang="en-US" dirty="0"/>
              <a:t> </a:t>
            </a:r>
            <a:r>
              <a:rPr lang="en-US" dirty="0">
                <a:latin typeface="+mn-lt"/>
              </a:rPr>
              <a:t>Security issues can be solved by file encryption, and password sharing is restricted to protect </a:t>
            </a:r>
            <a:r>
              <a:rPr lang="en-US" dirty="0" smtClean="0">
                <a:latin typeface="+mn-lt"/>
              </a:rPr>
              <a:t>the data</a:t>
            </a:r>
            <a:r>
              <a:rPr lang="en-US" dirty="0">
                <a:latin typeface="+mn-lt"/>
              </a:rPr>
              <a:t>.</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dirty="0">
                <a:solidFill>
                  <a:schemeClr val="tx1"/>
                </a:solidFill>
                <a:latin typeface="+mn-lt"/>
              </a:rPr>
              <a:t>C</a:t>
            </a:r>
            <a:r>
              <a:rPr lang="en-US" dirty="0" smtClean="0">
                <a:solidFill>
                  <a:schemeClr val="tx1"/>
                </a:solidFill>
                <a:latin typeface="+mn-lt"/>
              </a:rPr>
              <a:t>loud and Dynamic Infrastructure</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79" y="1553029"/>
            <a:ext cx="11863450" cy="4623934"/>
          </a:xfrm>
        </p:spPr>
        <p:txBody>
          <a:bodyPr>
            <a:noAutofit/>
          </a:bodyPr>
          <a:lstStyle/>
          <a:p>
            <a:pPr>
              <a:buFont typeface="Wingdings" panose="05000000000000000000" pitchFamily="2" charset="2"/>
              <a:buChar char="Ø"/>
            </a:pPr>
            <a:r>
              <a:rPr lang="en-US" dirty="0">
                <a:latin typeface="+mn-lt"/>
              </a:rPr>
              <a:t>Points to consider while selecting a cloud provider as per the requirement are given below</a:t>
            </a:r>
            <a:r>
              <a:rPr lang="en-US" dirty="0" smtClean="0">
                <a:latin typeface="+mn-lt"/>
              </a:rPr>
              <a:t>:</a:t>
            </a:r>
            <a:endParaRPr lang="en-US" dirty="0" smtClean="0">
              <a:latin typeface="+mn-lt"/>
            </a:endParaRPr>
          </a:p>
          <a:p>
            <a:r>
              <a:rPr lang="en-US" dirty="0">
                <a:latin typeface="+mn-lt"/>
              </a:rPr>
              <a:t>Ease of </a:t>
            </a:r>
            <a:r>
              <a:rPr lang="en-US" dirty="0" smtClean="0">
                <a:latin typeface="+mn-lt"/>
              </a:rPr>
              <a:t>use</a:t>
            </a:r>
            <a:endParaRPr lang="en-US" dirty="0" smtClean="0">
              <a:latin typeface="+mn-lt"/>
            </a:endParaRPr>
          </a:p>
          <a:p>
            <a:r>
              <a:rPr lang="en-US" dirty="0">
                <a:latin typeface="+mn-lt"/>
              </a:rPr>
              <a:t>Help and </a:t>
            </a:r>
            <a:r>
              <a:rPr lang="en-US" dirty="0" smtClean="0">
                <a:latin typeface="+mn-lt"/>
              </a:rPr>
              <a:t>support</a:t>
            </a:r>
            <a:endParaRPr lang="en-US" dirty="0" smtClean="0">
              <a:latin typeface="+mn-lt"/>
            </a:endParaRPr>
          </a:p>
          <a:p>
            <a:r>
              <a:rPr lang="en-US" dirty="0">
                <a:latin typeface="+mn-lt"/>
              </a:rPr>
              <a:t>Packaged </a:t>
            </a:r>
            <a:r>
              <a:rPr lang="en-US" dirty="0" smtClean="0">
                <a:latin typeface="+mn-lt"/>
              </a:rPr>
              <a:t>software</a:t>
            </a:r>
            <a:endParaRPr lang="en-US" dirty="0" smtClean="0">
              <a:latin typeface="+mn-lt"/>
            </a:endParaRPr>
          </a:p>
          <a:p>
            <a:r>
              <a:rPr lang="en-US" dirty="0">
                <a:latin typeface="+mn-lt"/>
              </a:rPr>
              <a:t>Shared </a:t>
            </a:r>
            <a:r>
              <a:rPr lang="en-US" dirty="0" smtClean="0">
                <a:latin typeface="+mn-lt"/>
              </a:rPr>
              <a:t>software</a:t>
            </a:r>
            <a:endParaRPr lang="en-US" dirty="0" smtClean="0">
              <a:latin typeface="+mn-lt"/>
            </a:endParaRPr>
          </a:p>
          <a:p>
            <a:r>
              <a:rPr lang="en-US" dirty="0">
                <a:latin typeface="+mn-lt"/>
              </a:rPr>
              <a:t>Tool </a:t>
            </a:r>
            <a:r>
              <a:rPr lang="en-US" dirty="0" smtClean="0">
                <a:latin typeface="+mn-lt"/>
              </a:rPr>
              <a:t>management</a:t>
            </a:r>
            <a:endParaRPr lang="en-US" dirty="0" smtClean="0">
              <a:latin typeface="+mn-lt"/>
            </a:endParaRPr>
          </a:p>
          <a:p>
            <a:r>
              <a:rPr lang="en-US" dirty="0">
                <a:latin typeface="+mn-lt"/>
              </a:rPr>
              <a:t>Mobile </a:t>
            </a:r>
            <a:r>
              <a:rPr lang="en-US" dirty="0" smtClean="0">
                <a:latin typeface="+mn-lt"/>
              </a:rPr>
              <a:t>access</a:t>
            </a:r>
            <a:endParaRPr lang="en-US" dirty="0" smtClean="0">
              <a:latin typeface="+mn-lt"/>
            </a:endParaRPr>
          </a:p>
          <a:p>
            <a:r>
              <a:rPr lang="en-US" dirty="0">
                <a:latin typeface="+mn-lt"/>
              </a:rPr>
              <a:t>Line of business </a:t>
            </a:r>
            <a:r>
              <a:rPr lang="en-US" dirty="0" smtClean="0">
                <a:latin typeface="+mn-lt"/>
              </a:rPr>
              <a:t>services</a:t>
            </a:r>
            <a:endParaRPr lang="en-US" dirty="0" smtClean="0">
              <a:latin typeface="+mn-lt"/>
            </a:endParaRPr>
          </a:p>
          <a:p>
            <a:r>
              <a:rPr lang="en-US" dirty="0">
                <a:latin typeface="+mn-lt"/>
              </a:rPr>
              <a:t>Customer-oriented </a:t>
            </a:r>
            <a:r>
              <a:rPr lang="en-US" dirty="0" smtClean="0">
                <a:latin typeface="+mn-lt"/>
              </a:rPr>
              <a:t>services</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dirty="0">
                <a:solidFill>
                  <a:schemeClr val="tx1"/>
                </a:solidFill>
                <a:latin typeface="+mn-lt"/>
              </a:rPr>
              <a:t>C</a:t>
            </a:r>
            <a:r>
              <a:rPr lang="en-US" dirty="0" smtClean="0">
                <a:solidFill>
                  <a:schemeClr val="tx1"/>
                </a:solidFill>
                <a:latin typeface="+mn-lt"/>
              </a:rPr>
              <a:t>loud and Dynamic Infrastructure</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79" y="1553029"/>
            <a:ext cx="11863450"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Businesses </a:t>
            </a:r>
            <a:r>
              <a:rPr lang="en-US" dirty="0">
                <a:latin typeface="+mn-lt"/>
              </a:rPr>
              <a:t>must vigilantly think about five chief barriers for prosperous implementation of cloud </a:t>
            </a:r>
            <a:r>
              <a:rPr lang="en-US" dirty="0" smtClean="0">
                <a:latin typeface="+mn-lt"/>
              </a:rPr>
              <a:t>computing. These </a:t>
            </a:r>
            <a:r>
              <a:rPr lang="en-US" dirty="0">
                <a:latin typeface="+mn-lt"/>
              </a:rPr>
              <a:t>are as follows</a:t>
            </a:r>
            <a:r>
              <a:rPr lang="en-US" dirty="0" smtClean="0">
                <a:latin typeface="+mn-lt"/>
              </a:rPr>
              <a:t>:</a:t>
            </a:r>
            <a:endParaRPr lang="en-US" dirty="0" smtClean="0">
              <a:latin typeface="+mn-lt"/>
            </a:endParaRPr>
          </a:p>
          <a:p>
            <a:r>
              <a:rPr lang="en-US" dirty="0" smtClean="0">
                <a:latin typeface="+mn-lt"/>
              </a:rPr>
              <a:t>Security</a:t>
            </a:r>
            <a:endParaRPr lang="en-US" dirty="0" smtClean="0">
              <a:latin typeface="+mn-lt"/>
            </a:endParaRPr>
          </a:p>
          <a:p>
            <a:r>
              <a:rPr lang="en-US" dirty="0" smtClean="0">
                <a:latin typeface="+mn-lt"/>
              </a:rPr>
              <a:t>Privacy</a:t>
            </a:r>
            <a:endParaRPr lang="en-US" dirty="0" smtClean="0">
              <a:latin typeface="+mn-lt"/>
            </a:endParaRPr>
          </a:p>
          <a:p>
            <a:r>
              <a:rPr lang="en-US" dirty="0">
                <a:latin typeface="+mn-lt"/>
              </a:rPr>
              <a:t>Irresponsibility of </a:t>
            </a:r>
            <a:r>
              <a:rPr lang="en-US" dirty="0" smtClean="0">
                <a:latin typeface="+mn-lt"/>
              </a:rPr>
              <a:t>vendors</a:t>
            </a:r>
            <a:endParaRPr lang="en-US" dirty="0" smtClean="0">
              <a:latin typeface="+mn-lt"/>
            </a:endParaRPr>
          </a:p>
          <a:p>
            <a:r>
              <a:rPr lang="en-US" dirty="0">
                <a:latin typeface="+mn-lt"/>
              </a:rPr>
              <a:t>Risk </a:t>
            </a:r>
            <a:r>
              <a:rPr lang="en-US" dirty="0" smtClean="0">
                <a:latin typeface="+mn-lt"/>
              </a:rPr>
              <a:t>improvement</a:t>
            </a:r>
            <a:endParaRPr lang="en-US" dirty="0" smtClean="0">
              <a:latin typeface="+mn-lt"/>
            </a:endParaRPr>
          </a:p>
          <a:p>
            <a:r>
              <a:rPr lang="en-US" dirty="0">
                <a:latin typeface="+mn-lt"/>
              </a:rPr>
              <a:t>Inheritance of applications</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dirty="0" smtClean="0">
                <a:solidFill>
                  <a:schemeClr val="tx1"/>
                </a:solidFill>
                <a:latin typeface="+mn-lt"/>
              </a:rPr>
              <a:t>Impediments to Cloud Adoption</a:t>
            </a:r>
            <a:endParaRPr lang="en-US" dirty="0">
              <a:solidFill>
                <a:schemeClr val="tx1"/>
              </a:solidFill>
              <a:latin typeface="+mn-l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08478" y="3179577"/>
            <a:ext cx="11684000" cy="1071789"/>
          </a:xfrm>
          <a:solidFill>
            <a:schemeClr val="bg1"/>
          </a:solidFill>
        </p:spPr>
        <p:txBody>
          <a:bodyPr>
            <a:normAutofit/>
          </a:bodyPr>
          <a:lstStyle/>
          <a:p>
            <a:pPr algn="ctr"/>
            <a:r>
              <a:rPr lang="en-US" dirty="0" smtClean="0">
                <a:solidFill>
                  <a:schemeClr val="tx1"/>
                </a:solidFill>
                <a:latin typeface="Calibri" panose="020F0502020204030204" pitchFamily="34" charset="0"/>
              </a:rPr>
              <a:t>Thank You!</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9039</Words>
  <Application>WPS Presentation</Application>
  <PresentationFormat>Custom</PresentationFormat>
  <Paragraphs>208</Paragraphs>
  <Slides>24</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SimSun</vt:lpstr>
      <vt:lpstr>Wingdings</vt:lpstr>
      <vt:lpstr>Candara</vt:lpstr>
      <vt:lpstr>Calibri</vt:lpstr>
      <vt:lpstr>Microsoft YaHei</vt:lpstr>
      <vt:lpstr>Arial Unicode MS</vt:lpstr>
      <vt:lpstr>Calibri Light</vt:lpstr>
      <vt:lpstr>Office Theme</vt:lpstr>
      <vt:lpstr>PowerPoint 演示文稿</vt:lpstr>
      <vt:lpstr>Chapter 3</vt:lpstr>
      <vt:lpstr>Learning Outcomes</vt:lpstr>
      <vt:lpstr>Introduction</vt:lpstr>
      <vt:lpstr>Grid Framework</vt:lpstr>
      <vt:lpstr>Grid Computing</vt:lpstr>
      <vt:lpstr>Grid Computing</vt:lpstr>
      <vt:lpstr>Grid Framework</vt:lpstr>
      <vt:lpstr>Grid Framework</vt:lpstr>
      <vt:lpstr>Grid Framework</vt:lpstr>
      <vt:lpstr>Grid Architecture</vt:lpstr>
      <vt:lpstr>PowerPoint 演示文稿</vt:lpstr>
      <vt:lpstr>Grid Architecture</vt:lpstr>
      <vt:lpstr>Challenges of Grid Computing </vt:lpstr>
      <vt:lpstr>Cloud Computing Architecture</vt:lpstr>
      <vt:lpstr>Cloud Computing Architecture</vt:lpstr>
      <vt:lpstr>Cloud Computing Architecture</vt:lpstr>
      <vt:lpstr>Key Design Aspects of Cloud Architecture, Cloud Services and Cloud Applications</vt:lpstr>
      <vt:lpstr>Similarities and Differences between Grid and Cloud Computing</vt:lpstr>
      <vt:lpstr>Features of Cloud Computing</vt:lpstr>
      <vt:lpstr>Cloud and Dynamic Infrastructure</vt:lpstr>
      <vt:lpstr>Cloud and Dynamic Infrastructure</vt:lpstr>
      <vt:lpstr>Impediments to Cloud Adoption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Chowdhury, Sayantan</dc:creator>
  <cp:lastModifiedBy>KIIT01</cp:lastModifiedBy>
  <cp:revision>76</cp:revision>
  <dcterms:created xsi:type="dcterms:W3CDTF">2018-06-14T06:27:00Z</dcterms:created>
  <dcterms:modified xsi:type="dcterms:W3CDTF">2023-01-17T03:43:27Z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29590D3EAE084AA68A3441136B8A194E</vt:lpwstr>
  </property>
  <property fmtid="{D5CDD505-2E9C-101B-9397-08002B2CF9AE}" pid="3" name="KSOProductBuildVer">
    <vt:lpwstr>1033-11.2.0.11440</vt:lpwstr>
  </property>
</Properties>
</file>