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sldIdLst>
    <p:sldId id="256" r:id="rId2"/>
    <p:sldId id="260" r:id="rId3"/>
    <p:sldId id="257" r:id="rId4"/>
    <p:sldId id="342" r:id="rId5"/>
    <p:sldId id="343" r:id="rId6"/>
    <p:sldId id="344" r:id="rId7"/>
    <p:sldId id="346" r:id="rId8"/>
    <p:sldId id="345" r:id="rId9"/>
    <p:sldId id="347" r:id="rId10"/>
    <p:sldId id="348" r:id="rId11"/>
    <p:sldId id="349" r:id="rId12"/>
    <p:sldId id="350" r:id="rId13"/>
    <p:sldId id="351" r:id="rId14"/>
    <p:sldId id="352" r:id="rId15"/>
    <p:sldId id="353" r:id="rId16"/>
    <p:sldId id="355" r:id="rId17"/>
    <p:sldId id="356" r:id="rId18"/>
    <p:sldId id="357" r:id="rId19"/>
    <p:sldId id="358" r:id="rId20"/>
    <p:sldId id="359" r:id="rId21"/>
    <p:sldId id="360" r:id="rId22"/>
    <p:sldId id="361" r:id="rId23"/>
    <p:sldId id="362" r:id="rId24"/>
    <p:sldId id="363" r:id="rId25"/>
    <p:sldId id="364" r:id="rId26"/>
    <p:sldId id="365" r:id="rId27"/>
    <p:sldId id="366" r:id="rId28"/>
    <p:sldId id="367" r:id="rId29"/>
    <p:sldId id="368" r:id="rId30"/>
    <p:sldId id="369" r:id="rId31"/>
    <p:sldId id="285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66EAE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91" autoAdjust="0"/>
    <p:restoredTop sz="94660"/>
  </p:normalViewPr>
  <p:slideViewPr>
    <p:cSldViewPr snapToGrid="0">
      <p:cViewPr varScale="1">
        <p:scale>
          <a:sx n="77" d="100"/>
          <a:sy n="77" d="100"/>
        </p:scale>
        <p:origin x="-114" y="-5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DA5E15-EA7C-4AE6-A7FE-6EE8949B26F4}" type="datetimeFigureOut">
              <a:rPr lang="en-US" smtClean="0"/>
              <a:t>8/13/2018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83C74D-DBCC-462F-80C9-23B653553D8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9347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83C74D-DBCC-462F-80C9-23B653553D81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41514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83C74D-DBCC-462F-80C9-23B653553D81}" type="slidenum">
              <a:rPr lang="en-US" smtClean="0"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03142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95271-EAF6-4654-82A8-BE1747C4483D}" type="datetimeFigureOut">
              <a:rPr lang="en-US" smtClean="0"/>
              <a:t>8/13/2018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68F581-6023-4562-B0C8-C7FA9B9410A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88750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32229" y="365125"/>
            <a:ext cx="11684000" cy="1071789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Candara" panose="020E0502030303020204" pitchFamily="34" charset="0"/>
              </a:defRPr>
            </a:lvl1pPr>
          </a:lstStyle>
          <a:p>
            <a:r>
              <a:rPr lang="en-US" dirty="0" smtClean="0"/>
              <a:t>Topic: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2229" y="1553029"/>
            <a:ext cx="11684000" cy="4623934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Candara" panose="020E0502030303020204" pitchFamily="34" charset="0"/>
              </a:defRPr>
            </a:lvl1pPr>
            <a:lvl2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Candara" panose="020E0502030303020204" pitchFamily="34" charset="0"/>
              </a:defRPr>
            </a:lvl2pPr>
            <a:lvl3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Candara" panose="020E0502030303020204" pitchFamily="34" charset="0"/>
              </a:defRPr>
            </a:lvl3pPr>
            <a:lvl4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Candara" panose="020E0502030303020204" pitchFamily="34" charset="0"/>
              </a:defRPr>
            </a:lvl4pPr>
            <a:lvl5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Candara" panose="020E0502030303020204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95271-EAF6-4654-82A8-BE1747C4483D}" type="datetimeFigureOut">
              <a:rPr lang="en-US" smtClean="0"/>
              <a:t>8/13/2018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dirty="0" smtClean="0"/>
              <a:t>© Oxford University Press India.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68F581-6023-4562-B0C8-C7FA9B9410A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46208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 baseline="0"/>
            </a:lvl1pPr>
          </a:lstStyle>
          <a:p>
            <a:r>
              <a:rPr lang="en-US" dirty="0" smtClean="0"/>
              <a:t>Chapter name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>
            <a:normAutofit/>
          </a:bodyPr>
          <a:lstStyle>
            <a:lvl1pPr marL="0" indent="0">
              <a:buNone/>
              <a:defRPr sz="3600" baseline="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 smtClean="0"/>
              <a:t>Chapter no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95271-EAF6-4654-82A8-BE1747C4483D}" type="datetimeFigureOut">
              <a:rPr lang="en-US" smtClean="0"/>
              <a:t>8/13/2018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dirty="0" smtClean="0"/>
              <a:t>© Oxford University Press India.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68F581-6023-4562-B0C8-C7FA9B9410A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10762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95271-EAF6-4654-82A8-BE1747C4483D}" type="datetimeFigureOut">
              <a:rPr lang="en-US" smtClean="0"/>
              <a:t>8/13/2018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68F581-6023-4562-B0C8-C7FA9B9410A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9286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95271-EAF6-4654-82A8-BE1747C4483D}" type="datetimeFigureOut">
              <a:rPr lang="en-US" smtClean="0"/>
              <a:t>8/13/2018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68F581-6023-4562-B0C8-C7FA9B9410A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82931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95271-EAF6-4654-82A8-BE1747C4483D}" type="datetimeFigureOut">
              <a:rPr lang="en-US" smtClean="0"/>
              <a:t>8/13/2018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68F581-6023-4562-B0C8-C7FA9B9410A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91819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95271-EAF6-4654-82A8-BE1747C4483D}" type="datetimeFigureOut">
              <a:rPr lang="en-US" smtClean="0"/>
              <a:t>8/13/2018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68F581-6023-4562-B0C8-C7FA9B9410A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9597" y="890117"/>
            <a:ext cx="3604203" cy="4801691"/>
          </a:xfrm>
          <a:prstGeom prst="rect">
            <a:avLst/>
          </a:prstGeom>
          <a:ln w="3175">
            <a:solidFill>
              <a:schemeClr val="bg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TextBox 5"/>
          <p:cNvSpPr txBox="1"/>
          <p:nvPr userDrawn="1"/>
        </p:nvSpPr>
        <p:spPr>
          <a:xfrm>
            <a:off x="1524000" y="2191658"/>
            <a:ext cx="560251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7200" b="1" dirty="0" smtClean="0">
                <a:solidFill>
                  <a:schemeClr val="bg1"/>
                </a:solidFill>
                <a:latin typeface="Candara" panose="020E0502030303020204" pitchFamily="34" charset="0"/>
              </a:rPr>
              <a:t>CLOUD COMPUTING</a:t>
            </a:r>
          </a:p>
          <a:p>
            <a:endParaRPr lang="en-US" dirty="0" smtClean="0"/>
          </a:p>
          <a:p>
            <a:pPr algn="ctr"/>
            <a:r>
              <a:rPr lang="en-US" b="1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Shailendra</a:t>
            </a:r>
            <a:r>
              <a:rPr 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Singh</a:t>
            </a:r>
          </a:p>
          <a:p>
            <a:pPr algn="ctr"/>
            <a:r>
              <a:rPr 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Professor</a:t>
            </a:r>
          </a:p>
          <a:p>
            <a:pPr algn="ctr"/>
            <a:r>
              <a:rPr 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Department of Computer Science &amp; Engineering</a:t>
            </a:r>
          </a:p>
          <a:p>
            <a:pPr algn="ctr"/>
            <a:r>
              <a:rPr 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NITTTR, Bhopal</a:t>
            </a:r>
          </a:p>
          <a:p>
            <a:pPr algn="ctr"/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2046514" y="4455887"/>
            <a:ext cx="5442857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12850" y="352793"/>
            <a:ext cx="2054530" cy="1072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29196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95271-EAF6-4654-82A8-BE1747C4483D}" type="datetimeFigureOut">
              <a:rPr lang="en-US" smtClean="0"/>
              <a:t>8/13/2018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68F581-6023-4562-B0C8-C7FA9B9410A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22436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95271-EAF6-4654-82A8-BE1747C4483D}" type="datetimeFigureOut">
              <a:rPr lang="en-US" smtClean="0"/>
              <a:t>8/13/2018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68F581-6023-4562-B0C8-C7FA9B9410A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36971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95271-EAF6-4654-82A8-BE1747C4483D}" type="datetimeFigureOut">
              <a:rPr lang="en-US" smtClean="0"/>
              <a:t>8/13/2018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68F581-6023-4562-B0C8-C7FA9B9410A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1496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95271-EAF6-4654-82A8-BE1747C4483D}" type="datetimeFigureOut">
              <a:rPr lang="en-US" smtClean="0"/>
              <a:t>8/13/2018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68F581-6023-4562-B0C8-C7FA9B9410A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15180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64000">
              <a:srgbClr val="A1AED2"/>
            </a:gs>
            <a:gs pos="0">
              <a:srgbClr val="566EAE"/>
            </a:gs>
            <a:gs pos="100000">
              <a:srgbClr val="FFFFFF"/>
            </a:gs>
          </a:gsLst>
          <a:lin ang="78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C95271-EAF6-4654-82A8-BE1747C4483D}" type="datetimeFigureOut">
              <a:rPr lang="en-US" smtClean="0"/>
              <a:t>8/13/2018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dirty="0" smtClean="0"/>
              <a:t>© Oxford University Press India.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68F581-6023-4562-B0C8-C7FA9B9410A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71860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201944" y="6284660"/>
            <a:ext cx="6327648" cy="365125"/>
          </a:xfrm>
        </p:spPr>
        <p:txBody>
          <a:bodyPr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© Oxford University Press 2018.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36125807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Calibri" panose="020F0502020204030204" pitchFamily="34" charset="0"/>
              </a:rPr>
              <a:t>Chapter 6</a:t>
            </a:r>
            <a:endParaRPr lang="en-US" b="1" dirty="0">
              <a:latin typeface="Calibri" panose="020F0502020204030204" pitchFamily="3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tx1"/>
                </a:solidFill>
                <a:latin typeface="Calibri" panose="020F0502020204030204" pitchFamily="34" charset="0"/>
              </a:rPr>
              <a:t>Virtualization Technology (At Server)</a:t>
            </a:r>
            <a:endParaRPr lang="en-US" b="1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201944" y="6284660"/>
            <a:ext cx="6327648" cy="365125"/>
          </a:xfrm>
        </p:spPr>
        <p:txBody>
          <a:bodyPr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© Oxford University Press 2018.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25263155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78000">
              <a:srgbClr val="A1AED2"/>
            </a:gs>
            <a:gs pos="0">
              <a:srgbClr val="566EAE"/>
            </a:gs>
            <a:gs pos="100000">
              <a:srgbClr val="FFFFFF"/>
            </a:gs>
          </a:gsLst>
          <a:lin ang="78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Calibri" panose="020F0502020204030204" pitchFamily="34" charset="0"/>
              </a:rPr>
              <a:t>Learning Outcomes</a:t>
            </a:r>
            <a:endParaRPr lang="en-US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FFFF00"/>
                </a:solidFill>
                <a:latin typeface="Calibri" panose="020F0502020204030204" pitchFamily="34" charset="0"/>
              </a:rPr>
              <a:t>At the end of the session you will be able to:</a:t>
            </a: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</a:rPr>
              <a:t> </a:t>
            </a:r>
            <a:endParaRPr lang="en-US" dirty="0" smtClean="0">
              <a:latin typeface="+mn-lt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 smtClean="0">
                <a:latin typeface="+mn-lt"/>
              </a:rPr>
              <a:t>Comprehend </a:t>
            </a:r>
            <a:r>
              <a:rPr lang="en-US" sz="2400" dirty="0">
                <a:latin typeface="+mn-lt"/>
              </a:rPr>
              <a:t>virtualization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+mn-lt"/>
              </a:rPr>
              <a:t> </a:t>
            </a:r>
            <a:r>
              <a:rPr lang="en-US" sz="2400" dirty="0" smtClean="0">
                <a:latin typeface="+mn-lt"/>
              </a:rPr>
              <a:t>Explain </a:t>
            </a:r>
            <a:r>
              <a:rPr lang="en-US" sz="2400" dirty="0">
                <a:latin typeface="+mn-lt"/>
              </a:rPr>
              <a:t>need of compute virtualization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+mn-lt"/>
              </a:rPr>
              <a:t> </a:t>
            </a:r>
            <a:r>
              <a:rPr lang="en-US" sz="2400" dirty="0" smtClean="0">
                <a:latin typeface="+mn-lt"/>
              </a:rPr>
              <a:t>Understand </a:t>
            </a:r>
            <a:r>
              <a:rPr lang="en-US" sz="2400" dirty="0">
                <a:latin typeface="+mn-lt"/>
              </a:rPr>
              <a:t>virtual clusters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+mn-lt"/>
              </a:rPr>
              <a:t> </a:t>
            </a:r>
            <a:r>
              <a:rPr lang="en-US" sz="2400" dirty="0" smtClean="0">
                <a:latin typeface="+mn-lt"/>
              </a:rPr>
              <a:t>Apply </a:t>
            </a:r>
            <a:r>
              <a:rPr lang="en-US" sz="2400" dirty="0">
                <a:latin typeface="+mn-lt"/>
              </a:rPr>
              <a:t>various techniques used for computing virtualization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+mn-lt"/>
              </a:rPr>
              <a:t> </a:t>
            </a:r>
            <a:r>
              <a:rPr lang="en-US" sz="2400" dirty="0" smtClean="0">
                <a:latin typeface="+mn-lt"/>
              </a:rPr>
              <a:t>Describe </a:t>
            </a:r>
            <a:r>
              <a:rPr lang="en-US" sz="2400" dirty="0">
                <a:latin typeface="+mn-lt"/>
              </a:rPr>
              <a:t>various resource management tools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+mn-lt"/>
              </a:rPr>
              <a:t> </a:t>
            </a:r>
            <a:r>
              <a:rPr lang="en-US" sz="2400" dirty="0" smtClean="0">
                <a:latin typeface="+mn-lt"/>
              </a:rPr>
              <a:t>Describe </a:t>
            </a:r>
            <a:r>
              <a:rPr lang="en-US" sz="2400" dirty="0">
                <a:latin typeface="+mn-lt"/>
              </a:rPr>
              <a:t>application of virtual machine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+mn-lt"/>
              </a:rPr>
              <a:t> </a:t>
            </a:r>
            <a:r>
              <a:rPr lang="en-US" sz="2400" dirty="0" smtClean="0">
                <a:latin typeface="+mn-lt"/>
              </a:rPr>
              <a:t>Describe </a:t>
            </a:r>
            <a:r>
              <a:rPr lang="en-US" sz="2400" dirty="0">
                <a:latin typeface="+mn-lt"/>
              </a:rPr>
              <a:t>hypervisor taxonomy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+mn-lt"/>
              </a:rPr>
              <a:t> </a:t>
            </a:r>
            <a:r>
              <a:rPr lang="en-US" sz="2400" dirty="0" smtClean="0">
                <a:latin typeface="+mn-lt"/>
              </a:rPr>
              <a:t>Appreciate </a:t>
            </a:r>
            <a:r>
              <a:rPr lang="en-US" sz="2400" dirty="0">
                <a:latin typeface="+mn-lt"/>
              </a:rPr>
              <a:t>the concept of virtual machine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+mn-lt"/>
              </a:rPr>
              <a:t> </a:t>
            </a:r>
            <a:r>
              <a:rPr lang="en-US" sz="2400" dirty="0" smtClean="0">
                <a:latin typeface="+mn-lt"/>
              </a:rPr>
              <a:t>Explain </a:t>
            </a:r>
            <a:r>
              <a:rPr lang="en-US" sz="2400" dirty="0">
                <a:latin typeface="+mn-lt"/>
              </a:rPr>
              <a:t>data center virtualization</a:t>
            </a:r>
            <a:endParaRPr lang="en-US" sz="24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201944" y="6284660"/>
            <a:ext cx="6327648" cy="365125"/>
          </a:xfrm>
        </p:spPr>
        <p:txBody>
          <a:bodyPr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© Oxford University Press 2018.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42083389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Calibri" panose="020F0502020204030204" pitchFamily="34" charset="0"/>
              </a:rPr>
              <a:t>Introduction</a:t>
            </a:r>
            <a:endParaRPr lang="en-US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 smtClean="0">
                <a:latin typeface="+mn-lt"/>
              </a:rPr>
              <a:t> </a:t>
            </a:r>
            <a:r>
              <a:rPr lang="en-US" dirty="0">
                <a:latin typeface="+mn-lt"/>
              </a:rPr>
              <a:t>Virtualization refers to a technology that is used to make physical </a:t>
            </a:r>
            <a:endParaRPr lang="en-US" dirty="0" smtClean="0">
              <a:latin typeface="+mn-lt"/>
            </a:endParaRPr>
          </a:p>
          <a:p>
            <a:pPr marL="0" indent="0">
              <a:buNone/>
            </a:pPr>
            <a:r>
              <a:rPr lang="en-US" dirty="0">
                <a:latin typeface="+mn-lt"/>
              </a:rPr>
              <a:t> </a:t>
            </a:r>
            <a:r>
              <a:rPr lang="en-US" dirty="0" smtClean="0">
                <a:latin typeface="+mn-lt"/>
              </a:rPr>
              <a:t>    resources </a:t>
            </a:r>
            <a:r>
              <a:rPr lang="en-US" dirty="0">
                <a:latin typeface="+mn-lt"/>
              </a:rPr>
              <a:t>available as virtual resources</a:t>
            </a:r>
            <a:r>
              <a:rPr lang="en-US" dirty="0" smtClean="0">
                <a:latin typeface="+mn-lt"/>
              </a:rPr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>
                <a:latin typeface="+mn-lt"/>
              </a:rPr>
              <a:t>Cloud computing </a:t>
            </a:r>
            <a:r>
              <a:rPr lang="en-US" dirty="0">
                <a:latin typeface="+mn-lt"/>
              </a:rPr>
              <a:t>technologies use a set of techniques to create virtual </a:t>
            </a:r>
            <a:endParaRPr lang="en-US" dirty="0" smtClean="0">
              <a:latin typeface="+mn-lt"/>
            </a:endParaRPr>
          </a:p>
          <a:p>
            <a:pPr marL="0" indent="0">
              <a:buNone/>
            </a:pPr>
            <a:r>
              <a:rPr lang="en-US" dirty="0">
                <a:latin typeface="+mn-lt"/>
              </a:rPr>
              <a:t> </a:t>
            </a:r>
            <a:r>
              <a:rPr lang="en-US" dirty="0" smtClean="0">
                <a:latin typeface="+mn-lt"/>
              </a:rPr>
              <a:t>   servers</a:t>
            </a:r>
            <a:r>
              <a:rPr lang="en-US" dirty="0">
                <a:latin typeface="+mn-lt"/>
              </a:rPr>
              <a:t>, virtual storage, virtual </a:t>
            </a:r>
            <a:r>
              <a:rPr lang="en-US" dirty="0" smtClean="0">
                <a:latin typeface="+mn-lt"/>
              </a:rPr>
              <a:t>networks, and </a:t>
            </a:r>
            <a:r>
              <a:rPr lang="en-US" dirty="0">
                <a:latin typeface="+mn-lt"/>
              </a:rPr>
              <a:t>perhaps virtual applications as </a:t>
            </a:r>
            <a:endParaRPr lang="en-US" dirty="0" smtClean="0">
              <a:latin typeface="+mn-lt"/>
            </a:endParaRPr>
          </a:p>
          <a:p>
            <a:pPr marL="0" indent="0">
              <a:buNone/>
            </a:pPr>
            <a:r>
              <a:rPr lang="en-US" dirty="0">
                <a:latin typeface="+mn-lt"/>
              </a:rPr>
              <a:t> </a:t>
            </a:r>
            <a:r>
              <a:rPr lang="en-US" dirty="0" smtClean="0">
                <a:latin typeface="+mn-lt"/>
              </a:rPr>
              <a:t>   well.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+mn-lt"/>
              </a:rPr>
              <a:t>Virtualization software is used to make a physical </a:t>
            </a:r>
            <a:r>
              <a:rPr lang="en-US" dirty="0" smtClean="0">
                <a:latin typeface="+mn-lt"/>
              </a:rPr>
              <a:t>server like </a:t>
            </a:r>
            <a:r>
              <a:rPr lang="en-US" dirty="0">
                <a:latin typeface="+mn-lt"/>
              </a:rPr>
              <a:t>a virtual server</a:t>
            </a:r>
            <a:r>
              <a:rPr lang="en-US" dirty="0" smtClean="0">
                <a:latin typeface="+mn-lt"/>
              </a:rPr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+mn-lt"/>
              </a:rPr>
              <a:t>Operating system-level virtualization can be achieved by installing </a:t>
            </a:r>
            <a:endParaRPr lang="en-US" dirty="0" smtClean="0">
              <a:latin typeface="+mn-lt"/>
            </a:endParaRPr>
          </a:p>
          <a:p>
            <a:pPr marL="0" indent="0">
              <a:buNone/>
            </a:pPr>
            <a:r>
              <a:rPr lang="en-US" dirty="0">
                <a:latin typeface="+mn-lt"/>
              </a:rPr>
              <a:t> </a:t>
            </a:r>
            <a:r>
              <a:rPr lang="en-US" dirty="0" smtClean="0">
                <a:latin typeface="+mn-lt"/>
              </a:rPr>
              <a:t>   virtualization </a:t>
            </a:r>
            <a:r>
              <a:rPr lang="en-US" dirty="0">
                <a:latin typeface="+mn-lt"/>
              </a:rPr>
              <a:t>software on </a:t>
            </a:r>
            <a:r>
              <a:rPr lang="en-US" dirty="0" smtClean="0">
                <a:latin typeface="+mn-lt"/>
              </a:rPr>
              <a:t>already installed </a:t>
            </a:r>
            <a:r>
              <a:rPr lang="en-US" dirty="0">
                <a:latin typeface="+mn-lt"/>
              </a:rPr>
              <a:t>operating systems.</a:t>
            </a:r>
            <a:endParaRPr lang="en-US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201944" y="6284660"/>
            <a:ext cx="6327648" cy="365125"/>
          </a:xfrm>
        </p:spPr>
        <p:txBody>
          <a:bodyPr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© Oxford University Press 2018.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35304005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+mn-lt"/>
              </a:rPr>
              <a:t>Virtualization Reference Model</a:t>
            </a:r>
            <a:endParaRPr lang="en-US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+mn-lt"/>
              </a:rPr>
              <a:t>The virtualization model consists of a host or physical resources in the first </a:t>
            </a:r>
            <a:endParaRPr lang="en-US" dirty="0" smtClean="0">
              <a:latin typeface="+mn-lt"/>
            </a:endParaRPr>
          </a:p>
          <a:p>
            <a:pPr marL="0" indent="0">
              <a:buNone/>
            </a:pPr>
            <a:r>
              <a:rPr lang="en-US" dirty="0">
                <a:latin typeface="+mn-lt"/>
              </a:rPr>
              <a:t> </a:t>
            </a:r>
            <a:r>
              <a:rPr lang="en-US" dirty="0" smtClean="0">
                <a:latin typeface="+mn-lt"/>
              </a:rPr>
              <a:t>   layer</a:t>
            </a:r>
            <a:r>
              <a:rPr lang="en-US" dirty="0">
                <a:latin typeface="+mn-lt"/>
              </a:rPr>
              <a:t>, virtualization </a:t>
            </a:r>
            <a:r>
              <a:rPr lang="en-US" dirty="0" smtClean="0">
                <a:latin typeface="+mn-lt"/>
              </a:rPr>
              <a:t>tool in </a:t>
            </a:r>
            <a:r>
              <a:rPr lang="en-US" dirty="0">
                <a:latin typeface="+mn-lt"/>
              </a:rPr>
              <a:t>the second layer, </a:t>
            </a:r>
          </a:p>
          <a:p>
            <a:pPr marL="0" indent="0">
              <a:buNone/>
            </a:pPr>
            <a:r>
              <a:rPr lang="en-US" dirty="0" smtClean="0">
                <a:latin typeface="+mn-lt"/>
              </a:rPr>
              <a:t>    and </a:t>
            </a:r>
            <a:r>
              <a:rPr lang="en-US" dirty="0">
                <a:latin typeface="+mn-lt"/>
              </a:rPr>
              <a:t>a guest in the third </a:t>
            </a:r>
            <a:r>
              <a:rPr lang="en-US" dirty="0" smtClean="0">
                <a:latin typeface="+mn-lt"/>
              </a:rPr>
              <a:t>layer</a:t>
            </a:r>
          </a:p>
          <a:p>
            <a:pPr marL="0" indent="0">
              <a:buNone/>
            </a:pPr>
            <a:r>
              <a:rPr lang="en-US" dirty="0">
                <a:latin typeface="+mn-lt"/>
              </a:rPr>
              <a:t> </a:t>
            </a:r>
            <a:r>
              <a:rPr lang="en-US" dirty="0" smtClean="0">
                <a:latin typeface="+mn-lt"/>
              </a:rPr>
              <a:t>  (</a:t>
            </a:r>
            <a:r>
              <a:rPr lang="en-US" dirty="0">
                <a:latin typeface="+mn-lt"/>
              </a:rPr>
              <a:t>application as well as virtual image) </a:t>
            </a:r>
            <a:endParaRPr lang="en-US" dirty="0" smtClean="0">
              <a:latin typeface="+mn-lt"/>
            </a:endParaRPr>
          </a:p>
          <a:p>
            <a:pPr marL="0" indent="0">
              <a:buNone/>
            </a:pPr>
            <a:r>
              <a:rPr lang="en-US" dirty="0">
                <a:latin typeface="+mn-lt"/>
              </a:rPr>
              <a:t> </a:t>
            </a:r>
            <a:r>
              <a:rPr lang="en-US" dirty="0" smtClean="0">
                <a:latin typeface="+mn-lt"/>
              </a:rPr>
              <a:t>   as </a:t>
            </a:r>
            <a:r>
              <a:rPr lang="en-US" dirty="0">
                <a:latin typeface="+mn-lt"/>
              </a:rPr>
              <a:t>shown </a:t>
            </a:r>
            <a:r>
              <a:rPr lang="en-US" dirty="0" smtClean="0">
                <a:latin typeface="+mn-lt"/>
              </a:rPr>
              <a:t>in Fig</a:t>
            </a:r>
            <a:r>
              <a:rPr lang="en-US" dirty="0">
                <a:latin typeface="+mn-lt"/>
              </a:rPr>
              <a:t>. 6.1.</a:t>
            </a:r>
            <a:endParaRPr lang="en-US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201944" y="6284660"/>
            <a:ext cx="6327648" cy="365125"/>
          </a:xfrm>
        </p:spPr>
        <p:txBody>
          <a:bodyPr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© Oxford University Press 2018. All rights reserved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0133" y="2553193"/>
            <a:ext cx="5676900" cy="37631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514795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+mn-lt"/>
              </a:rPr>
              <a:t>Advantages of Virtualization</a:t>
            </a:r>
            <a:endParaRPr lang="en-US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FFFF00"/>
                </a:solidFill>
                <a:latin typeface="+mn-lt"/>
              </a:rPr>
              <a:t>The advantages of virtualization include the following: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600" dirty="0" smtClean="0">
                <a:latin typeface="+mn-lt"/>
              </a:rPr>
              <a:t>It </a:t>
            </a:r>
            <a:r>
              <a:rPr lang="en-US" sz="2600" dirty="0">
                <a:latin typeface="+mn-lt"/>
              </a:rPr>
              <a:t>allows any network-enabled device to access any network application over </a:t>
            </a:r>
            <a:r>
              <a:rPr lang="en-US" sz="2600" dirty="0" smtClean="0">
                <a:latin typeface="+mn-lt"/>
              </a:rPr>
              <a:t>any </a:t>
            </a:r>
            <a:r>
              <a:rPr lang="en-US" sz="2600" dirty="0">
                <a:latin typeface="+mn-lt"/>
              </a:rPr>
              <a:t>network.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600" dirty="0" smtClean="0">
                <a:latin typeface="+mn-lt"/>
              </a:rPr>
              <a:t>It </a:t>
            </a:r>
            <a:r>
              <a:rPr lang="en-US" sz="2600" dirty="0">
                <a:latin typeface="+mn-lt"/>
              </a:rPr>
              <a:t>maintains isolation of one workload from another application to enhance </a:t>
            </a:r>
            <a:r>
              <a:rPr lang="en-US" sz="2600" dirty="0" smtClean="0">
                <a:latin typeface="+mn-lt"/>
              </a:rPr>
              <a:t>security </a:t>
            </a:r>
            <a:r>
              <a:rPr lang="en-US" sz="2600" dirty="0">
                <a:latin typeface="+mn-lt"/>
              </a:rPr>
              <a:t>in </a:t>
            </a:r>
            <a:r>
              <a:rPr lang="en-US" sz="2600" dirty="0" smtClean="0">
                <a:latin typeface="+mn-lt"/>
              </a:rPr>
              <a:t>the environment</a:t>
            </a:r>
            <a:r>
              <a:rPr lang="en-US" sz="2600" dirty="0">
                <a:latin typeface="+mn-lt"/>
              </a:rPr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600" dirty="0" smtClean="0">
                <a:latin typeface="+mn-lt"/>
              </a:rPr>
              <a:t>Virtualization </a:t>
            </a:r>
            <a:r>
              <a:rPr lang="en-US" sz="2600" dirty="0">
                <a:latin typeface="+mn-lt"/>
              </a:rPr>
              <a:t>of an application allows users to be comfortable with different versions of </a:t>
            </a:r>
            <a:r>
              <a:rPr lang="en-US" sz="2600" dirty="0" smtClean="0">
                <a:latin typeface="+mn-lt"/>
              </a:rPr>
              <a:t>the operating system.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600" dirty="0" smtClean="0">
                <a:latin typeface="+mn-lt"/>
              </a:rPr>
              <a:t>It </a:t>
            </a:r>
            <a:r>
              <a:rPr lang="en-US" sz="2600" dirty="0">
                <a:latin typeface="+mn-lt"/>
              </a:rPr>
              <a:t>can support and allow application with multiple instances to run on various machines concurrently.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600" dirty="0" smtClean="0">
                <a:latin typeface="+mn-lt"/>
              </a:rPr>
              <a:t>It </a:t>
            </a:r>
            <a:r>
              <a:rPr lang="en-US" sz="2600" dirty="0">
                <a:latin typeface="+mn-lt"/>
              </a:rPr>
              <a:t>optimizes the use of a single system.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600" dirty="0" smtClean="0">
                <a:latin typeface="+mn-lt"/>
              </a:rPr>
              <a:t>It </a:t>
            </a:r>
            <a:r>
              <a:rPr lang="en-US" sz="2600" dirty="0">
                <a:latin typeface="+mn-lt"/>
              </a:rPr>
              <a:t>enhances the reliability or availability of an application through redundancy.</a:t>
            </a:r>
            <a:endParaRPr lang="en-US" sz="26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201944" y="6284660"/>
            <a:ext cx="6327648" cy="365125"/>
          </a:xfrm>
        </p:spPr>
        <p:txBody>
          <a:bodyPr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© Oxford University Press 2018.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25910512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+mn-lt"/>
              </a:rPr>
              <a:t>Server/Compute Virtualization</a:t>
            </a:r>
            <a:endParaRPr lang="en-US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+mn-lt"/>
              </a:rPr>
              <a:t>Server/Compute virtualization in cloud computing refers to making a virtual edition of a device </a:t>
            </a:r>
            <a:r>
              <a:rPr lang="en-US" sz="2400" dirty="0" smtClean="0">
                <a:latin typeface="+mn-lt"/>
              </a:rPr>
              <a:t>or resource</a:t>
            </a:r>
            <a:r>
              <a:rPr lang="en-US" sz="2400" dirty="0">
                <a:latin typeface="+mn-lt"/>
              </a:rPr>
              <a:t>, such as a server, storage device, network, or an operating system where the structure splits </a:t>
            </a:r>
            <a:r>
              <a:rPr lang="en-US" sz="2400" dirty="0" smtClean="0">
                <a:latin typeface="+mn-lt"/>
              </a:rPr>
              <a:t>the resources </a:t>
            </a:r>
            <a:r>
              <a:rPr lang="en-US" sz="2400" dirty="0">
                <a:latin typeface="+mn-lt"/>
              </a:rPr>
              <a:t>as one or more environments for execution</a:t>
            </a:r>
            <a:r>
              <a:rPr lang="en-US" sz="2400" dirty="0" smtClean="0">
                <a:latin typeface="+mn-lt"/>
              </a:rPr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+mn-lt"/>
              </a:rPr>
              <a:t>The following are the advantages of server/compute virtualization:</a:t>
            </a:r>
          </a:p>
          <a:p>
            <a:pPr marL="0" indent="0">
              <a:buNone/>
            </a:pPr>
            <a:r>
              <a:rPr lang="en-US" sz="2400" dirty="0">
                <a:latin typeface="+mn-lt"/>
              </a:rPr>
              <a:t>1. Consistency</a:t>
            </a:r>
          </a:p>
          <a:p>
            <a:pPr marL="0" indent="0">
              <a:buNone/>
            </a:pPr>
            <a:r>
              <a:rPr lang="en-US" sz="2400" dirty="0">
                <a:latin typeface="+mn-lt"/>
              </a:rPr>
              <a:t>2. Energy efficiency</a:t>
            </a:r>
          </a:p>
          <a:p>
            <a:pPr marL="0" indent="0">
              <a:buNone/>
            </a:pPr>
            <a:r>
              <a:rPr lang="en-US" sz="2400" dirty="0">
                <a:latin typeface="+mn-lt"/>
              </a:rPr>
              <a:t>3. Enhanced disaster recovery</a:t>
            </a:r>
          </a:p>
          <a:p>
            <a:pPr marL="0" indent="0">
              <a:buNone/>
            </a:pPr>
            <a:r>
              <a:rPr lang="en-US" sz="2400" dirty="0">
                <a:latin typeface="+mn-lt"/>
              </a:rPr>
              <a:t>4. Cost </a:t>
            </a:r>
            <a:r>
              <a:rPr lang="en-US" sz="2400" dirty="0" smtClean="0">
                <a:latin typeface="+mn-lt"/>
              </a:rPr>
              <a:t>savings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+mn-lt"/>
              </a:rPr>
              <a:t>A virtual machine is a reasonable computing system like a physical machine which governs an application and operating system (OS). Some of the virtual components used in a virtual machine are as follows: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201944" y="6284660"/>
            <a:ext cx="6327648" cy="365125"/>
          </a:xfrm>
        </p:spPr>
        <p:txBody>
          <a:bodyPr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© Oxford University Press 2018.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9516829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+mn-lt"/>
              </a:rPr>
              <a:t>Server/Compute Virtualization</a:t>
            </a:r>
            <a:endParaRPr lang="en-US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FFFF00"/>
                </a:solidFill>
                <a:latin typeface="+mn-lt"/>
              </a:rPr>
              <a:t>A virtual machine (VM) can be configured with the following virtual components:</a:t>
            </a:r>
          </a:p>
          <a:p>
            <a:r>
              <a:rPr lang="en-US" dirty="0" smtClean="0">
                <a:latin typeface="+mn-lt"/>
              </a:rPr>
              <a:t>Virtual </a:t>
            </a:r>
            <a:r>
              <a:rPr lang="en-US" dirty="0">
                <a:latin typeface="+mn-lt"/>
              </a:rPr>
              <a:t>central processing unit (vCPU</a:t>
            </a:r>
            <a:r>
              <a:rPr lang="en-US" dirty="0" smtClean="0">
                <a:latin typeface="+mn-lt"/>
              </a:rPr>
              <a:t>)</a:t>
            </a:r>
          </a:p>
          <a:p>
            <a:r>
              <a:rPr lang="en-US" dirty="0">
                <a:latin typeface="+mn-lt"/>
              </a:rPr>
              <a:t>Virtual random access memory (</a:t>
            </a:r>
            <a:r>
              <a:rPr lang="en-US" dirty="0" err="1">
                <a:latin typeface="+mn-lt"/>
              </a:rPr>
              <a:t>vRAM</a:t>
            </a:r>
            <a:r>
              <a:rPr lang="en-US" dirty="0" smtClean="0">
                <a:latin typeface="+mn-lt"/>
              </a:rPr>
              <a:t>)</a:t>
            </a:r>
          </a:p>
          <a:p>
            <a:r>
              <a:rPr lang="en-US" dirty="0">
                <a:latin typeface="+mn-lt"/>
              </a:rPr>
              <a:t>Virtual </a:t>
            </a:r>
            <a:r>
              <a:rPr lang="en-US" dirty="0" smtClean="0">
                <a:latin typeface="+mn-lt"/>
              </a:rPr>
              <a:t>disk</a:t>
            </a:r>
          </a:p>
          <a:p>
            <a:r>
              <a:rPr lang="en-US" dirty="0">
                <a:latin typeface="+mn-lt"/>
              </a:rPr>
              <a:t>Virtual network adaptor (</a:t>
            </a:r>
            <a:r>
              <a:rPr lang="en-US" dirty="0" err="1">
                <a:latin typeface="+mn-lt"/>
              </a:rPr>
              <a:t>vNIC</a:t>
            </a:r>
            <a:r>
              <a:rPr lang="en-US" dirty="0" smtClean="0">
                <a:latin typeface="+mn-lt"/>
              </a:rPr>
              <a:t>)</a:t>
            </a:r>
          </a:p>
          <a:p>
            <a:r>
              <a:rPr lang="en-US" dirty="0">
                <a:latin typeface="+mn-lt"/>
              </a:rPr>
              <a:t>Virtual DVD/CD-ROM and floppy </a:t>
            </a:r>
            <a:r>
              <a:rPr lang="en-US" dirty="0" smtClean="0">
                <a:latin typeface="+mn-lt"/>
              </a:rPr>
              <a:t>drives</a:t>
            </a:r>
          </a:p>
          <a:p>
            <a:r>
              <a:rPr lang="en-US" dirty="0">
                <a:latin typeface="+mn-lt"/>
              </a:rPr>
              <a:t>Virtual SCSI (Small Computer System Interface) </a:t>
            </a:r>
            <a:r>
              <a:rPr lang="en-US" dirty="0" smtClean="0">
                <a:latin typeface="+mn-lt"/>
              </a:rPr>
              <a:t>controller</a:t>
            </a:r>
          </a:p>
          <a:p>
            <a:r>
              <a:rPr lang="en-US" dirty="0">
                <a:latin typeface="+mn-lt"/>
              </a:rPr>
              <a:t>Virtual USB </a:t>
            </a:r>
            <a:r>
              <a:rPr lang="en-US" dirty="0" smtClean="0">
                <a:latin typeface="+mn-lt"/>
              </a:rPr>
              <a:t>controllers</a:t>
            </a:r>
          </a:p>
          <a:p>
            <a:r>
              <a:rPr lang="en-US" dirty="0">
                <a:latin typeface="+mn-lt"/>
              </a:rPr>
              <a:t>Virtual machine console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201944" y="6284660"/>
            <a:ext cx="6327648" cy="365125"/>
          </a:xfrm>
        </p:spPr>
        <p:txBody>
          <a:bodyPr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© Oxford University Press 2018.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26892460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+mn-lt"/>
              </a:rPr>
              <a:t>Server/Compute Virtualization</a:t>
            </a:r>
            <a:endParaRPr lang="en-US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201944" y="6284660"/>
            <a:ext cx="6327648" cy="365125"/>
          </a:xfrm>
        </p:spPr>
        <p:txBody>
          <a:bodyPr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© Oxford University Press 2018. All rights reserved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0686" y="1674421"/>
            <a:ext cx="8015843" cy="4476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99305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+mn-lt"/>
              </a:rPr>
              <a:t>Server/Compute Components</a:t>
            </a:r>
            <a:endParaRPr lang="en-US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FFFF00"/>
                </a:solidFill>
                <a:latin typeface="+mn-lt"/>
              </a:rPr>
              <a:t>The logical components of a server/compute system comprise the following:</a:t>
            </a:r>
          </a:p>
          <a:p>
            <a:r>
              <a:rPr lang="en-US" dirty="0">
                <a:latin typeface="+mn-lt"/>
              </a:rPr>
              <a:t>File system</a:t>
            </a:r>
          </a:p>
          <a:p>
            <a:r>
              <a:rPr lang="en-US" dirty="0">
                <a:latin typeface="+mn-lt"/>
              </a:rPr>
              <a:t>Operating system</a:t>
            </a:r>
          </a:p>
          <a:p>
            <a:r>
              <a:rPr lang="en-US" dirty="0">
                <a:latin typeface="+mn-lt"/>
              </a:rPr>
              <a:t>Volume manager</a:t>
            </a:r>
          </a:p>
          <a:p>
            <a:r>
              <a:rPr lang="en-US" dirty="0">
                <a:latin typeface="+mn-lt"/>
              </a:rPr>
              <a:t>Device drivers</a:t>
            </a:r>
          </a:p>
          <a:p>
            <a:endParaRPr lang="en-US" sz="2400" dirty="0">
              <a:latin typeface="+mn-lt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201944" y="6284660"/>
            <a:ext cx="6327648" cy="365125"/>
          </a:xfrm>
        </p:spPr>
        <p:txBody>
          <a:bodyPr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© Oxford University Press 2018.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28829029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+mn-lt"/>
              </a:rPr>
              <a:t>Need of Server/Compute 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Virtualization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+mn-lt"/>
              </a:rPr>
              <a:t>Compute virtualization facilitates and permits various applications and operating systems to </a:t>
            </a:r>
            <a:r>
              <a:rPr lang="en-US" dirty="0" smtClean="0">
                <a:latin typeface="+mn-lt"/>
              </a:rPr>
              <a:t>function on </a:t>
            </a:r>
            <a:r>
              <a:rPr lang="en-US" dirty="0">
                <a:latin typeface="+mn-lt"/>
              </a:rPr>
              <a:t>a physical machine</a:t>
            </a:r>
            <a:r>
              <a:rPr lang="en-US" dirty="0" smtClean="0">
                <a:latin typeface="+mn-lt"/>
              </a:rPr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+mn-lt"/>
              </a:rPr>
              <a:t>This method considerably minimizes charge and enhanced consumption. Resource management is the allotment of a physical machine or clustered physical machines to VMs.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+mn-lt"/>
              </a:rPr>
              <a:t>Every physical machine and group has a parent resource pool which provides the resources of that physical machine or group.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+mn-lt"/>
              </a:rPr>
              <a:t>Each child resource pool possesses a few of the resources of their parents. A parent resource pool may include virtual machines, child resource pools, or both.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201944" y="6284660"/>
            <a:ext cx="6327648" cy="365125"/>
          </a:xfrm>
        </p:spPr>
        <p:txBody>
          <a:bodyPr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© Oxford University Press 2018.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27320222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+mn-lt"/>
              </a:rPr>
              <a:t>Need of Server/Compute 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Virtualization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600" dirty="0">
                <a:latin typeface="+mn-lt"/>
              </a:rPr>
              <a:t>Present CPUs are prepared with hyper-threading characteristics and multiple cores per CPU. A </a:t>
            </a:r>
            <a:r>
              <a:rPr lang="en-US" sz="2600" dirty="0" smtClean="0">
                <a:latin typeface="+mn-lt"/>
              </a:rPr>
              <a:t>multicore CPU </a:t>
            </a:r>
            <a:r>
              <a:rPr lang="en-US" sz="2600" dirty="0">
                <a:latin typeface="+mn-lt"/>
              </a:rPr>
              <a:t>is an incorporated circuit with which two or more processing units have been </a:t>
            </a:r>
            <a:r>
              <a:rPr lang="en-US" sz="2600" dirty="0" smtClean="0">
                <a:latin typeface="+mn-lt"/>
              </a:rPr>
              <a:t>connected for </a:t>
            </a:r>
            <a:r>
              <a:rPr lang="en-US" sz="2600" dirty="0">
                <a:latin typeface="+mn-lt"/>
              </a:rPr>
              <a:t>improved functioning and more effective, synchronized processing of multiple resources</a:t>
            </a:r>
            <a:r>
              <a:rPr lang="en-US" sz="2600" dirty="0" smtClean="0">
                <a:latin typeface="+mn-lt"/>
              </a:rPr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600" dirty="0">
                <a:latin typeface="+mn-lt"/>
              </a:rPr>
              <a:t>A hypervisor augments and supports the CPU resources by use of modern CPU aspects such as hyper-threading and multicore. It also helps in the following ways:</a:t>
            </a:r>
          </a:p>
          <a:p>
            <a:pPr marL="0" indent="0">
              <a:buNone/>
            </a:pPr>
            <a:r>
              <a:rPr lang="en-US" sz="2600" dirty="0" smtClean="0">
                <a:latin typeface="+mn-lt"/>
              </a:rPr>
              <a:t>   1</a:t>
            </a:r>
            <a:r>
              <a:rPr lang="en-US" sz="2600" dirty="0">
                <a:latin typeface="+mn-lt"/>
              </a:rPr>
              <a:t>. Server consolidation</a:t>
            </a:r>
          </a:p>
          <a:p>
            <a:pPr marL="0" indent="0">
              <a:buNone/>
            </a:pPr>
            <a:r>
              <a:rPr lang="en-US" sz="2600" dirty="0" smtClean="0">
                <a:latin typeface="+mn-lt"/>
              </a:rPr>
              <a:t>   2</a:t>
            </a:r>
            <a:r>
              <a:rPr lang="en-US" sz="2600" dirty="0">
                <a:latin typeface="+mn-lt"/>
              </a:rPr>
              <a:t>. Improved security</a:t>
            </a:r>
          </a:p>
          <a:p>
            <a:pPr marL="0" indent="0">
              <a:buNone/>
            </a:pPr>
            <a:r>
              <a:rPr lang="en-US" sz="2600" dirty="0" smtClean="0">
                <a:latin typeface="+mn-lt"/>
              </a:rPr>
              <a:t>   3</a:t>
            </a:r>
            <a:r>
              <a:rPr lang="en-US" sz="2600" dirty="0">
                <a:latin typeface="+mn-lt"/>
              </a:rPr>
              <a:t>. Increased hardware consumption</a:t>
            </a:r>
          </a:p>
          <a:p>
            <a:pPr marL="0" indent="0">
              <a:buNone/>
            </a:pPr>
            <a:r>
              <a:rPr lang="en-US" sz="2600" dirty="0" smtClean="0">
                <a:latin typeface="+mn-lt"/>
              </a:rPr>
              <a:t>   4</a:t>
            </a:r>
            <a:r>
              <a:rPr lang="en-US" sz="2600" dirty="0">
                <a:latin typeface="+mn-lt"/>
              </a:rPr>
              <a:t>. Hardware independence and support portability</a:t>
            </a:r>
          </a:p>
          <a:p>
            <a:pPr marL="0" indent="0">
              <a:buNone/>
            </a:pPr>
            <a:r>
              <a:rPr lang="en-US" sz="2600" dirty="0" smtClean="0">
                <a:latin typeface="+mn-lt"/>
              </a:rPr>
              <a:t>   5</a:t>
            </a:r>
            <a:r>
              <a:rPr lang="en-US" sz="2600" dirty="0">
                <a:latin typeface="+mn-lt"/>
              </a:rPr>
              <a:t>. Decreased provisioning timing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201944" y="6284660"/>
            <a:ext cx="6327648" cy="365125"/>
          </a:xfrm>
        </p:spPr>
        <p:txBody>
          <a:bodyPr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© Oxford University Press 2018.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823147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+mn-lt"/>
              </a:rPr>
              <a:t>Virtual Clusters</a:t>
            </a:r>
            <a:endParaRPr lang="en-US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650" dirty="0">
                <a:latin typeface="+mn-lt"/>
              </a:rPr>
              <a:t>There are common agreements for most applications or users, such as user-level or OS </a:t>
            </a:r>
            <a:r>
              <a:rPr lang="en-US" sz="2650" dirty="0" smtClean="0">
                <a:latin typeface="+mn-lt"/>
              </a:rPr>
              <a:t>programming libraries.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650" dirty="0">
                <a:latin typeface="+mn-lt"/>
              </a:rPr>
              <a:t>The VMs (guest systems) and physical machines (host </a:t>
            </a:r>
            <a:r>
              <a:rPr lang="en-US" sz="2650" dirty="0" smtClean="0">
                <a:latin typeface="+mn-lt"/>
              </a:rPr>
              <a:t>systems) may </a:t>
            </a:r>
            <a:r>
              <a:rPr lang="en-US" sz="2650" dirty="0">
                <a:latin typeface="+mn-lt"/>
              </a:rPr>
              <a:t>operate with different OSes</a:t>
            </a:r>
            <a:r>
              <a:rPr lang="en-US" sz="2650" dirty="0" smtClean="0">
                <a:latin typeface="+mn-lt"/>
              </a:rPr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650" dirty="0">
                <a:latin typeface="+mn-lt"/>
              </a:rPr>
              <a:t>The virtual environment design should be able to function quickly</a:t>
            </a:r>
            <a:r>
              <a:rPr lang="en-US" sz="2650" dirty="0" smtClean="0">
                <a:latin typeface="+mn-lt"/>
              </a:rPr>
              <a:t>.</a:t>
            </a:r>
            <a:r>
              <a:rPr lang="en-US" sz="2650" dirty="0">
                <a:latin typeface="+mn-lt"/>
              </a:rPr>
              <a:t> In this case, deployment </a:t>
            </a:r>
            <a:r>
              <a:rPr lang="en-US" sz="2650" dirty="0" smtClean="0">
                <a:latin typeface="+mn-lt"/>
              </a:rPr>
              <a:t>should be </a:t>
            </a:r>
            <a:r>
              <a:rPr lang="en-US" sz="2650" dirty="0">
                <a:latin typeface="+mn-lt"/>
              </a:rPr>
              <a:t>to build and allocate software stacks (i.e., applications, OS, and libraries) to a physical node </a:t>
            </a:r>
            <a:r>
              <a:rPr lang="en-US" sz="2650" dirty="0" smtClean="0">
                <a:latin typeface="+mn-lt"/>
              </a:rPr>
              <a:t>within clusters </a:t>
            </a:r>
            <a:r>
              <a:rPr lang="en-US" sz="2650" dirty="0">
                <a:latin typeface="+mn-lt"/>
              </a:rPr>
              <a:t>as quick as possible and to instantly switch run time environments from one virtual cluster </a:t>
            </a:r>
            <a:r>
              <a:rPr lang="en-US" sz="2650" dirty="0" smtClean="0">
                <a:latin typeface="+mn-lt"/>
              </a:rPr>
              <a:t>of user </a:t>
            </a:r>
            <a:r>
              <a:rPr lang="en-US" sz="2650" dirty="0">
                <a:latin typeface="+mn-lt"/>
              </a:rPr>
              <a:t>to another</a:t>
            </a:r>
            <a:r>
              <a:rPr lang="en-US" sz="2650" dirty="0" smtClean="0">
                <a:latin typeface="+mn-lt"/>
              </a:rPr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650" dirty="0">
                <a:latin typeface="+mn-lt"/>
              </a:rPr>
              <a:t>Live moving VMs permit </a:t>
            </a:r>
            <a:r>
              <a:rPr lang="en-US" sz="2650" dirty="0" smtClean="0">
                <a:latin typeface="+mn-lt"/>
              </a:rPr>
              <a:t>one </a:t>
            </a:r>
            <a:r>
              <a:rPr lang="en-US" sz="2650" dirty="0">
                <a:latin typeface="+mn-lt"/>
              </a:rPr>
              <a:t>to deliver workloads from one node to other one</a:t>
            </a:r>
            <a:r>
              <a:rPr lang="en-US" sz="2650" dirty="0" smtClean="0">
                <a:latin typeface="+mn-lt"/>
              </a:rPr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650" dirty="0">
                <a:latin typeface="+mn-lt"/>
              </a:rPr>
              <a:t>One more advantage for clustering carried by virtualization is load-balancing applications in </a:t>
            </a:r>
            <a:r>
              <a:rPr lang="en-US" sz="2650" dirty="0" smtClean="0">
                <a:latin typeface="+mn-lt"/>
              </a:rPr>
              <a:t>a virtual </a:t>
            </a:r>
            <a:r>
              <a:rPr lang="en-US" sz="2650" dirty="0">
                <a:latin typeface="+mn-lt"/>
              </a:rPr>
              <a:t>cluster.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201944" y="6284660"/>
            <a:ext cx="6327648" cy="365125"/>
          </a:xfrm>
        </p:spPr>
        <p:txBody>
          <a:bodyPr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© Oxford University Press 2018.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4020502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+mn-lt"/>
              </a:rPr>
              <a:t>Advantages of Server/Compute 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Virtualization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endParaRPr lang="en-US" b="1" dirty="0" smtClean="0">
              <a:solidFill>
                <a:srgbClr val="FFFF00"/>
              </a:solidFill>
              <a:latin typeface="+mn-lt"/>
            </a:endParaRPr>
          </a:p>
          <a:p>
            <a:pPr marL="0" indent="0">
              <a:buNone/>
            </a:pPr>
            <a:r>
              <a:rPr lang="en-US" b="1" dirty="0" smtClean="0">
                <a:solidFill>
                  <a:srgbClr val="FFFF00"/>
                </a:solidFill>
                <a:latin typeface="+mn-lt"/>
              </a:rPr>
              <a:t>Compute </a:t>
            </a:r>
            <a:r>
              <a:rPr lang="en-US" b="1" dirty="0">
                <a:solidFill>
                  <a:srgbClr val="FFFF00"/>
                </a:solidFill>
                <a:latin typeface="+mn-lt"/>
              </a:rPr>
              <a:t>virtualization offers the following advantages</a:t>
            </a:r>
            <a:r>
              <a:rPr lang="en-US" b="1" dirty="0" smtClean="0">
                <a:solidFill>
                  <a:srgbClr val="FFFF00"/>
                </a:solidFill>
                <a:latin typeface="+mn-lt"/>
              </a:rPr>
              <a:t>:</a:t>
            </a:r>
            <a:endParaRPr lang="en-US" b="1" i="1" dirty="0" smtClean="0">
              <a:solidFill>
                <a:srgbClr val="FFFF00"/>
              </a:solidFill>
              <a:latin typeface="+mn-lt"/>
            </a:endParaRPr>
          </a:p>
          <a:p>
            <a:r>
              <a:rPr lang="en-US" dirty="0" smtClean="0">
                <a:latin typeface="+mn-lt"/>
              </a:rPr>
              <a:t>Server consolidation</a:t>
            </a:r>
          </a:p>
          <a:p>
            <a:r>
              <a:rPr lang="en-US" dirty="0" smtClean="0">
                <a:latin typeface="+mn-lt"/>
              </a:rPr>
              <a:t>Segregation</a:t>
            </a:r>
          </a:p>
          <a:p>
            <a:r>
              <a:rPr lang="en-US" dirty="0" smtClean="0">
                <a:latin typeface="+mn-lt"/>
              </a:rPr>
              <a:t>Encapsulation</a:t>
            </a:r>
          </a:p>
          <a:p>
            <a:r>
              <a:rPr lang="en-US" dirty="0">
                <a:latin typeface="+mn-lt"/>
              </a:rPr>
              <a:t>Non-dependence on </a:t>
            </a:r>
            <a:r>
              <a:rPr lang="en-US" dirty="0" smtClean="0">
                <a:latin typeface="+mn-lt"/>
              </a:rPr>
              <a:t>hardware</a:t>
            </a:r>
          </a:p>
          <a:p>
            <a:r>
              <a:rPr lang="en-US" dirty="0">
                <a:latin typeface="+mn-lt"/>
              </a:rPr>
              <a:t>Reduction in cost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201944" y="6284660"/>
            <a:ext cx="6327648" cy="365125"/>
          </a:xfrm>
        </p:spPr>
        <p:txBody>
          <a:bodyPr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© Oxford University Press 2018.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39534267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+mn-lt"/>
              </a:rPr>
              <a:t>Techniques of Server/Compute 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Virtualization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endParaRPr lang="en-US" dirty="0" smtClean="0">
              <a:latin typeface="+mn-lt"/>
            </a:endParaRPr>
          </a:p>
          <a:p>
            <a:pPr marL="0" indent="0">
              <a:buNone/>
            </a:pPr>
            <a:r>
              <a:rPr lang="en-US" b="1" dirty="0" smtClean="0">
                <a:solidFill>
                  <a:srgbClr val="FFFF00"/>
                </a:solidFill>
                <a:latin typeface="+mn-lt"/>
              </a:rPr>
              <a:t>The </a:t>
            </a:r>
            <a:r>
              <a:rPr lang="en-US" b="1" dirty="0">
                <a:solidFill>
                  <a:srgbClr val="FFFF00"/>
                </a:solidFill>
                <a:latin typeface="+mn-lt"/>
              </a:rPr>
              <a:t>three methods which manage confidential commands to virtualize the CPU </a:t>
            </a:r>
            <a:r>
              <a:rPr lang="en-US" b="1" dirty="0" smtClean="0">
                <a:solidFill>
                  <a:srgbClr val="FFFF00"/>
                </a:solidFill>
                <a:latin typeface="+mn-lt"/>
              </a:rPr>
              <a:t>are:</a:t>
            </a:r>
          </a:p>
          <a:p>
            <a:r>
              <a:rPr lang="en-US" dirty="0" smtClean="0">
                <a:latin typeface="+mn-lt"/>
              </a:rPr>
              <a:t>Full </a:t>
            </a:r>
            <a:r>
              <a:rPr lang="en-US" dirty="0">
                <a:latin typeface="+mn-lt"/>
              </a:rPr>
              <a:t>Virtualization</a:t>
            </a:r>
            <a:endParaRPr lang="en-US" dirty="0" smtClean="0">
              <a:latin typeface="+mn-lt"/>
            </a:endParaRPr>
          </a:p>
          <a:p>
            <a:r>
              <a:rPr lang="en-US" dirty="0">
                <a:latin typeface="+mn-lt"/>
              </a:rPr>
              <a:t>Para </a:t>
            </a:r>
            <a:r>
              <a:rPr lang="en-US" dirty="0" smtClean="0">
                <a:latin typeface="+mn-lt"/>
              </a:rPr>
              <a:t>Virtualization</a:t>
            </a:r>
          </a:p>
          <a:p>
            <a:r>
              <a:rPr lang="en-US" dirty="0">
                <a:latin typeface="+mn-lt"/>
              </a:rPr>
              <a:t>Hardware Assisted </a:t>
            </a:r>
            <a:r>
              <a:rPr lang="en-US" dirty="0" smtClean="0">
                <a:latin typeface="+mn-lt"/>
              </a:rPr>
              <a:t>Virtualization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201944" y="6284660"/>
            <a:ext cx="6327648" cy="365125"/>
          </a:xfrm>
        </p:spPr>
        <p:txBody>
          <a:bodyPr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© Oxford University Press 2018.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40610883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+mn-lt"/>
              </a:rPr>
              <a:t>Virtual Machine and Hardware Components</a:t>
            </a:r>
            <a:endParaRPr lang="en-US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+mn-lt"/>
              </a:rPr>
              <a:t>A VM is a rational compute system similar to a physical machine which operates an application </a:t>
            </a:r>
            <a:r>
              <a:rPr lang="en-US" dirty="0" smtClean="0">
                <a:latin typeface="+mn-lt"/>
              </a:rPr>
              <a:t>and an </a:t>
            </a:r>
            <a:r>
              <a:rPr lang="en-US" dirty="0">
                <a:latin typeface="+mn-lt"/>
              </a:rPr>
              <a:t>OS</a:t>
            </a:r>
            <a:r>
              <a:rPr lang="en-US" dirty="0" smtClean="0">
                <a:latin typeface="+mn-lt"/>
              </a:rPr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+mn-lt"/>
              </a:rPr>
              <a:t>An operating system which works within a virtual machine is known as a guest operating system</a:t>
            </a:r>
            <a:r>
              <a:rPr lang="en-US" dirty="0" smtClean="0">
                <a:latin typeface="+mn-lt"/>
              </a:rPr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+mn-lt"/>
              </a:rPr>
              <a:t>Network file system (NFS) and virtual machine file system (VMFS) are the file systems sustained </a:t>
            </a:r>
            <a:r>
              <a:rPr lang="en-US" dirty="0" smtClean="0">
                <a:latin typeface="+mn-lt"/>
              </a:rPr>
              <a:t>by the </a:t>
            </a:r>
            <a:r>
              <a:rPr lang="en-US" dirty="0">
                <a:latin typeface="+mn-lt"/>
              </a:rPr>
              <a:t>hypervisor</a:t>
            </a:r>
            <a:r>
              <a:rPr lang="en-US" dirty="0" smtClean="0">
                <a:latin typeface="+mn-lt"/>
              </a:rPr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+mn-lt"/>
              </a:rPr>
              <a:t>The VMFS is a group of file systems augmented to preserve files of a virtual machine</a:t>
            </a:r>
            <a:r>
              <a:rPr lang="en-US" dirty="0" smtClean="0">
                <a:latin typeface="+mn-lt"/>
              </a:rPr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+mn-lt"/>
              </a:rPr>
              <a:t>In a virtualization environment, if any of the physical servers does not work properly, </a:t>
            </a:r>
            <a:r>
              <a:rPr lang="en-US" dirty="0" smtClean="0">
                <a:latin typeface="+mn-lt"/>
              </a:rPr>
              <a:t>virtual infrastructure </a:t>
            </a:r>
            <a:r>
              <a:rPr lang="en-US" dirty="0">
                <a:latin typeface="+mn-lt"/>
              </a:rPr>
              <a:t>management (VIM) is initiated to divert traffic to a new selected physical server.</a:t>
            </a:r>
            <a:endParaRPr lang="en-US" dirty="0" smtClean="0">
              <a:latin typeface="+mn-lt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201944" y="6284660"/>
            <a:ext cx="6327648" cy="365125"/>
          </a:xfrm>
        </p:spPr>
        <p:txBody>
          <a:bodyPr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© Oxford University Press 2018.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2294988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+mn-lt"/>
              </a:rPr>
              <a:t>Virtual Machine and Hardware Components</a:t>
            </a:r>
            <a:endParaRPr lang="en-US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+mn-lt"/>
              </a:rPr>
              <a:t>I</a:t>
            </a:r>
            <a:r>
              <a:rPr lang="en-US" dirty="0" smtClean="0">
                <a:latin typeface="+mn-lt"/>
              </a:rPr>
              <a:t>n </a:t>
            </a:r>
            <a:r>
              <a:rPr lang="en-US" dirty="0">
                <a:latin typeface="+mn-lt"/>
              </a:rPr>
              <a:t>Fig</a:t>
            </a:r>
            <a:r>
              <a:rPr lang="en-US" dirty="0" smtClean="0">
                <a:latin typeface="+mn-lt"/>
              </a:rPr>
              <a:t>. </a:t>
            </a:r>
            <a:r>
              <a:rPr lang="en-US" dirty="0">
                <a:latin typeface="+mn-lt"/>
              </a:rPr>
              <a:t>Virtual machine management systems</a:t>
            </a:r>
            <a:r>
              <a:rPr lang="en-US" dirty="0" smtClean="0">
                <a:latin typeface="+mn-lt"/>
              </a:rPr>
              <a:t>, </a:t>
            </a:r>
            <a:r>
              <a:rPr lang="en-US" dirty="0">
                <a:latin typeface="+mn-lt"/>
              </a:rPr>
              <a:t>if E, F, </a:t>
            </a:r>
            <a:r>
              <a:rPr lang="en-US" dirty="0" smtClean="0">
                <a:latin typeface="+mn-lt"/>
              </a:rPr>
              <a:t>and G </a:t>
            </a:r>
            <a:r>
              <a:rPr lang="en-US" dirty="0">
                <a:latin typeface="+mn-lt"/>
              </a:rPr>
              <a:t>virtual instances are not working, then live migration </a:t>
            </a:r>
            <a:endParaRPr lang="en-US" dirty="0" smtClean="0">
              <a:latin typeface="+mn-lt"/>
            </a:endParaRPr>
          </a:p>
          <a:p>
            <a:pPr marL="0" indent="0">
              <a:buNone/>
            </a:pPr>
            <a:r>
              <a:rPr lang="en-US" dirty="0">
                <a:latin typeface="+mn-lt"/>
              </a:rPr>
              <a:t> </a:t>
            </a:r>
            <a:r>
              <a:rPr lang="en-US" dirty="0" smtClean="0">
                <a:latin typeface="+mn-lt"/>
              </a:rPr>
              <a:t>  of </a:t>
            </a:r>
            <a:r>
              <a:rPr lang="en-US" dirty="0">
                <a:latin typeface="+mn-lt"/>
              </a:rPr>
              <a:t>these E, F, and G into a new </a:t>
            </a:r>
            <a:endParaRPr lang="en-US" dirty="0" smtClean="0">
              <a:latin typeface="+mn-lt"/>
            </a:endParaRPr>
          </a:p>
          <a:p>
            <a:pPr marL="0" indent="0">
              <a:buNone/>
            </a:pPr>
            <a:r>
              <a:rPr lang="en-US" dirty="0">
                <a:latin typeface="+mn-lt"/>
              </a:rPr>
              <a:t> </a:t>
            </a:r>
            <a:r>
              <a:rPr lang="en-US" dirty="0" smtClean="0">
                <a:latin typeface="+mn-lt"/>
              </a:rPr>
              <a:t>  destination will be </a:t>
            </a:r>
            <a:r>
              <a:rPr lang="en-US" dirty="0">
                <a:latin typeface="+mn-lt"/>
              </a:rPr>
              <a:t>carried out</a:t>
            </a:r>
            <a:r>
              <a:rPr lang="en-US" dirty="0" smtClean="0">
                <a:latin typeface="+mn-lt"/>
              </a:rPr>
              <a:t>.</a:t>
            </a:r>
          </a:p>
          <a:p>
            <a:endParaRPr lang="en-US" dirty="0" smtClean="0">
              <a:latin typeface="+mn-lt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201944" y="6284660"/>
            <a:ext cx="6327648" cy="365125"/>
          </a:xfrm>
        </p:spPr>
        <p:txBody>
          <a:bodyPr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© Oxford University Press 2018. All rights reserved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6415" y="2125683"/>
            <a:ext cx="5818909" cy="41450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353448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+mn-lt"/>
              </a:rPr>
              <a:t>Hypervisor Taxonomy</a:t>
            </a:r>
            <a:endParaRPr lang="en-US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endParaRPr lang="en-US" dirty="0" smtClean="0">
              <a:latin typeface="+mn-lt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>
                <a:latin typeface="+mn-lt"/>
              </a:rPr>
              <a:t>A </a:t>
            </a:r>
            <a:r>
              <a:rPr lang="en-US" dirty="0">
                <a:latin typeface="+mn-lt"/>
              </a:rPr>
              <a:t>hypervisor, also known as a virtual machine manager, is a program that permits multiple </a:t>
            </a:r>
            <a:r>
              <a:rPr lang="en-US" dirty="0" smtClean="0">
                <a:latin typeface="+mn-lt"/>
              </a:rPr>
              <a:t>operating systems </a:t>
            </a:r>
            <a:r>
              <a:rPr lang="en-US" dirty="0">
                <a:latin typeface="+mn-lt"/>
              </a:rPr>
              <a:t>to share one hardware host</a:t>
            </a:r>
            <a:r>
              <a:rPr lang="en-US" dirty="0" smtClean="0">
                <a:latin typeface="+mn-lt"/>
              </a:rPr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+mn-lt"/>
              </a:rPr>
              <a:t>Hypervisor is compute virtualization software which facilitates manifold operating systems to </a:t>
            </a:r>
            <a:r>
              <a:rPr lang="en-US" dirty="0" smtClean="0">
                <a:latin typeface="+mn-lt"/>
              </a:rPr>
              <a:t>operate on </a:t>
            </a:r>
            <a:r>
              <a:rPr lang="en-US" dirty="0">
                <a:latin typeface="+mn-lt"/>
              </a:rPr>
              <a:t>physical machines simultaneously</a:t>
            </a:r>
            <a:r>
              <a:rPr lang="en-US" dirty="0" smtClean="0">
                <a:latin typeface="+mn-lt"/>
              </a:rPr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+mn-lt"/>
              </a:rPr>
              <a:t>The hypervisor is the main constituent of the data center consolidation</a:t>
            </a:r>
            <a:r>
              <a:rPr lang="en-US" dirty="0" smtClean="0">
                <a:latin typeface="+mn-lt"/>
              </a:rPr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+mn-lt"/>
              </a:rPr>
              <a:t>Hypervisor has two </a:t>
            </a:r>
            <a:r>
              <a:rPr lang="en-US" dirty="0" smtClean="0">
                <a:latin typeface="+mn-lt"/>
              </a:rPr>
              <a:t>main constituents—virtual </a:t>
            </a:r>
            <a:r>
              <a:rPr lang="en-US" dirty="0">
                <a:latin typeface="+mn-lt"/>
              </a:rPr>
              <a:t>machine monitor (VMM) and kernel</a:t>
            </a:r>
            <a:r>
              <a:rPr lang="en-US" dirty="0" smtClean="0">
                <a:latin typeface="+mn-lt"/>
              </a:rPr>
              <a:t>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201944" y="6284660"/>
            <a:ext cx="6327648" cy="365125"/>
          </a:xfrm>
        </p:spPr>
        <p:txBody>
          <a:bodyPr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© Oxford University Press 2018.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1420396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+mn-lt"/>
              </a:rPr>
              <a:t>Hypervisor Taxonomy</a:t>
            </a:r>
            <a:endParaRPr lang="en-US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 smtClean="0">
                <a:latin typeface="+mn-lt"/>
              </a:rPr>
              <a:t>Hypervisors are categorized into two types: </a:t>
            </a:r>
          </a:p>
          <a:p>
            <a:r>
              <a:rPr lang="en-US" dirty="0" smtClean="0">
                <a:latin typeface="+mn-lt"/>
              </a:rPr>
              <a:t>Type 1 (Bare-metal hypervisor)</a:t>
            </a:r>
          </a:p>
          <a:p>
            <a:r>
              <a:rPr lang="en-US" dirty="0" smtClean="0">
                <a:latin typeface="+mn-lt"/>
              </a:rPr>
              <a:t>Type 2 (Hosted hypervisor)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201944" y="6284660"/>
            <a:ext cx="6327648" cy="365125"/>
          </a:xfrm>
        </p:spPr>
        <p:txBody>
          <a:bodyPr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© Oxford University Press 2018. All rights reserved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8300" y="3206894"/>
            <a:ext cx="8915400" cy="277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12216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+mn-lt"/>
              </a:rPr>
              <a:t>Resource Management and Tools</a:t>
            </a:r>
            <a:endParaRPr lang="en-US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endParaRPr lang="en-US" dirty="0" smtClean="0">
              <a:latin typeface="+mn-lt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>
                <a:latin typeface="+mn-lt"/>
              </a:rPr>
              <a:t>Cloud </a:t>
            </a:r>
            <a:r>
              <a:rPr lang="en-US" dirty="0">
                <a:latin typeface="+mn-lt"/>
              </a:rPr>
              <a:t>resource management needs versatile judgments and policies for </a:t>
            </a:r>
            <a:r>
              <a:rPr lang="en-US" dirty="0" smtClean="0">
                <a:latin typeface="+mn-lt"/>
              </a:rPr>
              <a:t>multi-objective optimization.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+mn-lt"/>
              </a:rPr>
              <a:t>The policies for cloud resource management associated with the three cloud delivery </a:t>
            </a:r>
            <a:r>
              <a:rPr lang="en-US" dirty="0" smtClean="0">
                <a:latin typeface="+mn-lt"/>
              </a:rPr>
              <a:t>models, Software </a:t>
            </a:r>
            <a:r>
              <a:rPr lang="en-US" dirty="0">
                <a:latin typeface="+mn-lt"/>
              </a:rPr>
              <a:t>as a Service (SaaS), Platform as a Service (PaaS), and Infrastructure as a Service (IaaS) </a:t>
            </a:r>
            <a:r>
              <a:rPr lang="en-US" dirty="0" smtClean="0">
                <a:latin typeface="+mn-lt"/>
              </a:rPr>
              <a:t>vary from </a:t>
            </a:r>
            <a:r>
              <a:rPr lang="en-US" dirty="0">
                <a:latin typeface="+mn-lt"/>
              </a:rPr>
              <a:t>each other</a:t>
            </a:r>
            <a:r>
              <a:rPr lang="en-US" dirty="0" smtClean="0">
                <a:latin typeface="+mn-lt"/>
              </a:rPr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+mn-lt"/>
              </a:rPr>
              <a:t>In cloud computing, where alterations are common and spontaneous, centralized control is </a:t>
            </a:r>
            <a:r>
              <a:rPr lang="en-US" dirty="0" smtClean="0">
                <a:latin typeface="+mn-lt"/>
              </a:rPr>
              <a:t>not believable </a:t>
            </a:r>
            <a:r>
              <a:rPr lang="en-US" dirty="0">
                <a:latin typeface="+mn-lt"/>
              </a:rPr>
              <a:t>to offer a persistent service and performance assurances</a:t>
            </a:r>
            <a:r>
              <a:rPr lang="en-US" dirty="0" smtClean="0">
                <a:latin typeface="+mn-lt"/>
              </a:rPr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+mn-lt"/>
              </a:rPr>
              <a:t>Resource management policies frequently mutually target power utilization and performance.</a:t>
            </a:r>
            <a:endParaRPr lang="en-US" dirty="0" smtClean="0">
              <a:latin typeface="+mn-lt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201944" y="6284660"/>
            <a:ext cx="6327648" cy="365125"/>
          </a:xfrm>
        </p:spPr>
        <p:txBody>
          <a:bodyPr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© Oxford University Press 2018.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1253251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+mn-lt"/>
              </a:rPr>
              <a:t>Resource Management and Tools</a:t>
            </a:r>
            <a:endParaRPr lang="en-US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endParaRPr lang="en-US" dirty="0" smtClean="0">
              <a:latin typeface="+mn-lt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>
                <a:latin typeface="+mn-lt"/>
              </a:rPr>
              <a:t>Resource </a:t>
            </a:r>
            <a:r>
              <a:rPr lang="en-US" dirty="0">
                <a:latin typeface="+mn-lt"/>
              </a:rPr>
              <a:t>management is the allotment of a physical machine or clustered physical machines </a:t>
            </a:r>
            <a:r>
              <a:rPr lang="en-US" dirty="0" smtClean="0">
                <a:latin typeface="+mn-lt"/>
              </a:rPr>
              <a:t>to virtual </a:t>
            </a:r>
            <a:r>
              <a:rPr lang="en-US" dirty="0">
                <a:latin typeface="+mn-lt"/>
              </a:rPr>
              <a:t>machines</a:t>
            </a:r>
            <a:r>
              <a:rPr lang="en-US" dirty="0" smtClean="0">
                <a:latin typeface="+mn-lt"/>
              </a:rPr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+mn-lt"/>
              </a:rPr>
              <a:t>Unused memory allocated by a virtual machine to CPU can be accessed and used by other </a:t>
            </a:r>
            <a:r>
              <a:rPr lang="en-US" dirty="0" smtClean="0">
                <a:latin typeface="+mn-lt"/>
              </a:rPr>
              <a:t>virtual machines </a:t>
            </a:r>
            <a:r>
              <a:rPr lang="en-US" dirty="0">
                <a:latin typeface="+mn-lt"/>
              </a:rPr>
              <a:t>without disturbing other resources</a:t>
            </a:r>
            <a:r>
              <a:rPr lang="en-US" dirty="0" smtClean="0">
                <a:latin typeface="+mn-lt"/>
              </a:rPr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+mn-lt"/>
              </a:rPr>
              <a:t>Some virtual machines can enclose the same user data, administer the same </a:t>
            </a:r>
            <a:r>
              <a:rPr lang="en-US" dirty="0" smtClean="0">
                <a:latin typeface="+mn-lt"/>
              </a:rPr>
              <a:t>guest </a:t>
            </a:r>
            <a:r>
              <a:rPr lang="en-US" dirty="0">
                <a:latin typeface="+mn-lt"/>
              </a:rPr>
              <a:t>operating </a:t>
            </a:r>
            <a:r>
              <a:rPr lang="en-US" dirty="0" smtClean="0">
                <a:latin typeface="+mn-lt"/>
              </a:rPr>
              <a:t>system, or </a:t>
            </a:r>
            <a:r>
              <a:rPr lang="en-US" dirty="0">
                <a:latin typeface="+mn-lt"/>
              </a:rPr>
              <a:t>have the same applications</a:t>
            </a:r>
            <a:r>
              <a:rPr lang="en-US" dirty="0" smtClean="0">
                <a:latin typeface="+mn-lt"/>
              </a:rPr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+mn-lt"/>
              </a:rPr>
              <a:t>A hypervisor recognizes surplus pages copied by their contents</a:t>
            </a:r>
            <a:r>
              <a:rPr lang="en-US" dirty="0" smtClean="0">
                <a:latin typeface="+mn-lt"/>
              </a:rPr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+mn-lt"/>
              </a:rPr>
              <a:t>V</a:t>
            </a:r>
            <a:r>
              <a:rPr lang="en-US" dirty="0" smtClean="0">
                <a:latin typeface="+mn-lt"/>
              </a:rPr>
              <a:t>irtual machines may </a:t>
            </a:r>
            <a:r>
              <a:rPr lang="en-US" dirty="0">
                <a:latin typeface="+mn-lt"/>
              </a:rPr>
              <a:t>securely alter the shared pages without disturbing other virtual machines which are sharing </a:t>
            </a:r>
            <a:r>
              <a:rPr lang="en-US" dirty="0" smtClean="0">
                <a:latin typeface="+mn-lt"/>
              </a:rPr>
              <a:t>that memory</a:t>
            </a:r>
            <a:r>
              <a:rPr lang="en-US" dirty="0">
                <a:latin typeface="+mn-lt"/>
              </a:rPr>
              <a:t>.</a:t>
            </a:r>
            <a:endParaRPr lang="en-US" dirty="0" smtClean="0">
              <a:latin typeface="+mn-lt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201944" y="6284660"/>
            <a:ext cx="6327648" cy="365125"/>
          </a:xfrm>
        </p:spPr>
        <p:txBody>
          <a:bodyPr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© Oxford University Press 2018.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16609576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>
            <a:normAutofit fontScale="90000"/>
          </a:bodyPr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+mn-lt"/>
              </a:rPr>
              <a:t>Physical Machine to Virtual Machine (P2v) Conversion</a:t>
            </a:r>
            <a:endParaRPr lang="en-US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700" dirty="0">
                <a:latin typeface="+mn-lt"/>
              </a:rPr>
              <a:t>A VM maintains a relationship between </a:t>
            </a:r>
            <a:r>
              <a:rPr lang="en-US" sz="2700" dirty="0" smtClean="0">
                <a:latin typeface="+mn-lt"/>
              </a:rPr>
              <a:t>various virtual </a:t>
            </a:r>
            <a:r>
              <a:rPr lang="en-US" sz="2700" dirty="0">
                <a:latin typeface="+mn-lt"/>
              </a:rPr>
              <a:t>machines, and between a hypervisor and a VM in a grouped server environment</a:t>
            </a:r>
            <a:r>
              <a:rPr lang="en-US" sz="2700" dirty="0" smtClean="0">
                <a:latin typeface="+mn-lt"/>
              </a:rPr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700" dirty="0">
                <a:latin typeface="+mn-lt"/>
              </a:rPr>
              <a:t>Physical to VM exchange is a procedure via which a physical machine is transformed into a </a:t>
            </a:r>
            <a:r>
              <a:rPr lang="en-US" sz="2700" dirty="0" smtClean="0">
                <a:latin typeface="+mn-lt"/>
              </a:rPr>
              <a:t>virtual machine</a:t>
            </a:r>
            <a:r>
              <a:rPr lang="en-US" sz="2700" dirty="0">
                <a:latin typeface="+mn-lt"/>
              </a:rPr>
              <a:t>. When transforming a physical machine, the ‘converter application’ (Converter) copies data </a:t>
            </a:r>
            <a:r>
              <a:rPr lang="en-US" sz="2700" dirty="0" smtClean="0">
                <a:latin typeface="+mn-lt"/>
              </a:rPr>
              <a:t>on the </a:t>
            </a:r>
            <a:r>
              <a:rPr lang="en-US" sz="2700" dirty="0">
                <a:latin typeface="+mn-lt"/>
              </a:rPr>
              <a:t>hard disk of the source machine and shifts that data to the target virtual disk</a:t>
            </a:r>
            <a:r>
              <a:rPr lang="en-US" sz="2700" dirty="0" smtClean="0">
                <a:latin typeface="+mn-lt"/>
              </a:rPr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700" dirty="0">
                <a:latin typeface="+mn-lt"/>
              </a:rPr>
              <a:t>Advantages of P2V converters are:</a:t>
            </a:r>
          </a:p>
          <a:p>
            <a:pPr marL="0" indent="0">
              <a:buNone/>
            </a:pPr>
            <a:r>
              <a:rPr lang="en-US" sz="2700" dirty="0">
                <a:latin typeface="+mn-lt"/>
              </a:rPr>
              <a:t>1. Runs migration among heterogeneous hardware</a:t>
            </a:r>
          </a:p>
          <a:p>
            <a:pPr marL="0" indent="0">
              <a:buNone/>
            </a:pPr>
            <a:r>
              <a:rPr lang="en-US" sz="2700" dirty="0">
                <a:latin typeface="+mn-lt"/>
              </a:rPr>
              <a:t>2. Minimizes time required to set up a new virtual machine</a:t>
            </a:r>
          </a:p>
          <a:p>
            <a:pPr marL="0" indent="0">
              <a:buNone/>
            </a:pPr>
            <a:r>
              <a:rPr lang="en-US" sz="2700" dirty="0">
                <a:latin typeface="+mn-lt"/>
              </a:rPr>
              <a:t>3. Permits migration of machines to a new hardware without re-launching the </a:t>
            </a:r>
            <a:endParaRPr lang="en-US" sz="2700" dirty="0" smtClean="0">
              <a:latin typeface="+mn-lt"/>
            </a:endParaRPr>
          </a:p>
          <a:p>
            <a:pPr marL="0" indent="0">
              <a:buNone/>
            </a:pPr>
            <a:r>
              <a:rPr lang="en-US" sz="2700" dirty="0">
                <a:latin typeface="+mn-lt"/>
              </a:rPr>
              <a:t> </a:t>
            </a:r>
            <a:r>
              <a:rPr lang="en-US" sz="2700" dirty="0" smtClean="0">
                <a:latin typeface="+mn-lt"/>
              </a:rPr>
              <a:t>   application </a:t>
            </a:r>
            <a:r>
              <a:rPr lang="en-US" sz="2700" dirty="0">
                <a:latin typeface="+mn-lt"/>
              </a:rPr>
              <a:t>or </a:t>
            </a:r>
            <a:r>
              <a:rPr lang="en-US" sz="2700" dirty="0" smtClean="0">
                <a:latin typeface="+mn-lt"/>
              </a:rPr>
              <a:t>operating system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201944" y="6284660"/>
            <a:ext cx="6327648" cy="365125"/>
          </a:xfrm>
        </p:spPr>
        <p:txBody>
          <a:bodyPr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© Oxford University Press 2018.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831406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>
            <a:normAutofit fontScale="90000"/>
          </a:bodyPr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+mn-lt"/>
              </a:rPr>
              <a:t>Physical Machine to Virtual Machine (P2v) Conversion</a:t>
            </a:r>
            <a:endParaRPr lang="en-US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600" dirty="0">
                <a:latin typeface="+mn-lt"/>
              </a:rPr>
              <a:t>The P2V ‘converter application’ comprises three constituents—converter server, converter agent, </a:t>
            </a:r>
            <a:r>
              <a:rPr lang="en-US" sz="2600" dirty="0" smtClean="0">
                <a:latin typeface="+mn-lt"/>
              </a:rPr>
              <a:t>and converter </a:t>
            </a:r>
            <a:r>
              <a:rPr lang="en-US" sz="2600" dirty="0">
                <a:latin typeface="+mn-lt"/>
              </a:rPr>
              <a:t>boot CD</a:t>
            </a:r>
            <a:r>
              <a:rPr lang="en-US" sz="2600" dirty="0" smtClean="0">
                <a:latin typeface="+mn-lt"/>
              </a:rPr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600" dirty="0">
                <a:latin typeface="+mn-lt"/>
              </a:rPr>
              <a:t>There are two means to shift from physical machine to virtual machine (VM). These are </a:t>
            </a:r>
            <a:r>
              <a:rPr lang="en-US" sz="2600" dirty="0" smtClean="0">
                <a:latin typeface="+mn-lt"/>
              </a:rPr>
              <a:t>cold migration </a:t>
            </a:r>
            <a:r>
              <a:rPr lang="en-US" sz="2600" dirty="0">
                <a:latin typeface="+mn-lt"/>
              </a:rPr>
              <a:t>and hot </a:t>
            </a:r>
          </a:p>
          <a:p>
            <a:pPr marL="0" indent="0">
              <a:buNone/>
            </a:pPr>
            <a:r>
              <a:rPr lang="en-US" sz="2600" dirty="0">
                <a:latin typeface="+mn-lt"/>
              </a:rPr>
              <a:t> </a:t>
            </a:r>
            <a:r>
              <a:rPr lang="en-US" sz="2600" dirty="0" smtClean="0">
                <a:latin typeface="+mn-lt"/>
              </a:rPr>
              <a:t>  migration</a:t>
            </a:r>
            <a:r>
              <a:rPr lang="en-US" sz="2600" dirty="0">
                <a:latin typeface="+mn-lt"/>
              </a:rPr>
              <a:t>.</a:t>
            </a:r>
            <a:endParaRPr lang="en-US" sz="2600" dirty="0" smtClean="0">
              <a:latin typeface="+mn-lt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201944" y="6284660"/>
            <a:ext cx="6327648" cy="365125"/>
          </a:xfrm>
        </p:spPr>
        <p:txBody>
          <a:bodyPr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© Oxford University Press 2018. All rights reserved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1630" y="2814452"/>
            <a:ext cx="6038850" cy="338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63584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>
            <a:normAutofit/>
          </a:bodyPr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+mn-lt"/>
              </a:rPr>
              <a:t>Types of Virtualization</a:t>
            </a:r>
            <a:endParaRPr lang="en-US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endParaRPr lang="en-US" dirty="0" smtClean="0">
              <a:latin typeface="+mn-lt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>
                <a:latin typeface="+mn-lt"/>
              </a:rPr>
              <a:t>Different </a:t>
            </a:r>
            <a:r>
              <a:rPr lang="en-US" dirty="0">
                <a:latin typeface="+mn-lt"/>
              </a:rPr>
              <a:t>types of virtualization are </a:t>
            </a:r>
            <a:r>
              <a:rPr lang="en-US" dirty="0" smtClean="0">
                <a:latin typeface="+mn-lt"/>
              </a:rPr>
              <a:t>:</a:t>
            </a:r>
          </a:p>
          <a:p>
            <a:r>
              <a:rPr lang="en-US" dirty="0" smtClean="0">
                <a:latin typeface="+mn-lt"/>
              </a:rPr>
              <a:t>Data </a:t>
            </a:r>
            <a:r>
              <a:rPr lang="en-US" dirty="0">
                <a:latin typeface="+mn-lt"/>
              </a:rPr>
              <a:t>Center </a:t>
            </a:r>
            <a:r>
              <a:rPr lang="en-US" dirty="0" smtClean="0">
                <a:latin typeface="+mn-lt"/>
              </a:rPr>
              <a:t>Virtualization</a:t>
            </a:r>
          </a:p>
          <a:p>
            <a:r>
              <a:rPr lang="en-US" dirty="0">
                <a:latin typeface="+mn-lt"/>
              </a:rPr>
              <a:t>Server </a:t>
            </a:r>
            <a:r>
              <a:rPr lang="en-US" dirty="0" smtClean="0">
                <a:latin typeface="+mn-lt"/>
              </a:rPr>
              <a:t>Virtualization</a:t>
            </a:r>
          </a:p>
          <a:p>
            <a:r>
              <a:rPr lang="en-US" dirty="0">
                <a:latin typeface="+mn-lt"/>
              </a:rPr>
              <a:t>Storage </a:t>
            </a:r>
            <a:r>
              <a:rPr lang="en-US" dirty="0" smtClean="0">
                <a:latin typeface="+mn-lt"/>
              </a:rPr>
              <a:t>Virtualization</a:t>
            </a:r>
          </a:p>
          <a:p>
            <a:r>
              <a:rPr lang="en-US" dirty="0">
                <a:latin typeface="+mn-lt"/>
              </a:rPr>
              <a:t>Sensor Virtualization</a:t>
            </a:r>
            <a:endParaRPr lang="en-US" dirty="0" smtClean="0">
              <a:latin typeface="+mn-lt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201944" y="6284660"/>
            <a:ext cx="6327648" cy="365125"/>
          </a:xfrm>
        </p:spPr>
        <p:txBody>
          <a:bodyPr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© Oxford University Press 2018.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28418050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>
            <a:normAutofit/>
          </a:bodyPr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+mn-lt"/>
              </a:rPr>
              <a:t>Storage Area Network</a:t>
            </a:r>
            <a:endParaRPr lang="en-US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+mn-lt"/>
              </a:rPr>
              <a:t>Storage area network (SAN) refers to the LAN design for managing huge amounts of data transfer</a:t>
            </a:r>
            <a:r>
              <a:rPr lang="en-US" dirty="0" smtClean="0">
                <a:latin typeface="+mn-lt"/>
              </a:rPr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+mn-lt"/>
              </a:rPr>
              <a:t>It uses interconnection technology </a:t>
            </a:r>
            <a:r>
              <a:rPr lang="en-US" dirty="0" smtClean="0">
                <a:latin typeface="+mn-lt"/>
              </a:rPr>
              <a:t>for supporting </a:t>
            </a:r>
            <a:r>
              <a:rPr lang="en-US" dirty="0">
                <a:latin typeface="+mn-lt"/>
              </a:rPr>
              <a:t>data storage, retrieval, and replication. NAS works on TCP/IP, whereas SAN for disk </a:t>
            </a:r>
            <a:r>
              <a:rPr lang="en-US" dirty="0" smtClean="0">
                <a:latin typeface="+mn-lt"/>
              </a:rPr>
              <a:t>blocks transformation </a:t>
            </a:r>
            <a:r>
              <a:rPr lang="en-US" dirty="0">
                <a:latin typeface="+mn-lt"/>
              </a:rPr>
              <a:t>works on low-level network protocols</a:t>
            </a:r>
            <a:r>
              <a:rPr lang="en-US" dirty="0" smtClean="0">
                <a:latin typeface="+mn-lt"/>
              </a:rPr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+mn-lt"/>
              </a:rPr>
              <a:t>Storage area networks are actually designed for </a:t>
            </a:r>
            <a:r>
              <a:rPr lang="en-US" dirty="0" smtClean="0">
                <a:latin typeface="+mn-lt"/>
              </a:rPr>
              <a:t>data management. </a:t>
            </a:r>
            <a:r>
              <a:rPr lang="en-US" dirty="0">
                <a:latin typeface="+mn-lt"/>
              </a:rPr>
              <a:t>It is a rapid storage device network and can be connected with servers</a:t>
            </a:r>
            <a:r>
              <a:rPr lang="en-US" dirty="0" smtClean="0">
                <a:latin typeface="+mn-lt"/>
              </a:rPr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+mn-lt"/>
              </a:rPr>
              <a:t>SAN is helpful for transferring data from one storage device to another </a:t>
            </a:r>
            <a:r>
              <a:rPr lang="en-US" dirty="0" smtClean="0">
                <a:latin typeface="+mn-lt"/>
              </a:rPr>
              <a:t>without disturbing </a:t>
            </a:r>
            <a:r>
              <a:rPr lang="en-US" dirty="0">
                <a:latin typeface="+mn-lt"/>
              </a:rPr>
              <a:t>other devices</a:t>
            </a:r>
            <a:r>
              <a:rPr lang="en-US" dirty="0" smtClean="0">
                <a:latin typeface="+mn-lt"/>
              </a:rPr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+mn-lt"/>
              </a:rPr>
              <a:t>SAN also supports fast backup as CPU cycles of server are not involved in </a:t>
            </a:r>
            <a:r>
              <a:rPr lang="en-US" dirty="0" smtClean="0">
                <a:latin typeface="+mn-lt"/>
              </a:rPr>
              <a:t>the backup </a:t>
            </a:r>
            <a:r>
              <a:rPr lang="en-US" dirty="0">
                <a:latin typeface="+mn-lt"/>
              </a:rPr>
              <a:t>process. At the time of recovery, SAN plays an important role.</a:t>
            </a:r>
            <a:endParaRPr lang="en-US" dirty="0" smtClean="0">
              <a:latin typeface="+mn-lt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201944" y="6284660"/>
            <a:ext cx="6327648" cy="365125"/>
          </a:xfrm>
        </p:spPr>
        <p:txBody>
          <a:bodyPr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© Oxford University Press 2018.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5299787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>
            <a:normAutofit/>
          </a:bodyPr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+mn-lt"/>
              </a:rPr>
              <a:t>Storage Area Network</a:t>
            </a:r>
            <a:endParaRPr lang="en-US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201944" y="6284660"/>
            <a:ext cx="6327648" cy="365125"/>
          </a:xfrm>
        </p:spPr>
        <p:txBody>
          <a:bodyPr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© Oxford University Press 2018. All rights reserved</a:t>
            </a:r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015" y="2066306"/>
            <a:ext cx="4969617" cy="37961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4708" y="2066306"/>
            <a:ext cx="5324351" cy="37961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451544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>
            <a:normAutofit/>
          </a:bodyPr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+mn-lt"/>
              </a:rPr>
              <a:t>Network Attached Storage</a:t>
            </a:r>
            <a:endParaRPr lang="en-US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+mn-lt"/>
              </a:rPr>
              <a:t>Network-attached storage (NAS) is actually a dedicated file storage device for providing local </a:t>
            </a:r>
            <a:r>
              <a:rPr lang="en-US" dirty="0" smtClean="0">
                <a:latin typeface="+mn-lt"/>
              </a:rPr>
              <a:t>area network </a:t>
            </a:r>
            <a:r>
              <a:rPr lang="en-US" dirty="0">
                <a:latin typeface="+mn-lt"/>
              </a:rPr>
              <a:t>nodes with file-based shared storage using a standard </a:t>
            </a:r>
            <a:r>
              <a:rPr lang="en-US" dirty="0" smtClean="0">
                <a:latin typeface="+mn-lt"/>
              </a:rPr>
              <a:t>ethernet connection.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+mn-lt"/>
              </a:rPr>
              <a:t>NAS has its own IP address and each NAS exists on the LAN as an independent </a:t>
            </a:r>
            <a:r>
              <a:rPr lang="en-US" dirty="0" smtClean="0">
                <a:latin typeface="+mn-lt"/>
              </a:rPr>
              <a:t>network node.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+mn-lt"/>
              </a:rPr>
              <a:t>Some examples </a:t>
            </a:r>
            <a:r>
              <a:rPr lang="en-US" dirty="0" smtClean="0">
                <a:latin typeface="+mn-lt"/>
              </a:rPr>
              <a:t>of NAS </a:t>
            </a:r>
            <a:r>
              <a:rPr lang="en-US" dirty="0">
                <a:latin typeface="+mn-lt"/>
              </a:rPr>
              <a:t>devices include Seagate Central, Seagate Business Storage NAS, and 8-Bay Rackmounts. All </a:t>
            </a:r>
            <a:r>
              <a:rPr lang="en-US" dirty="0" smtClean="0">
                <a:latin typeface="+mn-lt"/>
              </a:rPr>
              <a:t>NAS products </a:t>
            </a:r>
            <a:r>
              <a:rPr lang="en-US" dirty="0">
                <a:latin typeface="+mn-lt"/>
              </a:rPr>
              <a:t>provide a secure and centralized location for the </a:t>
            </a:r>
            <a:r>
              <a:rPr lang="en-US" dirty="0" smtClean="0">
                <a:latin typeface="+mn-lt"/>
              </a:rPr>
              <a:t>files.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+mn-lt"/>
              </a:rPr>
              <a:t>Accessing of NAS system storage </a:t>
            </a:r>
            <a:r>
              <a:rPr lang="en-US" dirty="0" smtClean="0">
                <a:latin typeface="+mn-lt"/>
              </a:rPr>
              <a:t>data is </a:t>
            </a:r>
            <a:r>
              <a:rPr lang="en-US" dirty="0">
                <a:latin typeface="+mn-lt"/>
              </a:rPr>
              <a:t>easy—it can be accessed from </a:t>
            </a:r>
            <a:r>
              <a:rPr lang="en-US" dirty="0" smtClean="0">
                <a:latin typeface="+mn-lt"/>
              </a:rPr>
              <a:t>anywhere</a:t>
            </a:r>
            <a:r>
              <a:rPr lang="en-US" dirty="0">
                <a:latin typeface="+mn-lt"/>
              </a:rPr>
              <a:t>, whether </a:t>
            </a:r>
            <a:r>
              <a:rPr lang="en-US" dirty="0" smtClean="0">
                <a:latin typeface="+mn-lt"/>
              </a:rPr>
              <a:t>one is in own house</a:t>
            </a:r>
            <a:r>
              <a:rPr lang="en-US" dirty="0">
                <a:latin typeface="+mn-lt"/>
              </a:rPr>
              <a:t>, on another computer, </a:t>
            </a:r>
            <a:r>
              <a:rPr lang="en-US" dirty="0" smtClean="0">
                <a:latin typeface="+mn-lt"/>
              </a:rPr>
              <a:t>or through </a:t>
            </a:r>
            <a:r>
              <a:rPr lang="en-US" dirty="0">
                <a:latin typeface="+mn-lt"/>
              </a:rPr>
              <a:t>mobile, </a:t>
            </a:r>
            <a:r>
              <a:rPr lang="en-US" dirty="0" err="1">
                <a:latin typeface="+mn-lt"/>
              </a:rPr>
              <a:t>Wi-fi</a:t>
            </a:r>
            <a:r>
              <a:rPr lang="en-US" dirty="0">
                <a:latin typeface="+mn-lt"/>
              </a:rPr>
              <a:t> technology, etc.</a:t>
            </a:r>
            <a:endParaRPr lang="en-US" dirty="0" smtClean="0">
              <a:latin typeface="+mn-lt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201944" y="6284660"/>
            <a:ext cx="6327648" cy="365125"/>
          </a:xfrm>
        </p:spPr>
        <p:txBody>
          <a:bodyPr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© Oxford University Press 2018.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23495713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>
            <a:normAutofit/>
          </a:bodyPr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+mn-lt"/>
              </a:rPr>
              <a:t>Network Attached Storage</a:t>
            </a:r>
            <a:endParaRPr lang="en-US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+mn-lt"/>
              </a:rPr>
              <a:t>NAS has the following benefits</a:t>
            </a:r>
            <a:r>
              <a:rPr lang="en-US" dirty="0" smtClean="0">
                <a:latin typeface="+mn-lt"/>
              </a:rPr>
              <a:t>:</a:t>
            </a:r>
          </a:p>
          <a:p>
            <a:r>
              <a:rPr lang="en-US" dirty="0">
                <a:latin typeface="+mn-lt"/>
              </a:rPr>
              <a:t>Broad access to </a:t>
            </a:r>
            <a:r>
              <a:rPr lang="en-US" dirty="0" smtClean="0">
                <a:latin typeface="+mn-lt"/>
              </a:rPr>
              <a:t>information</a:t>
            </a:r>
          </a:p>
          <a:p>
            <a:r>
              <a:rPr lang="en-US" dirty="0">
                <a:latin typeface="+mn-lt"/>
              </a:rPr>
              <a:t>Better </a:t>
            </a:r>
            <a:r>
              <a:rPr lang="en-US" dirty="0" smtClean="0">
                <a:latin typeface="+mn-lt"/>
              </a:rPr>
              <a:t>efficiency</a:t>
            </a:r>
          </a:p>
          <a:p>
            <a:r>
              <a:rPr lang="en-US" dirty="0">
                <a:latin typeface="+mn-lt"/>
              </a:rPr>
              <a:t>Better </a:t>
            </a:r>
            <a:r>
              <a:rPr lang="en-US" dirty="0" smtClean="0">
                <a:latin typeface="+mn-lt"/>
              </a:rPr>
              <a:t>flexibility</a:t>
            </a:r>
          </a:p>
          <a:p>
            <a:r>
              <a:rPr lang="en-US" dirty="0">
                <a:latin typeface="+mn-lt"/>
              </a:rPr>
              <a:t>Centralized </a:t>
            </a:r>
            <a:r>
              <a:rPr lang="en-US" dirty="0" smtClean="0">
                <a:latin typeface="+mn-lt"/>
              </a:rPr>
              <a:t>storage</a:t>
            </a:r>
          </a:p>
          <a:p>
            <a:r>
              <a:rPr lang="en-US" dirty="0">
                <a:latin typeface="+mn-lt"/>
              </a:rPr>
              <a:t>Simplified </a:t>
            </a:r>
            <a:r>
              <a:rPr lang="en-US" dirty="0" smtClean="0">
                <a:latin typeface="+mn-lt"/>
              </a:rPr>
              <a:t>management</a:t>
            </a:r>
          </a:p>
          <a:p>
            <a:r>
              <a:rPr lang="en-US" dirty="0" smtClean="0">
                <a:latin typeface="+mn-lt"/>
              </a:rPr>
              <a:t>Scalability</a:t>
            </a:r>
          </a:p>
          <a:p>
            <a:r>
              <a:rPr lang="en-US" dirty="0">
                <a:latin typeface="+mn-lt"/>
              </a:rPr>
              <a:t>High </a:t>
            </a:r>
            <a:r>
              <a:rPr lang="en-US" dirty="0" smtClean="0">
                <a:latin typeface="+mn-lt"/>
              </a:rPr>
              <a:t>availability</a:t>
            </a:r>
          </a:p>
          <a:p>
            <a:r>
              <a:rPr lang="en-US" dirty="0">
                <a:latin typeface="+mn-lt"/>
              </a:rPr>
              <a:t>Security</a:t>
            </a:r>
            <a:endParaRPr lang="en-US" dirty="0" smtClean="0">
              <a:latin typeface="+mn-lt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201944" y="6284660"/>
            <a:ext cx="6327648" cy="365125"/>
          </a:xfrm>
        </p:spPr>
        <p:txBody>
          <a:bodyPr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© Oxford University Press 2018. All rights reserved</a:t>
            </a: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0400" y="2329171"/>
            <a:ext cx="6315075" cy="3790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12615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>
            <a:normAutofit/>
          </a:bodyPr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+mn-lt"/>
              </a:rPr>
              <a:t>Network Attached Storage</a:t>
            </a:r>
            <a:endParaRPr lang="en-US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+mn-lt"/>
              </a:rPr>
              <a:t>NAS has the following </a:t>
            </a:r>
            <a:r>
              <a:rPr lang="en-US" dirty="0" smtClean="0">
                <a:latin typeface="+mn-lt"/>
              </a:rPr>
              <a:t>components:</a:t>
            </a:r>
          </a:p>
          <a:p>
            <a:r>
              <a:rPr lang="en-US" dirty="0" smtClean="0">
                <a:latin typeface="+mn-lt"/>
              </a:rPr>
              <a:t>NAS </a:t>
            </a:r>
            <a:r>
              <a:rPr lang="en-US" dirty="0">
                <a:latin typeface="+mn-lt"/>
              </a:rPr>
              <a:t>head (CPU and memory)</a:t>
            </a:r>
          </a:p>
          <a:p>
            <a:r>
              <a:rPr lang="en-US" dirty="0" smtClean="0">
                <a:latin typeface="+mn-lt"/>
              </a:rPr>
              <a:t>Network </a:t>
            </a:r>
            <a:r>
              <a:rPr lang="en-US" dirty="0">
                <a:latin typeface="+mn-lt"/>
              </a:rPr>
              <a:t>interface cards (NICs) for providing connectivity</a:t>
            </a:r>
          </a:p>
          <a:p>
            <a:r>
              <a:rPr lang="en-US" dirty="0" smtClean="0">
                <a:latin typeface="+mn-lt"/>
              </a:rPr>
              <a:t>Operating </a:t>
            </a:r>
            <a:r>
              <a:rPr lang="en-US" dirty="0">
                <a:latin typeface="+mn-lt"/>
              </a:rPr>
              <a:t>system for handling NAS functionality</a:t>
            </a:r>
          </a:p>
          <a:p>
            <a:r>
              <a:rPr lang="en-US" dirty="0" smtClean="0">
                <a:latin typeface="+mn-lt"/>
              </a:rPr>
              <a:t>Network </a:t>
            </a:r>
            <a:r>
              <a:rPr lang="en-US" dirty="0">
                <a:latin typeface="+mn-lt"/>
              </a:rPr>
              <a:t>file system (NFS) and common Internet file system (CIFS) protocols for file sharing. </a:t>
            </a:r>
            <a:r>
              <a:rPr lang="en-US" dirty="0" smtClean="0">
                <a:latin typeface="+mn-lt"/>
              </a:rPr>
              <a:t>NFS mainly </a:t>
            </a:r>
            <a:r>
              <a:rPr lang="en-US" dirty="0">
                <a:latin typeface="+mn-lt"/>
              </a:rPr>
              <a:t>supports UNIX-based operating environments, whereas CIFS is supported by </a:t>
            </a:r>
            <a:r>
              <a:rPr lang="en-US" dirty="0" smtClean="0">
                <a:latin typeface="+mn-lt"/>
              </a:rPr>
              <a:t>Microsoft Windows-based </a:t>
            </a:r>
            <a:r>
              <a:rPr lang="en-US" dirty="0">
                <a:latin typeface="+mn-lt"/>
              </a:rPr>
              <a:t>operating environments. Supported file sharing protocols facilitate users to </a:t>
            </a:r>
            <a:r>
              <a:rPr lang="en-US" dirty="0" smtClean="0">
                <a:latin typeface="+mn-lt"/>
              </a:rPr>
              <a:t>share files </a:t>
            </a:r>
            <a:r>
              <a:rPr lang="en-US" dirty="0">
                <a:latin typeface="+mn-lt"/>
              </a:rPr>
              <a:t>with different operating platforms.</a:t>
            </a:r>
          </a:p>
          <a:p>
            <a:r>
              <a:rPr lang="en-US" dirty="0" smtClean="0">
                <a:latin typeface="+mn-lt"/>
              </a:rPr>
              <a:t>Storage </a:t>
            </a:r>
            <a:r>
              <a:rPr lang="en-US" dirty="0">
                <a:latin typeface="+mn-lt"/>
              </a:rPr>
              <a:t>protocols to connect and manage physical disk resources</a:t>
            </a:r>
          </a:p>
          <a:p>
            <a:r>
              <a:rPr lang="en-US" dirty="0" smtClean="0">
                <a:latin typeface="+mn-lt"/>
              </a:rPr>
              <a:t>Storage </a:t>
            </a:r>
            <a:r>
              <a:rPr lang="en-US" dirty="0">
                <a:latin typeface="+mn-lt"/>
              </a:rPr>
              <a:t>array</a:t>
            </a:r>
            <a:endParaRPr lang="en-US" dirty="0" smtClean="0">
              <a:latin typeface="+mn-lt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201944" y="6284660"/>
            <a:ext cx="6327648" cy="365125"/>
          </a:xfrm>
        </p:spPr>
        <p:txBody>
          <a:bodyPr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© Oxford University Press 2018.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2021876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>
            <a:normAutofit/>
          </a:bodyPr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+mn-lt"/>
              </a:rPr>
              <a:t>Network Attached Storage</a:t>
            </a:r>
            <a:endParaRPr lang="en-US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201944" y="6284660"/>
            <a:ext cx="6327648" cy="365125"/>
          </a:xfrm>
        </p:spPr>
        <p:txBody>
          <a:bodyPr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© Oxford University Press 2018. All rights reserved</a:t>
            </a:r>
          </a:p>
        </p:txBody>
      </p:sp>
      <p:sp>
        <p:nvSpPr>
          <p:cNvPr id="6" name="Rectangle 5"/>
          <p:cNvSpPr/>
          <p:nvPr/>
        </p:nvSpPr>
        <p:spPr>
          <a:xfrm>
            <a:off x="176646" y="1589685"/>
            <a:ext cx="6366658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600" b="1" dirty="0"/>
              <a:t>Comparison between SAN and </a:t>
            </a:r>
            <a:r>
              <a:rPr lang="en-US" sz="2600" b="1" dirty="0" smtClean="0"/>
              <a:t>NAS: </a:t>
            </a:r>
            <a:endParaRPr lang="en-US" sz="2600" b="1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dirty="0"/>
              <a:t>Storage area network (SAN) supports networking, whereas network-attached storage (NAS) is a </a:t>
            </a:r>
            <a:r>
              <a:rPr lang="en-US" sz="2600" dirty="0" smtClean="0"/>
              <a:t>storage device</a:t>
            </a:r>
            <a:r>
              <a:rPr lang="en-US" sz="2600" dirty="0"/>
              <a:t>, in a network. </a:t>
            </a:r>
            <a:endParaRPr lang="en-US" sz="26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dirty="0" smtClean="0"/>
              <a:t>Operating </a:t>
            </a:r>
            <a:r>
              <a:rPr lang="en-US" sz="2600" dirty="0"/>
              <a:t>systems consider SAN as a disk, whereas a NAS device is a file server.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dirty="0"/>
              <a:t>SAN supports block-level storage for servers, whereas NAS devices support file-level storage. For </a:t>
            </a:r>
            <a:r>
              <a:rPr lang="en-US" sz="2600" dirty="0" smtClean="0"/>
              <a:t>saving files such as word documents or MS Excel spreadsheets, NAS is generally used.</a:t>
            </a:r>
            <a:endParaRPr lang="en-US" sz="2600" dirty="0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1393" y="1781299"/>
            <a:ext cx="5514975" cy="35755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993031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201944" y="6284660"/>
            <a:ext cx="6327648" cy="365125"/>
          </a:xfrm>
        </p:spPr>
        <p:txBody>
          <a:bodyPr/>
          <a:lstStyle/>
          <a:p>
            <a:pPr algn="ctr"/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© Oxford University Press 2018. All rights reserved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08478" y="3179577"/>
            <a:ext cx="11684000" cy="1071789"/>
          </a:xfrm>
          <a:solidFill>
            <a:schemeClr val="bg1"/>
          </a:solidFill>
        </p:spPr>
        <p:txBody>
          <a:bodyPr>
            <a:normAutofit/>
          </a:bodyPr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Calibri" panose="020F0502020204030204" pitchFamily="34" charset="0"/>
              </a:rPr>
              <a:t>Thank You!</a:t>
            </a:r>
            <a:endParaRPr lang="en-US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87526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1868</TotalTime>
  <Words>2227</Words>
  <Application>Microsoft Office PowerPoint</Application>
  <PresentationFormat>Custom</PresentationFormat>
  <Paragraphs>215</Paragraphs>
  <Slides>31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2" baseType="lpstr">
      <vt:lpstr>Office Theme</vt:lpstr>
      <vt:lpstr>PowerPoint Presentation</vt:lpstr>
      <vt:lpstr>Chapter 6</vt:lpstr>
      <vt:lpstr>Learning Outcomes</vt:lpstr>
      <vt:lpstr>Introduction</vt:lpstr>
      <vt:lpstr>Virtualization Reference Model</vt:lpstr>
      <vt:lpstr>Advantages of Virtualization</vt:lpstr>
      <vt:lpstr>Server/Compute Virtualization</vt:lpstr>
      <vt:lpstr>Server/Compute Virtualization</vt:lpstr>
      <vt:lpstr>Server/Compute Virtualization</vt:lpstr>
      <vt:lpstr>Server/Compute Components</vt:lpstr>
      <vt:lpstr>Need of Server/Compute Virtualization</vt:lpstr>
      <vt:lpstr>Need of Server/Compute Virtualization</vt:lpstr>
      <vt:lpstr>Virtual Clusters</vt:lpstr>
      <vt:lpstr>Advantages of Server/Compute Virtualization</vt:lpstr>
      <vt:lpstr>Techniques of Server/Compute Virtualization</vt:lpstr>
      <vt:lpstr>Virtual Machine and Hardware Components</vt:lpstr>
      <vt:lpstr>Virtual Machine and Hardware Components</vt:lpstr>
      <vt:lpstr>Hypervisor Taxonomy</vt:lpstr>
      <vt:lpstr>Hypervisor Taxonomy</vt:lpstr>
      <vt:lpstr>Resource Management and Tools</vt:lpstr>
      <vt:lpstr>Resource Management and Tools</vt:lpstr>
      <vt:lpstr>Physical Machine to Virtual Machine (P2v) Conversion</vt:lpstr>
      <vt:lpstr>Physical Machine to Virtual Machine (P2v) Conversion</vt:lpstr>
      <vt:lpstr>Types of Virtualization</vt:lpstr>
      <vt:lpstr>Storage Area Network</vt:lpstr>
      <vt:lpstr>Storage Area Network</vt:lpstr>
      <vt:lpstr>Network Attached Storage</vt:lpstr>
      <vt:lpstr>Network Attached Storage</vt:lpstr>
      <vt:lpstr>Network Attached Storage</vt:lpstr>
      <vt:lpstr>Network Attached Storage</vt:lpstr>
      <vt:lpstr>Thank You!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Chowdhury, Sayantan</dc:creator>
  <cp:lastModifiedBy>Dhawan, Neha</cp:lastModifiedBy>
  <cp:revision>125</cp:revision>
  <dcterms:created xsi:type="dcterms:W3CDTF">2018-06-14T06:27:15Z</dcterms:created>
  <dcterms:modified xsi:type="dcterms:W3CDTF">2018-08-13T07:05:39Z</dcterms:modified>
</cp:coreProperties>
</file>