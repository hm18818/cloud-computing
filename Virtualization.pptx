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309" r:id="rId7"/>
    <p:sldId id="260" r:id="rId8"/>
    <p:sldId id="261" r:id="rId9"/>
    <p:sldId id="282" r:id="rId10"/>
    <p:sldId id="307" r:id="rId11"/>
    <p:sldId id="336" r:id="rId12"/>
    <p:sldId id="264" r:id="rId13"/>
    <p:sldId id="305" r:id="rId14"/>
    <p:sldId id="266" r:id="rId15"/>
    <p:sldId id="267" r:id="rId16"/>
    <p:sldId id="268" r:id="rId17"/>
    <p:sldId id="302" r:id="rId18"/>
    <p:sldId id="303" r:id="rId19"/>
    <p:sldId id="337" r:id="rId20"/>
    <p:sldId id="304" r:id="rId21"/>
    <p:sldId id="338" r:id="rId22"/>
    <p:sldId id="283" r:id="rId23"/>
    <p:sldId id="270" r:id="rId24"/>
    <p:sldId id="271" r:id="rId25"/>
    <p:sldId id="272" r:id="rId26"/>
    <p:sldId id="273" r:id="rId27"/>
    <p:sldId id="274" r:id="rId28"/>
    <p:sldId id="275" r:id="rId29"/>
    <p:sldId id="310" r:id="rId30"/>
    <p:sldId id="276" r:id="rId31"/>
    <p:sldId id="277" r:id="rId32"/>
    <p:sldId id="278" r:id="rId33"/>
    <p:sldId id="279" r:id="rId34"/>
    <p:sldId id="280" r:id="rId35"/>
    <p:sldId id="281" r:id="rId36"/>
    <p:sldId id="361" r:id="rId3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heavy">
                <a:solidFill>
                  <a:srgbClr val="006FC0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heavy">
                <a:solidFill>
                  <a:srgbClr val="006FC0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heavy">
                <a:solidFill>
                  <a:srgbClr val="006FC0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0"/>
                </a:moveTo>
                <a:lnTo>
                  <a:pt x="533400" y="0"/>
                </a:lnTo>
                <a:lnTo>
                  <a:pt x="533400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0"/>
                </a:moveTo>
                <a:lnTo>
                  <a:pt x="8552688" y="0"/>
                </a:lnTo>
                <a:lnTo>
                  <a:pt x="8552688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595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 u="heavy">
                <a:solidFill>
                  <a:srgbClr val="006FC0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137" y="1679750"/>
            <a:ext cx="8221725" cy="4549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971540"/>
          </a:xfrm>
          <a:custGeom>
            <a:avLst/>
            <a:gdLst/>
            <a:ahLst/>
            <a:cxnLst/>
            <a:rect l="l" t="t" r="r" b="b"/>
            <a:pathLst>
              <a:path w="9144000" h="5971540">
                <a:moveTo>
                  <a:pt x="0" y="0"/>
                </a:moveTo>
                <a:lnTo>
                  <a:pt x="9144000" y="0"/>
                </a:lnTo>
                <a:lnTo>
                  <a:pt x="9144000" y="5971032"/>
                </a:lnTo>
                <a:lnTo>
                  <a:pt x="0" y="5971032"/>
                </a:lnTo>
                <a:lnTo>
                  <a:pt x="0" y="0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5971032"/>
            <a:ext cx="9144000" cy="887094"/>
          </a:xfrm>
          <a:custGeom>
            <a:avLst/>
            <a:gdLst/>
            <a:ahLst/>
            <a:cxnLst/>
            <a:rect l="l" t="t" r="r" b="b"/>
            <a:pathLst>
              <a:path w="9144000" h="887095">
                <a:moveTo>
                  <a:pt x="0" y="0"/>
                </a:moveTo>
                <a:lnTo>
                  <a:pt x="9144000" y="0"/>
                </a:lnTo>
                <a:lnTo>
                  <a:pt x="9144000" y="886967"/>
                </a:lnTo>
                <a:lnTo>
                  <a:pt x="0" y="8869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0" y="713231"/>
                </a:moveTo>
                <a:lnTo>
                  <a:pt x="0" y="0"/>
                </a:lnTo>
                <a:lnTo>
                  <a:pt x="2240280" y="0"/>
                </a:lnTo>
                <a:lnTo>
                  <a:pt x="2240280" y="713231"/>
                </a:lnTo>
                <a:lnTo>
                  <a:pt x="0" y="713231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0" y="0"/>
                </a:moveTo>
                <a:lnTo>
                  <a:pt x="6784848" y="0"/>
                </a:lnTo>
                <a:lnTo>
                  <a:pt x="6784848" y="713232"/>
                </a:lnTo>
                <a:lnTo>
                  <a:pt x="0" y="713232"/>
                </a:lnTo>
                <a:lnTo>
                  <a:pt x="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5765" y="1350843"/>
            <a:ext cx="8407400" cy="111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8425" marR="5080" indent="-2625725">
              <a:lnSpc>
                <a:spcPct val="100000"/>
              </a:lnSpc>
            </a:pP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KA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3900" u="none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3900" u="none" spc="-5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U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3900" u="none" spc="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F 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DU</a:t>
            </a:r>
            <a:r>
              <a:rPr sz="3900" u="none" spc="-5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RIAL 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3900" u="none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H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3900" u="none" spc="-6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3900"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3900" u="none" spc="-13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</a:t>
            </a:r>
            <a:r>
              <a:rPr sz="3900"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Y</a:t>
            </a:r>
            <a:endParaRPr sz="3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3339" y="3265750"/>
            <a:ext cx="4032885" cy="53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4000" b="1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40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40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u</a:t>
            </a:r>
            <a:r>
              <a:rPr sz="40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</a:t>
            </a:r>
            <a:r>
              <a:rPr sz="4000" b="1" spc="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4000" b="1" spc="-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40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om</a:t>
            </a:r>
            <a:r>
              <a:rPr sz="40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pu</a:t>
            </a:r>
            <a:r>
              <a:rPr sz="40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40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40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ng</a:t>
            </a:r>
            <a:endParaRPr sz="4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800" y="4267200"/>
            <a:ext cx="1943100" cy="136702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0677" y="6209012"/>
            <a:ext cx="145351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i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3 </a:t>
            </a:r>
            <a:r>
              <a:rPr sz="3200" b="1" i="1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3200" b="1" i="1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3200" b="1" i="1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3200" b="1" i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dit</a:t>
            </a:r>
            <a:endParaRPr sz="3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1209" y="6224246"/>
            <a:ext cx="45154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400" b="1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h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oo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l 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f </a:t>
            </a:r>
            <a:r>
              <a:rPr sz="2400" b="1" spc="-2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om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pu</a:t>
            </a:r>
            <a:r>
              <a:rPr sz="2400" b="1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 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En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gi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neer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24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24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0"/>
                </a:moveTo>
                <a:lnTo>
                  <a:pt x="9144000" y="0"/>
                </a:lnTo>
                <a:lnTo>
                  <a:pt x="9144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0"/>
                </a:moveTo>
                <a:lnTo>
                  <a:pt x="1295400" y="0"/>
                </a:lnTo>
                <a:lnTo>
                  <a:pt x="12954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0"/>
                </a:moveTo>
                <a:lnTo>
                  <a:pt x="7772400" y="0"/>
                </a:lnTo>
                <a:lnTo>
                  <a:pt x="77724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97554" y="2855222"/>
            <a:ext cx="3270250" cy="53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u="heavy" spc="-3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V</a:t>
            </a:r>
            <a:r>
              <a:rPr sz="4000" b="1" u="heavy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4000" b="1" u="heavy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rt</a:t>
            </a:r>
            <a:r>
              <a:rPr sz="4000" b="1" u="heavy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u</a:t>
            </a:r>
            <a:r>
              <a:rPr sz="4000" b="1" u="heavy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4000" b="1" u="heavy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4000" b="1" u="heavy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4000" b="1" u="heavy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zat</a:t>
            </a:r>
            <a:r>
              <a:rPr sz="4000" b="1" u="heavy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4000" b="1" u="heavy" spc="-5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4000" b="1" u="heavy" spc="-10" dirty="0">
                <a:solidFill>
                  <a:srgbClr val="006FC0"/>
                </a:solidFill>
                <a:latin typeface="Cambria" panose="02040503050406030204"/>
                <a:cs typeface="Cambria" panose="02040503050406030204"/>
              </a:rPr>
              <a:t>n</a:t>
            </a:r>
            <a:endParaRPr sz="4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8515" y="4950723"/>
            <a:ext cx="3786504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endParaRPr sz="4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34179" y="1833850"/>
            <a:ext cx="1894839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U</a:t>
            </a:r>
            <a:r>
              <a:rPr u="none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u="none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u="none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t-III</a:t>
            </a:r>
            <a:endParaRPr u="none" spc="-5" dirty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655" y="1958598"/>
            <a:ext cx="21145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24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5590">
              <a:lnSpc>
                <a:spcPct val="100000"/>
              </a:lnSpc>
            </a:pP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lis</a:t>
            </a:r>
            <a:r>
              <a:rPr spc="75" dirty="0"/>
              <a:t>a</a:t>
            </a:r>
            <a:r>
              <a:rPr spc="-5" dirty="0"/>
              <a:t>tion: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Con</a:t>
            </a:r>
            <a:r>
              <a:rPr spc="-10" dirty="0"/>
              <a:t>c</a:t>
            </a:r>
            <a:r>
              <a:rPr dirty="0"/>
              <a:t>e</a:t>
            </a:r>
            <a:r>
              <a:rPr spc="-5" dirty="0"/>
              <a:t>pt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07645" y="1289496"/>
            <a:ext cx="8479790" cy="5042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816610" marR="5080" indent="-320040" algn="just">
              <a:lnSpc>
                <a:spcPts val="2920"/>
              </a:lnSpc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16610" algn="l"/>
              </a:tabLst>
            </a:pPr>
            <a:r>
              <a:rPr sz="2700" spc="7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tualizati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1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700" spc="1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1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17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hni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q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700" spc="-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7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hi</a:t>
            </a:r>
            <a:r>
              <a:rPr sz="2700" spc="18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700" spc="1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ll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700" spc="1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8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8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1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 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si</a:t>
            </a:r>
            <a:r>
              <a:rPr sz="27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gl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-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7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ys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ica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spc="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ns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ta</a:t>
            </a:r>
            <a:r>
              <a:rPr sz="27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700" spc="1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5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resour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7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5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2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5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applicati</a:t>
            </a:r>
            <a:r>
              <a:rPr sz="27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 </a:t>
            </a:r>
            <a:r>
              <a:rPr sz="2700" spc="5" dirty="0">
                <a:latin typeface="Tw Cen MT" panose="020B0602020104020603"/>
                <a:cs typeface="Tw Cen MT" panose="020B0602020104020603"/>
              </a:rPr>
              <a:t>am</a:t>
            </a:r>
            <a:r>
              <a:rPr sz="2700" spc="1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1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700" spc="3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5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ul</a:t>
            </a:r>
            <a:r>
              <a:rPr sz="2700" spc="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7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er</a:t>
            </a:r>
            <a:r>
              <a:rPr sz="27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700" spc="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or</a:t>
            </a:r>
            <a:r>
              <a:rPr sz="2700" spc="-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z</a:t>
            </a:r>
            <a:r>
              <a:rPr sz="27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at</a:t>
            </a:r>
            <a:r>
              <a:rPr sz="27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on</a:t>
            </a:r>
            <a:r>
              <a:rPr sz="27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>
                <a:latin typeface="Tw Cen MT" panose="020B0602020104020603"/>
                <a:cs typeface="Tw Cen MT" panose="020B0602020104020603"/>
              </a:rPr>
              <a:t>.</a:t>
            </a:r>
            <a:r>
              <a:rPr sz="2700" spc="35">
                <a:latin typeface="Tw Cen MT" panose="020B0602020104020603"/>
                <a:cs typeface="Tw Cen MT" panose="020B0602020104020603"/>
              </a:rPr>
              <a:t> </a:t>
            </a:r>
            <a:endParaRPr lang="en-US" sz="2700" spc="35" dirty="0">
              <a:latin typeface="Tw Cen MT" panose="020B0602020104020603"/>
              <a:cs typeface="Tw Cen MT" panose="020B0602020104020603"/>
            </a:endParaRPr>
          </a:p>
          <a:p>
            <a:pPr marL="816610" marR="5080" indent="-320040" algn="just">
              <a:lnSpc>
                <a:spcPts val="2920"/>
              </a:lnSpc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16610" algn="l"/>
              </a:tabLst>
            </a:pPr>
            <a:endParaRPr lang="en-US" sz="2700" spc="35" dirty="0">
              <a:latin typeface="Tw Cen MT" panose="020B0602020104020603"/>
              <a:cs typeface="Tw Cen MT" panose="020B0602020104020603"/>
            </a:endParaRPr>
          </a:p>
          <a:p>
            <a:pPr marL="816610" marR="5080" indent="-320040" algn="just">
              <a:lnSpc>
                <a:spcPts val="2920"/>
              </a:lnSpc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16610" algn="l"/>
              </a:tabLst>
            </a:pPr>
            <a:r>
              <a:rPr sz="2700" spc="15">
                <a:latin typeface="Tw Cen MT" panose="020B0602020104020603"/>
                <a:cs typeface="Tw Cen MT" panose="020B0602020104020603"/>
              </a:rPr>
              <a:t>I</a:t>
            </a:r>
            <a:r>
              <a:rPr sz="2700" spc="-5">
                <a:latin typeface="Tw Cen MT" panose="020B0602020104020603"/>
                <a:cs typeface="Tw Cen MT" panose="020B0602020104020603"/>
              </a:rPr>
              <a:t>t</a:t>
            </a:r>
            <a:r>
              <a:rPr sz="2700" spc="4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700" spc="20" dirty="0">
                <a:latin typeface="Tw Cen MT" panose="020B0602020104020603"/>
                <a:cs typeface="Tw Cen MT" panose="020B0602020104020603"/>
              </a:rPr>
              <a:t>oe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700" spc="4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-120" dirty="0">
                <a:latin typeface="Tw Cen MT" panose="020B0602020104020603"/>
                <a:cs typeface="Tw Cen MT" panose="020B0602020104020603"/>
              </a:rPr>
              <a:t>b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7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ss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nin</a:t>
            </a:r>
            <a:r>
              <a:rPr sz="27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spc="2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2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7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spc="2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10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am</a:t>
            </a:r>
            <a:r>
              <a:rPr sz="27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2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2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229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5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700" spc="114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ys</a:t>
            </a:r>
            <a:r>
              <a:rPr sz="2700" spc="11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10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70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spc="22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14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10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14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8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10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5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2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0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11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d </a:t>
            </a:r>
            <a:r>
              <a:rPr sz="2700" spc="1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1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1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vidin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spc="2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2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1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1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int</a:t>
            </a:r>
            <a:r>
              <a:rPr sz="2700" spc="1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2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25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tha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spc="2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ys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ica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700" spc="2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35" dirty="0">
                <a:latin typeface="Tw Cen MT" panose="020B0602020104020603"/>
                <a:cs typeface="Tw Cen MT" panose="020B0602020104020603"/>
              </a:rPr>
              <a:t>reso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700" spc="1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2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h</a:t>
            </a:r>
            <a:r>
              <a:rPr sz="2700" spc="13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n d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ma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.</a:t>
            </a:r>
            <a:endParaRPr sz="2700">
              <a:latin typeface="Tw Cen MT" panose="020B0602020104020603"/>
              <a:cs typeface="Tw Cen MT" panose="020B0602020104020603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Font typeface="Wingdings" panose="05000000000000000000"/>
              <a:buChar char=""/>
            </a:pP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816610" marR="5080" indent="-320040" algn="just">
              <a:lnSpc>
                <a:spcPts val="2910"/>
              </a:lnSpc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16610" algn="l"/>
              </a:tabLst>
            </a:pPr>
            <a:r>
              <a:rPr sz="2700" spc="12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700" spc="18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tualizati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2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700" spc="2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cl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700" spc="2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mp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700" spc="2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700" spc="130" dirty="0">
                <a:latin typeface="Tw Cen MT" panose="020B0602020104020603"/>
                <a:cs typeface="Tw Cen MT" panose="020B0602020104020603"/>
              </a:rPr>
              <a:t>ll</a:t>
            </a:r>
            <a:r>
              <a:rPr sz="2700" spc="5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700" spc="2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5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700" spc="13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700" spc="2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2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18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13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7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n </a:t>
            </a:r>
            <a:r>
              <a:rPr sz="2700" spc="16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700" spc="12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700" spc="114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spc="1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14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1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700" spc="114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7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23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app</a:t>
            </a:r>
            <a:r>
              <a:rPr sz="2700" spc="114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li</a:t>
            </a:r>
            <a:r>
              <a:rPr sz="2700" spc="1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cat</a:t>
            </a:r>
            <a:r>
              <a:rPr sz="2700" spc="114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700" spc="12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on</a:t>
            </a:r>
            <a:r>
              <a:rPr sz="27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24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spc="12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700" spc="25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700" spc="12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OS </a:t>
            </a:r>
            <a:r>
              <a:rPr sz="2700" spc="12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25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12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2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7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e </a:t>
            </a:r>
            <a:r>
              <a:rPr sz="2700" spc="7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spc="7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am</a:t>
            </a:r>
            <a:r>
              <a:rPr sz="27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14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700" spc="18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2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700" spc="7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-1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7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700" spc="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700" spc="-60" dirty="0">
                <a:latin typeface="Tw Cen MT" panose="020B0602020104020603"/>
                <a:cs typeface="Tw Cen MT" panose="020B0602020104020603"/>
              </a:rPr>
              <a:t>b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7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700" spc="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spc="75" dirty="0">
                <a:latin typeface="Tw Cen MT" panose="020B0602020104020603"/>
                <a:cs typeface="Tw Cen MT" panose="020B0602020104020603"/>
              </a:rPr>
              <a:t>vidin</a:t>
            </a:r>
            <a:r>
              <a:rPr sz="2700" spc="-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700" spc="1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25" dirty="0">
                <a:latin typeface="Tw Cen MT" panose="020B0602020104020603"/>
                <a:cs typeface="Tw Cen MT" panose="020B0602020104020603"/>
              </a:rPr>
              <a:t>f</a:t>
            </a:r>
            <a:r>
              <a:rPr sz="27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7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700" spc="1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7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eff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ici</a:t>
            </a:r>
            <a:r>
              <a:rPr sz="27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1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reso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7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7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 u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tili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z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ati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re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ci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os</a:t>
            </a:r>
            <a:r>
              <a:rPr sz="27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700" spc="-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7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sz="2700">
              <a:solidFill>
                <a:srgbClr val="FF0000"/>
              </a:solidFill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0620">
              <a:lnSpc>
                <a:spcPct val="100000"/>
              </a:lnSpc>
            </a:pP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/>
              <a:t>A</a:t>
            </a:r>
            <a:r>
              <a:rPr spc="-5" dirty="0"/>
              <a:t>r</a:t>
            </a:r>
            <a:r>
              <a:rPr spc="-10" dirty="0"/>
              <a:t>c</a:t>
            </a:r>
            <a:r>
              <a:rPr spc="-5" dirty="0"/>
              <a:t>hit</a:t>
            </a:r>
            <a:r>
              <a:rPr dirty="0"/>
              <a:t>e</a:t>
            </a:r>
            <a:r>
              <a:rPr spc="-10" dirty="0"/>
              <a:t>c</a:t>
            </a:r>
            <a:r>
              <a:rPr spc="-5" dirty="0"/>
              <a:t>tu</a:t>
            </a:r>
            <a:r>
              <a:rPr spc="75" dirty="0"/>
              <a:t>r</a:t>
            </a:r>
            <a:r>
              <a:rPr dirty="0"/>
              <a:t>e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539495" y="1700783"/>
            <a:ext cx="8353044" cy="43205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7645" y="1289496"/>
            <a:ext cx="1187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381000" y="1600200"/>
            <a:ext cx="8457565" cy="3569970"/>
          </a:xfrm>
        </p:spPr>
        <p:txBody>
          <a:bodyPr wrap="square"/>
          <a:lstStyle/>
          <a:p>
            <a:r>
              <a:rPr lang="en-US"/>
              <a:t>With the help of Virtualization multiple operating systems and applications can run on same Machine and its same hardware at the same time increasing the utilization and flexibility of hardware.</a:t>
            </a:r>
            <a:endParaRPr lang="en-US"/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The machine on which the virtual machine is going to be build is known as Host Machine and that virtual machine is referred as a Guest Machine.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9095">
              <a:lnSpc>
                <a:spcPct val="100000"/>
              </a:lnSpc>
            </a:pPr>
            <a:r>
              <a:rPr spc="-5" dirty="0"/>
              <a:t>Hyp</a:t>
            </a:r>
            <a:r>
              <a:rPr dirty="0"/>
              <a:t>e</a:t>
            </a:r>
            <a:r>
              <a:rPr spc="75" dirty="0"/>
              <a:t>r</a:t>
            </a:r>
            <a:r>
              <a:rPr spc="-5" dirty="0"/>
              <a:t>visor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07645" y="1289496"/>
            <a:ext cx="8480425" cy="517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400" spc="2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b="1" spc="-3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400" b="1" spc="25" dirty="0">
                <a:latin typeface="Tw Cen MT" panose="020B0602020104020603"/>
                <a:cs typeface="Tw Cen MT" panose="020B0602020104020603"/>
              </a:rPr>
              <a:t>ype</a:t>
            </a:r>
            <a:r>
              <a:rPr sz="2400" b="1" spc="7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25" dirty="0">
                <a:latin typeface="Tw Cen MT" panose="020B0602020104020603"/>
                <a:cs typeface="Tw Cen MT" panose="020B0602020104020603"/>
              </a:rPr>
              <a:t>viso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9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fi</a:t>
            </a:r>
            <a:r>
              <a:rPr sz="24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-9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400" spc="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400" spc="-6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3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-le</a:t>
            </a:r>
            <a:r>
              <a:rPr sz="2400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og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m 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tha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3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25" dirty="0">
                <a:latin typeface="Tw Cen MT" panose="020B0602020104020603"/>
                <a:cs typeface="Tw Cen MT" panose="020B0602020104020603"/>
              </a:rPr>
              <a:t>ct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3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Vi</a:t>
            </a:r>
            <a:r>
              <a:rPr sz="2400" spc="9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4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4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1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4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4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-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17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r>
              <a:rPr sz="2400" spc="7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endParaRPr sz="2400" spc="75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lang="en-US" sz="2400" spc="75" dirty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rPr>
              <a:t>Hypervisor is a form of virtualization software used in Cloud hosting to </a:t>
            </a:r>
            <a:r>
              <a:rPr lang="en-US" sz="2400" b="1" spc="75" dirty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rPr>
              <a:t>divide and allocate the resources on various pieces of hardware</a:t>
            </a:r>
            <a:r>
              <a:rPr lang="en-US" sz="2400" spc="75" dirty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rPr>
              <a:t>.The program which provide partitioning, isolation or abstraction is called virtualization hypervisor. </a:t>
            </a:r>
            <a:endParaRPr lang="en-US" sz="2400" spc="75" dirty="0">
              <a:solidFill>
                <a:schemeClr val="tx1"/>
              </a:solidFill>
              <a:latin typeface="Tw Cen MT" panose="020B0602020104020603"/>
              <a:cs typeface="Tw Cen MT" panose="020B0602020104020603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lang="en-US" sz="2400" spc="75" dirty="0">
                <a:solidFill>
                  <a:schemeClr val="tx1"/>
                </a:solidFill>
                <a:latin typeface="Tw Cen MT" panose="020B0602020104020603"/>
                <a:cs typeface="Tw Cen MT" panose="020B0602020104020603"/>
              </a:rPr>
              <a:t>Hypervisor is a hardware virtualization technique that allows multiple guest operating systems (OS) to run on a single host system at the same time. A hypervisor is sometimes also called a virtual machine manager(VMM).</a:t>
            </a:r>
            <a:endParaRPr lang="en-US" sz="2400" spc="75" dirty="0">
              <a:solidFill>
                <a:schemeClr val="tx1"/>
              </a:solidFill>
              <a:latin typeface="Tw Cen MT" panose="020B0602020104020603"/>
              <a:cs typeface="Tw Cen MT" panose="020B0602020104020603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400" spc="30">
                <a:latin typeface="Tw Cen MT" panose="020B0602020104020603"/>
                <a:cs typeface="Tw Cen MT" panose="020B0602020104020603"/>
              </a:rPr>
              <a:t>Th</a:t>
            </a:r>
            <a:r>
              <a:rPr sz="2400" spc="35">
                <a:latin typeface="Tw Cen MT" panose="020B0602020104020603"/>
                <a:cs typeface="Tw Cen MT" panose="020B0602020104020603"/>
              </a:rPr>
              <a:t>er</a:t>
            </a:r>
            <a:r>
              <a:rPr sz="240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7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35" dirty="0">
                <a:latin typeface="Tw Cen MT" panose="020B0602020104020603"/>
                <a:cs typeface="Tw Cen MT" panose="020B0602020104020603"/>
              </a:rPr>
              <a:t>ar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ty</a:t>
            </a:r>
            <a:r>
              <a:rPr sz="24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4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65">
                <a:latin typeface="Tw Cen MT" panose="020B0602020104020603"/>
                <a:cs typeface="Tw Cen MT" panose="020B0602020104020603"/>
              </a:rPr>
              <a:t>h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</a:t>
            </a:r>
            <a:r>
              <a:rPr sz="2400" spc="11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visor</a:t>
            </a:r>
            <a:r>
              <a:rPr sz="2400">
                <a:latin typeface="Tw Cen MT" panose="020B0602020104020603"/>
                <a:cs typeface="Tw Cen MT" panose="020B0602020104020603"/>
              </a:rPr>
              <a:t>:</a:t>
            </a:r>
            <a:endParaRPr lang="en-US" sz="2400" dirty="0">
              <a:latin typeface="Tw Cen MT" panose="020B0602020104020603"/>
              <a:cs typeface="Tw Cen MT" panose="020B0602020104020603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tabLst>
                <a:tab pos="815975" algn="l"/>
              </a:tabLst>
            </a:pPr>
            <a:r>
              <a:rPr lang="en-US" sz="2400" dirty="0">
                <a:latin typeface="Tw Cen MT" panose="020B0602020104020603"/>
                <a:cs typeface="Tw Cen MT" panose="020B0602020104020603"/>
              </a:rPr>
              <a:t>							</a:t>
            </a:r>
            <a:r>
              <a:rPr lang="en-US" sz="24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Type 1 and Type 2</a:t>
            </a:r>
            <a:endParaRPr sz="2400">
              <a:solidFill>
                <a:srgbClr val="0070C0"/>
              </a:solidFill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26565">
              <a:lnSpc>
                <a:spcPct val="100000"/>
              </a:lnSpc>
            </a:pPr>
            <a:r>
              <a:rPr spc="-220" dirty="0"/>
              <a:t>T</a:t>
            </a:r>
            <a:r>
              <a:rPr spc="-5" dirty="0"/>
              <a:t>yp</a:t>
            </a:r>
            <a:r>
              <a:rPr dirty="0"/>
              <a:t>e</a:t>
            </a:r>
            <a:r>
              <a:rPr spc="-5" dirty="0"/>
              <a:t>s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of</a:t>
            </a:r>
            <a:r>
              <a:rPr b="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Hyp</a:t>
            </a:r>
            <a:r>
              <a:rPr dirty="0"/>
              <a:t>e</a:t>
            </a:r>
            <a:r>
              <a:rPr spc="75" dirty="0"/>
              <a:t>r</a:t>
            </a:r>
            <a:r>
              <a:rPr spc="-5" dirty="0"/>
              <a:t>visors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07645" y="1289496"/>
            <a:ext cx="8480425" cy="4616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6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400" spc="6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185">
                <a:latin typeface="Tw Cen MT" panose="020B0602020104020603"/>
                <a:cs typeface="Tw Cen MT" panose="020B0602020104020603"/>
              </a:rPr>
              <a:t>y</a:t>
            </a:r>
            <a:r>
              <a:rPr sz="2400" spc="175">
                <a:latin typeface="Tw Cen MT" panose="020B0602020104020603"/>
                <a:cs typeface="Tw Cen MT" panose="020B0602020104020603"/>
              </a:rPr>
              <a:t>p</a:t>
            </a:r>
            <a:r>
              <a:rPr sz="240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375">
                <a:latin typeface="Tw Cen MT" panose="020B0602020104020603"/>
                <a:cs typeface="Tw Cen MT" panose="020B0602020104020603"/>
              </a:rPr>
              <a:t> </a:t>
            </a:r>
            <a:r>
              <a:rPr sz="2400">
                <a:latin typeface="Tw Cen MT" panose="020B0602020104020603"/>
                <a:cs typeface="Tw Cen MT" panose="020B0602020104020603"/>
              </a:rPr>
              <a:t>1</a:t>
            </a:r>
            <a:r>
              <a:rPr sz="2400" spc="37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25">
                <a:latin typeface="Tw Cen MT" panose="020B0602020104020603"/>
                <a:cs typeface="Tw Cen MT" panose="020B0602020104020603"/>
              </a:rPr>
              <a:t>h</a:t>
            </a:r>
            <a:r>
              <a:rPr sz="2400" spc="185">
                <a:latin typeface="Tw Cen MT" panose="020B0602020104020603"/>
                <a:cs typeface="Tw Cen MT" panose="020B0602020104020603"/>
              </a:rPr>
              <a:t>y</a:t>
            </a:r>
            <a:r>
              <a:rPr sz="2400" spc="175">
                <a:latin typeface="Tw Cen MT" panose="020B0602020104020603"/>
                <a:cs typeface="Tw Cen MT" panose="020B0602020104020603"/>
              </a:rPr>
              <a:t>p</a:t>
            </a:r>
            <a:r>
              <a:rPr sz="2400" spc="185">
                <a:latin typeface="Tw Cen MT" panose="020B0602020104020603"/>
                <a:cs typeface="Tw Cen MT" panose="020B0602020104020603"/>
              </a:rPr>
              <a:t>e</a:t>
            </a:r>
            <a:r>
              <a:rPr sz="2400" spc="30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18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185">
                <a:latin typeface="Tw Cen MT" panose="020B0602020104020603"/>
                <a:cs typeface="Tw Cen MT" panose="020B0602020104020603"/>
              </a:rPr>
              <a:t>isor</a:t>
            </a:r>
            <a:r>
              <a:rPr sz="240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37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4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18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4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spc="38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8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dire</a:t>
            </a:r>
            <a:r>
              <a:rPr sz="2400" spc="17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400" spc="18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400" spc="18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4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400" spc="37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85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n</a:t>
            </a:r>
            <a:r>
              <a:rPr sz="2400" spc="38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80">
                <a:latin typeface="Tw Cen MT" panose="020B0602020104020603"/>
                <a:cs typeface="Tw Cen MT" panose="020B0602020104020603"/>
              </a:rPr>
              <a:t>th</a:t>
            </a:r>
            <a:r>
              <a:rPr sz="240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37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9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sys</a:t>
            </a:r>
            <a:r>
              <a:rPr sz="2400" spc="18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400" spc="19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 </a:t>
            </a:r>
            <a:r>
              <a:rPr sz="2400" spc="2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400" spc="2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2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4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400" spc="-9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400" spc="2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2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latin typeface="Tw Cen MT" panose="020B0602020104020603"/>
                <a:cs typeface="Tw Cen MT" panose="020B0602020104020603"/>
              </a:rPr>
              <a:t>.</a:t>
            </a:r>
            <a:r>
              <a:rPr sz="2400" spc="5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Th</a:t>
            </a:r>
            <a:r>
              <a:rPr sz="2400" spc="-95"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5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ar</a:t>
            </a:r>
            <a:r>
              <a:rPr sz="240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5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ofte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n</a:t>
            </a:r>
            <a:r>
              <a:rPr sz="2400" spc="6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referr</a:t>
            </a:r>
            <a:r>
              <a:rPr sz="2400" spc="3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d</a:t>
            </a:r>
            <a:r>
              <a:rPr sz="2400" spc="6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t</a:t>
            </a:r>
            <a:r>
              <a:rPr sz="240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6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30">
                <a:latin typeface="Tw Cen MT" panose="020B0602020104020603"/>
                <a:cs typeface="Tw Cen MT" panose="020B0602020104020603"/>
              </a:rPr>
              <a:t>a</a:t>
            </a:r>
            <a:r>
              <a:rPr sz="240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65">
                <a:latin typeface="Tw Cen MT" panose="020B0602020104020603"/>
                <a:cs typeface="Tw Cen MT" panose="020B0602020104020603"/>
              </a:rPr>
              <a:t> </a:t>
            </a:r>
            <a:r>
              <a:rPr sz="240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6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25">
                <a:latin typeface="Tw Cen MT" panose="020B0602020104020603"/>
                <a:cs typeface="Tw Cen MT" panose="020B0602020104020603"/>
              </a:rPr>
              <a:t>"</a:t>
            </a:r>
            <a:r>
              <a:rPr sz="2400" spc="2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nat</a:t>
            </a:r>
            <a:r>
              <a:rPr sz="2400" spc="3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400" spc="-3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400" spc="3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" 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30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"</a:t>
            </a:r>
            <a:r>
              <a:rPr sz="2400" spc="14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ba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31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6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ta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4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"</a:t>
            </a:r>
            <a:r>
              <a:rPr sz="2400" spc="32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31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"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16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b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dd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4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"</a:t>
            </a:r>
            <a:r>
              <a:rPr sz="2400" spc="32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9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27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15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400" spc="15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isor</a:t>
            </a:r>
            <a:r>
              <a:rPr sz="24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400" spc="31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55">
                <a:latin typeface="Tw Cen MT" panose="020B0602020104020603"/>
                <a:cs typeface="Tw Cen MT" panose="020B0602020104020603"/>
              </a:rPr>
              <a:t>i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n </a:t>
            </a:r>
            <a:r>
              <a:rPr sz="2400" spc="-65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en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lite</a:t>
            </a:r>
            <a:r>
              <a:rPr sz="2400" spc="-35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tur</a:t>
            </a:r>
            <a:r>
              <a:rPr sz="2400" spc="-35"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latin typeface="Tw Cen MT" panose="020B0602020104020603"/>
                <a:cs typeface="Tw Cen MT" panose="020B0602020104020603"/>
              </a:rPr>
              <a:t>.</a:t>
            </a:r>
            <a:r>
              <a:rPr lang="en-US" sz="2400">
                <a:latin typeface="Tw Cen MT" panose="020B0602020104020603"/>
                <a:cs typeface="Tw Cen MT" panose="020B0602020104020603"/>
              </a:rPr>
              <a:t> It dose not require any base server operating system.It has direct access to hardware resources</a:t>
            </a:r>
            <a:endParaRPr lang="en-US" sz="2400">
              <a:latin typeface="Tw Cen MT" panose="020B0602020104020603"/>
              <a:cs typeface="Tw Cen MT" panose="020B0602020104020603"/>
            </a:endParaRPr>
          </a:p>
          <a:p>
            <a:pPr marL="495935" marR="5080" indent="0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None/>
              <a:tabLst>
                <a:tab pos="815975" algn="l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815340" marR="5080" indent="-319405" algn="just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400" spc="-80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4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3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2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20" dirty="0">
                <a:latin typeface="Tw Cen MT" panose="020B0602020104020603"/>
                <a:cs typeface="Tw Cen MT" panose="020B0602020104020603"/>
              </a:rPr>
              <a:t>h</a:t>
            </a:r>
            <a:r>
              <a:rPr sz="2400" spc="4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3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4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4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spc="45" dirty="0">
                <a:latin typeface="Tw Cen MT" panose="020B0602020104020603"/>
                <a:cs typeface="Tw Cen MT" panose="020B0602020104020603"/>
              </a:rPr>
              <a:t>sor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spc="1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spc="1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9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hos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400" spc="1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tin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400" spc="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syste</a:t>
            </a:r>
            <a:r>
              <a:rPr sz="24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 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400" spc="9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21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4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ovi</a:t>
            </a:r>
            <a:r>
              <a:rPr sz="2400" spc="9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20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vi</a:t>
            </a:r>
            <a:r>
              <a:rPr sz="2400" spc="15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400" spc="9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liz</a:t>
            </a:r>
            <a:r>
              <a:rPr sz="2400" spc="9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tio</a:t>
            </a:r>
            <a:r>
              <a:rPr sz="24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400" spc="2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400" spc="21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vi</a:t>
            </a:r>
            <a:r>
              <a:rPr sz="2400" spc="9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400" spc="1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4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4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,</a:t>
            </a:r>
            <a:r>
              <a:rPr sz="2400" spc="20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su</a:t>
            </a:r>
            <a:r>
              <a:rPr sz="2400" spc="204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400" spc="21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20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100" dirty="0">
                <a:latin typeface="Tw Cen MT" panose="020B0602020104020603"/>
                <a:cs typeface="Tw Cen MT" panose="020B0602020104020603"/>
              </a:rPr>
              <a:t>I/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 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evi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c</a:t>
            </a:r>
            <a:r>
              <a:rPr sz="240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and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or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n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70">
                <a:latin typeface="Tw Cen MT" panose="020B0602020104020603"/>
                <a:cs typeface="Tw Cen MT" panose="020B0602020104020603"/>
              </a:rPr>
              <a:t>g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ent</a:t>
            </a:r>
            <a:r>
              <a:rPr sz="2400">
                <a:latin typeface="Tw Cen MT" panose="020B0602020104020603"/>
                <a:cs typeface="Tw Cen MT" panose="020B0602020104020603"/>
              </a:rPr>
              <a:t>.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 Basically a software installed on an operatingTh</a:t>
            </a:r>
            <a:r>
              <a:rPr lang="en-US" sz="2400" spc="-95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lang="en-US"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ar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ofte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lang="en-US" sz="2400" spc="60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referr</a:t>
            </a:r>
            <a:r>
              <a:rPr lang="en-US" sz="2400" spc="30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lang="en-US"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t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30" dirty="0"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25" dirty="0">
                <a:latin typeface="Tw Cen MT" panose="020B0602020104020603"/>
                <a:cs typeface="Tw Cen MT" panose="020B0602020104020603"/>
              </a:rPr>
              <a:t>“</a:t>
            </a:r>
            <a:r>
              <a:rPr lang="en-US" sz="2400" spc="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Hosted Architecture" </a:t>
            </a:r>
            <a:r>
              <a:rPr lang="en-US" sz="2400" spc="9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lang="en-US" sz="2400" spc="15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lang="en-US" sz="2400" spc="15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lang="en-US" sz="2400" spc="15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spc="27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400" spc="15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lang="en-US" sz="2400" spc="15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isor</a:t>
            </a:r>
            <a:r>
              <a:rPr lang="en-US" sz="24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400" spc="31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155" dirty="0">
                <a:latin typeface="Tw Cen MT" panose="020B0602020104020603"/>
                <a:cs typeface="Tw Cen MT" panose="020B0602020104020603"/>
              </a:rPr>
              <a:t>i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n </a:t>
            </a:r>
            <a:r>
              <a:rPr lang="en-US" sz="24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en</a:t>
            </a:r>
            <a:r>
              <a:rPr lang="en-US" sz="24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 lite</a:t>
            </a:r>
            <a:r>
              <a:rPr lang="en-US" sz="24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4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tur</a:t>
            </a:r>
            <a:r>
              <a:rPr lang="en-US" sz="2400" spc="-35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6130">
              <a:lnSpc>
                <a:spcPct val="100000"/>
              </a:lnSpc>
            </a:pPr>
            <a:r>
              <a:rPr spc="-220" dirty="0"/>
              <a:t>T</a:t>
            </a:r>
            <a:r>
              <a:rPr spc="-5" dirty="0"/>
              <a:t>yp</a:t>
            </a:r>
            <a:r>
              <a:rPr dirty="0"/>
              <a:t>e</a:t>
            </a:r>
            <a:r>
              <a:rPr spc="-5" dirty="0"/>
              <a:t>-1</a:t>
            </a:r>
            <a:r>
              <a:rPr u="none" spc="45" dirty="0"/>
              <a:t> </a:t>
            </a:r>
            <a:r>
              <a:rPr spc="-5" dirty="0"/>
              <a:t>Hyp</a:t>
            </a:r>
            <a:r>
              <a:rPr dirty="0"/>
              <a:t>e</a:t>
            </a:r>
            <a:r>
              <a:rPr spc="75" dirty="0"/>
              <a:t>r</a:t>
            </a:r>
            <a:r>
              <a:rPr spc="-5" dirty="0"/>
              <a:t>visor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07645" y="1289496"/>
            <a:ext cx="1187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7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26" name="Picture 2" descr="C:\Users\Admin\Desktop\2161.Hypervisor Design_4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676910"/>
          </a:xfrm>
        </p:spPr>
        <p:txBody>
          <a:bodyPr/>
          <a:lstStyle/>
          <a:p>
            <a:r>
              <a:rPr lang="en-US"/>
              <a:t>Hypervisors</a:t>
            </a:r>
            <a:endParaRPr lang="en-US"/>
          </a:p>
        </p:txBody>
      </p:sp>
      <p:pic>
        <p:nvPicPr>
          <p:cNvPr id="59" name="image81.png"/>
          <p:cNvPicPr>
            <a:picLocks noGrp="1"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457200" y="1758315"/>
            <a:ext cx="8104505" cy="4291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676910"/>
          </a:xfrm>
        </p:spPr>
        <p:txBody>
          <a:bodyPr/>
          <a:lstStyle/>
          <a:p>
            <a:r>
              <a:rPr lang="en-US" u="none"/>
              <a:t>Type 1 and Type 2</a:t>
            </a:r>
            <a:endParaRPr lang="en-US" u="none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62000" y="2057400"/>
            <a:ext cx="7726045" cy="4453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36297"/>
            <a:ext cx="9143999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7385">
              <a:lnSpc>
                <a:spcPct val="100000"/>
              </a:lnSpc>
            </a:pPr>
            <a:r>
              <a:rPr sz="3600" dirty="0"/>
              <a:t>Fe</a:t>
            </a:r>
            <a:r>
              <a:rPr sz="3600" spc="75" dirty="0"/>
              <a:t>a</a:t>
            </a:r>
            <a:r>
              <a:rPr sz="3600" spc="-5" dirty="0"/>
              <a:t>tu</a:t>
            </a:r>
            <a:r>
              <a:rPr sz="3600" spc="75" dirty="0"/>
              <a:t>r</a:t>
            </a:r>
            <a:r>
              <a:rPr sz="3600" dirty="0"/>
              <a:t>e</a:t>
            </a:r>
            <a:r>
              <a:rPr sz="3600" spc="-5" dirty="0"/>
              <a:t>s</a:t>
            </a:r>
            <a:r>
              <a:rPr sz="3600"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"/>
              <a:t>of</a:t>
            </a:r>
            <a:r>
              <a:rPr sz="3600" b="0" spc="37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20"/>
              <a:t>T</a:t>
            </a:r>
            <a:r>
              <a:rPr sz="3600" spc="-5"/>
              <a:t>yp</a:t>
            </a:r>
            <a:r>
              <a:rPr sz="3600"/>
              <a:t>e</a:t>
            </a:r>
            <a:r>
              <a:rPr sz="3600" spc="-5"/>
              <a:t>-</a:t>
            </a:r>
            <a:r>
              <a:rPr lang="en-US" sz="3600" spc="-5" dirty="0"/>
              <a:t>1 and 2</a:t>
            </a:r>
            <a:r>
              <a:rPr sz="3600" b="0" spc="6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" dirty="0"/>
              <a:t>Hyp</a:t>
            </a:r>
            <a:r>
              <a:rPr sz="3600" dirty="0"/>
              <a:t>e</a:t>
            </a:r>
            <a:r>
              <a:rPr sz="3600" spc="75" dirty="0"/>
              <a:t>r</a:t>
            </a:r>
            <a:r>
              <a:rPr sz="3600" spc="-5" dirty="0"/>
              <a:t>visor</a:t>
            </a:r>
            <a:endParaRPr sz="3600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07645" y="1289496"/>
            <a:ext cx="8230234" cy="6388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9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15340" indent="-319405">
              <a:lnSpc>
                <a:spcPct val="100000"/>
              </a:lnSpc>
              <a:buClr>
                <a:srgbClr val="DD8046"/>
              </a:buClr>
              <a:buSzPct val="60000"/>
              <a:tabLst>
                <a:tab pos="815975" algn="l"/>
              </a:tabLst>
            </a:pPr>
            <a:r>
              <a:rPr lang="en-US" sz="2400" u="sng" spc="-5" dirty="0">
                <a:latin typeface="Tw Cen MT" panose="020B0602020104020603"/>
                <a:cs typeface="Tw Cen MT" panose="020B0602020104020603"/>
              </a:rPr>
              <a:t>Type-1 Hypervisor:</a:t>
            </a:r>
            <a:endParaRPr lang="en-US" sz="2400" u="sng" spc="-5" dirty="0">
              <a:latin typeface="Tw Cen MT" panose="020B0602020104020603"/>
              <a:cs typeface="Tw Cen MT" panose="020B0602020104020603"/>
            </a:endParaRPr>
          </a:p>
          <a:p>
            <a:pPr marL="81534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000" spc="-5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65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ovi</a:t>
            </a:r>
            <a:r>
              <a:rPr sz="2000" spc="-10">
                <a:latin typeface="Tw Cen MT" panose="020B0602020104020603"/>
                <a:cs typeface="Tw Cen MT" panose="020B0602020104020603"/>
              </a:rPr>
              <a:t>d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e</a:t>
            </a:r>
            <a:r>
              <a:rPr sz="200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bette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per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f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0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e</a:t>
            </a:r>
            <a:endParaRPr sz="2000">
              <a:latin typeface="Tw Cen MT" panose="020B0602020104020603"/>
              <a:cs typeface="Tw Cen MT" panose="020B0602020104020603"/>
            </a:endParaRPr>
          </a:p>
          <a:p>
            <a:pPr marL="81534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000" spc="-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ovi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gre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te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fl</a:t>
            </a:r>
            <a:r>
              <a:rPr sz="2000" spc="-9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xi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b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ilit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y</a:t>
            </a:r>
            <a:endParaRPr sz="2000">
              <a:latin typeface="Tw Cen MT" panose="020B0602020104020603"/>
              <a:cs typeface="Tw Cen MT" panose="020B0602020104020603"/>
            </a:endParaRPr>
          </a:p>
          <a:p>
            <a:pPr marL="815340" marR="4381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000" spc="-5" dirty="0">
                <a:latin typeface="Tw Cen MT" panose="020B0602020104020603"/>
                <a:cs typeface="Tw Cen MT" panose="020B0602020104020603"/>
              </a:rPr>
              <a:t>Se</a:t>
            </a:r>
            <a:r>
              <a:rPr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th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un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12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1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visor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ar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often 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sin</a:t>
            </a:r>
            <a:r>
              <a:rPr sz="20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le-</a:t>
            </a:r>
            <a:r>
              <a:rPr sz="20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ur</a:t>
            </a:r>
            <a:r>
              <a:rPr sz="20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os</a:t>
            </a:r>
            <a:r>
              <a:rPr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se</a:t>
            </a:r>
            <a:r>
              <a:rPr sz="2000" spc="1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0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er</a:t>
            </a:r>
            <a:r>
              <a:rPr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offe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n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othe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fun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.</a:t>
            </a:r>
            <a:endParaRPr sz="2000">
              <a:latin typeface="Tw Cen MT" panose="020B0602020104020603"/>
              <a:cs typeface="Tw Cen MT" panose="020B0602020104020603"/>
            </a:endParaRPr>
          </a:p>
          <a:p>
            <a:pPr marL="815340" marR="5080" indent="-319405"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sz="2000" spc="-125">
                <a:latin typeface="Tw Cen MT" panose="020B0602020104020603"/>
                <a:cs typeface="Tw Cen MT" panose="020B0602020104020603"/>
              </a:rPr>
              <a:t>T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>
                <a:latin typeface="Tw Cen MT" panose="020B0602020104020603"/>
                <a:cs typeface="Tw Cen MT" panose="020B0602020104020603"/>
              </a:rPr>
              <a:t>p</a:t>
            </a:r>
            <a:r>
              <a:rPr sz="200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1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visor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ar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p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visor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r </a:t>
            </a:r>
            <a:r>
              <a:rPr sz="2000" spc="-6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visor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 th</a:t>
            </a:r>
            <a:r>
              <a:rPr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0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50">
                <a:latin typeface="Tw Cen MT" panose="020B0602020104020603"/>
                <a:cs typeface="Tw Cen MT" panose="020B0602020104020603"/>
              </a:rPr>
              <a:t>r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un</a:t>
            </a:r>
            <a:r>
              <a:rPr sz="2000">
                <a:latin typeface="Tw Cen MT" panose="020B0602020104020603"/>
                <a:cs typeface="Tw Cen MT" panose="020B0602020104020603"/>
              </a:rPr>
              <a:t> </a:t>
            </a:r>
            <a:r>
              <a:rPr sz="2000" spc="-5">
                <a:latin typeface="Tw Cen MT" panose="020B0602020104020603"/>
                <a:cs typeface="Tw Cen MT" panose="020B0602020104020603"/>
              </a:rPr>
              <a:t>VM</a:t>
            </a:r>
            <a:r>
              <a:rPr sz="200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offering se</a:t>
            </a:r>
            <a:r>
              <a:rPr lang="en-US" sz="20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t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user</a:t>
            </a:r>
            <a:r>
              <a:rPr lang="en-US" sz="2000" spc="-35" dirty="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. 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15340" marR="5080" indent="-319405"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su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pp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0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7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lang="en-US" sz="2000" spc="-1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vi</a:t>
            </a:r>
            <a:r>
              <a:rPr lang="en-US" sz="2000" spc="5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liz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lang="en-US" sz="20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15340" marR="5080" indent="-319405">
              <a:spcBef>
                <a:spcPts val="700"/>
              </a:spcBef>
              <a:buClr>
                <a:srgbClr val="DD8046"/>
              </a:buClr>
              <a:buSzPct val="60000"/>
              <a:tabLst>
                <a:tab pos="815975" algn="l"/>
              </a:tabLst>
            </a:pPr>
            <a:r>
              <a:rPr lang="en-US" sz="2400" u="sng" spc="-5" dirty="0">
                <a:latin typeface="Tw Cen MT" panose="020B0602020104020603"/>
                <a:cs typeface="Tw Cen MT" panose="020B0602020104020603"/>
              </a:rPr>
              <a:t>Type-2 Hypervisor: 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L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es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effi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ient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62330" algn="l"/>
              </a:tabLst>
            </a:pP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L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es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fl</a:t>
            </a:r>
            <a:r>
              <a:rPr lang="en-US" sz="2000" spc="-95" dirty="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xi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b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e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862330" algn="l"/>
              </a:tabLst>
            </a:pP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offe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serie</a:t>
            </a:r>
            <a:r>
              <a:rPr lang="en-US"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o</a:t>
            </a:r>
            <a:r>
              <a:rPr lang="en-US"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lang="en-US" sz="20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different</a:t>
            </a:r>
            <a:r>
              <a:rPr lang="en-US"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lang="en-US" sz="2000" spc="1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vi</a:t>
            </a:r>
            <a:r>
              <a:rPr lang="en-US" sz="20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lang="en-US" sz="20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000" spc="-3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0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lang="en-US" sz="2000" dirty="0">
              <a:solidFill>
                <a:srgbClr val="FF0000"/>
              </a:solidFill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lang="en-US" sz="20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rel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y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used in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p</a:t>
            </a:r>
            <a:r>
              <a:rPr lang="en-US" sz="20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lang="en-US" sz="20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.</a:t>
            </a: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per</a:t>
            </a:r>
            <a:r>
              <a:rPr lang="en-US" sz="2000" spc="-65" dirty="0">
                <a:latin typeface="Tw Cen MT" panose="020B0602020104020603"/>
                <a:cs typeface="Tw Cen MT" panose="020B0602020104020603"/>
              </a:rPr>
              <a:t>f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0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dirty="0">
                <a:latin typeface="Tw Cen MT" panose="020B0602020104020603"/>
                <a:cs typeface="Tw Cen MT" panose="020B0602020104020603"/>
              </a:rPr>
              <a:t>m</a:t>
            </a:r>
            <a:r>
              <a:rPr lang="en-US" sz="20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soft</a:t>
            </a:r>
            <a:r>
              <a:rPr lang="en-US" sz="2000" spc="-1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vi</a:t>
            </a:r>
            <a:r>
              <a:rPr lang="en-US" sz="2000" spc="5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liz</a:t>
            </a:r>
            <a:r>
              <a:rPr lang="en-US" sz="20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lang="en-US" sz="20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lang="en-US" sz="20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lang="en-US" sz="2000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endParaRPr lang="en-US" sz="2000" dirty="0">
              <a:latin typeface="Tw Cen MT" panose="020B0602020104020603"/>
              <a:cs typeface="Tw Cen MT" panose="020B0602020104020603"/>
            </a:endParaRPr>
          </a:p>
          <a:p>
            <a:pPr marL="815340" marR="508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15975" algn="l"/>
              </a:tabLst>
            </a:pPr>
            <a:endParaRPr sz="20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62000" y="1611630"/>
            <a:ext cx="7607300" cy="4457700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492887" y="436297"/>
            <a:ext cx="8158225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5590">
              <a:lnSpc>
                <a:spcPct val="100000"/>
              </a:lnSpc>
            </a:pPr>
            <a:r>
              <a:rPr u="heavy" spc="-50" dirty="0"/>
              <a:t>V</a:t>
            </a:r>
            <a:r>
              <a:rPr u="heavy" spc="-5" dirty="0"/>
              <a:t>i</a:t>
            </a:r>
            <a:r>
              <a:rPr u="heavy" spc="204" dirty="0"/>
              <a:t>r</a:t>
            </a:r>
            <a:r>
              <a:rPr u="heavy" spc="-5" dirty="0"/>
              <a:t>tu</a:t>
            </a:r>
            <a:r>
              <a:rPr u="heavy" spc="-10" dirty="0"/>
              <a:t>a</a:t>
            </a:r>
            <a:r>
              <a:rPr u="heavy" spc="-5" dirty="0"/>
              <a:t>li</a:t>
            </a:r>
            <a:r>
              <a:rPr u="heavy" dirty="0"/>
              <a:t>z</a:t>
            </a:r>
            <a:r>
              <a:rPr u="heavy" spc="75" dirty="0"/>
              <a:t>a</a:t>
            </a:r>
            <a:r>
              <a:rPr u="heavy" spc="-5" dirty="0"/>
              <a:t>tion</a:t>
            </a:r>
            <a:endParaRPr u="heavy"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5590">
              <a:lnSpc>
                <a:spcPct val="100000"/>
              </a:lnSpc>
            </a:pPr>
            <a:r>
              <a:rPr u="heavy" spc="-220" dirty="0"/>
              <a:t>T</a:t>
            </a:r>
            <a:r>
              <a:rPr u="heavy" spc="-5" dirty="0"/>
              <a:t>yp</a:t>
            </a:r>
            <a:r>
              <a:rPr u="heavy" dirty="0"/>
              <a:t>e</a:t>
            </a:r>
            <a:r>
              <a:rPr u="heavy" spc="-5" dirty="0"/>
              <a:t>s</a:t>
            </a:r>
            <a:r>
              <a:rPr b="0" u="heavy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5" dirty="0"/>
              <a:t>of</a:t>
            </a:r>
            <a:r>
              <a:rPr b="0" u="heavy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50" dirty="0"/>
              <a:t>V</a:t>
            </a:r>
            <a:r>
              <a:rPr u="heavy" spc="-5" dirty="0"/>
              <a:t>i</a:t>
            </a:r>
            <a:r>
              <a:rPr u="heavy" spc="204" dirty="0"/>
              <a:t>r</a:t>
            </a:r>
            <a:r>
              <a:rPr u="heavy" spc="-5" dirty="0"/>
              <a:t>tu</a:t>
            </a:r>
            <a:r>
              <a:rPr u="heavy" spc="-10" dirty="0"/>
              <a:t>a</a:t>
            </a:r>
            <a:r>
              <a:rPr u="heavy" spc="-5" dirty="0"/>
              <a:t>li</a:t>
            </a:r>
            <a:r>
              <a:rPr u="heavy" dirty="0"/>
              <a:t>z</a:t>
            </a:r>
            <a:r>
              <a:rPr u="heavy" spc="75" dirty="0"/>
              <a:t>a</a:t>
            </a:r>
            <a:r>
              <a:rPr u="heavy" spc="-5" dirty="0"/>
              <a:t>tion</a:t>
            </a:r>
            <a:endParaRPr u="heavy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289496"/>
            <a:ext cx="8986520" cy="5329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24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24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>
                <a:latin typeface="Tw Cen MT" panose="020B0602020104020603"/>
                <a:cs typeface="Tw Cen MT" panose="020B0602020104020603"/>
              </a:rPr>
              <a:t>H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rdw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5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>
                <a:latin typeface="Tw Cen MT" panose="020B0602020104020603"/>
                <a:cs typeface="Tw Cen MT" panose="020B0602020104020603"/>
              </a:rPr>
              <a:t>e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 b="1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tion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>
                <a:latin typeface="Tw Cen MT" panose="020B0602020104020603"/>
                <a:cs typeface="Tw Cen MT" panose="020B0602020104020603"/>
              </a:rPr>
              <a:t>Softw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5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>
                <a:latin typeface="Tw Cen MT" panose="020B0602020104020603"/>
                <a:cs typeface="Tw Cen MT" panose="020B0602020104020603"/>
              </a:rPr>
              <a:t>e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 b="1" spc="-35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tion</a:t>
            </a:r>
            <a:endParaRPr lang="en-US" sz="2400" b="1" spc="-5" dirty="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tabLst>
                <a:tab pos="332105" algn="l"/>
              </a:tabLst>
            </a:pP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 dirty="0">
                <a:latin typeface="Tw Cen MT" panose="020B0602020104020603"/>
                <a:cs typeface="Tw Cen MT" panose="020B0602020104020603"/>
              </a:rPr>
              <a:t>Memo</a:t>
            </a:r>
            <a:r>
              <a:rPr sz="2400" b="1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400" b="1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tion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>
                <a:latin typeface="Tw Cen MT" panose="020B0602020104020603"/>
                <a:cs typeface="Tw Cen MT" panose="020B0602020104020603"/>
              </a:rPr>
              <a:t>Sto</a:t>
            </a:r>
            <a:r>
              <a:rPr sz="2400" b="1" spc="2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45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g</a:t>
            </a:r>
            <a:r>
              <a:rPr sz="2400" b="1">
                <a:latin typeface="Tw Cen MT" panose="020B0602020104020603"/>
                <a:cs typeface="Tw Cen MT" panose="020B0602020104020603"/>
              </a:rPr>
              <a:t>e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 b="1" spc="-35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tion</a:t>
            </a:r>
            <a:endParaRPr lang="en-US" sz="2400" b="1" spc="-5" dirty="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tabLst>
                <a:tab pos="332105" algn="l"/>
              </a:tabLst>
            </a:pP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b="1" spc="4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ta </a:t>
            </a:r>
            <a:r>
              <a:rPr sz="2400" b="1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tion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>
                <a:latin typeface="Tw Cen MT" panose="020B0602020104020603"/>
                <a:cs typeface="Tw Cen MT" panose="020B0602020104020603"/>
              </a:rPr>
              <a:t>Net</a:t>
            </a:r>
            <a:r>
              <a:rPr sz="2400" b="1" spc="-35">
                <a:latin typeface="Tw Cen MT" panose="020B0602020104020603"/>
                <a:cs typeface="Tw Cen MT" panose="020B0602020104020603"/>
              </a:rPr>
              <a:t>w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o</a:t>
            </a:r>
            <a:r>
              <a:rPr sz="2400" b="1" spc="2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>
                <a:latin typeface="Tw Cen MT" panose="020B0602020104020603"/>
                <a:cs typeface="Tw Cen MT" panose="020B0602020104020603"/>
              </a:rPr>
              <a:t>k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 b="1" spc="-35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>
                <a:latin typeface="Tw Cen MT" panose="020B0602020104020603"/>
                <a:cs typeface="Tw Cen MT" panose="020B0602020104020603"/>
              </a:rPr>
              <a:t>tion</a:t>
            </a:r>
            <a:endParaRPr lang="en-US" sz="2400" b="1" spc="-5" dirty="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tabLst>
                <a:tab pos="332105" algn="l"/>
              </a:tabLst>
            </a:pPr>
            <a:endParaRPr sz="2400">
              <a:latin typeface="Tw Cen MT" panose="020B0602020104020603"/>
              <a:cs typeface="Tw Cen MT" panose="020B0602020104020603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400" b="1" spc="-5" dirty="0">
                <a:latin typeface="Tw Cen MT" panose="020B0602020104020603"/>
                <a:cs typeface="Tw Cen MT" panose="020B0602020104020603"/>
              </a:rPr>
              <a:t>Desktop </a:t>
            </a:r>
            <a:r>
              <a:rPr sz="2400" b="1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b="1" spc="13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400" b="1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400" b="1" spc="4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b="1" spc="-5" dirty="0">
                <a:latin typeface="Tw Cen MT" panose="020B0602020104020603"/>
                <a:cs typeface="Tw Cen MT" panose="020B0602020104020603"/>
              </a:rPr>
              <a:t>tion</a:t>
            </a:r>
            <a:endParaRPr sz="24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410">
              <a:lnSpc>
                <a:spcPct val="100000"/>
              </a:lnSpc>
            </a:pPr>
            <a:r>
              <a:rPr spc="-5" dirty="0"/>
              <a:t>H</a:t>
            </a:r>
            <a:r>
              <a:rPr spc="-10" dirty="0"/>
              <a:t>a</a:t>
            </a:r>
            <a:r>
              <a:rPr spc="-5" dirty="0"/>
              <a:t>rdw</a:t>
            </a:r>
            <a:r>
              <a:rPr spc="-10" dirty="0"/>
              <a:t>a</a:t>
            </a:r>
            <a:r>
              <a:rPr spc="75" dirty="0"/>
              <a:t>r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1288" y="1289496"/>
            <a:ext cx="8830312" cy="401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 marL="542290" marR="5080">
              <a:lnSpc>
                <a:spcPct val="120000"/>
              </a:lnSpc>
              <a:spcBef>
                <a:spcPts val="565"/>
              </a:spcBef>
            </a:pP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spc="-12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vi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als</a:t>
            </a:r>
            <a:r>
              <a:rPr sz="290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kn</a:t>
            </a:r>
            <a:r>
              <a:rPr sz="2900" spc="-95">
                <a:latin typeface="Tw Cen MT" panose="020B0602020104020603"/>
                <a:cs typeface="Tw Cen MT" panose="020B0602020104020603"/>
              </a:rPr>
              <a:t>o</a:t>
            </a:r>
            <a:r>
              <a:rPr sz="2900">
                <a:latin typeface="Tw Cen MT" panose="020B0602020104020603"/>
                <a:cs typeface="Tw Cen MT" panose="020B0602020104020603"/>
              </a:rPr>
              <a:t>w</a:t>
            </a:r>
            <a:r>
              <a:rPr lang="en-US" sz="290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a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900" spc="11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vi</a:t>
            </a:r>
            <a:r>
              <a:rPr sz="2900" spc="5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liz</a:t>
            </a:r>
            <a:r>
              <a:rPr sz="2900" spc="-1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lang="en-US"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5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un</a:t>
            </a:r>
            <a:r>
              <a:rPr sz="29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an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in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ivi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 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in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ent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ent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7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1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o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p</a:t>
            </a:r>
            <a:r>
              <a:rPr sz="2900" spc="-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ysi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l 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9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2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b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ad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up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1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lle</a:t>
            </a:r>
            <a:r>
              <a:rPr sz="29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 </a:t>
            </a:r>
            <a:r>
              <a:rPr lang="en-US"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lang="en-US"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lang="en-US"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lang="en-US"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ent</a:t>
            </a:r>
            <a:r>
              <a:rPr lang="en-US"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 </a:t>
            </a:r>
            <a:r>
              <a:rPr lang="en-US"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of </a:t>
            </a:r>
            <a:r>
              <a:rPr sz="29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-1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7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12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900" spc="-1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o</a:t>
            </a:r>
            <a:r>
              <a:rPr sz="29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900" spc="1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er</a:t>
            </a:r>
            <a:r>
              <a:rPr sz="2900" spc="-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essenti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onsoli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da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ting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65">
                <a:latin typeface="Tw Cen MT" panose="020B0602020104020603"/>
                <a:cs typeface="Tw Cen MT" panose="020B0602020104020603"/>
              </a:rPr>
              <a:t>h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ysi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ca</a:t>
            </a:r>
            <a:r>
              <a:rPr sz="290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11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er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int</a:t>
            </a:r>
            <a:r>
              <a:rPr sz="290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vi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1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er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sin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pri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ysi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2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248" y="101017"/>
            <a:ext cx="5812155" cy="59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</a:t>
            </a:r>
            <a:r>
              <a:rPr spc="-10" dirty="0"/>
              <a:t>a</a:t>
            </a:r>
            <a:r>
              <a:rPr spc="-5" dirty="0"/>
              <a:t>rdw</a:t>
            </a:r>
            <a:r>
              <a:rPr spc="-10" dirty="0"/>
              <a:t>a</a:t>
            </a:r>
            <a:r>
              <a:rPr spc="75" dirty="0"/>
              <a:t>r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tion: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624453" y="781968"/>
            <a:ext cx="212979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u="heavy" spc="-5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Subtyp</a:t>
            </a:r>
            <a:r>
              <a:rPr sz="4400" b="1" u="heavy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4400" b="1" u="heavy" spc="-5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s</a:t>
            </a:r>
            <a:endParaRPr sz="44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1137" y="1600200"/>
            <a:ext cx="8682863" cy="544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197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562610" algn="l"/>
              </a:tabLst>
            </a:pPr>
            <a:r>
              <a:rPr u="sng" spc="-5" dirty="0"/>
              <a:t>Ful</a:t>
            </a:r>
            <a:r>
              <a:rPr u="sng" dirty="0"/>
              <a:t>l</a:t>
            </a:r>
            <a:r>
              <a:rPr u="sng" spc="-5" dirty="0"/>
              <a:t> Vi</a:t>
            </a:r>
            <a:r>
              <a:rPr u="sng" spc="50" dirty="0"/>
              <a:t>r</a:t>
            </a:r>
            <a:r>
              <a:rPr u="sng" spc="-5" dirty="0"/>
              <a:t>tu</a:t>
            </a:r>
            <a:r>
              <a:rPr u="sng" spc="-10" dirty="0"/>
              <a:t>a</a:t>
            </a:r>
            <a:r>
              <a:rPr u="sng" spc="-5" dirty="0"/>
              <a:t>liz</a:t>
            </a:r>
            <a:r>
              <a:rPr u="sng" spc="-10" dirty="0"/>
              <a:t>a</a:t>
            </a:r>
            <a:r>
              <a:rPr u="sng" spc="-5" dirty="0"/>
              <a:t>tion</a:t>
            </a:r>
            <a:r>
              <a:rPr u="sng" dirty="0"/>
              <a:t> </a:t>
            </a:r>
            <a:r>
              <a:t>–</a:t>
            </a:r>
            <a:r>
              <a:rPr spc="-5"/>
              <a:t> </a:t>
            </a:r>
            <a:endParaRPr lang="en-US" spc="-5" dirty="0"/>
          </a:p>
          <a:p>
            <a:pPr marL="56197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562610" algn="l"/>
              </a:tabLst>
            </a:pPr>
            <a:r>
              <a:rPr lang="en-US" spc="-5" dirty="0"/>
              <a:t>Th</a:t>
            </a:r>
            <a:r>
              <a:rPr lang="en-US" dirty="0"/>
              <a:t>e</a:t>
            </a:r>
            <a:r>
              <a:rPr lang="en-US" spc="-5" dirty="0"/>
              <a:t> un</a:t>
            </a:r>
            <a:r>
              <a:rPr lang="en-US" spc="-10" dirty="0"/>
              <a:t>d</a:t>
            </a:r>
            <a:r>
              <a:rPr lang="en-US" spc="-5" dirty="0"/>
              <a:t>e</a:t>
            </a:r>
            <a:r>
              <a:rPr lang="en-US" spc="50" dirty="0"/>
              <a:t>r</a:t>
            </a:r>
            <a:r>
              <a:rPr lang="en-US" spc="-5" dirty="0"/>
              <a:t>lying h</a:t>
            </a:r>
            <a:r>
              <a:rPr lang="en-US" spc="-10" dirty="0"/>
              <a:t>a</a:t>
            </a:r>
            <a:r>
              <a:rPr lang="en-US" spc="-5" dirty="0"/>
              <a:t>r</a:t>
            </a:r>
            <a:r>
              <a:rPr lang="en-US" spc="-70" dirty="0"/>
              <a:t>d</a:t>
            </a:r>
            <a:r>
              <a:rPr lang="en-US" spc="-120" dirty="0"/>
              <a:t>w</a:t>
            </a:r>
            <a:r>
              <a:rPr lang="en-US" spc="-10" dirty="0"/>
              <a:t>a</a:t>
            </a:r>
            <a:r>
              <a:rPr lang="en-US" spc="-5" dirty="0"/>
              <a:t>r</a:t>
            </a:r>
            <a:r>
              <a:rPr lang="en-US" dirty="0"/>
              <a:t>e</a:t>
            </a:r>
            <a:r>
              <a:rPr lang="en-US" spc="-5" dirty="0"/>
              <a:t> i</a:t>
            </a:r>
            <a:r>
              <a:rPr lang="en-US" dirty="0"/>
              <a:t>s </a:t>
            </a:r>
            <a:r>
              <a:rPr lang="en-US" spc="-5" dirty="0">
                <a:solidFill>
                  <a:srgbClr val="FF0000"/>
                </a:solidFill>
              </a:rPr>
              <a:t>full</a:t>
            </a:r>
            <a:r>
              <a:rPr lang="en-US" dirty="0">
                <a:solidFill>
                  <a:srgbClr val="FF0000"/>
                </a:solidFill>
              </a:rPr>
              <a:t>y</a:t>
            </a:r>
            <a:r>
              <a:rPr lang="en-US" spc="-5" dirty="0">
                <a:solidFill>
                  <a:srgbClr val="FF0000"/>
                </a:solidFill>
              </a:rPr>
              <a:t> si</a:t>
            </a:r>
            <a:r>
              <a:rPr lang="en-US" spc="55" dirty="0">
                <a:solidFill>
                  <a:srgbClr val="FF0000"/>
                </a:solidFill>
              </a:rPr>
              <a:t>m</a:t>
            </a:r>
            <a:r>
              <a:rPr lang="en-US" spc="-5" dirty="0">
                <a:solidFill>
                  <a:srgbClr val="FF0000"/>
                </a:solidFill>
              </a:rPr>
              <a:t>ul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spc="-5" dirty="0">
                <a:solidFill>
                  <a:srgbClr val="FF0000"/>
                </a:solidFill>
              </a:rPr>
              <a:t>te</a:t>
            </a:r>
            <a:r>
              <a:rPr lang="en-US" spc="-1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spc="-5" dirty="0">
              <a:solidFill>
                <a:srgbClr val="FF0000"/>
              </a:solidFill>
            </a:endParaRPr>
          </a:p>
          <a:p>
            <a:pPr marL="56197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562610" algn="l"/>
              </a:tabLst>
            </a:pPr>
            <a:r>
              <a:rPr spc="-5"/>
              <a:t>Guest</a:t>
            </a:r>
            <a:r>
              <a:t> </a:t>
            </a:r>
            <a:r>
              <a:rPr spc="-5" dirty="0"/>
              <a:t>soft</a:t>
            </a:r>
            <a:r>
              <a:rPr spc="-120" dirty="0"/>
              <a:t>w</a:t>
            </a:r>
            <a:r>
              <a:rPr spc="-10" dirty="0"/>
              <a:t>a</a:t>
            </a:r>
            <a:r>
              <a:rPr spc="-5" dirty="0"/>
              <a:t>r</a:t>
            </a:r>
            <a:r>
              <a:rPr dirty="0"/>
              <a:t>e</a:t>
            </a:r>
            <a:r>
              <a:rPr spc="-5" dirty="0"/>
              <a:t> doe</a:t>
            </a:r>
            <a:r>
              <a:rPr dirty="0"/>
              <a:t>s</a:t>
            </a:r>
            <a:r>
              <a:rPr spc="-5" dirty="0"/>
              <a:t> not</a:t>
            </a:r>
            <a:r>
              <a:rPr dirty="0"/>
              <a:t> </a:t>
            </a:r>
            <a:r>
              <a:rPr spc="-5" dirty="0"/>
              <a:t>re</a:t>
            </a:r>
            <a:r>
              <a:rPr spc="-10" dirty="0"/>
              <a:t>q</a:t>
            </a:r>
            <a:r>
              <a:rPr spc="-5" dirty="0"/>
              <a:t>uir</a:t>
            </a:r>
            <a:r>
              <a:rPr dirty="0"/>
              <a:t>e </a:t>
            </a:r>
            <a:r>
              <a:rPr spc="-10"/>
              <a:t>a</a:t>
            </a:r>
            <a:r>
              <a:rPr spc="-95"/>
              <a:t>n</a:t>
            </a:r>
            <a:r>
              <a:t>y</a:t>
            </a:r>
            <a:r>
              <a:rPr spc="-5"/>
              <a:t> </a:t>
            </a:r>
            <a:r>
              <a:t>m</a:t>
            </a:r>
            <a:r>
              <a:rPr spc="-5"/>
              <a:t>o</a:t>
            </a:r>
            <a:r>
              <a:rPr spc="-10"/>
              <a:t>d</a:t>
            </a:r>
            <a:r>
              <a:rPr spc="-5"/>
              <a:t>ifi</a:t>
            </a:r>
            <a:r>
              <a:rPr spc="-10"/>
              <a:t>ca</a:t>
            </a:r>
            <a:r>
              <a:rPr spc="-5"/>
              <a:t>tion</a:t>
            </a:r>
            <a:r>
              <a:t>s</a:t>
            </a:r>
            <a:r>
              <a:rPr lang="en-US" dirty="0"/>
              <a:t>.</a:t>
            </a:r>
            <a:endParaRPr dirty="0"/>
          </a:p>
          <a:p>
            <a:pPr marL="561975" marR="2559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562610" algn="l"/>
              </a:tabLst>
            </a:pPr>
            <a:r>
              <a:rPr u="sng" spc="-180"/>
              <a:t>P</a:t>
            </a:r>
            <a:r>
              <a:rPr u="sng" spc="-10"/>
              <a:t>a</a:t>
            </a:r>
            <a:r>
              <a:rPr u="sng" spc="-35"/>
              <a:t>r</a:t>
            </a:r>
            <a:r>
              <a:rPr u="sng" spc="-10"/>
              <a:t>a</a:t>
            </a:r>
            <a:r>
              <a:rPr u="sng" spc="-5"/>
              <a:t>-vi</a:t>
            </a:r>
            <a:r>
              <a:rPr u="sng" spc="50"/>
              <a:t>r</a:t>
            </a:r>
            <a:r>
              <a:rPr u="sng" spc="-5"/>
              <a:t>tu</a:t>
            </a:r>
            <a:r>
              <a:rPr u="sng" spc="-10"/>
              <a:t>a</a:t>
            </a:r>
            <a:r>
              <a:rPr u="sng" spc="-5"/>
              <a:t>liz</a:t>
            </a:r>
            <a:r>
              <a:rPr u="sng" spc="-10"/>
              <a:t>a</a:t>
            </a:r>
            <a:r>
              <a:rPr u="sng" spc="-5"/>
              <a:t>tion</a:t>
            </a:r>
            <a:r>
              <a:rPr u="sng"/>
              <a:t> </a:t>
            </a:r>
            <a:r>
              <a:t>–</a:t>
            </a:r>
            <a:endParaRPr lang="en-US" dirty="0"/>
          </a:p>
          <a:p>
            <a:pPr marL="561975" marR="2559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Arial" panose="020B0604020202020204" pitchFamily="34" charset="0"/>
              <a:buChar char="•"/>
              <a:tabLst>
                <a:tab pos="562610" algn="l"/>
              </a:tabLst>
            </a:pPr>
            <a:r>
              <a:rPr spc="-5"/>
              <a:t> </a:t>
            </a:r>
            <a:r>
              <a:rPr lang="en-US" spc="-5" dirty="0"/>
              <a:t>T</a:t>
            </a:r>
            <a:r>
              <a:rPr spc="-5"/>
              <a:t>h</a:t>
            </a:r>
            <a:r>
              <a:t>e</a:t>
            </a:r>
            <a:r>
              <a:rPr spc="-5"/>
              <a:t> h</a:t>
            </a:r>
            <a:r>
              <a:rPr spc="-10"/>
              <a:t>a</a:t>
            </a:r>
            <a:r>
              <a:rPr spc="-5"/>
              <a:t>r</a:t>
            </a:r>
            <a:r>
              <a:rPr spc="-70"/>
              <a:t>d</a:t>
            </a:r>
            <a:r>
              <a:rPr spc="-120"/>
              <a:t>w</a:t>
            </a:r>
            <a:r>
              <a:rPr spc="-10"/>
              <a:t>a</a:t>
            </a:r>
            <a:r>
              <a:rPr spc="-5"/>
              <a:t>r</a:t>
            </a:r>
            <a:r>
              <a:t>e</a:t>
            </a:r>
            <a:r>
              <a:rPr spc="-5"/>
              <a:t> i</a:t>
            </a:r>
            <a:r>
              <a:t>s</a:t>
            </a:r>
            <a:r>
              <a:rPr spc="-5"/>
              <a:t> </a:t>
            </a:r>
            <a:r>
              <a:rPr spc="-5">
                <a:solidFill>
                  <a:srgbClr val="FF0000"/>
                </a:solidFill>
              </a:rPr>
              <a:t>not</a:t>
            </a:r>
            <a:r>
              <a:rPr>
                <a:solidFill>
                  <a:srgbClr val="FF0000"/>
                </a:solidFill>
              </a:rPr>
              <a:t> </a:t>
            </a:r>
            <a:r>
              <a:rPr spc="-5">
                <a:solidFill>
                  <a:srgbClr val="FF0000"/>
                </a:solidFill>
              </a:rPr>
              <a:t>si</a:t>
            </a:r>
            <a:r>
              <a:rPr spc="55">
                <a:solidFill>
                  <a:srgbClr val="FF0000"/>
                </a:solidFill>
              </a:rPr>
              <a:t>m</a:t>
            </a:r>
            <a:r>
              <a:rPr spc="-5">
                <a:solidFill>
                  <a:srgbClr val="FF0000"/>
                </a:solidFill>
              </a:rPr>
              <a:t>ul</a:t>
            </a:r>
            <a:r>
              <a:rPr spc="-10">
                <a:solidFill>
                  <a:srgbClr val="FF0000"/>
                </a:solidFill>
              </a:rPr>
              <a:t>a</a:t>
            </a:r>
            <a:r>
              <a:rPr spc="-5">
                <a:solidFill>
                  <a:srgbClr val="FF0000"/>
                </a:solidFill>
              </a:rPr>
              <a:t>ted</a:t>
            </a:r>
            <a:r>
              <a:rPr>
                <a:solidFill>
                  <a:srgbClr val="FF0000"/>
                </a:solidFill>
              </a:rPr>
              <a:t> </a:t>
            </a:r>
            <a:r>
              <a:rPr lang="en-US" spc="-10" dirty="0"/>
              <a:t>instead</a:t>
            </a:r>
            <a:r>
              <a:rPr spc="-5"/>
              <a:t> th</a:t>
            </a:r>
            <a:r>
              <a:t>e</a:t>
            </a:r>
            <a:r>
              <a:rPr spc="-5"/>
              <a:t> guest</a:t>
            </a:r>
            <a:r>
              <a:t> </a:t>
            </a:r>
            <a:r>
              <a:rPr spc="-5"/>
              <a:t>soft</a:t>
            </a:r>
            <a:r>
              <a:rPr spc="-120"/>
              <a:t>w</a:t>
            </a:r>
            <a:r>
              <a:rPr spc="-10"/>
              <a:t>a</a:t>
            </a:r>
            <a:r>
              <a:rPr spc="-5"/>
              <a:t>r</a:t>
            </a:r>
            <a:r>
              <a:t>e</a:t>
            </a:r>
            <a:r>
              <a:rPr spc="-5"/>
              <a:t> </a:t>
            </a:r>
            <a:r>
              <a:rPr spc="50"/>
              <a:t>r</a:t>
            </a:r>
            <a:r>
              <a:rPr spc="-5"/>
              <a:t>un</a:t>
            </a:r>
            <a:r>
              <a:t> </a:t>
            </a:r>
            <a:r>
              <a:rPr spc="-5"/>
              <a:t>thei</a:t>
            </a:r>
            <a:r>
              <a:t>r</a:t>
            </a:r>
            <a:r>
              <a:rPr spc="-5"/>
              <a:t> </a:t>
            </a:r>
            <a:r>
              <a:rPr spc="-95">
                <a:solidFill>
                  <a:srgbClr val="00B050"/>
                </a:solidFill>
              </a:rPr>
              <a:t>o</a:t>
            </a:r>
            <a:r>
              <a:rPr>
                <a:solidFill>
                  <a:srgbClr val="00B050"/>
                </a:solidFill>
              </a:rPr>
              <a:t>w</a:t>
            </a:r>
            <a:r>
              <a:rPr spc="-5">
                <a:solidFill>
                  <a:srgbClr val="00B050"/>
                </a:solidFill>
              </a:rPr>
              <a:t>n</a:t>
            </a:r>
            <a:r>
              <a:rPr>
                <a:solidFill>
                  <a:srgbClr val="00B050"/>
                </a:solidFill>
              </a:rPr>
              <a:t> </a:t>
            </a:r>
            <a:r>
              <a:rPr spc="-5">
                <a:solidFill>
                  <a:srgbClr val="00B050"/>
                </a:solidFill>
              </a:rPr>
              <a:t>isol</a:t>
            </a:r>
            <a:r>
              <a:rPr spc="-10">
                <a:solidFill>
                  <a:srgbClr val="00B050"/>
                </a:solidFill>
              </a:rPr>
              <a:t>a</a:t>
            </a:r>
            <a:r>
              <a:rPr spc="-5">
                <a:solidFill>
                  <a:srgbClr val="00B050"/>
                </a:solidFill>
              </a:rPr>
              <a:t>ted</a:t>
            </a:r>
            <a:r>
              <a:rPr>
                <a:solidFill>
                  <a:srgbClr val="00B050"/>
                </a:solidFill>
              </a:rPr>
              <a:t> </a:t>
            </a:r>
            <a:r>
              <a:rPr spc="-10">
                <a:solidFill>
                  <a:srgbClr val="00B050"/>
                </a:solidFill>
              </a:rPr>
              <a:t>d</a:t>
            </a:r>
            <a:r>
              <a:rPr spc="-5">
                <a:solidFill>
                  <a:srgbClr val="00B050"/>
                </a:solidFill>
              </a:rPr>
              <a:t>o</a:t>
            </a:r>
            <a:r>
              <a:rPr>
                <a:solidFill>
                  <a:srgbClr val="00B050"/>
                </a:solidFill>
              </a:rPr>
              <a:t>m</a:t>
            </a:r>
            <a:r>
              <a:rPr spc="-10">
                <a:solidFill>
                  <a:srgbClr val="00B050"/>
                </a:solidFill>
              </a:rPr>
              <a:t>a</a:t>
            </a:r>
            <a:r>
              <a:rPr spc="-5">
                <a:solidFill>
                  <a:srgbClr val="00B050"/>
                </a:solidFill>
              </a:rPr>
              <a:t>in</a:t>
            </a:r>
            <a:r>
              <a:rPr spc="-35">
                <a:solidFill>
                  <a:srgbClr val="00B050"/>
                </a:solidFill>
              </a:rPr>
              <a:t>s</a:t>
            </a:r>
            <a:r>
              <a:rPr>
                <a:solidFill>
                  <a:srgbClr val="00B050"/>
                </a:solidFill>
              </a:rPr>
              <a:t>.</a:t>
            </a:r>
            <a:endParaRPr lang="en-US" dirty="0">
              <a:solidFill>
                <a:srgbClr val="00B050"/>
              </a:solidFill>
            </a:endParaRPr>
          </a:p>
          <a:p>
            <a:pPr marL="561975" marR="255905" indent="-319405"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562610" algn="l"/>
              </a:tabLst>
            </a:pPr>
            <a:r>
              <a:rPr lang="en-US" u="sng" spc="-5" dirty="0"/>
              <a:t>E</a:t>
            </a:r>
            <a:r>
              <a:rPr lang="en-US" u="sng" spc="55" dirty="0"/>
              <a:t>m</a:t>
            </a:r>
            <a:r>
              <a:rPr lang="en-US" u="sng" spc="-5" dirty="0"/>
              <a:t>ul</a:t>
            </a:r>
            <a:r>
              <a:rPr lang="en-US" u="sng" spc="-10" dirty="0"/>
              <a:t>a</a:t>
            </a:r>
            <a:r>
              <a:rPr lang="en-US" u="sng" spc="-5" dirty="0"/>
              <a:t>tion</a:t>
            </a:r>
            <a:r>
              <a:rPr lang="en-US" u="sng" dirty="0"/>
              <a:t> </a:t>
            </a:r>
            <a:r>
              <a:rPr lang="en-US" u="sng" spc="-5" dirty="0"/>
              <a:t>Vi</a:t>
            </a:r>
            <a:r>
              <a:rPr lang="en-US" u="sng" spc="50" dirty="0"/>
              <a:t>r</a:t>
            </a:r>
            <a:r>
              <a:rPr lang="en-US" u="sng" spc="-5" dirty="0"/>
              <a:t>tu</a:t>
            </a:r>
            <a:r>
              <a:rPr lang="en-US" u="sng" spc="-10" dirty="0"/>
              <a:t>a</a:t>
            </a:r>
            <a:r>
              <a:rPr lang="en-US" u="sng" spc="-5" dirty="0"/>
              <a:t>liz</a:t>
            </a:r>
            <a:r>
              <a:rPr lang="en-US" u="sng" spc="-10" dirty="0"/>
              <a:t>a</a:t>
            </a:r>
            <a:r>
              <a:rPr lang="en-US" u="sng" spc="-5" dirty="0"/>
              <a:t>tion</a:t>
            </a:r>
            <a:r>
              <a:rPr lang="en-US" u="sng" dirty="0"/>
              <a:t> </a:t>
            </a:r>
            <a:r>
              <a:rPr lang="en-US" dirty="0"/>
              <a:t>–</a:t>
            </a:r>
            <a:r>
              <a:rPr lang="en-US" spc="-5" dirty="0"/>
              <a:t> </a:t>
            </a:r>
            <a:endParaRPr lang="en-US" spc="-5" dirty="0"/>
          </a:p>
          <a:p>
            <a:pPr marL="561975" marR="255905" indent="-319405">
              <a:spcBef>
                <a:spcPts val="700"/>
              </a:spcBef>
              <a:buClr>
                <a:srgbClr val="DD8046"/>
              </a:buClr>
              <a:buSzPct val="59000"/>
              <a:buFont typeface="Arial" panose="020B0604020202020204" pitchFamily="34" charset="0"/>
              <a:buChar char="•"/>
              <a:tabLst>
                <a:tab pos="562610" algn="l"/>
              </a:tabLst>
            </a:pPr>
            <a:r>
              <a:rPr lang="en-US" spc="-5" dirty="0"/>
              <a:t>Th</a:t>
            </a:r>
            <a:r>
              <a:rPr lang="en-US" dirty="0"/>
              <a:t>e</a:t>
            </a:r>
            <a:r>
              <a:rPr lang="en-US" spc="-5" dirty="0"/>
              <a:t> </a:t>
            </a:r>
            <a:r>
              <a:rPr lang="en-US" spc="-5" dirty="0">
                <a:solidFill>
                  <a:srgbClr val="FF0000"/>
                </a:solidFill>
              </a:rPr>
              <a:t>vi</a:t>
            </a:r>
            <a:r>
              <a:rPr lang="en-US" spc="50" dirty="0">
                <a:solidFill>
                  <a:srgbClr val="FF0000"/>
                </a:solidFill>
              </a:rPr>
              <a:t>r</a:t>
            </a:r>
            <a:r>
              <a:rPr lang="en-US" spc="-5" dirty="0">
                <a:solidFill>
                  <a:srgbClr val="FF0000"/>
                </a:solidFill>
              </a:rPr>
              <a:t>tu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spc="-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spc="100" dirty="0">
                <a:solidFill>
                  <a:srgbClr val="FF0000"/>
                </a:solidFill>
              </a:rPr>
              <a:t>c</a:t>
            </a:r>
            <a:r>
              <a:rPr lang="en-US" spc="-5" dirty="0">
                <a:solidFill>
                  <a:srgbClr val="FF0000"/>
                </a:solidFill>
              </a:rPr>
              <a:t>hin</a:t>
            </a:r>
            <a:r>
              <a:rPr lang="en-US" dirty="0">
                <a:solidFill>
                  <a:srgbClr val="FF0000"/>
                </a:solidFill>
              </a:rPr>
              <a:t>e </a:t>
            </a:r>
            <a:r>
              <a:rPr lang="en-US" spc="-5" dirty="0">
                <a:solidFill>
                  <a:srgbClr val="FF0000"/>
                </a:solidFill>
              </a:rPr>
              <a:t>si</a:t>
            </a:r>
            <a:r>
              <a:rPr lang="en-US" spc="55" dirty="0">
                <a:solidFill>
                  <a:srgbClr val="FF0000"/>
                </a:solidFill>
              </a:rPr>
              <a:t>m</a:t>
            </a:r>
            <a:r>
              <a:rPr lang="en-US" spc="-5" dirty="0">
                <a:solidFill>
                  <a:srgbClr val="FF0000"/>
                </a:solidFill>
              </a:rPr>
              <a:t>ul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spc="-5" dirty="0">
                <a:solidFill>
                  <a:srgbClr val="FF0000"/>
                </a:solidFill>
              </a:rPr>
              <a:t>te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spc="-5" dirty="0">
                <a:solidFill>
                  <a:srgbClr val="FF0000"/>
                </a:solidFill>
              </a:rPr>
              <a:t> th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spc="-5" dirty="0">
                <a:solidFill>
                  <a:srgbClr val="FF0000"/>
                </a:solidFill>
              </a:rPr>
              <a:t> h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spc="-5" dirty="0">
                <a:solidFill>
                  <a:srgbClr val="FF0000"/>
                </a:solidFill>
              </a:rPr>
              <a:t>r</a:t>
            </a:r>
            <a:r>
              <a:rPr lang="en-US" spc="-70" dirty="0">
                <a:solidFill>
                  <a:srgbClr val="FF0000"/>
                </a:solidFill>
              </a:rPr>
              <a:t>d</a:t>
            </a:r>
            <a:r>
              <a:rPr lang="en-US" spc="-120" dirty="0">
                <a:solidFill>
                  <a:srgbClr val="FF0000"/>
                </a:solidFill>
              </a:rPr>
              <a:t>w</a:t>
            </a:r>
            <a:r>
              <a:rPr lang="en-US" spc="-10" dirty="0">
                <a:solidFill>
                  <a:srgbClr val="FF0000"/>
                </a:solidFill>
              </a:rPr>
              <a:t>a</a:t>
            </a:r>
            <a:r>
              <a:rPr lang="en-US" spc="-5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spc="-5" dirty="0">
                <a:solidFill>
                  <a:srgbClr val="FF0000"/>
                </a:solidFill>
              </a:rPr>
              <a:t> </a:t>
            </a:r>
            <a:r>
              <a:rPr lang="en-US" spc="-5" dirty="0"/>
              <a:t>and </a:t>
            </a:r>
            <a:r>
              <a:rPr lang="en-US" spc="-10" dirty="0"/>
              <a:t>b</a:t>
            </a:r>
            <a:r>
              <a:rPr lang="en-US" spc="-5" dirty="0"/>
              <a:t>e</a:t>
            </a:r>
            <a:r>
              <a:rPr lang="en-US" spc="-10" dirty="0"/>
              <a:t>c</a:t>
            </a:r>
            <a:r>
              <a:rPr lang="en-US" spc="-5" dirty="0"/>
              <a:t>o</a:t>
            </a:r>
            <a:r>
              <a:rPr lang="en-US" dirty="0"/>
              <a:t>m</a:t>
            </a:r>
            <a:r>
              <a:rPr lang="en-US" spc="-5" dirty="0"/>
              <a:t>e</a:t>
            </a:r>
            <a:r>
              <a:rPr lang="en-US" dirty="0"/>
              <a:t>s</a:t>
            </a:r>
            <a:r>
              <a:rPr lang="en-US" spc="-5" dirty="0"/>
              <a:t> </a:t>
            </a:r>
            <a:r>
              <a:rPr lang="en-US" spc="-5" dirty="0">
                <a:solidFill>
                  <a:srgbClr val="FF0000"/>
                </a:solidFill>
              </a:rPr>
              <a:t>in</a:t>
            </a:r>
            <a:r>
              <a:rPr lang="en-US" spc="-10" dirty="0">
                <a:solidFill>
                  <a:srgbClr val="FF0000"/>
                </a:solidFill>
              </a:rPr>
              <a:t>d</a:t>
            </a:r>
            <a:r>
              <a:rPr lang="en-US" spc="-5" dirty="0">
                <a:solidFill>
                  <a:srgbClr val="FF0000"/>
                </a:solidFill>
              </a:rPr>
              <a:t>e</a:t>
            </a:r>
            <a:r>
              <a:rPr lang="en-US" spc="-10" dirty="0">
                <a:solidFill>
                  <a:srgbClr val="FF0000"/>
                </a:solidFill>
              </a:rPr>
              <a:t>p</a:t>
            </a:r>
            <a:r>
              <a:rPr lang="en-US" spc="-5" dirty="0">
                <a:solidFill>
                  <a:srgbClr val="FF0000"/>
                </a:solidFill>
              </a:rPr>
              <a:t>en</a:t>
            </a:r>
            <a:r>
              <a:rPr lang="en-US" spc="-10" dirty="0">
                <a:solidFill>
                  <a:srgbClr val="FF0000"/>
                </a:solidFill>
              </a:rPr>
              <a:t>d</a:t>
            </a:r>
            <a:r>
              <a:rPr lang="en-US" spc="-5" dirty="0">
                <a:solidFill>
                  <a:srgbClr val="FF0000"/>
                </a:solidFill>
              </a:rPr>
              <a:t>ent </a:t>
            </a:r>
            <a:r>
              <a:rPr lang="en-US" spc="-5" dirty="0"/>
              <a:t>o</a:t>
            </a:r>
            <a:r>
              <a:rPr lang="en-US" dirty="0"/>
              <a:t>f</a:t>
            </a:r>
            <a:r>
              <a:rPr lang="en-US" spc="80" dirty="0"/>
              <a:t> </a:t>
            </a:r>
            <a:r>
              <a:rPr lang="en-US" spc="-5" dirty="0"/>
              <a:t>it</a:t>
            </a:r>
            <a:r>
              <a:rPr lang="en-US" dirty="0"/>
              <a:t>.</a:t>
            </a:r>
            <a:r>
              <a:rPr lang="en-US" spc="-5" dirty="0"/>
              <a:t> </a:t>
            </a:r>
            <a:endParaRPr lang="en-US" spc="-5" dirty="0"/>
          </a:p>
          <a:p>
            <a:pPr marL="561975" marR="255905" indent="-319405">
              <a:spcBef>
                <a:spcPts val="700"/>
              </a:spcBef>
              <a:buClr>
                <a:srgbClr val="DD8046"/>
              </a:buClr>
              <a:buSzPct val="59000"/>
              <a:buFont typeface="Arial" panose="020B0604020202020204" pitchFamily="34" charset="0"/>
              <a:buChar char="•"/>
              <a:tabLst>
                <a:tab pos="562610" algn="l"/>
              </a:tabLst>
            </a:pPr>
            <a:r>
              <a:rPr lang="en-US" spc="-5" dirty="0"/>
              <a:t>Guest</a:t>
            </a:r>
            <a:r>
              <a:rPr lang="en-US" dirty="0"/>
              <a:t> </a:t>
            </a:r>
            <a:r>
              <a:rPr lang="en-US" spc="-5" dirty="0"/>
              <a:t>software doe</a:t>
            </a:r>
            <a:r>
              <a:rPr lang="en-US" dirty="0"/>
              <a:t>s</a:t>
            </a:r>
            <a:r>
              <a:rPr lang="en-US" spc="-5" dirty="0"/>
              <a:t> not</a:t>
            </a:r>
            <a:r>
              <a:rPr lang="en-US" dirty="0"/>
              <a:t> </a:t>
            </a:r>
            <a:r>
              <a:rPr lang="en-US" spc="-5" dirty="0"/>
              <a:t>re</a:t>
            </a:r>
            <a:r>
              <a:rPr lang="en-US" spc="-10" dirty="0"/>
              <a:t>q</a:t>
            </a:r>
            <a:r>
              <a:rPr lang="en-US" spc="-5" dirty="0"/>
              <a:t>uir</a:t>
            </a:r>
            <a:r>
              <a:rPr lang="en-US" dirty="0"/>
              <a:t>e </a:t>
            </a:r>
            <a:r>
              <a:rPr lang="en-US" spc="-10" dirty="0"/>
              <a:t>a</a:t>
            </a:r>
            <a:r>
              <a:rPr lang="en-US" spc="-95" dirty="0"/>
              <a:t>n</a:t>
            </a:r>
            <a:r>
              <a:rPr lang="en-US" dirty="0"/>
              <a:t>y</a:t>
            </a:r>
            <a:r>
              <a:rPr lang="en-US" spc="-5" dirty="0"/>
              <a:t> </a:t>
            </a:r>
            <a:r>
              <a:rPr lang="en-US" dirty="0"/>
              <a:t>m</a:t>
            </a:r>
            <a:r>
              <a:rPr lang="en-US" spc="-5" dirty="0"/>
              <a:t>o</a:t>
            </a:r>
            <a:r>
              <a:rPr lang="en-US" spc="-10" dirty="0"/>
              <a:t>d</a:t>
            </a:r>
            <a:r>
              <a:rPr lang="en-US" spc="-5" dirty="0"/>
              <a:t>ifi</a:t>
            </a:r>
            <a:r>
              <a:rPr lang="en-US" spc="-10" dirty="0"/>
              <a:t>ca</a:t>
            </a:r>
            <a:r>
              <a:rPr lang="en-US" spc="-5" dirty="0"/>
              <a:t>tion</a:t>
            </a:r>
            <a:r>
              <a:rPr lang="en-US" spc="-35" dirty="0"/>
              <a:t>s</a:t>
            </a:r>
            <a:r>
              <a:rPr lang="en-US" dirty="0"/>
              <a:t>.</a:t>
            </a:r>
            <a:endParaRPr lang="en-US" dirty="0"/>
          </a:p>
          <a:p>
            <a:pPr marL="561975" marR="2559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tabLst>
                <a:tab pos="562610" algn="l"/>
              </a:tabLst>
            </a:pP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61289" y="1289496"/>
            <a:ext cx="21145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7772400" cy="144017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304800" y="1524000"/>
            <a:ext cx="8336915" cy="4462780"/>
          </a:xfrm>
        </p:spPr>
        <p:txBody>
          <a:bodyPr wrap="square"/>
          <a:lstStyle/>
          <a:p>
            <a:r>
              <a:rPr lang="en-US"/>
              <a:t>Full virtualization is a common and cost-effective type of virtualization, which is basically a method by which computer service requests are separated from the physical hardware that facilitates them. </a:t>
            </a:r>
            <a:endParaRPr lang="en-US"/>
          </a:p>
          <a:p>
            <a:r>
              <a:rPr lang="en-US"/>
              <a:t>With full virtualization, operating systems and their hosted software are run on top of virtual hardware. </a:t>
            </a:r>
            <a:endParaRPr lang="en-US"/>
          </a:p>
          <a:p>
            <a:r>
              <a:rPr lang="en-US"/>
              <a:t>It differs from other forms of virtualization (like paravirtualization and hardware-assisted virtualization) in its total isolation of guest operating systems from their hosts.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676910"/>
          </a:xfrm>
        </p:spPr>
        <p:txBody>
          <a:bodyPr/>
          <a:lstStyle/>
          <a:p>
            <a:r>
              <a:rPr lang="en-US">
                <a:sym typeface="+mn-ea"/>
              </a:rPr>
              <a:t>Full virtualization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8193912" cy="2662267"/>
          </a:xfrm>
        </p:spPr>
        <p:txBody>
          <a:bodyPr wrap="square"/>
          <a:lstStyle/>
          <a:p>
            <a:r>
              <a:rPr lang="en-US" sz="2400" dirty="0"/>
              <a:t>Full virtualization is fulfilled by the use of both binary translation and direct execution.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In full virtualization, the guest OS is completely isolated by the virtual machine from the virtualization layer and hardware.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Microsoft and Parallels systems are examples of full virtualization..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677108"/>
          </a:xfrm>
        </p:spPr>
        <p:txBody>
          <a:bodyPr/>
          <a:lstStyle/>
          <a:p>
            <a:r>
              <a:rPr lang="en-US" dirty="0"/>
              <a:t>Fig.</a:t>
            </a:r>
            <a:endParaRPr lang="en-US" dirty="0"/>
          </a:p>
        </p:txBody>
      </p:sp>
      <p:pic>
        <p:nvPicPr>
          <p:cNvPr id="5" name="Picture 2" descr="Architecture of Full Virtualization | Download Scientific Diagr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4" y="1752600"/>
            <a:ext cx="619125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spc="-180">
                <a:sym typeface="+mn-ea"/>
              </a:rPr>
              <a:t>P</a:t>
            </a:r>
            <a:r>
              <a:rPr u="sng" spc="-10">
                <a:sym typeface="+mn-ea"/>
              </a:rPr>
              <a:t>a</a:t>
            </a:r>
            <a:r>
              <a:rPr u="sng" spc="-35">
                <a:sym typeface="+mn-ea"/>
              </a:rPr>
              <a:t>r</a:t>
            </a:r>
            <a:r>
              <a:rPr u="sng" spc="-10">
                <a:sym typeface="+mn-ea"/>
              </a:rPr>
              <a:t>a</a:t>
            </a:r>
            <a:r>
              <a:rPr u="sng" spc="-5">
                <a:sym typeface="+mn-ea"/>
              </a:rPr>
              <a:t>-vi</a:t>
            </a:r>
            <a:r>
              <a:rPr u="sng" spc="50">
                <a:sym typeface="+mn-ea"/>
              </a:rPr>
              <a:t>r</a:t>
            </a:r>
            <a:r>
              <a:rPr u="sng" spc="-5">
                <a:sym typeface="+mn-ea"/>
              </a:rPr>
              <a:t>tu</a:t>
            </a:r>
            <a:r>
              <a:rPr u="sng" spc="-10">
                <a:sym typeface="+mn-ea"/>
              </a:rPr>
              <a:t>a</a:t>
            </a:r>
            <a:r>
              <a:rPr u="sng" spc="-5">
                <a:sym typeface="+mn-ea"/>
              </a:rPr>
              <a:t>liz</a:t>
            </a:r>
            <a:r>
              <a:rPr u="sng" spc="-10">
                <a:sym typeface="+mn-ea"/>
              </a:rPr>
              <a:t>a</a:t>
            </a:r>
            <a:r>
              <a:rPr u="sng" spc="-5">
                <a:sym typeface="+mn-ea"/>
              </a:rPr>
              <a:t>tion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62000" y="2087245"/>
            <a:ext cx="76022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Paravirtualization is the category of CPU virtualization which uses </a:t>
            </a:r>
            <a:r>
              <a:rPr lang="en-US" sz="2400" dirty="0" err="1"/>
              <a:t>hypercalls</a:t>
            </a:r>
            <a:r>
              <a:rPr lang="en-US" sz="2400" dirty="0"/>
              <a:t> for operations to handle instructions at compile time.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paravirtualization, guest OS is not completely isolated but it is partially isolated by the virtual machine from the virtualization layer and hardware. 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VMware and Xen are some examples of paravirtualization..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887" y="436297"/>
            <a:ext cx="8158225" cy="677108"/>
          </a:xfrm>
        </p:spPr>
        <p:txBody>
          <a:bodyPr/>
          <a:lstStyle/>
          <a:p>
            <a:r>
              <a:rPr lang="en-US" dirty="0"/>
              <a:t>Fig.</a:t>
            </a:r>
            <a:endParaRPr lang="en-US" dirty="0"/>
          </a:p>
        </p:txBody>
      </p:sp>
      <p:pic>
        <p:nvPicPr>
          <p:cNvPr id="2050" name="Picture 2" descr="What is paravirtualization? - Quor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600"/>
            <a:ext cx="4919662" cy="475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3808" y="1412747"/>
            <a:ext cx="3060191" cy="41757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0" y="1302196"/>
            <a:ext cx="3385185" cy="421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341119"/>
            <a:ext cx="3384804" cy="4175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15411" y="1341119"/>
            <a:ext cx="3276600" cy="4282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4281" y="5831933"/>
            <a:ext cx="25533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mic Sans MS" panose="030F0702030302020204"/>
                <a:cs typeface="Comic Sans MS" panose="030F0702030302020204"/>
              </a:rPr>
              <a:t>Fu</a:t>
            </a:r>
            <a:r>
              <a:rPr sz="2400" spc="-10" dirty="0">
                <a:latin typeface="Comic Sans MS" panose="030F0702030302020204"/>
                <a:cs typeface="Comic Sans MS" panose="030F0702030302020204"/>
              </a:rPr>
              <a:t>l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l V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ir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t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u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a</a:t>
            </a:r>
            <a:r>
              <a:rPr sz="2400" spc="-10" dirty="0">
                <a:latin typeface="Comic Sans MS" panose="030F0702030302020204"/>
                <a:cs typeface="Comic Sans MS" panose="030F0702030302020204"/>
              </a:rPr>
              <a:t>l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zat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o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n</a:t>
            </a:r>
            <a:endParaRPr sz="24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8975" y="5975951"/>
            <a:ext cx="14001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mic Sans MS" panose="030F0702030302020204"/>
                <a:cs typeface="Comic Sans MS" panose="030F0702030302020204"/>
              </a:rPr>
              <a:t>Emu</a:t>
            </a:r>
            <a:r>
              <a:rPr sz="2400" spc="-10" dirty="0">
                <a:latin typeface="Comic Sans MS" panose="030F0702030302020204"/>
                <a:cs typeface="Comic Sans MS" panose="030F0702030302020204"/>
              </a:rPr>
              <a:t>l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at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o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n</a:t>
            </a:r>
            <a:endParaRPr sz="24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0617" y="5903941"/>
            <a:ext cx="26612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omic Sans MS" panose="030F0702030302020204"/>
                <a:cs typeface="Comic Sans MS" panose="030F0702030302020204"/>
              </a:rPr>
              <a:t>Para Virt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u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a</a:t>
            </a:r>
            <a:r>
              <a:rPr sz="2400" spc="-10" dirty="0">
                <a:latin typeface="Comic Sans MS" panose="030F0702030302020204"/>
                <a:cs typeface="Comic Sans MS" panose="030F0702030302020204"/>
              </a:rPr>
              <a:t>l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zat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i</a:t>
            </a:r>
            <a:r>
              <a:rPr sz="2400" spc="-5" dirty="0">
                <a:latin typeface="Comic Sans MS" panose="030F0702030302020204"/>
                <a:cs typeface="Comic Sans MS" panose="030F0702030302020204"/>
              </a:rPr>
              <a:t>o</a:t>
            </a:r>
            <a:r>
              <a:rPr sz="2400" dirty="0">
                <a:latin typeface="Comic Sans MS" panose="030F0702030302020204"/>
                <a:cs typeface="Comic Sans MS" panose="030F0702030302020204"/>
              </a:rPr>
              <a:t>n</a:t>
            </a:r>
            <a:endParaRPr sz="24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57248" y="101017"/>
            <a:ext cx="5812155" cy="1266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</a:t>
            </a:r>
            <a:r>
              <a:rPr spc="-10" dirty="0"/>
              <a:t>a</a:t>
            </a:r>
            <a:r>
              <a:rPr spc="-5" dirty="0"/>
              <a:t>rdw</a:t>
            </a:r>
            <a:r>
              <a:rPr spc="-10" dirty="0"/>
              <a:t>a</a:t>
            </a:r>
            <a:r>
              <a:rPr spc="75" dirty="0"/>
              <a:t>r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tion:</a:t>
            </a:r>
            <a:endParaRPr spc="-5" dirty="0"/>
          </a:p>
          <a:p>
            <a:pPr marL="1779905">
              <a:lnSpc>
                <a:spcPct val="100000"/>
              </a:lnSpc>
            </a:pPr>
            <a:r>
              <a:rPr spc="-5" dirty="0"/>
              <a:t>Subtyp</a:t>
            </a:r>
            <a:r>
              <a:rPr dirty="0"/>
              <a:t>e</a:t>
            </a:r>
            <a:r>
              <a:rPr spc="-5" dirty="0"/>
              <a:t>s</a:t>
            </a:r>
            <a:endParaRPr spc="-5" dirty="0"/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4155">
              <a:lnSpc>
                <a:spcPct val="100000"/>
              </a:lnSpc>
            </a:pPr>
            <a:r>
              <a:rPr spc="-5" dirty="0"/>
              <a:t>Softw</a:t>
            </a:r>
            <a:r>
              <a:rPr spc="-10" dirty="0"/>
              <a:t>a</a:t>
            </a:r>
            <a:r>
              <a:rPr spc="75" dirty="0"/>
              <a:t>r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1290" y="1289685"/>
            <a:ext cx="5908675" cy="4481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 marL="542290" marR="5080">
              <a:lnSpc>
                <a:spcPct val="120000"/>
              </a:lnSpc>
              <a:spcBef>
                <a:spcPts val="565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Soft</a:t>
            </a:r>
            <a:r>
              <a:rPr sz="2400" spc="-12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Vi</a:t>
            </a:r>
            <a:r>
              <a:rPr sz="24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4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4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4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ol</a:t>
            </a:r>
            <a:r>
              <a:rPr sz="24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th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1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1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sz="24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an</a:t>
            </a:r>
            <a:r>
              <a:rPr lang="en-US"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4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ulti</a:t>
            </a:r>
            <a:r>
              <a:rPr sz="24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vi</a:t>
            </a:r>
            <a:r>
              <a:rPr sz="24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4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envi</a:t>
            </a:r>
            <a:r>
              <a:rPr sz="24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on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ent</a:t>
            </a:r>
            <a:r>
              <a:rPr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host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10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hin</a:t>
            </a:r>
            <a:r>
              <a:rPr sz="2400" spc="-35">
                <a:latin typeface="Tw Cen MT" panose="020B0602020104020603"/>
                <a:cs typeface="Tw Cen MT" panose="020B0602020104020603"/>
              </a:rPr>
              <a:t>e</a:t>
            </a:r>
            <a:r>
              <a:rPr sz="2400">
                <a:latin typeface="Tw Cen MT" panose="020B0602020104020603"/>
                <a:cs typeface="Tw Cen MT" panose="020B0602020104020603"/>
              </a:rPr>
              <a:t>.</a:t>
            </a:r>
            <a:endParaRPr lang="en-US" sz="2400" dirty="0">
              <a:latin typeface="Tw Cen MT" panose="020B0602020104020603"/>
              <a:cs typeface="Tw Cen MT" panose="020B0602020104020603"/>
            </a:endParaRPr>
          </a:p>
          <a:p>
            <a:pPr marL="542290" marR="5080">
              <a:lnSpc>
                <a:spcPct val="120000"/>
              </a:lnSpc>
              <a:spcBef>
                <a:spcPts val="565"/>
              </a:spcBef>
              <a:buFont typeface="Arial" panose="020B0604020202020204" pitchFamily="34" charset="0"/>
              <a:buChar char="•"/>
            </a:pPr>
            <a:r>
              <a:rPr sz="2400" spc="-5">
                <a:latin typeface="Tw Cen MT" panose="020B0602020104020603"/>
                <a:cs typeface="Tw Cen MT" panose="020B0602020104020603"/>
              </a:rPr>
              <a:t> It</a:t>
            </a:r>
            <a:r>
              <a:rPr sz="2400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-10" dirty="0">
                <a:latin typeface="Tw Cen MT" panose="020B0602020104020603"/>
                <a:cs typeface="Tw Cen MT" panose="020B0602020104020603"/>
              </a:rPr>
              <a:t>is used to enable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lang="en-US"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lang="en-US"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lang="en-US" sz="24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lang="en-US"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let</a:t>
            </a:r>
            <a:r>
              <a:rPr lang="en-US" sz="24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4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1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-1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ute</a:t>
            </a:r>
            <a:r>
              <a:rPr sz="24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syste</a:t>
            </a:r>
            <a:r>
              <a:rPr sz="240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 </a:t>
            </a:r>
            <a:r>
              <a:rPr lang="en-US" sz="2400" dirty="0">
                <a:latin typeface="Tw Cen MT" panose="020B0602020104020603"/>
                <a:cs typeface="Tw Cen MT" panose="020B0602020104020603"/>
              </a:rPr>
              <a:t>in order to </a:t>
            </a:r>
            <a:r>
              <a:rPr lang="en-US" sz="24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allow 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th</a:t>
            </a:r>
            <a:r>
              <a:rPr sz="24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guest o</a:t>
            </a:r>
            <a:r>
              <a:rPr sz="24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400" spc="-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ting syste</a:t>
            </a:r>
            <a:r>
              <a:rPr sz="24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4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400" spc="5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un</a:t>
            </a:r>
            <a:r>
              <a:rPr lang="en-US" sz="24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lang="en-US" sz="2400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542290" marR="5080">
              <a:lnSpc>
                <a:spcPct val="120000"/>
              </a:lnSpc>
              <a:spcBef>
                <a:spcPts val="565"/>
              </a:spcBef>
              <a:buFont typeface="Arial" panose="020B0604020202020204" pitchFamily="34" charset="0"/>
              <a:buChar char="•"/>
            </a:pPr>
            <a:r>
              <a:rPr sz="2400" spc="-35">
                <a:latin typeface="Tw Cen MT" panose="020B0602020104020603"/>
                <a:cs typeface="Tw Cen MT" panose="020B0602020104020603"/>
              </a:rPr>
              <a:t>F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-95" dirty="0">
                <a:latin typeface="Tw Cen MT" panose="020B0602020104020603"/>
                <a:cs typeface="Tw Cen MT" panose="020B0602020104020603"/>
              </a:rPr>
              <a:t>instance, letting 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LINUX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O</a:t>
            </a:r>
            <a:r>
              <a:rPr sz="240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400" spc="-5" dirty="0">
                <a:latin typeface="Tw Cen MT" panose="020B0602020104020603"/>
                <a:cs typeface="Tw Cen MT" panose="020B0602020104020603"/>
              </a:rPr>
              <a:t>to run as a guest that is 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n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ti</a:t>
            </a:r>
            <a:r>
              <a:rPr sz="2400" spc="-65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el</a:t>
            </a:r>
            <a:r>
              <a:rPr sz="240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using a Mi</a:t>
            </a:r>
            <a:r>
              <a:rPr sz="24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osoft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Win</a:t>
            </a:r>
            <a:r>
              <a:rPr sz="2400" spc="-1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-95">
                <a:latin typeface="Tw Cen MT" panose="020B0602020104020603"/>
                <a:cs typeface="Tw Cen MT" panose="020B0602020104020603"/>
              </a:rPr>
              <a:t>o</a:t>
            </a:r>
            <a:r>
              <a:rPr sz="2400">
                <a:latin typeface="Tw Cen MT" panose="020B0602020104020603"/>
                <a:cs typeface="Tw Cen MT" panose="020B0602020104020603"/>
              </a:rPr>
              <a:t>ws</a:t>
            </a:r>
            <a:r>
              <a:rPr sz="2400" spc="-5">
                <a:latin typeface="Tw Cen MT" panose="020B0602020104020603"/>
                <a:cs typeface="Tw Cen MT" panose="020B0602020104020603"/>
              </a:rPr>
              <a:t> O</a:t>
            </a:r>
            <a:r>
              <a:rPr sz="2400" spc="-95">
                <a:latin typeface="Tw Cen MT" panose="020B0602020104020603"/>
                <a:cs typeface="Tw Cen MT" panose="020B0602020104020603"/>
              </a:rPr>
              <a:t>S</a:t>
            </a:r>
            <a:r>
              <a:rPr lang="en-US" sz="2900" spc="-95" dirty="0">
                <a:latin typeface="Tw Cen MT" panose="020B0602020104020603"/>
                <a:cs typeface="Tw Cen MT" panose="020B0602020104020603"/>
              </a:rPr>
              <a:t>.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 r="30603"/>
          <a:stretch>
            <a:fillRect/>
          </a:stretch>
        </p:blipFill>
        <p:spPr>
          <a:xfrm>
            <a:off x="6172200" y="2438400"/>
            <a:ext cx="2760345" cy="20815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887" y="436297"/>
            <a:ext cx="815822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5605">
              <a:lnSpc>
                <a:spcPct val="100000"/>
              </a:lnSpc>
            </a:pPr>
            <a:r>
              <a:rPr spc="-5" dirty="0"/>
              <a:t>Softw</a:t>
            </a:r>
            <a:r>
              <a:rPr spc="-10" dirty="0"/>
              <a:t>a</a:t>
            </a:r>
            <a:r>
              <a:rPr spc="75" dirty="0"/>
              <a:t>r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/>
              <a:t>:Subtyp</a:t>
            </a:r>
            <a:r>
              <a:t>e</a:t>
            </a:r>
            <a:r>
              <a:rPr lang="en-US" b="0" dirty="0"/>
              <a:t>s</a:t>
            </a:r>
            <a:endParaRPr b="0" dirty="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752600"/>
            <a:ext cx="8373111" cy="4283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6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109855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u="sng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ting Syste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Vi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u="sng">
                <a:latin typeface="Tw Cen MT" panose="020B0602020104020603"/>
                <a:cs typeface="Tw Cen MT" panose="020B0602020104020603"/>
              </a:rPr>
              <a:t>–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 </a:t>
            </a:r>
            <a:endParaRPr lang="en-US" sz="2900" u="sng" spc="-5" dirty="0">
              <a:latin typeface="Tw Cen MT" panose="020B0602020104020603"/>
              <a:cs typeface="Tw Cen MT" panose="020B0602020104020603"/>
            </a:endParaRPr>
          </a:p>
          <a:p>
            <a:pPr marL="861695" marR="109855" indent="-319405">
              <a:lnSpc>
                <a:spcPct val="100000"/>
              </a:lnSpc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				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hosting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endParaRPr sz="290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pp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li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Vi</a:t>
            </a:r>
            <a:r>
              <a:rPr sz="2900" u="sng" spc="5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tu</a:t>
            </a:r>
            <a:r>
              <a:rPr sz="2900" u="sng" spc="-1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liz</a:t>
            </a:r>
            <a:r>
              <a:rPr sz="2900" u="sng" spc="-1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tion</a:t>
            </a:r>
            <a:r>
              <a:rPr sz="2900" u="sng">
                <a:latin typeface="Tw Cen MT" panose="020B0602020104020603"/>
                <a:cs typeface="Tw Cen MT" panose="020B0602020104020603"/>
              </a:rPr>
              <a:t> –</a:t>
            </a:r>
            <a:endParaRPr lang="en-US" sz="2900" u="sng" dirty="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				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hosting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ivi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l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app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in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vi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envi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ent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se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pa</a:t>
            </a:r>
            <a:r>
              <a:rPr sz="29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f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endParaRPr sz="2900">
              <a:latin typeface="Tw Cen MT" panose="020B0602020104020603"/>
              <a:cs typeface="Tw Cen MT" panose="020B0602020104020603"/>
            </a:endParaRPr>
          </a:p>
          <a:p>
            <a:pPr marL="861695" marR="2813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Se</a:t>
            </a:r>
            <a:r>
              <a:rPr sz="2900" u="sng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Vi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u="sng">
                <a:latin typeface="Tw Cen MT" panose="020B0602020104020603"/>
                <a:cs typeface="Tw Cen MT" panose="020B0602020104020603"/>
              </a:rPr>
              <a:t>–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 </a:t>
            </a:r>
            <a:endParaRPr lang="en-US" sz="2900" u="sng" spc="-5" dirty="0">
              <a:latin typeface="Tw Cen MT" panose="020B0602020104020603"/>
              <a:cs typeface="Tw Cen MT" panose="020B0602020104020603"/>
            </a:endParaRPr>
          </a:p>
          <a:p>
            <a:pPr marL="861695" marR="2813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				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hosting s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ific </a:t>
            </a: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se</a:t>
            </a:r>
            <a:r>
              <a:rPr sz="2900" spc="11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vi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e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rel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ted 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pa</a:t>
            </a:r>
            <a:r>
              <a:rPr sz="2900" spc="5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ti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ul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90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appli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tion</a:t>
            </a: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5275">
              <a:lnSpc>
                <a:spcPct val="100000"/>
              </a:lnSpc>
            </a:pPr>
            <a:r>
              <a:rPr spc="-5" dirty="0"/>
              <a:t>M</a:t>
            </a:r>
            <a:r>
              <a:rPr dirty="0"/>
              <a:t>e</a:t>
            </a:r>
            <a:r>
              <a:rPr spc="-5" dirty="0"/>
              <a:t>mo</a:t>
            </a:r>
            <a:r>
              <a:rPr spc="75" dirty="0"/>
              <a:t>r</a:t>
            </a:r>
            <a:r>
              <a:rPr spc="-5" dirty="0"/>
              <a:t>y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72745" y="1676575"/>
            <a:ext cx="8154542" cy="169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spc="26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200" spc="200" dirty="0">
                <a:latin typeface="Tw Cen MT" panose="020B0602020104020603"/>
                <a:cs typeface="Tw Cen MT" panose="020B0602020104020603"/>
              </a:rPr>
              <a:t>h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ysi</a:t>
            </a:r>
            <a:r>
              <a:rPr sz="2200" spc="25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l </a:t>
            </a:r>
            <a:r>
              <a:rPr sz="2200" spc="-2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26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200" spc="26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or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200" spc="-2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spc="25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200" spc="2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200" spc="-2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265" dirty="0">
                <a:latin typeface="Tw Cen MT" panose="020B0602020104020603"/>
                <a:cs typeface="Tw Cen MT" panose="020B0602020104020603"/>
              </a:rPr>
              <a:t>differe</a:t>
            </a:r>
            <a:r>
              <a:rPr sz="2200" spc="26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-2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265" dirty="0">
                <a:latin typeface="Tw Cen MT" panose="020B0602020104020603"/>
                <a:cs typeface="Tw Cen MT" panose="020B0602020104020603"/>
              </a:rPr>
              <a:t>se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-42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200" dirty="0">
                <a:latin typeface="Tw Cen MT" panose="020B0602020104020603"/>
                <a:cs typeface="Tw Cen MT" panose="020B0602020104020603"/>
              </a:rPr>
              <a:t>v</a:t>
            </a:r>
            <a:r>
              <a:rPr sz="2200" spc="265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200" spc="-2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200" spc="-5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2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agg</a:t>
            </a:r>
            <a:r>
              <a:rPr sz="2200" spc="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200" spc="-3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2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at</a:t>
            </a:r>
            <a:r>
              <a:rPr sz="2200" spc="3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2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3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200" spc="25" dirty="0">
                <a:latin typeface="Tw Cen MT" panose="020B0602020104020603"/>
                <a:cs typeface="Tw Cen MT" panose="020B0602020104020603"/>
              </a:rPr>
              <a:t>nt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spc="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si</a:t>
            </a:r>
            <a:r>
              <a:rPr sz="22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2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200" spc="9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2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200" spc="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li</a:t>
            </a:r>
            <a:r>
              <a:rPr sz="2200" spc="3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z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or</a:t>
            </a:r>
            <a:r>
              <a:rPr sz="2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3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pool</a:t>
            </a:r>
            <a:r>
              <a:rPr sz="22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lang="en-US" sz="2200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12700" marR="508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spc="75">
                <a:latin typeface="Tw Cen MT" panose="020B0602020104020603"/>
                <a:cs typeface="Tw Cen MT" panose="020B0602020104020603"/>
              </a:rPr>
              <a:t>I</a:t>
            </a:r>
            <a:r>
              <a:rPr sz="2200" spc="-5">
                <a:latin typeface="Tw Cen MT" panose="020B0602020104020603"/>
                <a:cs typeface="Tw Cen MT" panose="020B0602020104020603"/>
              </a:rPr>
              <a:t>t</a:t>
            </a:r>
            <a:r>
              <a:rPr sz="2200" spc="16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7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200" spc="1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75" dirty="0">
                <a:latin typeface="Tw Cen MT" panose="020B0602020104020603"/>
                <a:cs typeface="Tw Cen MT" panose="020B0602020104020603"/>
              </a:rPr>
              <a:t>ovi</a:t>
            </a:r>
            <a:r>
              <a:rPr sz="2200" spc="7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200" spc="7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7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2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be</a:t>
            </a:r>
            <a:r>
              <a:rPr sz="22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2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efi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200" spc="1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200" spc="25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8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200" spc="1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2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200" spc="16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nt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gu</a:t>
            </a:r>
            <a:r>
              <a:rPr sz="22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2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 </a:t>
            </a:r>
            <a:r>
              <a:rPr sz="2200" spc="-4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2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200" spc="7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2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k</a:t>
            </a:r>
            <a:r>
              <a:rPr sz="22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200" spc="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2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200" spc="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2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2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200" spc="1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or</a:t>
            </a:r>
            <a:r>
              <a:rPr sz="2200" spc="-16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2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r>
              <a:rPr sz="2200" spc="3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endParaRPr lang="en-US" sz="2200" spc="35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12700" marR="508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w Cen MT" panose="020B0602020104020603"/>
                <a:cs typeface="Tw Cen MT" panose="020B0602020104020603"/>
              </a:rPr>
              <a:t>For instance</a:t>
            </a:r>
            <a:r>
              <a:rPr sz="2200">
                <a:latin typeface="Tw Cen MT" panose="020B0602020104020603"/>
                <a:cs typeface="Tw Cen MT" panose="020B0602020104020603"/>
              </a:rPr>
              <a:t>,</a:t>
            </a:r>
            <a:r>
              <a:rPr sz="2200" spc="235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14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14" dirty="0">
                <a:latin typeface="Tw Cen MT" panose="020B0602020104020603"/>
                <a:cs typeface="Tw Cen MT" panose="020B0602020104020603"/>
              </a:rPr>
              <a:t>so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200" spc="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14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14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200" spc="22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200" spc="25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24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Mi</a:t>
            </a:r>
            <a:r>
              <a:rPr sz="2200" spc="1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200" spc="6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osof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200" spc="25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Win</a:t>
            </a:r>
            <a:r>
              <a:rPr sz="2200" spc="1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200" spc="3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spc="12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24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12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2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ll</a:t>
            </a:r>
            <a:r>
              <a:rPr sz="2200" spc="-9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ws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po</a:t>
            </a:r>
            <a:r>
              <a:rPr sz="22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2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-9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ou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sto</a:t>
            </a:r>
            <a:r>
              <a:rPr sz="2200" spc="-3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2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200" spc="-7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disk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se</a:t>
            </a:r>
            <a:r>
              <a:rPr sz="22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2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2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200" spc="-5" dirty="0">
                <a:latin typeface="Tw Cen MT" panose="020B0602020104020603"/>
                <a:cs typeface="Tw Cen MT" panose="020B0602020104020603"/>
              </a:rPr>
              <a:t> an </a:t>
            </a:r>
            <a:r>
              <a:rPr sz="2200" spc="-9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xtension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2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200" spc="-9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ou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2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RAM</a:t>
            </a:r>
            <a:r>
              <a:rPr sz="2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sz="2200">
              <a:solidFill>
                <a:srgbClr val="FF0000"/>
              </a:solidFill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289" y="1289496"/>
            <a:ext cx="21145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7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9600" y="3632835"/>
            <a:ext cx="8028940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760">
              <a:lnSpc>
                <a:spcPct val="100000"/>
              </a:lnSpc>
            </a:pPr>
            <a:r>
              <a:rPr spc="-5" dirty="0"/>
              <a:t>M</a:t>
            </a:r>
            <a:r>
              <a:rPr dirty="0"/>
              <a:t>e</a:t>
            </a:r>
            <a:r>
              <a:rPr spc="-5" dirty="0"/>
              <a:t>mo</a:t>
            </a:r>
            <a:r>
              <a:rPr spc="75" dirty="0"/>
              <a:t>r</a:t>
            </a:r>
            <a:r>
              <a:rPr spc="-5" dirty="0"/>
              <a:t>y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tion: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Subtyp</a:t>
            </a:r>
            <a:r>
              <a:rPr dirty="0"/>
              <a:t>e</a:t>
            </a:r>
            <a:r>
              <a:rPr spc="-5" dirty="0"/>
              <a:t>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289496"/>
            <a:ext cx="8882380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8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33210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pp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li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tion-le</a:t>
            </a:r>
            <a:r>
              <a:rPr sz="2900" u="sng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ont</a:t>
            </a:r>
            <a:r>
              <a:rPr sz="2900" u="sng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–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dire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tl</a:t>
            </a:r>
            <a:r>
              <a:rPr sz="2900" spc="-18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245150"/>
            <a:ext cx="8319134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10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u="sng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ting syste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le</a:t>
            </a:r>
            <a:r>
              <a:rPr sz="2900" u="sng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ont</a:t>
            </a:r>
            <a:r>
              <a:rPr sz="2900" u="sng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–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p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ovi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ed th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an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ting syste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00527" y="2564892"/>
            <a:ext cx="3563112" cy="158343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84120" y="5157215"/>
            <a:ext cx="3561587" cy="1467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2905">
              <a:lnSpc>
                <a:spcPct val="100000"/>
              </a:lnSpc>
            </a:pPr>
            <a:r>
              <a:rPr spc="-5" dirty="0"/>
              <a:t>Sto</a:t>
            </a:r>
            <a:r>
              <a:rPr spc="30" dirty="0"/>
              <a:t>r</a:t>
            </a:r>
            <a:r>
              <a:rPr spc="75" dirty="0"/>
              <a:t>a</a:t>
            </a:r>
            <a:r>
              <a:rPr spc="-10" dirty="0"/>
              <a:t>g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0" y="1148745"/>
            <a:ext cx="8526780" cy="5709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9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900" spc="1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Mul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ti</a:t>
            </a:r>
            <a:r>
              <a:rPr sz="2900" spc="1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30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8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ysi</a:t>
            </a:r>
            <a:r>
              <a:rPr sz="2900" spc="1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spc="30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sto</a:t>
            </a:r>
            <a:r>
              <a:rPr sz="2900" spc="1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1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30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devi</a:t>
            </a:r>
            <a:r>
              <a:rPr sz="2900" spc="14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1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30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0" dirty="0">
                <a:latin typeface="Tw Cen MT" panose="020B0602020104020603"/>
                <a:cs typeface="Tw Cen MT" panose="020B0602020104020603"/>
              </a:rPr>
              <a:t>ar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30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9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150" dirty="0">
                <a:latin typeface="Tw Cen MT" panose="020B0602020104020603"/>
                <a:cs typeface="Tw Cen MT" panose="020B0602020104020603"/>
              </a:rPr>
              <a:t>ou</a:t>
            </a:r>
            <a:r>
              <a:rPr sz="2900" spc="14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15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3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1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21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1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2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22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22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appe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21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2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2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si</a:t>
            </a:r>
            <a:r>
              <a:rPr sz="2900" spc="10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1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spc="1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2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10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1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1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4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 </a:t>
            </a:r>
            <a:r>
              <a:rPr sz="29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5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r>
              <a:rPr sz="2900" spc="17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endParaRPr lang="en-US" sz="2900" spc="175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</a:pPr>
            <a:endParaRPr lang="en-US" sz="2900" spc="175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1318895" algn="l"/>
              </a:tabLst>
            </a:pPr>
            <a:r>
              <a:rPr sz="2900" spc="8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85">
                <a:latin typeface="Tw Cen MT" panose="020B0602020104020603"/>
                <a:cs typeface="Tw Cen MT" panose="020B0602020104020603"/>
              </a:rPr>
              <a:t>i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7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rio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ad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9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8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9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spc="20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19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9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ho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zat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io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1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spc="2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2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11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1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1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de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capac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it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and s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ee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6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ed</a:t>
            </a:r>
            <a:r>
              <a:rPr sz="2900" spc="-1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d</a:t>
            </a:r>
            <a:r>
              <a:rPr sz="2900" spc="-9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nti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 </a:t>
            </a:r>
            <a:r>
              <a:rPr sz="29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lo</a:t>
            </a:r>
            <a:r>
              <a:rPr sz="29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 </a:t>
            </a:r>
            <a:r>
              <a:rPr sz="2900" spc="-229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ba</a:t>
            </a:r>
            <a:r>
              <a:rPr sz="2900" spc="2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2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 </a:t>
            </a:r>
            <a:r>
              <a:rPr sz="2900" spc="-22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27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28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d </a:t>
            </a:r>
            <a:r>
              <a:rPr sz="2900" spc="-2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7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b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2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tt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 </a:t>
            </a:r>
            <a:r>
              <a:rPr sz="2900" spc="-2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27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2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29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2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z</a:t>
            </a:r>
            <a:r>
              <a:rPr sz="2900" spc="27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2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io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2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28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f </a:t>
            </a:r>
            <a:r>
              <a:rPr sz="2900" spc="1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er</a:t>
            </a:r>
            <a:r>
              <a:rPr sz="2900" spc="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18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13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1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12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254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an</a:t>
            </a:r>
            <a:r>
              <a:rPr sz="2900" spc="-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26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3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130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ee</a:t>
            </a:r>
            <a:r>
              <a:rPr sz="2900" spc="125" dirty="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.</a:t>
            </a:r>
            <a:r>
              <a:rPr sz="2900" spc="265">
                <a:solidFill>
                  <a:srgbClr val="0070C0"/>
                </a:solidFill>
                <a:latin typeface="Tw Cen MT" panose="020B0602020104020603"/>
                <a:cs typeface="Tw Cen MT" panose="020B0602020104020603"/>
              </a:rPr>
              <a:t> </a:t>
            </a:r>
            <a:endParaRPr lang="en-US" sz="2900" spc="265" dirty="0">
              <a:solidFill>
                <a:srgbClr val="0070C0"/>
              </a:solidFill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tabLst>
                <a:tab pos="1318895" algn="l"/>
              </a:tabLst>
            </a:pPr>
            <a:endParaRPr lang="en-US" sz="2900" spc="265" dirty="0">
              <a:solidFill>
                <a:srgbClr val="0070C0"/>
              </a:solidFill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900" spc="-4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12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18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12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13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12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13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io</a:t>
            </a:r>
            <a:r>
              <a:rPr sz="2900" spc="12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13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spc="12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-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 spc="265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4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900" spc="13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12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90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26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2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ha</a:t>
            </a:r>
            <a:r>
              <a:rPr sz="2900" spc="13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5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6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ri</a:t>
            </a:r>
            <a:r>
              <a:rPr sz="2900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ve</a:t>
            </a:r>
            <a:r>
              <a:rPr sz="2900" spc="125" dirty="0">
                <a:solidFill>
                  <a:srgbClr val="FFC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nt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1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2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pa</a:t>
            </a:r>
            <a:r>
              <a:rPr sz="2900" spc="114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it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io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x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7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22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6415">
              <a:lnSpc>
                <a:spcPct val="100000"/>
              </a:lnSpc>
            </a:pPr>
            <a:r>
              <a:rPr spc="-5" dirty="0"/>
              <a:t>Sto</a:t>
            </a:r>
            <a:r>
              <a:rPr spc="30" dirty="0"/>
              <a:t>r</a:t>
            </a:r>
            <a:r>
              <a:rPr spc="75" dirty="0"/>
              <a:t>a</a:t>
            </a:r>
            <a:r>
              <a:rPr spc="-10" dirty="0"/>
              <a:t>g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tion: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Subtyp</a:t>
            </a:r>
            <a:r>
              <a:rPr dirty="0"/>
              <a:t>e</a:t>
            </a:r>
            <a:r>
              <a:rPr spc="-5" dirty="0"/>
              <a:t>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462145" y="1289685"/>
            <a:ext cx="4161790" cy="392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0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542290" marR="222250" indent="0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None/>
              <a:tabLst>
                <a:tab pos="862330" algn="l"/>
              </a:tabLst>
            </a:pPr>
            <a:r>
              <a:rPr lang="en-US" sz="2900" b="1" u="sng" spc="-5" dirty="0">
                <a:latin typeface="Tw Cen MT" panose="020B0602020104020603"/>
                <a:cs typeface="Tw Cen MT" panose="020B0602020104020603"/>
              </a:rPr>
              <a:t>1. 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Blo</a:t>
            </a:r>
            <a:r>
              <a:rPr sz="2900" b="1" u="sng" spc="4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b="1" u="sng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900" b="1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b="1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b="1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b="1" u="sng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b="1" u="sng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–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Virtualisation on block level means that storage capacity is made available to the operating system or the applications in the form of virtual disks</a:t>
            </a:r>
            <a:r>
              <a:rPr lang="en-US" sz="2900" dirty="0">
                <a:latin typeface="Tw Cen MT" panose="020B0602020104020603"/>
                <a:cs typeface="Tw Cen MT" panose="020B0602020104020603"/>
              </a:rPr>
              <a:t>.</a:t>
            </a:r>
            <a:endParaRPr lang="en-US" sz="2900" dirty="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24155" y="1979295"/>
            <a:ext cx="4598670" cy="46189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016375"/>
          </a:xfrm>
        </p:spPr>
        <p:txBody>
          <a:bodyPr/>
          <a:lstStyle/>
          <a:p>
            <a:r>
              <a:rPr lang="en-US" b="1" u="sng"/>
              <a:t>2. File Virtualization</a:t>
            </a:r>
            <a:endParaRPr lang="en-US" b="1" u="sng"/>
          </a:p>
          <a:p>
            <a:endParaRPr lang="en-US"/>
          </a:p>
          <a:p>
            <a:r>
              <a:rPr lang="en-US"/>
              <a:t>Virtualisation on file level means that the virtualisation entity provides virtual storage to the operating systems or applications in the form of files and directories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47955" y="1905000"/>
            <a:ext cx="4464050" cy="4761865"/>
          </a:xfrm>
          <a:prstGeom prst="rect">
            <a:avLst/>
          </a:prstGeom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6415">
              <a:lnSpc>
                <a:spcPct val="100000"/>
              </a:lnSpc>
            </a:pPr>
            <a:r>
              <a:rPr spc="-5" dirty="0"/>
              <a:t>Sto</a:t>
            </a:r>
            <a:r>
              <a:rPr spc="30" dirty="0"/>
              <a:t>r</a:t>
            </a:r>
            <a:r>
              <a:rPr spc="75" dirty="0"/>
              <a:t>a</a:t>
            </a:r>
            <a:r>
              <a:rPr spc="-10" dirty="0"/>
              <a:t>g</a:t>
            </a:r>
            <a:r>
              <a:rPr dirty="0"/>
              <a:t>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tion: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Subtyp</a:t>
            </a:r>
            <a:r>
              <a:rPr dirty="0"/>
              <a:t>e</a:t>
            </a:r>
            <a:r>
              <a:rPr spc="-5" dirty="0"/>
              <a:t>s</a:t>
            </a:r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5">
              <a:lnSpc>
                <a:spcPct val="100000"/>
              </a:lnSpc>
            </a:pPr>
            <a:r>
              <a:rPr spc="-5" dirty="0"/>
              <a:t>D</a:t>
            </a:r>
            <a:r>
              <a:rPr spc="75" dirty="0"/>
              <a:t>a</a:t>
            </a:r>
            <a:r>
              <a:rPr spc="-5" dirty="0"/>
              <a:t>ta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-152400" y="1295400"/>
            <a:ext cx="4594860" cy="466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800" spc="9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8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800" spc="19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0">
                <a:latin typeface="Tw Cen MT" panose="020B0602020104020603"/>
                <a:cs typeface="Tw Cen MT" panose="020B0602020104020603"/>
              </a:rPr>
              <a:t>le</a:t>
            </a:r>
            <a:r>
              <a:rPr sz="2800" spc="85">
                <a:latin typeface="Tw Cen MT" panose="020B0602020104020603"/>
                <a:cs typeface="Tw Cen MT" panose="020B0602020104020603"/>
              </a:rPr>
              <a:t>t</a:t>
            </a:r>
            <a:r>
              <a:rPr sz="2800">
                <a:latin typeface="Tw Cen MT" panose="020B0602020104020603"/>
                <a:cs typeface="Tw Cen MT" panose="020B0602020104020603"/>
              </a:rPr>
              <a:t>s</a:t>
            </a:r>
            <a:r>
              <a:rPr sz="2800" spc="185">
                <a:latin typeface="Tw Cen MT" panose="020B0602020104020603"/>
                <a:cs typeface="Tw Cen MT" panose="020B0602020104020603"/>
              </a:rPr>
              <a:t> </a:t>
            </a:r>
            <a:r>
              <a:rPr lang="en-US" sz="2800" spc="185" dirty="0">
                <a:latin typeface="Tw Cen MT" panose="020B0602020104020603"/>
                <a:cs typeface="Tw Cen MT" panose="020B0602020104020603"/>
              </a:rPr>
              <a:t>us to</a:t>
            </a:r>
            <a:r>
              <a:rPr sz="2800" spc="19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800" spc="8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sil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800" spc="1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1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800" spc="8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ni</a:t>
            </a:r>
            <a:r>
              <a:rPr sz="2800" spc="8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ul</a:t>
            </a:r>
            <a:r>
              <a:rPr sz="2800" spc="8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800" spc="1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dat</a:t>
            </a:r>
            <a:r>
              <a:rPr sz="2800" spc="8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800" spc="1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800" spc="1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800" spc="19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9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dat</a:t>
            </a:r>
            <a:r>
              <a:rPr sz="28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800" spc="19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9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800" spc="27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800" spc="280" dirty="0">
                <a:latin typeface="Tw Cen MT" panose="020B0602020104020603"/>
                <a:cs typeface="Tw Cen MT" panose="020B0602020104020603"/>
              </a:rPr>
              <a:t>rese</a:t>
            </a:r>
            <a:r>
              <a:rPr sz="2800" spc="275" dirty="0">
                <a:latin typeface="Tw Cen MT" panose="020B0602020104020603"/>
                <a:cs typeface="Tw Cen MT" panose="020B0602020104020603"/>
              </a:rPr>
              <a:t>nt</a:t>
            </a:r>
            <a:r>
              <a:rPr sz="2800" spc="28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800" spc="-5" dirty="0">
                <a:latin typeface="Tw Cen MT" panose="020B0602020104020603"/>
                <a:cs typeface="Tw Cen MT" panose="020B0602020104020603"/>
              </a:rPr>
              <a:t>d </a:t>
            </a:r>
            <a:r>
              <a:rPr sz="2800" spc="-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27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800" spc="-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28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8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-2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800" spc="2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abs</a:t>
            </a:r>
            <a:r>
              <a:rPr sz="2800" spc="2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800" spc="2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800" spc="2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ac</a:t>
            </a:r>
            <a:r>
              <a:rPr sz="28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8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-23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800" spc="2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800" spc="22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800" spc="2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8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 </a:t>
            </a:r>
            <a:r>
              <a:rPr sz="2800" spc="-23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8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800" spc="2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8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8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le</a:t>
            </a:r>
            <a:r>
              <a:rPr sz="2800" spc="27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800" spc="2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800" spc="2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y 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in</a:t>
            </a:r>
            <a:r>
              <a:rPr sz="2800" spc="1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800" spc="1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</a:t>
            </a:r>
            <a:r>
              <a:rPr sz="2800" spc="1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</a:t>
            </a:r>
            <a:r>
              <a:rPr sz="28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-3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f </a:t>
            </a:r>
            <a:r>
              <a:rPr sz="2800" spc="-3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dat</a:t>
            </a:r>
            <a:r>
              <a:rPr sz="28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 </a:t>
            </a:r>
            <a:r>
              <a:rPr sz="2800" spc="-3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st</a:t>
            </a:r>
            <a:r>
              <a:rPr sz="2800" spc="254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u</a:t>
            </a:r>
            <a:r>
              <a:rPr sz="2800" spc="19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tu</a:t>
            </a:r>
            <a:r>
              <a:rPr sz="2800" spc="204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 </a:t>
            </a:r>
            <a:r>
              <a:rPr sz="2800" spc="-3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04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8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 </a:t>
            </a:r>
            <a:r>
              <a:rPr sz="2800" spc="-38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2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databa</a:t>
            </a:r>
            <a:r>
              <a:rPr sz="2800" spc="204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 </a:t>
            </a:r>
            <a:r>
              <a:rPr sz="28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syste</a:t>
            </a:r>
            <a:r>
              <a:rPr sz="28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800" spc="-3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8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.</a:t>
            </a:r>
            <a:r>
              <a:rPr sz="28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endParaRPr lang="en-US" sz="2800" spc="-5" dirty="0">
              <a:solidFill>
                <a:srgbClr val="00B050"/>
              </a:solidFill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8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De</a:t>
            </a:r>
            <a:r>
              <a:rPr sz="2800" spc="-1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8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800" spc="-1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8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80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800" spc="-5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data in</a:t>
            </a:r>
            <a:r>
              <a:rPr sz="28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ut</a:t>
            </a:r>
            <a:r>
              <a:rPr sz="28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and </a:t>
            </a:r>
            <a:r>
              <a:rPr sz="2800" spc="-6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800" spc="5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8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8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tting er</a:t>
            </a:r>
            <a:r>
              <a:rPr sz="2800" spc="-6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8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or</a:t>
            </a:r>
            <a:r>
              <a:rPr sz="2800" spc="-3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800" dirty="0">
                <a:latin typeface="Tw Cen MT" panose="020B0602020104020603"/>
                <a:cs typeface="Tw Cen MT" panose="020B0602020104020603"/>
              </a:rPr>
              <a:t>.</a:t>
            </a:r>
            <a:endParaRPr sz="28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953000" y="1905000"/>
            <a:ext cx="3977640" cy="31794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1780">
              <a:lnSpc>
                <a:spcPct val="100000"/>
              </a:lnSpc>
            </a:pPr>
            <a:r>
              <a:rPr spc="-10" dirty="0"/>
              <a:t>N</a:t>
            </a:r>
            <a:r>
              <a:rPr dirty="0"/>
              <a:t>e</a:t>
            </a:r>
            <a:r>
              <a:rPr spc="-5" dirty="0"/>
              <a:t>t</a:t>
            </a:r>
            <a:r>
              <a:rPr spc="-50" dirty="0"/>
              <a:t>w</a:t>
            </a:r>
            <a:r>
              <a:rPr spc="-5" dirty="0"/>
              <a:t>o</a:t>
            </a:r>
            <a:r>
              <a:rPr spc="30" dirty="0"/>
              <a:t>r</a:t>
            </a:r>
            <a:r>
              <a:rPr dirty="0"/>
              <a:t>k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148745"/>
            <a:ext cx="8406130" cy="5262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spc="-5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liz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su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b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-net</a:t>
            </a:r>
            <a:r>
              <a:rPr sz="2900" spc="-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 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b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ted on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p</a:t>
            </a:r>
            <a:r>
              <a:rPr sz="29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ysi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net</a:t>
            </a:r>
            <a:r>
              <a:rPr sz="2900" spc="-6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hi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not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authorized 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uni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ith 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10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othe</a:t>
            </a:r>
            <a:r>
              <a:rPr sz="2900" spc="-2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>
                <a:latin typeface="Tw Cen MT" panose="020B0602020104020603"/>
                <a:cs typeface="Tw Cen MT" panose="020B0602020104020603"/>
              </a:rPr>
              <a:t>.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endParaRPr lang="en-US" sz="2900" spc="-5" dirty="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spc="-5">
                <a:latin typeface="Tw Cen MT" panose="020B0602020104020603"/>
                <a:cs typeface="Tw Cen MT" panose="020B0602020104020603"/>
              </a:rPr>
              <a:t>Thi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ab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restri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fil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ent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ac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and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enh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-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urit</a:t>
            </a:r>
            <a:r>
              <a:rPr sz="2900" spc="-21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y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and </a:t>
            </a:r>
            <a:endParaRPr lang="en-US" sz="2900" spc="-5" dirty="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   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ll</a:t>
            </a:r>
            <a:r>
              <a:rPr sz="2900" spc="-95">
                <a:latin typeface="Tw Cen MT" panose="020B0602020104020603"/>
                <a:cs typeface="Tw Cen MT" panose="020B0602020104020603"/>
              </a:rPr>
              <a:t>o</a:t>
            </a:r>
            <a:r>
              <a:rPr sz="2900">
                <a:latin typeface="Tw Cen MT" panose="020B0602020104020603"/>
                <a:cs typeface="Tw Cen MT" panose="020B0602020104020603"/>
              </a:rPr>
              <a:t>ws 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b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ette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onitoring 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nd i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entifi</a:t>
            </a:r>
            <a:r>
              <a:rPr sz="2900" spc="-1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data us</a:t>
            </a:r>
            <a:r>
              <a:rPr sz="2900" spc="-1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7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2900">
                <a:solidFill>
                  <a:srgbClr val="00B05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900" dirty="0">
                <a:latin typeface="Tw Cen MT" panose="020B0602020104020603"/>
                <a:cs typeface="Tw Cen MT" panose="020B0602020104020603"/>
              </a:rPr>
              <a:t>.</a:t>
            </a:r>
            <a:endParaRPr lang="en-US" sz="2900" dirty="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als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in</a:t>
            </a:r>
            <a:r>
              <a:rPr sz="29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re</a:t>
            </a:r>
            <a:r>
              <a:rPr sz="29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se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reli</a:t>
            </a:r>
            <a:r>
              <a:rPr sz="29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ab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ilit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y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dis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does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’t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affe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othe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and 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di</a:t>
            </a:r>
            <a:r>
              <a:rPr sz="29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ag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nosi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i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e</a:t>
            </a:r>
            <a:r>
              <a:rPr sz="2900" spc="-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sie</a:t>
            </a:r>
            <a:r>
              <a:rPr sz="2900" spc="-2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.</a:t>
            </a:r>
            <a:endParaRPr sz="2900">
              <a:solidFill>
                <a:srgbClr val="00B0F0"/>
              </a:solidFill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265">
              <a:lnSpc>
                <a:spcPct val="100000"/>
              </a:lnSpc>
            </a:pPr>
            <a:r>
              <a:rPr spc="-10" dirty="0"/>
              <a:t>N</a:t>
            </a:r>
            <a:r>
              <a:rPr dirty="0"/>
              <a:t>e</a:t>
            </a:r>
            <a:r>
              <a:rPr spc="-5" dirty="0"/>
              <a:t>t</a:t>
            </a:r>
            <a:r>
              <a:rPr spc="-50" dirty="0"/>
              <a:t>w</a:t>
            </a:r>
            <a:r>
              <a:rPr spc="-5" dirty="0"/>
              <a:t>o</a:t>
            </a:r>
            <a:r>
              <a:rPr spc="30" dirty="0"/>
              <a:t>r</a:t>
            </a:r>
            <a:r>
              <a:rPr dirty="0"/>
              <a:t>k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:Subtyp</a:t>
            </a:r>
            <a:r>
              <a:rPr dirty="0"/>
              <a:t>e</a:t>
            </a:r>
            <a:r>
              <a:rPr spc="-5" dirty="0"/>
              <a:t>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1290" y="1289685"/>
            <a:ext cx="4520565" cy="5469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Inte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u="sng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u="sng">
                <a:latin typeface="Tw Cen MT" panose="020B0602020104020603"/>
                <a:cs typeface="Tw Cen MT" panose="020B0602020104020603"/>
              </a:rPr>
              <a:t>: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 </a:t>
            </a:r>
            <a:endParaRPr lang="en-US" sz="2900" u="sng" spc="-5" dirty="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sz="2900" spc="-5">
                <a:latin typeface="Tw Cen MT" panose="020B0602020104020603"/>
                <a:cs typeface="Tw Cen MT" panose="020B0602020104020603"/>
              </a:rPr>
              <a:t>En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ab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le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sin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syste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fun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 li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endParaRPr sz="2900">
              <a:latin typeface="Tw Cen MT" panose="020B0602020104020603"/>
              <a:cs typeface="Tw Cen MT" panose="020B0602020104020603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Font typeface="Wingdings" panose="05000000000000000000"/>
              <a:buChar char=""/>
            </a:pP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861695" marR="743585" indent="-319405">
              <a:lnSpc>
                <a:spcPct val="100000"/>
              </a:lnSpc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900" u="sng" spc="-5" dirty="0">
                <a:latin typeface="Tw Cen MT" panose="020B0602020104020603"/>
                <a:cs typeface="Tw Cen MT" panose="020B0602020104020603"/>
              </a:rPr>
              <a:t>Exte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u="sng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u="sng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u="sng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u="sng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u="sng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u="sng">
                <a:latin typeface="Tw Cen MT" panose="020B0602020104020603"/>
                <a:cs typeface="Tw Cen MT" panose="020B0602020104020603"/>
              </a:rPr>
              <a:t>:</a:t>
            </a:r>
            <a:r>
              <a:rPr sz="2900" u="sng" spc="-5">
                <a:latin typeface="Tw Cen MT" panose="020B0602020104020603"/>
                <a:cs typeface="Tw Cen MT" panose="020B0602020104020603"/>
              </a:rPr>
              <a:t> </a:t>
            </a:r>
            <a:endParaRPr lang="en-US" sz="2900" u="sng" spc="-5" dirty="0">
              <a:latin typeface="Tw Cen MT" panose="020B0602020104020603"/>
              <a:cs typeface="Tw Cen MT" panose="020B0602020104020603"/>
            </a:endParaRPr>
          </a:p>
          <a:p>
            <a:pPr marL="861695" marR="743585" indent="-319405">
              <a:lnSpc>
                <a:spcPct val="100000"/>
              </a:lnSpc>
              <a:buClr>
                <a:srgbClr val="DD8046"/>
              </a:buClr>
              <a:buSzPct val="60000"/>
              <a:tabLst>
                <a:tab pos="862330" algn="l"/>
              </a:tabLst>
            </a:pPr>
            <a:r>
              <a:rPr sz="2900" spc="-5">
                <a:latin typeface="Tw Cen MT" panose="020B0602020104020603"/>
                <a:cs typeface="Tw Cen MT" panose="020B0602020104020603"/>
              </a:rPr>
              <a:t>Consoli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da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tion</a:t>
            </a:r>
            <a:r>
              <a:rPr sz="290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int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 sin</a:t>
            </a:r>
            <a:r>
              <a:rPr sz="2900" spc="-1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l</a:t>
            </a:r>
            <a:r>
              <a:rPr sz="2900">
                <a:latin typeface="Tw Cen MT" panose="020B0602020104020603"/>
                <a:cs typeface="Tw Cen MT" panose="020B0602020104020603"/>
              </a:rPr>
              <a:t>e</a:t>
            </a:r>
            <a:r>
              <a:rPr lang="en-US"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on</a:t>
            </a:r>
            <a:r>
              <a:rPr sz="2900" spc="-125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tion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sin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net</a:t>
            </a:r>
            <a:r>
              <a:rPr sz="2900" spc="-6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int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ulti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one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48200" y="2057400"/>
            <a:ext cx="4224020" cy="3822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7025">
              <a:lnSpc>
                <a:spcPct val="100000"/>
              </a:lnSpc>
            </a:pPr>
            <a:r>
              <a:rPr spc="-5" dirty="0"/>
              <a:t>D</a:t>
            </a:r>
            <a:r>
              <a:rPr dirty="0"/>
              <a:t>e</a:t>
            </a:r>
            <a:r>
              <a:rPr spc="-5" dirty="0"/>
              <a:t>s</a:t>
            </a:r>
            <a:r>
              <a:rPr dirty="0"/>
              <a:t>k</a:t>
            </a:r>
            <a:r>
              <a:rPr spc="-5" dirty="0"/>
              <a:t>top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0" y="1371600"/>
            <a:ext cx="8763000" cy="4370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900" spc="-5">
                <a:latin typeface="Tw Cen MT" panose="020B0602020104020603"/>
                <a:cs typeface="Tw Cen MT" panose="020B0602020104020603"/>
              </a:rPr>
              <a:t>Th</a:t>
            </a:r>
            <a:r>
              <a:rPr sz="2900">
                <a:latin typeface="Tw Cen MT" panose="020B0602020104020603"/>
                <a:cs typeface="Tw Cen MT" panose="020B0602020104020603"/>
              </a:rPr>
              <a:t>is </a:t>
            </a:r>
            <a:r>
              <a:rPr sz="2900" spc="-75">
                <a:latin typeface="Tw Cen MT" panose="020B0602020104020603"/>
                <a:cs typeface="Tw Cen MT" panose="020B0602020104020603"/>
              </a:rPr>
              <a:t> </a:t>
            </a:r>
            <a:r>
              <a:rPr sz="2900">
                <a:latin typeface="Tw Cen MT" panose="020B0602020104020603"/>
                <a:cs typeface="Tw Cen MT" panose="020B0602020104020603"/>
              </a:rPr>
              <a:t>is </a:t>
            </a:r>
            <a:r>
              <a:rPr sz="2900" spc="-75">
                <a:latin typeface="Tw Cen MT" panose="020B0602020104020603"/>
                <a:cs typeface="Tw Cen MT" panose="020B0602020104020603"/>
              </a:rPr>
              <a:t> </a:t>
            </a:r>
            <a:r>
              <a:rPr sz="2900">
                <a:latin typeface="Tw Cen MT" panose="020B0602020104020603"/>
                <a:cs typeface="Tw Cen MT" panose="020B0602020104020603"/>
              </a:rPr>
              <a:t>per</a:t>
            </a:r>
            <a:r>
              <a:rPr sz="2900" spc="-5">
                <a:latin typeface="Tw Cen MT" panose="020B0602020104020603"/>
                <a:cs typeface="Tw Cen MT" panose="020B0602020104020603"/>
              </a:rPr>
              <a:t>h</a:t>
            </a:r>
            <a:r>
              <a:rPr sz="2900" spc="-434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44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44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900" spc="-7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900" spc="-7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30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f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434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-3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m </a:t>
            </a:r>
            <a:r>
              <a:rPr sz="2900" spc="-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-434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 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19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tu</a:t>
            </a:r>
            <a:r>
              <a:rPr sz="2900" spc="13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li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z</a:t>
            </a:r>
            <a:r>
              <a:rPr sz="2900" spc="13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io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29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28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5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28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900" spc="130" dirty="0">
                <a:latin typeface="Tw Cen MT" panose="020B0602020104020603"/>
                <a:cs typeface="Tw Cen MT" panose="020B0602020104020603"/>
              </a:rPr>
              <a:t>g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900" spc="14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13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29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4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3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4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5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13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14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85" dirty="0">
                <a:latin typeface="Tw Cen MT" panose="020B0602020104020603"/>
                <a:cs typeface="Tw Cen MT" panose="020B0602020104020603"/>
              </a:rPr>
              <a:t>oy</a:t>
            </a:r>
            <a:r>
              <a:rPr sz="2900" spc="14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14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>
                <a:latin typeface="Tw Cen MT" panose="020B0602020104020603"/>
                <a:cs typeface="Tw Cen MT" panose="020B0602020104020603"/>
              </a:rPr>
              <a:t>.</a:t>
            </a:r>
            <a:r>
              <a:rPr sz="2900" spc="295">
                <a:latin typeface="Tw Cen MT" panose="020B0602020104020603"/>
                <a:cs typeface="Tw Cen MT" panose="020B0602020104020603"/>
              </a:rPr>
              <a:t> </a:t>
            </a:r>
            <a:endParaRPr lang="en-US" sz="2900" spc="295" dirty="0"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900" spc="145">
                <a:latin typeface="Tw Cen MT" panose="020B0602020104020603"/>
                <a:cs typeface="Tw Cen MT" panose="020B0602020104020603"/>
              </a:rPr>
              <a:t>Th</a:t>
            </a:r>
            <a:r>
              <a:rPr sz="2900">
                <a:latin typeface="Tw Cen MT" panose="020B0602020104020603"/>
                <a:cs typeface="Tw Cen MT" panose="020B0602020104020603"/>
              </a:rPr>
              <a:t>e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user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’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desktop 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stored on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re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1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21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all</a:t>
            </a:r>
            <a:r>
              <a:rPr sz="2900" spc="-9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ing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use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1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cc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es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1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i</a:t>
            </a:r>
            <a:r>
              <a:rPr sz="290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s</a:t>
            </a:r>
            <a:r>
              <a:rPr sz="2900" spc="1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des</a:t>
            </a:r>
            <a:r>
              <a:rPr sz="2900" spc="7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kt</a:t>
            </a:r>
            <a:r>
              <a:rPr sz="2900" spc="80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-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p</a:t>
            </a:r>
            <a:r>
              <a:rPr sz="2900" spc="165" dirty="0">
                <a:solidFill>
                  <a:srgbClr val="FF000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2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de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spc="7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1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 </a:t>
            </a:r>
            <a:r>
              <a:rPr sz="2900" spc="20" dirty="0">
                <a:latin typeface="Tw Cen MT" panose="020B0602020104020603"/>
                <a:cs typeface="Tw Cen MT" panose="020B0602020104020603"/>
              </a:rPr>
              <a:t>lo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20" dirty="0">
                <a:latin typeface="Tw Cen MT" panose="020B0602020104020603"/>
                <a:cs typeface="Tw Cen MT" panose="020B0602020104020603"/>
              </a:rPr>
              <a:t>tio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>
                <a:latin typeface="Tw Cen MT" panose="020B0602020104020603"/>
                <a:cs typeface="Tw Cen MT" panose="020B0602020104020603"/>
              </a:rPr>
              <a:t>.</a:t>
            </a:r>
            <a:r>
              <a:rPr sz="2900" spc="55">
                <a:latin typeface="Tw Cen MT" panose="020B0602020104020603"/>
                <a:cs typeface="Tw Cen MT" panose="020B0602020104020603"/>
              </a:rPr>
              <a:t> </a:t>
            </a:r>
            <a:endParaRPr lang="en-US" sz="2900" spc="55" dirty="0">
              <a:latin typeface="Tw Cen MT" panose="020B0602020104020603"/>
              <a:cs typeface="Tw Cen MT" panose="020B0602020104020603"/>
            </a:endParaRPr>
          </a:p>
          <a:p>
            <a:pPr marL="861695" marR="5080" indent="-14605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900" spc="25">
                <a:latin typeface="Tw Cen MT" panose="020B0602020104020603"/>
                <a:cs typeface="Tw Cen MT" panose="020B0602020104020603"/>
              </a:rPr>
              <a:t>E</a:t>
            </a:r>
            <a:r>
              <a:rPr sz="2900" spc="3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2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25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35">
                <a:latin typeface="Tw Cen MT" panose="020B0602020104020603"/>
                <a:cs typeface="Tw Cen MT" panose="020B0602020104020603"/>
              </a:rPr>
              <a:t>oy</a:t>
            </a:r>
            <a:r>
              <a:rPr sz="2900" spc="25">
                <a:latin typeface="Tw Cen MT" panose="020B0602020104020603"/>
                <a:cs typeface="Tw Cen MT" panose="020B0602020104020603"/>
              </a:rPr>
              <a:t>ee</a:t>
            </a:r>
            <a:r>
              <a:rPr sz="2900">
                <a:latin typeface="Tw Cen MT" panose="020B0602020104020603"/>
                <a:cs typeface="Tw Cen MT" panose="020B0602020104020603"/>
              </a:rPr>
              <a:t>s</a:t>
            </a:r>
            <a:r>
              <a:rPr sz="2900" spc="55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0" dirty="0">
                <a:latin typeface="Tw Cen MT" panose="020B0602020104020603"/>
                <a:cs typeface="Tw Cen MT" panose="020B0602020104020603"/>
              </a:rPr>
              <a:t>ca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3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spc="6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on</a:t>
            </a:r>
            <a:r>
              <a:rPr sz="2900" spc="-3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enientl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-3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5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 </a:t>
            </a:r>
            <a:r>
              <a:rPr sz="2900" spc="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1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spc="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3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11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ei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2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h</a:t>
            </a:r>
            <a:r>
              <a:rPr sz="2900" spc="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o</a:t>
            </a:r>
            <a:r>
              <a:rPr sz="2900" spc="1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m</a:t>
            </a:r>
            <a:r>
              <a:rPr sz="2900" spc="-2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.</a:t>
            </a:r>
            <a:r>
              <a:rPr sz="2900" spc="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" dirty="0">
                <a:latin typeface="Tw Cen MT" panose="020B0602020104020603"/>
                <a:cs typeface="Tw Cen MT" panose="020B0602020104020603"/>
              </a:rPr>
              <a:t>Si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spc="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3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1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da</a:t>
            </a:r>
            <a:r>
              <a:rPr sz="2900" spc="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-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3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t</a:t>
            </a:r>
            <a:r>
              <a:rPr sz="2900" spc="-1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2900" spc="1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2900" spc="1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sfe</a:t>
            </a:r>
            <a:r>
              <a:rPr sz="2900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r</a:t>
            </a:r>
            <a:r>
              <a:rPr sz="2900" spc="35" dirty="0">
                <a:solidFill>
                  <a:srgbClr val="00B0F0"/>
                </a:solidFill>
                <a:latin typeface="Tw Cen MT" panose="020B0602020104020603"/>
                <a:cs typeface="Tw Cen MT" panose="020B0602020104020603"/>
              </a:rPr>
              <a:t> </a:t>
            </a:r>
            <a:r>
              <a:rPr sz="2900" spc="10" dirty="0">
                <a:latin typeface="Tw Cen MT" panose="020B0602020104020603"/>
                <a:cs typeface="Tw Cen MT" panose="020B0602020104020603"/>
              </a:rPr>
              <a:t>t</a:t>
            </a:r>
            <a:r>
              <a:rPr sz="2900" spc="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900" spc="-45" dirty="0">
                <a:latin typeface="Tw Cen MT" panose="020B0602020104020603"/>
                <a:cs typeface="Tw Cen MT" panose="020B0602020104020603"/>
              </a:rPr>
              <a:t>k</a:t>
            </a:r>
            <a:r>
              <a:rPr sz="2900" spc="1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l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ac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o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se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ur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p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oto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ol</a:t>
            </a:r>
            <a:r>
              <a:rPr sz="2900" spc="-65" dirty="0">
                <a:latin typeface="Tw Cen MT" panose="020B0602020104020603"/>
                <a:cs typeface="Tw Cen MT" panose="020B0602020104020603"/>
              </a:rPr>
              <a:t>s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900" spc="-9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 risk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f</a:t>
            </a:r>
            <a:r>
              <a:rPr sz="2900" spc="8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data theft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s 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ini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900" spc="-5" dirty="0">
                <a:latin typeface="Tw Cen MT" panose="020B0602020104020603"/>
                <a:cs typeface="Tw Cen MT" panose="020B0602020104020603"/>
              </a:rPr>
              <a:t>ize</a:t>
            </a:r>
            <a:r>
              <a:rPr sz="2900" spc="-1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900" dirty="0">
                <a:latin typeface="Tw Cen MT" panose="020B0602020104020603"/>
                <a:cs typeface="Tw Cen MT" panose="020B0602020104020603"/>
              </a:rPr>
              <a:t>.</a:t>
            </a:r>
            <a:endParaRPr sz="29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59" y="1484375"/>
            <a:ext cx="8712708" cy="475183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289" y="1289496"/>
            <a:ext cx="21145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endParaRPr sz="12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2427" y="101017"/>
            <a:ext cx="6593840" cy="59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u="heavy" spc="-220" dirty="0"/>
              <a:t>T</a:t>
            </a:r>
            <a:r>
              <a:rPr u="heavy" spc="-5" dirty="0"/>
              <a:t>yp</a:t>
            </a:r>
            <a:r>
              <a:rPr u="heavy" dirty="0"/>
              <a:t>e</a:t>
            </a:r>
            <a:r>
              <a:rPr u="heavy" spc="-5" dirty="0"/>
              <a:t>s</a:t>
            </a:r>
            <a:r>
              <a:rPr b="0" u="heavy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5" dirty="0"/>
              <a:t>of</a:t>
            </a:r>
            <a:r>
              <a:rPr b="0" u="heavy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50" dirty="0"/>
              <a:t>V</a:t>
            </a:r>
            <a:r>
              <a:rPr u="heavy" spc="-5" dirty="0"/>
              <a:t>i</a:t>
            </a:r>
            <a:r>
              <a:rPr u="heavy" spc="204" dirty="0"/>
              <a:t>r</a:t>
            </a:r>
            <a:r>
              <a:rPr u="heavy" spc="-5" dirty="0"/>
              <a:t>tu</a:t>
            </a:r>
            <a:r>
              <a:rPr u="heavy" spc="-10" dirty="0"/>
              <a:t>a</a:t>
            </a:r>
            <a:r>
              <a:rPr u="heavy" spc="-5" dirty="0"/>
              <a:t>li</a:t>
            </a:r>
            <a:r>
              <a:rPr u="heavy" dirty="0"/>
              <a:t>z</a:t>
            </a:r>
            <a:r>
              <a:rPr u="heavy" spc="75" dirty="0"/>
              <a:t>a</a:t>
            </a:r>
            <a:r>
              <a:rPr u="heavy" spc="-5" dirty="0"/>
              <a:t>tion:</a:t>
            </a:r>
            <a:r>
              <a:rPr b="0" u="heavy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10" dirty="0"/>
              <a:t>A</a:t>
            </a:r>
            <a:r>
              <a:rPr u="heavy" spc="-5" dirty="0"/>
              <a:t>t</a:t>
            </a:r>
            <a:r>
              <a:rPr b="0" u="heavy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u="heavy" spc="-5" dirty="0"/>
              <a:t>a</a:t>
            </a:r>
            <a:endParaRPr u="heavy"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869563" y="781968"/>
            <a:ext cx="163957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u="heavy" spc="-10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G</a:t>
            </a:r>
            <a:r>
              <a:rPr sz="4400" b="1" u="heavy" spc="-5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l</a:t>
            </a:r>
            <a:r>
              <a:rPr sz="4400" b="1" u="heavy" spc="-10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a</a:t>
            </a:r>
            <a:r>
              <a:rPr sz="4400" b="1" u="heavy" spc="-5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n</a:t>
            </a:r>
            <a:r>
              <a:rPr sz="4400" b="1" u="heavy" spc="-10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c</a:t>
            </a:r>
            <a:r>
              <a:rPr sz="4400" b="1" u="heavy" dirty="0">
                <a:solidFill>
                  <a:srgbClr val="006FC0"/>
                </a:solidFill>
                <a:latin typeface="Tw Cen MT" panose="020B0602020104020603"/>
                <a:cs typeface="Tw Cen MT" panose="020B0602020104020603"/>
              </a:rPr>
              <a:t>e</a:t>
            </a:r>
            <a:endParaRPr sz="44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pc="-10" dirty="0"/>
              <a:t>B</a:t>
            </a:r>
            <a:r>
              <a:rPr dirty="0"/>
              <a:t>e</a:t>
            </a:r>
            <a:r>
              <a:rPr spc="-5" dirty="0"/>
              <a:t>n</a:t>
            </a:r>
            <a:r>
              <a:rPr dirty="0"/>
              <a:t>e</a:t>
            </a:r>
            <a:r>
              <a:rPr spc="-5" dirty="0"/>
              <a:t>fits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" dirty="0"/>
              <a:t>of</a:t>
            </a:r>
            <a:r>
              <a:rPr b="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50" dirty="0"/>
              <a:t>V</a:t>
            </a:r>
            <a:r>
              <a:rPr spc="-5" dirty="0"/>
              <a:t>i</a:t>
            </a:r>
            <a:r>
              <a:rPr spc="204" dirty="0"/>
              <a:t>r</a:t>
            </a:r>
            <a:r>
              <a:rPr spc="-5" dirty="0"/>
              <a:t>tu</a:t>
            </a:r>
            <a:r>
              <a:rPr spc="-10" dirty="0"/>
              <a:t>a</a:t>
            </a:r>
            <a:r>
              <a:rPr spc="-5" dirty="0"/>
              <a:t>li</a:t>
            </a:r>
            <a:r>
              <a:rPr dirty="0"/>
              <a:t>z</a:t>
            </a:r>
            <a:r>
              <a:rPr spc="75" dirty="0"/>
              <a:t>a</a:t>
            </a:r>
            <a:r>
              <a:rPr spc="-5" dirty="0"/>
              <a:t>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1289" y="1289496"/>
            <a:ext cx="8526145" cy="4993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dirty="0">
                <a:solidFill>
                  <a:srgbClr val="FFFFFF"/>
                </a:solidFill>
                <a:latin typeface="Comic Sans MS" panose="030F0702030302020204"/>
                <a:cs typeface="Comic Sans MS" panose="030F0702030302020204"/>
              </a:rPr>
              <a:t>6</a:t>
            </a:r>
            <a:endParaRPr sz="1200">
              <a:latin typeface="Comic Sans MS" panose="030F0702030302020204"/>
              <a:cs typeface="Comic Sans MS" panose="030F070203030202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861695" marR="45720" indent="-319405">
              <a:lnSpc>
                <a:spcPct val="100000"/>
              </a:lnSpc>
              <a:buClr>
                <a:srgbClr val="DD8046"/>
              </a:buClr>
              <a:buSzPct val="58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Easil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75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ha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-10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and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liminat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400" spc="-80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c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sso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ciat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with it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ati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the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eff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ici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spc="10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17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cu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and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 ad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anta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marR="508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  <a:tab pos="1453515" algn="l"/>
                <a:tab pos="2950210" algn="l"/>
                <a:tab pos="4106545" algn="l"/>
                <a:tab pos="5067300" algn="l"/>
                <a:tab pos="5608320" algn="l"/>
                <a:tab pos="6860540" algn="l"/>
                <a:tab pos="8321675" algn="l"/>
              </a:tabLst>
            </a:pPr>
            <a:r>
              <a:rPr sz="2400" spc="17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u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	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150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atin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	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sys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	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wh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	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th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	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spc="120" dirty="0">
                <a:latin typeface="Tw Cen MT" panose="020B0602020104020603"/>
                <a:cs typeface="Tw Cen MT" panose="020B0602020104020603"/>
              </a:rPr>
              <a:t>h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ys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ica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l	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ha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120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spc="70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spc="17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	</a:t>
            </a:r>
            <a:r>
              <a:rPr sz="2400" spc="170" dirty="0">
                <a:latin typeface="Tw Cen MT" panose="020B0602020104020603"/>
                <a:cs typeface="Tw Cen MT" panose="020B0602020104020603"/>
              </a:rPr>
              <a:t>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una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ailabl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Easi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c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n</a:t>
            </a:r>
            <a:r>
              <a:rPr sz="2400" spc="-5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w ma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hin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ba</a:t>
            </a:r>
            <a:r>
              <a:rPr sz="2400" spc="3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kup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ma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hin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,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tc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marR="13970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dirty="0">
                <a:latin typeface="Tw Cen MT" panose="020B0602020104020603"/>
                <a:cs typeface="Tw Cen MT" panose="020B0602020104020603"/>
              </a:rPr>
              <a:t>Sof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-10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ting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ing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“cl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an”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tall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of</a:t>
            </a:r>
            <a:r>
              <a:rPr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p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ating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sys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and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sof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spc="-105" dirty="0">
                <a:latin typeface="Tw Cen MT" panose="020B0602020104020603"/>
                <a:cs typeface="Tw Cen MT" panose="020B0602020104020603"/>
              </a:rPr>
              <a:t>w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3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ulat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m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ma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hin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than 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p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icall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a</a:t>
            </a:r>
            <a:r>
              <a:rPr sz="2400" spc="-55" dirty="0">
                <a:latin typeface="Tw Cen MT" panose="020B0602020104020603"/>
                <a:cs typeface="Tw Cen MT" panose="020B0602020104020603"/>
              </a:rPr>
              <a:t>v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ailabl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Tim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re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lightl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y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l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sys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m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h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  <a:p>
            <a:pPr marL="86169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000"/>
              <a:buFont typeface="Wingdings" panose="05000000000000000000"/>
              <a:buChar char=""/>
              <a:tabLst>
                <a:tab pos="862330" algn="l"/>
              </a:tabLst>
            </a:pPr>
            <a:r>
              <a:rPr sz="2400" spc="-5" dirty="0">
                <a:latin typeface="Tw Cen MT" panose="020B0602020104020603"/>
                <a:cs typeface="Tw Cen MT" panose="020B0602020104020603"/>
              </a:rPr>
              <a:t>Easy mig</a:t>
            </a:r>
            <a:r>
              <a:rPr sz="2400" spc="-2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ati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n 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of</a:t>
            </a:r>
            <a:r>
              <a:rPr sz="2400" spc="65" dirty="0">
                <a:latin typeface="Tw Cen MT" panose="020B0602020104020603"/>
                <a:cs typeface="Tw Cen MT" panose="020B0602020104020603"/>
              </a:rPr>
              <a:t> 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vi</a:t>
            </a:r>
            <a:r>
              <a:rPr sz="2400" spc="45" dirty="0">
                <a:latin typeface="Tw Cen MT" panose="020B0602020104020603"/>
                <a:cs typeface="Tw Cen MT" panose="020B0602020104020603"/>
              </a:rPr>
              <a:t>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tua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l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ma</a:t>
            </a:r>
            <a:r>
              <a:rPr sz="2400" spc="85" dirty="0">
                <a:latin typeface="Tw Cen MT" panose="020B0602020104020603"/>
                <a:cs typeface="Tw Cen MT" panose="020B0602020104020603"/>
              </a:rPr>
              <a:t>c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hin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(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s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hutd</a:t>
            </a:r>
            <a:r>
              <a:rPr sz="2400" spc="-75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wn 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e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d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 or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 n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o</a:t>
            </a:r>
            <a:r>
              <a:rPr sz="2400" spc="-5" dirty="0">
                <a:latin typeface="Tw Cen MT" panose="020B0602020104020603"/>
                <a:cs typeface="Tw Cen MT" panose="020B0602020104020603"/>
              </a:rPr>
              <a:t>t)</a:t>
            </a:r>
            <a:r>
              <a:rPr sz="2400" dirty="0">
                <a:latin typeface="Tw Cen MT" panose="020B0602020104020603"/>
                <a:cs typeface="Tw Cen MT" panose="020B0602020104020603"/>
              </a:rPr>
              <a:t>.</a:t>
            </a:r>
            <a:endParaRPr sz="2400">
              <a:latin typeface="Tw Cen MT" panose="020B0602020104020603"/>
              <a:cs typeface="Tw Cen MT" panose="020B06020201040206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676910"/>
          </a:xfrm>
        </p:spPr>
        <p:txBody>
          <a:bodyPr/>
          <a:p>
            <a:r>
              <a:rPr lang="en-US"/>
              <a:t>Recap Video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8757</Words>
  <Application>WPS Presentation</Application>
  <PresentationFormat>On-screen Show (4:3)</PresentationFormat>
  <Paragraphs>260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SimSun</vt:lpstr>
      <vt:lpstr>Wingdings</vt:lpstr>
      <vt:lpstr>Tw Cen MT</vt:lpstr>
      <vt:lpstr>Cambria</vt:lpstr>
      <vt:lpstr>Comic Sans MS</vt:lpstr>
      <vt:lpstr>Times New Roman</vt:lpstr>
      <vt:lpstr>Wingdings</vt:lpstr>
      <vt:lpstr>Calibri</vt:lpstr>
      <vt:lpstr>Microsoft YaHei</vt:lpstr>
      <vt:lpstr>Arial Unicode MS</vt:lpstr>
      <vt:lpstr>Office Theme</vt:lpstr>
      <vt:lpstr>KALINGA INSTITUTE OF INDUSTRIAL TECHNOLOGY</vt:lpstr>
      <vt:lpstr>Unit-III</vt:lpstr>
      <vt:lpstr>Virtualisation: Concept</vt:lpstr>
      <vt:lpstr>Virtualization Architecture</vt:lpstr>
      <vt:lpstr>PowerPoint 演示文稿</vt:lpstr>
      <vt:lpstr>Hypervisor</vt:lpstr>
      <vt:lpstr>Types of Hypervisors</vt:lpstr>
      <vt:lpstr>Type-1 Hypervisor</vt:lpstr>
      <vt:lpstr>Hypervisors</vt:lpstr>
      <vt:lpstr>Type 1 and Type 2</vt:lpstr>
      <vt:lpstr>Features of Type-1 and 2 Hypervisor</vt:lpstr>
      <vt:lpstr>Virtualization</vt:lpstr>
      <vt:lpstr>Types of Virtualization</vt:lpstr>
      <vt:lpstr>Hardware Virtualization</vt:lpstr>
      <vt:lpstr>Hardware Virtualization:</vt:lpstr>
      <vt:lpstr>PowerPoint 演示文稿</vt:lpstr>
      <vt:lpstr>Full virtualization</vt:lpstr>
      <vt:lpstr>Fig.</vt:lpstr>
      <vt:lpstr>Para-virtualization</vt:lpstr>
      <vt:lpstr>Fig.</vt:lpstr>
      <vt:lpstr>Subtypes</vt:lpstr>
      <vt:lpstr>Software Virtualization</vt:lpstr>
      <vt:lpstr>Software Virtualization :Subtypes</vt:lpstr>
      <vt:lpstr>Memory Virtualization</vt:lpstr>
      <vt:lpstr>Memory Virtualization: Subtypes</vt:lpstr>
      <vt:lpstr>Storage Virtualization</vt:lpstr>
      <vt:lpstr>Storage Virtualization: Subtypes</vt:lpstr>
      <vt:lpstr>Storage Virtualization: Subtypes</vt:lpstr>
      <vt:lpstr>Data Virtualization</vt:lpstr>
      <vt:lpstr>Network Virtualization</vt:lpstr>
      <vt:lpstr>Network Virtualization :Subtypes</vt:lpstr>
      <vt:lpstr>Desktop Virtualization</vt:lpstr>
      <vt:lpstr>Types of Virtualization: At a</vt:lpstr>
      <vt:lpstr>Benefits of Virtualization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KALINGA INSTITUTE OF INDUSTRIAL TECHNOLOGY</dc:title>
  <dc:creator/>
  <cp:lastModifiedBy>KIIT01</cp:lastModifiedBy>
  <cp:revision>48</cp:revision>
  <dcterms:created xsi:type="dcterms:W3CDTF">2018-11-06T08:18:00Z</dcterms:created>
  <dcterms:modified xsi:type="dcterms:W3CDTF">2023-02-03T03:11:51Z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2018-09-11T22:00:00Z</vt:filetime>
  </property>
  <property fmtid="{D5CDD505-2E9C-101B-9397-08002B2CF9AE}" pid="3" name="LastSaved">
    <vt:filetime>2018-11-06T22:00:00Z</vt:filetime>
  </property>
  <property fmtid="{D5CDD505-2E9C-101B-9397-08002B2CF9AE}" pid="4" name="KSOProductBuildVer">
    <vt:lpwstr>1033-11.2.0.11440</vt:lpwstr>
  </property>
  <property fmtid="{D5CDD505-2E9C-101B-9397-08002B2CF9AE}" pid="5" name="ICV">
    <vt:lpwstr>9EB96D6A5EE04315A1EA0CAB20E9226F</vt:lpwstr>
  </property>
</Properties>
</file>