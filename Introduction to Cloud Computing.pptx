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4"/>
  </p:notesMasterIdLst>
  <p:sldIdLst>
    <p:sldId id="256" r:id="rId2"/>
    <p:sldId id="258" r:id="rId3"/>
    <p:sldId id="265" r:id="rId4"/>
    <p:sldId id="263" r:id="rId5"/>
    <p:sldId id="267" r:id="rId6"/>
    <p:sldId id="271" r:id="rId7"/>
    <p:sldId id="273" r:id="rId8"/>
    <p:sldId id="274" r:id="rId9"/>
    <p:sldId id="280" r:id="rId10"/>
    <p:sldId id="268" r:id="rId11"/>
    <p:sldId id="281" r:id="rId12"/>
    <p:sldId id="282" r:id="rId13"/>
    <p:sldId id="283" r:id="rId14"/>
    <p:sldId id="284" r:id="rId15"/>
    <p:sldId id="289" r:id="rId16"/>
    <p:sldId id="285" r:id="rId17"/>
    <p:sldId id="286" r:id="rId18"/>
    <p:sldId id="288" r:id="rId19"/>
    <p:sldId id="287" r:id="rId20"/>
    <p:sldId id="290" r:id="rId21"/>
    <p:sldId id="302" r:id="rId22"/>
    <p:sldId id="291" r:id="rId23"/>
    <p:sldId id="292" r:id="rId24"/>
    <p:sldId id="293" r:id="rId25"/>
    <p:sldId id="294" r:id="rId26"/>
    <p:sldId id="295" r:id="rId27"/>
    <p:sldId id="296" r:id="rId28"/>
    <p:sldId id="297" r:id="rId29"/>
    <p:sldId id="298" r:id="rId30"/>
    <p:sldId id="300" r:id="rId31"/>
    <p:sldId id="299" r:id="rId32"/>
    <p:sldId id="301"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132" autoAdjust="0"/>
    <p:restoredTop sz="94660"/>
  </p:normalViewPr>
  <p:slideViewPr>
    <p:cSldViewPr snapToGrid="0">
      <p:cViewPr varScale="1">
        <p:scale>
          <a:sx n="90" d="100"/>
          <a:sy n="90" d="100"/>
        </p:scale>
        <p:origin x="474" y="9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9686E6-E4E3-49A3-80C9-B2A9FA4362F5}" type="datetimeFigureOut">
              <a:rPr lang="en-US" smtClean="0"/>
              <a:pPr/>
              <a:t>10/8/2020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969D55-0860-4C5D-9C14-D194A02661BA}" type="slidenum">
              <a:rPr lang="en-US" smtClean="0"/>
              <a:pPr/>
              <a:t>‹#›</a:t>
            </a:fld>
            <a:endParaRPr lang="en-US"/>
          </a:p>
        </p:txBody>
      </p:sp>
    </p:spTree>
    <p:extLst>
      <p:ext uri="{BB962C8B-B14F-4D97-AF65-F5344CB8AC3E}">
        <p14:creationId xmlns:p14="http://schemas.microsoft.com/office/powerpoint/2010/main" val="17433428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A5AAB732-A2B1-4C04-B3F6-30CA4BE7A2D3}" type="slidenum">
              <a:rPr lang="en-US" altLang="en-US"/>
              <a:pPr/>
              <a:t>11</a:t>
            </a:fld>
            <a:endParaRPr lang="en-US" altLang="en-US"/>
          </a:p>
        </p:txBody>
      </p:sp>
      <p:sp>
        <p:nvSpPr>
          <p:cNvPr id="12291" name="Rectangle 2"/>
          <p:cNvSpPr>
            <a:spLocks noGrp="1" noRot="1" noChangeAspect="1" noChangeArrowheads="1" noTextEdit="1"/>
          </p:cNvSpPr>
          <p:nvPr>
            <p:ph type="sldImg"/>
          </p:nvPr>
        </p:nvSpPr>
        <p:spPr>
          <a:ln/>
        </p:spPr>
      </p:sp>
      <p:sp>
        <p:nvSpPr>
          <p:cNvPr id="12292" name="Rectangle 3"/>
          <p:cNvSpPr>
            <a:spLocks noGrp="1" noChangeArrowheads="1"/>
          </p:cNvSpPr>
          <p:nvPr>
            <p:ph type="body" idx="1"/>
          </p:nvPr>
        </p:nvSpPr>
        <p:spPr>
          <a:xfrm>
            <a:off x="914400" y="4343400"/>
            <a:ext cx="5029200" cy="4114800"/>
          </a:xfrm>
          <a:noFill/>
          <a:ln/>
        </p:spPr>
        <p:txBody>
          <a:bodyPr/>
          <a:lstStyle/>
          <a:p>
            <a:pPr eaLnBrk="1" hangingPunct="1"/>
            <a:endParaRPr lang="en-US" altLang="en-US">
              <a:latin typeface="Arial"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19AD06-451C-413E-AF31-86503C137FDF}" type="slidenum">
              <a:rPr lang="en-US" smtClean="0"/>
              <a:pPr/>
              <a:t>‹#›</a:t>
            </a:fld>
            <a:endParaRPr lang="en-US"/>
          </a:p>
        </p:txBody>
      </p:sp>
    </p:spTree>
    <p:extLst>
      <p:ext uri="{BB962C8B-B14F-4D97-AF65-F5344CB8AC3E}">
        <p14:creationId xmlns:p14="http://schemas.microsoft.com/office/powerpoint/2010/main" val="15709898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19AD06-451C-413E-AF31-86503C137FDF}" type="slidenum">
              <a:rPr lang="en-US" smtClean="0"/>
              <a:pPr/>
              <a:t>‹#›</a:t>
            </a:fld>
            <a:endParaRPr lang="en-US"/>
          </a:p>
        </p:txBody>
      </p:sp>
    </p:spTree>
    <p:extLst>
      <p:ext uri="{BB962C8B-B14F-4D97-AF65-F5344CB8AC3E}">
        <p14:creationId xmlns:p14="http://schemas.microsoft.com/office/powerpoint/2010/main" val="36060217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19AD06-451C-413E-AF31-86503C137FDF}" type="slidenum">
              <a:rPr lang="en-US" smtClean="0"/>
              <a:pPr/>
              <a:t>‹#›</a:t>
            </a:fld>
            <a:endParaRPr lang="en-US"/>
          </a:p>
        </p:txBody>
      </p:sp>
    </p:spTree>
    <p:extLst>
      <p:ext uri="{BB962C8B-B14F-4D97-AF65-F5344CB8AC3E}">
        <p14:creationId xmlns:p14="http://schemas.microsoft.com/office/powerpoint/2010/main" val="25625095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19AD06-451C-413E-AF31-86503C137FDF}" type="slidenum">
              <a:rPr lang="en-US" smtClean="0"/>
              <a:pPr/>
              <a:t>‹#›</a:t>
            </a:fld>
            <a:endParaRPr lang="en-US"/>
          </a:p>
        </p:txBody>
      </p:sp>
    </p:spTree>
    <p:extLst>
      <p:ext uri="{BB962C8B-B14F-4D97-AF65-F5344CB8AC3E}">
        <p14:creationId xmlns:p14="http://schemas.microsoft.com/office/powerpoint/2010/main" val="41069194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019AD06-451C-413E-AF31-86503C137FDF}" type="slidenum">
              <a:rPr lang="en-US" smtClean="0"/>
              <a:pPr/>
              <a:t>‹#›</a:t>
            </a:fld>
            <a:endParaRPr lang="en-US"/>
          </a:p>
        </p:txBody>
      </p:sp>
    </p:spTree>
    <p:extLst>
      <p:ext uri="{BB962C8B-B14F-4D97-AF65-F5344CB8AC3E}">
        <p14:creationId xmlns:p14="http://schemas.microsoft.com/office/powerpoint/2010/main" val="26939357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019AD06-451C-413E-AF31-86503C137FDF}" type="slidenum">
              <a:rPr lang="en-US" smtClean="0"/>
              <a:pPr/>
              <a:t>‹#›</a:t>
            </a:fld>
            <a:endParaRPr lang="en-US"/>
          </a:p>
        </p:txBody>
      </p:sp>
    </p:spTree>
    <p:extLst>
      <p:ext uri="{BB962C8B-B14F-4D97-AF65-F5344CB8AC3E}">
        <p14:creationId xmlns:p14="http://schemas.microsoft.com/office/powerpoint/2010/main" val="18332395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019AD06-451C-413E-AF31-86503C137FDF}" type="slidenum">
              <a:rPr lang="en-US" smtClean="0"/>
              <a:pPr/>
              <a:t>‹#›</a:t>
            </a:fld>
            <a:endParaRPr lang="en-US"/>
          </a:p>
        </p:txBody>
      </p:sp>
    </p:spTree>
    <p:extLst>
      <p:ext uri="{BB962C8B-B14F-4D97-AF65-F5344CB8AC3E}">
        <p14:creationId xmlns:p14="http://schemas.microsoft.com/office/powerpoint/2010/main" val="34915989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19AD06-451C-413E-AF31-86503C137FDF}" type="slidenum">
              <a:rPr lang="en-US" smtClean="0"/>
              <a:pPr/>
              <a:t>‹#›</a:t>
            </a:fld>
            <a:endParaRPr lang="en-US"/>
          </a:p>
        </p:txBody>
      </p:sp>
    </p:spTree>
    <p:extLst>
      <p:ext uri="{BB962C8B-B14F-4D97-AF65-F5344CB8AC3E}">
        <p14:creationId xmlns:p14="http://schemas.microsoft.com/office/powerpoint/2010/main" val="14792875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19AD06-451C-413E-AF31-86503C137FDF}" type="slidenum">
              <a:rPr lang="en-US" smtClean="0"/>
              <a:pPr/>
              <a:t>‹#›</a:t>
            </a:fld>
            <a:endParaRPr lang="en-US"/>
          </a:p>
        </p:txBody>
      </p:sp>
    </p:spTree>
    <p:extLst>
      <p:ext uri="{BB962C8B-B14F-4D97-AF65-F5344CB8AC3E}">
        <p14:creationId xmlns:p14="http://schemas.microsoft.com/office/powerpoint/2010/main" val="9737125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19AD06-451C-413E-AF31-86503C137FDF}" type="slidenum">
              <a:rPr lang="en-US" smtClean="0"/>
              <a:pPr/>
              <a:t>‹#›</a:t>
            </a:fld>
            <a:endParaRPr lang="en-US"/>
          </a:p>
        </p:txBody>
      </p:sp>
    </p:spTree>
    <p:extLst>
      <p:ext uri="{BB962C8B-B14F-4D97-AF65-F5344CB8AC3E}">
        <p14:creationId xmlns:p14="http://schemas.microsoft.com/office/powerpoint/2010/main" val="26922774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19AD06-451C-413E-AF31-86503C137FDF}" type="slidenum">
              <a:rPr lang="en-US" smtClean="0"/>
              <a:pPr/>
              <a:t>‹#›</a:t>
            </a:fld>
            <a:endParaRPr lang="en-US"/>
          </a:p>
        </p:txBody>
      </p:sp>
    </p:spTree>
    <p:extLst>
      <p:ext uri="{BB962C8B-B14F-4D97-AF65-F5344CB8AC3E}">
        <p14:creationId xmlns:p14="http://schemas.microsoft.com/office/powerpoint/2010/main" val="9440815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19AD06-451C-413E-AF31-86503C137FDF}" type="slidenum">
              <a:rPr lang="en-US" smtClean="0"/>
              <a:pPr/>
              <a:t>‹#›</a:t>
            </a:fld>
            <a:endParaRPr lang="en-US"/>
          </a:p>
        </p:txBody>
      </p:sp>
    </p:spTree>
    <p:extLst>
      <p:ext uri="{BB962C8B-B14F-4D97-AF65-F5344CB8AC3E}">
        <p14:creationId xmlns:p14="http://schemas.microsoft.com/office/powerpoint/2010/main" val="21980527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youtube.com/watch?v=AnxrJiS5uKU" TargetMode="External"/><Relationship Id="rId1" Type="http://schemas.openxmlformats.org/officeDocument/2006/relationships/slideLayout" Target="../slideLayouts/slideLayout4.xml"/><Relationship Id="rId4" Type="http://schemas.openxmlformats.org/officeDocument/2006/relationships/image" Target="../media/image4.w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4.xml"/><Relationship Id="rId6" Type="http://schemas.openxmlformats.org/officeDocument/2006/relationships/image" Target="../media/image9.emf"/><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hyperlink" Target="Virtualization.ppt" TargetMode="Externa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en.wikipedia.org/wiki/Economies_of_scale" TargetMode="External"/><Relationship Id="rId2" Type="http://schemas.openxmlformats.org/officeDocument/2006/relationships/hyperlink" Target="https://en.wikipedia.org/wiki/Bruce_Schneier" TargetMode="External"/><Relationship Id="rId1" Type="http://schemas.openxmlformats.org/officeDocument/2006/relationships/slideLayout" Target="../slideLayouts/slideLayout2.xml"/><Relationship Id="rId5" Type="http://schemas.openxmlformats.org/officeDocument/2006/relationships/hyperlink" Target="https://en.wikipedia.org/wiki/Confidentiality" TargetMode="External"/><Relationship Id="rId4" Type="http://schemas.openxmlformats.org/officeDocument/2006/relationships/hyperlink" Target="https://en.wikipedia.org/wiki/Data_cap" TargetMode="External"/></Relationships>
</file>

<file path=ppt/slides/_rels/slide22.xml.rels><?xml version="1.0" encoding="UTF-8" standalone="yes"?>
<Relationships xmlns="http://schemas.openxmlformats.org/package/2006/relationships"><Relationship Id="rId3" Type="http://schemas.openxmlformats.org/officeDocument/2006/relationships/hyperlink" Target="https://www.oracle.com/technetwork/java/javase/downloads/index.html" TargetMode="External"/><Relationship Id="rId2" Type="http://schemas.openxmlformats.org/officeDocument/2006/relationships/hyperlink" Target="https://github.com/Cloudslab/cloudsim/releases/tag/cloudsim-3.0.3" TargetMode="External"/><Relationship Id="rId1" Type="http://schemas.openxmlformats.org/officeDocument/2006/relationships/slideLayout" Target="../slideLayouts/slideLayout2.xml"/><Relationship Id="rId5" Type="http://schemas.openxmlformats.org/officeDocument/2006/relationships/hyperlink" Target="http://commons.apache.org/proper/commons-math/download_math.cgi" TargetMode="External"/><Relationship Id="rId4" Type="http://schemas.openxmlformats.org/officeDocument/2006/relationships/hyperlink" Target="https://www.eclipse.org/downloads/packages/release/oxygen"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www.buyya.com/" TargetMode="External"/><Relationship Id="rId2" Type="http://schemas.openxmlformats.org/officeDocument/2006/relationships/hyperlink" Target="http://cloudbus.org/cloudsim/" TargetMode="External"/><Relationship Id="rId1" Type="http://schemas.openxmlformats.org/officeDocument/2006/relationships/slideLayout" Target="../slideLayouts/slideLayout2.xml"/><Relationship Id="rId4" Type="http://schemas.openxmlformats.org/officeDocument/2006/relationships/hyperlink" Target="http://cloudbus.org/" TargetMode="Externa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CloudSimExample1%20Simulation%20Workflow.docx"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426285" y="2697449"/>
            <a:ext cx="9144000" cy="1655762"/>
          </a:xfrm>
          <a:ln>
            <a:noFill/>
          </a:ln>
        </p:spPr>
        <p:txBody>
          <a:bodyPr>
            <a:normAutofit/>
          </a:bodyPr>
          <a:lstStyle/>
          <a:p>
            <a:endParaRPr lang="en-US" sz="2800" dirty="0">
              <a:solidFill>
                <a:srgbClr val="002060"/>
              </a:solidFill>
              <a:latin typeface="Verdana" panose="020B0604030504040204" pitchFamily="34" charset="0"/>
              <a:ea typeface="Verdana" panose="020B0604030504040204" pitchFamily="34" charset="0"/>
              <a:cs typeface="Verdana" panose="020B0604030504040204" pitchFamily="34" charset="0"/>
            </a:endParaRPr>
          </a:p>
        </p:txBody>
      </p:sp>
      <p:sp>
        <p:nvSpPr>
          <p:cNvPr id="2" name="Title 1"/>
          <p:cNvSpPr>
            <a:spLocks noGrp="1"/>
          </p:cNvSpPr>
          <p:nvPr>
            <p:ph type="ctrTitle"/>
          </p:nvPr>
        </p:nvSpPr>
        <p:spPr>
          <a:xfrm>
            <a:off x="1337768" y="5625"/>
            <a:ext cx="9144000" cy="2387600"/>
          </a:xfrm>
        </p:spPr>
        <p:txBody>
          <a:bodyPr>
            <a:normAutofit/>
          </a:bodyPr>
          <a:lstStyle/>
          <a:p>
            <a:r>
              <a:rPr lang="en-GB" altLang="zh-CN" sz="3600" dirty="0">
                <a:solidFill>
                  <a:srgbClr val="FF0000"/>
                </a:solidFill>
                <a:latin typeface="Verdana" panose="020B0604030504040204" pitchFamily="34" charset="0"/>
                <a:ea typeface="Verdana" panose="020B0604030504040204" pitchFamily="34" charset="0"/>
                <a:cs typeface="Verdana" panose="020B0604030504040204" pitchFamily="34" charset="0"/>
              </a:rPr>
              <a:t>Introduction to </a:t>
            </a:r>
            <a:r>
              <a:rPr lang="en-US" sz="3600" dirty="0">
                <a:solidFill>
                  <a:srgbClr val="FF0000"/>
                </a:solidFill>
                <a:latin typeface="Verdana" panose="020B0604030504040204" pitchFamily="34" charset="0"/>
                <a:ea typeface="Verdana" panose="020B0604030504040204" pitchFamily="34" charset="0"/>
                <a:cs typeface="Verdana" panose="020B0604030504040204" pitchFamily="34" charset="0"/>
              </a:rPr>
              <a:t>Cloud Computing, Virtualization and </a:t>
            </a:r>
            <a:r>
              <a:rPr lang="en-US" sz="3600" dirty="0" err="1">
                <a:solidFill>
                  <a:srgbClr val="FF0000"/>
                </a:solidFill>
                <a:latin typeface="Verdana" panose="020B0604030504040204" pitchFamily="34" charset="0"/>
                <a:ea typeface="Verdana" panose="020B0604030504040204" pitchFamily="34" charset="0"/>
                <a:cs typeface="Verdana" panose="020B0604030504040204" pitchFamily="34" charset="0"/>
              </a:rPr>
              <a:t>CloudSim</a:t>
            </a:r>
            <a:endParaRPr lang="en-US" sz="3600" dirty="0">
              <a:solidFill>
                <a:srgbClr val="FF0000"/>
              </a:solidFill>
              <a:latin typeface="Verdana" panose="020B0604030504040204" pitchFamily="34" charset="0"/>
              <a:ea typeface="Verdana" panose="020B0604030504040204" pitchFamily="34" charset="0"/>
              <a:cs typeface="Verdana" panose="020B0604030504040204" pitchFamily="34" charset="0"/>
            </a:endParaRP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4607" y="2659118"/>
            <a:ext cx="9711559" cy="3499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itle 2"/>
          <p:cNvSpPr txBox="1">
            <a:spLocks/>
          </p:cNvSpPr>
          <p:nvPr/>
        </p:nvSpPr>
        <p:spPr>
          <a:xfrm>
            <a:off x="0" y="5625"/>
            <a:ext cx="12192000" cy="638320"/>
          </a:xfrm>
          <a:prstGeom prst="rect">
            <a:avLst/>
          </a:prstGeom>
          <a:solidFill>
            <a:schemeClr val="accent5"/>
          </a:solidFill>
        </p:spPr>
        <p:txBody>
          <a:bodyPr vert="horz" lIns="91440" tIns="45720" rIns="91440" bIns="45720" rtlCol="0" anchor="b">
            <a:normAutofit fontScale="8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en-AU" altLang="en-US" dirty="0">
              <a:latin typeface="Verdana" panose="020B0604030504040204" pitchFamily="34" charset="0"/>
              <a:ea typeface="Verdana" panose="020B0604030504040204" pitchFamily="34" charset="0"/>
              <a:cs typeface="Verdana" panose="020B0604030504040204" pitchFamily="34" charset="0"/>
            </a:endParaRPr>
          </a:p>
        </p:txBody>
      </p:sp>
      <p:sp>
        <p:nvSpPr>
          <p:cNvPr id="8" name="Title 2"/>
          <p:cNvSpPr txBox="1">
            <a:spLocks/>
          </p:cNvSpPr>
          <p:nvPr/>
        </p:nvSpPr>
        <p:spPr>
          <a:xfrm>
            <a:off x="0" y="6219680"/>
            <a:ext cx="12192000" cy="638320"/>
          </a:xfrm>
          <a:prstGeom prst="rect">
            <a:avLst/>
          </a:prstGeom>
          <a:solidFill>
            <a:schemeClr val="accent5"/>
          </a:solidFill>
        </p:spPr>
        <p:txBody>
          <a:bodyPr vert="horz" lIns="91440" tIns="45720" rIns="91440" bIns="45720" rtlCol="0" anchor="b">
            <a:normAutofit fontScale="8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en-AU" altLang="en-US"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42199727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2"/>
          <p:cNvSpPr>
            <a:spLocks noGrp="1"/>
          </p:cNvSpPr>
          <p:nvPr>
            <p:ph type="title"/>
          </p:nvPr>
        </p:nvSpPr>
        <p:spPr>
          <a:xfrm>
            <a:off x="0" y="5624"/>
            <a:ext cx="12192000" cy="1325563"/>
          </a:xfrm>
          <a:solidFill>
            <a:schemeClr val="accent5"/>
          </a:solidFill>
        </p:spPr>
        <p:txBody>
          <a:bodyPr>
            <a:normAutofit/>
          </a:bodyPr>
          <a:lstStyle/>
          <a:p>
            <a:r>
              <a:rPr lang="en-AU" altLang="en-US" sz="3600" kern="0" dirty="0">
                <a:solidFill>
                  <a:srgbClr val="FFFF00"/>
                </a:solidFill>
                <a:latin typeface="Verdana"/>
                <a:ea typeface="SimSun"/>
              </a:rPr>
              <a:t>The Next Revolution in IT</a:t>
            </a:r>
            <a:br>
              <a:rPr lang="en-AU" altLang="en-US" sz="3600" kern="0" dirty="0">
                <a:solidFill>
                  <a:srgbClr val="FFFF00"/>
                </a:solidFill>
                <a:latin typeface="Verdana"/>
                <a:ea typeface="SimSun"/>
              </a:rPr>
            </a:br>
            <a:r>
              <a:rPr lang="en-AU" altLang="en-US" sz="3600" kern="0" dirty="0">
                <a:solidFill>
                  <a:srgbClr val="FFFF00"/>
                </a:solidFill>
                <a:latin typeface="Verdana"/>
                <a:ea typeface="SimSun"/>
              </a:rPr>
              <a:t>                               The Big Switch in IT</a:t>
            </a:r>
          </a:p>
        </p:txBody>
      </p:sp>
      <p:sp>
        <p:nvSpPr>
          <p:cNvPr id="21507" name="Content Placeholder 3"/>
          <p:cNvSpPr>
            <a:spLocks noGrp="1"/>
          </p:cNvSpPr>
          <p:nvPr>
            <p:ph sz="half" idx="1"/>
          </p:nvPr>
        </p:nvSpPr>
        <p:spPr/>
        <p:txBody>
          <a:bodyPr/>
          <a:lstStyle/>
          <a:p>
            <a:r>
              <a:rPr lang="en-AU" altLang="en-US" dirty="0"/>
              <a:t>Classical Computing</a:t>
            </a:r>
          </a:p>
          <a:p>
            <a:pPr lvl="1"/>
            <a:r>
              <a:rPr lang="en-AU" altLang="en-US" dirty="0"/>
              <a:t>Buy &amp; Own</a:t>
            </a:r>
          </a:p>
          <a:p>
            <a:pPr lvl="2"/>
            <a:r>
              <a:rPr lang="en-AU" altLang="en-US" dirty="0"/>
              <a:t>Hardware, System Software, Applications often to meet peak needs.</a:t>
            </a:r>
          </a:p>
          <a:p>
            <a:pPr lvl="1"/>
            <a:r>
              <a:rPr lang="en-AU" altLang="en-US" dirty="0"/>
              <a:t>Install, Configure, Test, Verify, Evaluate</a:t>
            </a:r>
          </a:p>
          <a:p>
            <a:pPr lvl="1"/>
            <a:r>
              <a:rPr lang="en-AU" altLang="en-US" dirty="0"/>
              <a:t>Manage</a:t>
            </a:r>
          </a:p>
          <a:p>
            <a:pPr lvl="1"/>
            <a:r>
              <a:rPr lang="en-AU" altLang="en-US" dirty="0"/>
              <a:t>..</a:t>
            </a:r>
          </a:p>
          <a:p>
            <a:pPr lvl="1"/>
            <a:r>
              <a:rPr lang="en-AU" altLang="en-US" dirty="0"/>
              <a:t>Finally, use it</a:t>
            </a:r>
          </a:p>
          <a:p>
            <a:pPr lvl="1"/>
            <a:r>
              <a:rPr lang="en-AU" altLang="en-US" dirty="0"/>
              <a:t>$$$$....$(High </a:t>
            </a:r>
            <a:r>
              <a:rPr lang="en-AU" altLang="en-US" dirty="0" err="1"/>
              <a:t>CapEx</a:t>
            </a:r>
            <a:r>
              <a:rPr lang="en-AU" altLang="en-US" dirty="0"/>
              <a:t>)</a:t>
            </a:r>
          </a:p>
        </p:txBody>
      </p:sp>
      <p:sp>
        <p:nvSpPr>
          <p:cNvPr id="5" name="Content Placeholder 4"/>
          <p:cNvSpPr>
            <a:spLocks noGrp="1"/>
          </p:cNvSpPr>
          <p:nvPr>
            <p:ph sz="half" idx="2"/>
          </p:nvPr>
        </p:nvSpPr>
        <p:spPr>
          <a:xfrm>
            <a:off x="6172200" y="1502980"/>
            <a:ext cx="5181600" cy="5129048"/>
          </a:xfrm>
        </p:spPr>
        <p:txBody>
          <a:bodyPr/>
          <a:lstStyle/>
          <a:p>
            <a:r>
              <a:rPr lang="en-AU" altLang="en-US" dirty="0"/>
              <a:t>Cloud Computing</a:t>
            </a:r>
          </a:p>
          <a:p>
            <a:pPr lvl="1"/>
            <a:r>
              <a:rPr lang="en-AU" altLang="en-US" dirty="0"/>
              <a:t>Subscribe</a:t>
            </a:r>
          </a:p>
          <a:p>
            <a:pPr lvl="1"/>
            <a:r>
              <a:rPr lang="en-AU" altLang="en-US" dirty="0"/>
              <a:t>Use</a:t>
            </a:r>
          </a:p>
          <a:p>
            <a:pPr lvl="1"/>
            <a:endParaRPr lang="en-AU" altLang="en-US" dirty="0"/>
          </a:p>
          <a:p>
            <a:pPr lvl="1"/>
            <a:endParaRPr lang="en-AU" altLang="en-US" dirty="0"/>
          </a:p>
          <a:p>
            <a:pPr lvl="1"/>
            <a:endParaRPr lang="en-AU" altLang="en-US" dirty="0"/>
          </a:p>
          <a:p>
            <a:pPr lvl="1"/>
            <a:endParaRPr lang="en-AU" altLang="en-US" dirty="0"/>
          </a:p>
          <a:p>
            <a:pPr lvl="1"/>
            <a:endParaRPr lang="en-AU" altLang="en-US" dirty="0"/>
          </a:p>
          <a:p>
            <a:pPr lvl="1"/>
            <a:endParaRPr lang="en-AU" altLang="en-US" dirty="0"/>
          </a:p>
          <a:p>
            <a:pPr lvl="1"/>
            <a:endParaRPr lang="en-AU" altLang="en-US" dirty="0"/>
          </a:p>
          <a:p>
            <a:pPr lvl="1"/>
            <a:endParaRPr lang="en-AU" altLang="en-US" dirty="0"/>
          </a:p>
          <a:p>
            <a:pPr lvl="1"/>
            <a:r>
              <a:rPr lang="en-AU" altLang="en-US" dirty="0"/>
              <a:t>$ - pay for what you use, based on QoS</a:t>
            </a:r>
          </a:p>
        </p:txBody>
      </p:sp>
      <p:grpSp>
        <p:nvGrpSpPr>
          <p:cNvPr id="21509" name="Group 9"/>
          <p:cNvGrpSpPr>
            <a:grpSpLocks/>
          </p:cNvGrpSpPr>
          <p:nvPr/>
        </p:nvGrpSpPr>
        <p:grpSpPr bwMode="auto">
          <a:xfrm>
            <a:off x="247650" y="2628900"/>
            <a:ext cx="1028700" cy="3124200"/>
            <a:chOff x="271046" y="2562896"/>
            <a:chExt cx="1029720" cy="3122837"/>
          </a:xfrm>
        </p:grpSpPr>
        <p:sp>
          <p:nvSpPr>
            <p:cNvPr id="21511" name="Freeform 7"/>
            <p:cNvSpPr>
              <a:spLocks/>
            </p:cNvSpPr>
            <p:nvPr/>
          </p:nvSpPr>
          <p:spPr bwMode="auto">
            <a:xfrm>
              <a:off x="663262" y="2562896"/>
              <a:ext cx="637504" cy="3052293"/>
            </a:xfrm>
            <a:custGeom>
              <a:avLst/>
              <a:gdLst>
                <a:gd name="T0" fmla="*/ 598868 w 637504"/>
                <a:gd name="T1" fmla="*/ 3052293 h 3052293"/>
                <a:gd name="T2" fmla="*/ 6439 w 637504"/>
                <a:gd name="T3" fmla="*/ 1764462 h 3052293"/>
                <a:gd name="T4" fmla="*/ 637504 w 637504"/>
                <a:gd name="T5" fmla="*/ 0 h 3052293"/>
                <a:gd name="T6" fmla="*/ 0 60000 65536"/>
                <a:gd name="T7" fmla="*/ 0 60000 65536"/>
                <a:gd name="T8" fmla="*/ 0 60000 65536"/>
                <a:gd name="T9" fmla="*/ 0 w 637504"/>
                <a:gd name="T10" fmla="*/ 0 h 3052293"/>
                <a:gd name="T11" fmla="*/ 637504 w 637504"/>
                <a:gd name="T12" fmla="*/ 3052293 h 3052293"/>
              </a:gdLst>
              <a:ahLst/>
              <a:cxnLst>
                <a:cxn ang="T6">
                  <a:pos x="T0" y="T1"/>
                </a:cxn>
                <a:cxn ang="T7">
                  <a:pos x="T2" y="T3"/>
                </a:cxn>
                <a:cxn ang="T8">
                  <a:pos x="T4" y="T5"/>
                </a:cxn>
              </a:cxnLst>
              <a:rect l="T9" t="T10" r="T11" b="T12"/>
              <a:pathLst>
                <a:path w="637504" h="3052293">
                  <a:moveTo>
                    <a:pt x="598868" y="3052293"/>
                  </a:moveTo>
                  <a:cubicBezTo>
                    <a:pt x="299434" y="2662706"/>
                    <a:pt x="0" y="2273120"/>
                    <a:pt x="6439" y="1764405"/>
                  </a:cubicBezTo>
                  <a:cubicBezTo>
                    <a:pt x="12878" y="1255690"/>
                    <a:pt x="530180" y="291921"/>
                    <a:pt x="637504" y="0"/>
                  </a:cubicBezTo>
                </a:path>
              </a:pathLst>
            </a:custGeom>
            <a:noFill/>
            <a:ln w="38100" cap="flat" cmpd="sng" algn="ctr">
              <a:solidFill>
                <a:srgbClr val="FF0000"/>
              </a:solidFill>
              <a:prstDash val="solid"/>
              <a:round/>
              <a:headEnd type="none" w="med" len="med"/>
              <a:tailEnd type="arrow" w="med" len="med"/>
            </a:ln>
            <a:extLst>
              <a:ext uri="{909E8E84-426E-40DD-AFC4-6F175D3DCCD1}">
                <a14:hiddenFill xmlns:a14="http://schemas.microsoft.com/office/drawing/2010/main">
                  <a:solidFill>
                    <a:srgbClr val="FFFFFF"/>
                  </a:solidFill>
                </a14:hiddenFill>
              </a:ext>
            </a:extLst>
          </p:spPr>
          <p:txBody>
            <a:bodyPr lIns="91380" tIns="45692" rIns="91380" bIns="45692" anchor="ctr"/>
            <a:lstStyle/>
            <a:p>
              <a:endParaRPr lang="en-US"/>
            </a:p>
          </p:txBody>
        </p:sp>
        <p:sp>
          <p:nvSpPr>
            <p:cNvPr id="21512" name="TextBox 8"/>
            <p:cNvSpPr txBox="1">
              <a:spLocks noChangeArrowheads="1"/>
            </p:cNvSpPr>
            <p:nvPr/>
          </p:nvSpPr>
          <p:spPr bwMode="auto">
            <a:xfrm rot="5400000" flipH="1" flipV="1">
              <a:off x="-915657" y="4098920"/>
              <a:ext cx="277351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Verdana" panose="020B0604030504040204" pitchFamily="34" charset="0"/>
                  <a:ea typeface="SimSun" panose="02010600030101010101" pitchFamily="2" charset="-122"/>
                </a:defRPr>
              </a:lvl1pPr>
              <a:lvl2pPr marL="742950" indent="-285750" eaLnBrk="0" hangingPunct="0">
                <a:defRPr sz="1200">
                  <a:solidFill>
                    <a:schemeClr val="tx1"/>
                  </a:solidFill>
                  <a:latin typeface="Verdana" panose="020B0604030504040204" pitchFamily="34" charset="0"/>
                  <a:ea typeface="SimSun" panose="02010600030101010101" pitchFamily="2" charset="-122"/>
                </a:defRPr>
              </a:lvl2pPr>
              <a:lvl3pPr marL="1143000" indent="-228600" eaLnBrk="0" hangingPunct="0">
                <a:defRPr sz="1200">
                  <a:solidFill>
                    <a:schemeClr val="tx1"/>
                  </a:solidFill>
                  <a:latin typeface="Verdana" panose="020B0604030504040204" pitchFamily="34" charset="0"/>
                  <a:ea typeface="SimSun" panose="02010600030101010101" pitchFamily="2" charset="-122"/>
                </a:defRPr>
              </a:lvl3pPr>
              <a:lvl4pPr marL="1600200" indent="-228600" eaLnBrk="0" hangingPunct="0">
                <a:defRPr sz="1200">
                  <a:solidFill>
                    <a:schemeClr val="tx1"/>
                  </a:solidFill>
                  <a:latin typeface="Verdana" panose="020B0604030504040204" pitchFamily="34" charset="0"/>
                  <a:ea typeface="SimSun" panose="02010600030101010101" pitchFamily="2" charset="-122"/>
                </a:defRPr>
              </a:lvl4pPr>
              <a:lvl5pPr marL="2057400" indent="-228600" eaLnBrk="0" hangingPunct="0">
                <a:defRPr sz="1200">
                  <a:solidFill>
                    <a:schemeClr val="tx1"/>
                  </a:solidFill>
                  <a:latin typeface="Verdan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9pPr>
            </a:lstStyle>
            <a:p>
              <a:pPr eaLnBrk="1" hangingPunct="1"/>
              <a:r>
                <a:rPr lang="en-AU" altLang="en-US" sz="2000" b="1" dirty="0"/>
                <a:t>Every 18 months?</a:t>
              </a:r>
            </a:p>
          </p:txBody>
        </p:sp>
      </p:grpSp>
      <p:sp>
        <p:nvSpPr>
          <p:cNvPr id="3" name="Slide Number Placeholder 2"/>
          <p:cNvSpPr>
            <a:spLocks noGrp="1"/>
          </p:cNvSpPr>
          <p:nvPr>
            <p:ph type="sldNum" sz="quarter" idx="12"/>
          </p:nvPr>
        </p:nvSpPr>
        <p:spPr/>
        <p:txBody>
          <a:bodyPr/>
          <a:lstStyle/>
          <a:p>
            <a:fld id="{2019AD06-451C-413E-AF31-86503C137FDF}" type="slidenum">
              <a:rPr lang="en-US" smtClean="0"/>
              <a:pPr/>
              <a:t>2</a:t>
            </a:fld>
            <a:endParaRPr lang="en-US"/>
          </a:p>
        </p:txBody>
      </p:sp>
      <p:pic>
        <p:nvPicPr>
          <p:cNvPr id="10" name="Picture 9" descr="Cloud_computing.svg.png"/>
          <p:cNvPicPr>
            <a:picLocks noChangeAspect="1"/>
          </p:cNvPicPr>
          <p:nvPr/>
        </p:nvPicPr>
        <p:blipFill>
          <a:blip r:embed="rId2"/>
          <a:stretch>
            <a:fillRect/>
          </a:stretch>
        </p:blipFill>
        <p:spPr>
          <a:xfrm>
            <a:off x="7315200" y="2123090"/>
            <a:ext cx="3762703" cy="3689131"/>
          </a:xfrm>
          <a:prstGeom prst="rect">
            <a:avLst/>
          </a:prstGeom>
        </p:spPr>
      </p:pic>
    </p:spTree>
    <p:extLst>
      <p:ext uri="{BB962C8B-B14F-4D97-AF65-F5344CB8AC3E}">
        <p14:creationId xmlns:p14="http://schemas.microsoft.com/office/powerpoint/2010/main" val="17480946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 calcmode="lin" valueType="num">
                                      <p:cBhvr additive="base">
                                        <p:cTn id="11"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 calcmode="lin" valueType="num">
                                      <p:cBhvr additive="base">
                                        <p:cTn id="15"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5">
                                            <p:txEl>
                                              <p:pRg st="11" end="11"/>
                                            </p:txEl>
                                          </p:spTgt>
                                        </p:tgtEl>
                                        <p:attrNameLst>
                                          <p:attrName>style.visibility</p:attrName>
                                        </p:attrNameLst>
                                      </p:cBhvr>
                                      <p:to>
                                        <p:strVal val="visible"/>
                                      </p:to>
                                    </p:set>
                                    <p:anim calcmode="lin" valueType="num">
                                      <p:cBhvr additive="base">
                                        <p:cTn id="19" dur="500" fill="hold"/>
                                        <p:tgtEl>
                                          <p:spTgt spid="5">
                                            <p:txEl>
                                              <p:pRg st="11" end="1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2"/>
          <p:cNvSpPr>
            <a:spLocks noGrp="1"/>
          </p:cNvSpPr>
          <p:nvPr>
            <p:ph type="title"/>
          </p:nvPr>
        </p:nvSpPr>
        <p:spPr>
          <a:xfrm>
            <a:off x="0" y="5624"/>
            <a:ext cx="12192000" cy="1325563"/>
          </a:xfrm>
          <a:solidFill>
            <a:schemeClr val="accent5"/>
          </a:solidFill>
        </p:spPr>
        <p:txBody>
          <a:bodyPr/>
          <a:lstStyle/>
          <a:p>
            <a:r>
              <a:rPr lang="en-AU" altLang="en-US" dirty="0">
                <a:latin typeface="Verdana" panose="020B0604030504040204" pitchFamily="34" charset="0"/>
                <a:ea typeface="Verdana" panose="020B0604030504040204" pitchFamily="34" charset="0"/>
                <a:cs typeface="Verdana" panose="020B0604030504040204" pitchFamily="34" charset="0"/>
              </a:rPr>
              <a:t>.</a:t>
            </a:r>
          </a:p>
        </p:txBody>
      </p:sp>
      <p:sp>
        <p:nvSpPr>
          <p:cNvPr id="13" name="Rectangle 2"/>
          <p:cNvSpPr txBox="1">
            <a:spLocks noChangeArrowheads="1"/>
          </p:cNvSpPr>
          <p:nvPr/>
        </p:nvSpPr>
        <p:spPr bwMode="auto">
          <a:xfrm>
            <a:off x="1219200" y="177800"/>
            <a:ext cx="7724775"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0" tIns="45692" rIns="91380" bIns="45692" numCol="1" anchor="ctr" anchorCtr="0" compatLnSpc="1">
            <a:prstTxWarp prst="textNoShape">
              <a:avLst/>
            </a:prstTxWarp>
          </a:bodyPr>
          <a:lstStyle>
            <a:lvl1pPr algn="ctr" rtl="0" eaLnBrk="0" fontAlgn="base" hangingPunct="0">
              <a:spcBef>
                <a:spcPct val="0"/>
              </a:spcBef>
              <a:spcAft>
                <a:spcPct val="0"/>
              </a:spcAft>
              <a:defRPr sz="3600">
                <a:solidFill>
                  <a:srgbClr val="FFFF00"/>
                </a:solidFill>
                <a:latin typeface="+mj-lt"/>
                <a:ea typeface="+mj-ea"/>
                <a:cs typeface="+mj-cs"/>
              </a:defRPr>
            </a:lvl1pPr>
            <a:lvl2pPr algn="ctr" rtl="0" eaLnBrk="0" fontAlgn="base" hangingPunct="0">
              <a:spcBef>
                <a:spcPct val="0"/>
              </a:spcBef>
              <a:spcAft>
                <a:spcPct val="0"/>
              </a:spcAft>
              <a:defRPr sz="3600">
                <a:solidFill>
                  <a:srgbClr val="FFFF00"/>
                </a:solidFill>
                <a:latin typeface="Verdana" pitchFamily="34" charset="0"/>
                <a:ea typeface="SimSun" pitchFamily="2" charset="-122"/>
              </a:defRPr>
            </a:lvl2pPr>
            <a:lvl3pPr algn="ctr" rtl="0" eaLnBrk="0" fontAlgn="base" hangingPunct="0">
              <a:spcBef>
                <a:spcPct val="0"/>
              </a:spcBef>
              <a:spcAft>
                <a:spcPct val="0"/>
              </a:spcAft>
              <a:defRPr sz="3600">
                <a:solidFill>
                  <a:srgbClr val="FFFF00"/>
                </a:solidFill>
                <a:latin typeface="Verdana" pitchFamily="34" charset="0"/>
                <a:ea typeface="SimSun" pitchFamily="2" charset="-122"/>
              </a:defRPr>
            </a:lvl3pPr>
            <a:lvl4pPr algn="ctr" rtl="0" eaLnBrk="0" fontAlgn="base" hangingPunct="0">
              <a:spcBef>
                <a:spcPct val="0"/>
              </a:spcBef>
              <a:spcAft>
                <a:spcPct val="0"/>
              </a:spcAft>
              <a:defRPr sz="3600">
                <a:solidFill>
                  <a:srgbClr val="FFFF00"/>
                </a:solidFill>
                <a:latin typeface="Verdana" pitchFamily="34" charset="0"/>
                <a:ea typeface="SimSun" pitchFamily="2" charset="-122"/>
              </a:defRPr>
            </a:lvl4pPr>
            <a:lvl5pPr algn="ctr" rtl="0" eaLnBrk="0" fontAlgn="base" hangingPunct="0">
              <a:spcBef>
                <a:spcPct val="0"/>
              </a:spcBef>
              <a:spcAft>
                <a:spcPct val="0"/>
              </a:spcAft>
              <a:defRPr sz="3600">
                <a:solidFill>
                  <a:srgbClr val="FFFF00"/>
                </a:solidFill>
                <a:latin typeface="Verdana" pitchFamily="34" charset="0"/>
                <a:ea typeface="SimSun" pitchFamily="2" charset="-122"/>
              </a:defRPr>
            </a:lvl5pPr>
            <a:lvl6pPr marL="457200" algn="ctr" rtl="0" fontAlgn="base">
              <a:spcBef>
                <a:spcPct val="0"/>
              </a:spcBef>
              <a:spcAft>
                <a:spcPct val="0"/>
              </a:spcAft>
              <a:defRPr sz="3600">
                <a:solidFill>
                  <a:srgbClr val="FFFF00"/>
                </a:solidFill>
                <a:latin typeface="Verdana" pitchFamily="34" charset="0"/>
                <a:ea typeface="SimSun" pitchFamily="2" charset="-122"/>
              </a:defRPr>
            </a:lvl6pPr>
            <a:lvl7pPr marL="914400" algn="ctr" rtl="0" fontAlgn="base">
              <a:spcBef>
                <a:spcPct val="0"/>
              </a:spcBef>
              <a:spcAft>
                <a:spcPct val="0"/>
              </a:spcAft>
              <a:defRPr sz="3600">
                <a:solidFill>
                  <a:srgbClr val="FFFF00"/>
                </a:solidFill>
                <a:latin typeface="Verdana" pitchFamily="34" charset="0"/>
                <a:ea typeface="SimSun" pitchFamily="2" charset="-122"/>
              </a:defRPr>
            </a:lvl7pPr>
            <a:lvl8pPr marL="1371600" algn="ctr" rtl="0" fontAlgn="base">
              <a:spcBef>
                <a:spcPct val="0"/>
              </a:spcBef>
              <a:spcAft>
                <a:spcPct val="0"/>
              </a:spcAft>
              <a:defRPr sz="3600">
                <a:solidFill>
                  <a:srgbClr val="FFFF00"/>
                </a:solidFill>
                <a:latin typeface="Verdana" pitchFamily="34" charset="0"/>
                <a:ea typeface="SimSun" pitchFamily="2" charset="-122"/>
              </a:defRPr>
            </a:lvl8pPr>
            <a:lvl9pPr marL="1828800" algn="ctr" rtl="0" fontAlgn="base">
              <a:spcBef>
                <a:spcPct val="0"/>
              </a:spcBef>
              <a:spcAft>
                <a:spcPct val="0"/>
              </a:spcAft>
              <a:defRPr sz="3600">
                <a:solidFill>
                  <a:srgbClr val="FFFF00"/>
                </a:solidFill>
                <a:latin typeface="Verdana" pitchFamily="34" charset="0"/>
                <a:ea typeface="SimSun" pitchFamily="2" charset="-122"/>
              </a:defRPr>
            </a:lvl9pPr>
          </a:lstStyle>
          <a:p>
            <a:pPr lvl="0" eaLnBrk="1" hangingPunct="1"/>
            <a:r>
              <a:rPr kumimoji="0" lang="en-US" altLang="en-US" sz="3200" b="0" i="0" u="none" strike="noStrike" kern="0" cap="none" spc="0" normalizeH="0" baseline="0" noProof="0" dirty="0">
                <a:ln>
                  <a:noFill/>
                </a:ln>
                <a:solidFill>
                  <a:srgbClr val="FFFF00"/>
                </a:solidFill>
                <a:effectLst/>
                <a:uLnTx/>
                <a:uFillTx/>
                <a:latin typeface="Verdana" panose="020B0604030504040204" pitchFamily="34" charset="0"/>
                <a:ea typeface="Verdana" panose="020B0604030504040204" pitchFamily="34" charset="0"/>
                <a:cs typeface="Verdana" panose="020B0604030504040204" pitchFamily="34" charset="0"/>
              </a:rPr>
              <a:t>Definition</a:t>
            </a:r>
            <a:r>
              <a:rPr kumimoji="0" lang="en-US" altLang="en-US" sz="3200" b="0" i="0" u="none" strike="noStrike" kern="0" cap="none" spc="0" normalizeH="0" noProof="0" dirty="0">
                <a:ln>
                  <a:noFill/>
                </a:ln>
                <a:solidFill>
                  <a:srgbClr val="FFFF00"/>
                </a:solidFill>
                <a:effectLst/>
                <a:uLnTx/>
                <a:uFillTx/>
                <a:latin typeface="Verdana" panose="020B0604030504040204" pitchFamily="34" charset="0"/>
                <a:ea typeface="Verdana" panose="020B0604030504040204" pitchFamily="34" charset="0"/>
                <a:cs typeface="Verdana" panose="020B0604030504040204" pitchFamily="34" charset="0"/>
              </a:rPr>
              <a:t> : Cloud Computing</a:t>
            </a:r>
            <a:endParaRPr kumimoji="0" lang="en-US" altLang="en-US" sz="3200" b="0" i="0" u="none" strike="noStrike" kern="0" cap="none" spc="0" normalizeH="0" baseline="0" noProof="0" dirty="0">
              <a:ln>
                <a:noFill/>
              </a:ln>
              <a:solidFill>
                <a:srgbClr val="FFFF00"/>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2" name="Content Placeholder 1"/>
          <p:cNvSpPr>
            <a:spLocks noGrp="1"/>
          </p:cNvSpPr>
          <p:nvPr>
            <p:ph sz="half" idx="1"/>
          </p:nvPr>
        </p:nvSpPr>
        <p:spPr>
          <a:xfrm>
            <a:off x="838199" y="1825625"/>
            <a:ext cx="10031569" cy="4351338"/>
          </a:xfrm>
        </p:spPr>
        <p:txBody>
          <a:bodyPr/>
          <a:lstStyle/>
          <a:p>
            <a:pPr marL="0" indent="0">
              <a:buNone/>
            </a:pPr>
            <a:r>
              <a:rPr lang="en-US" b="1" dirty="0" err="1">
                <a:latin typeface="Verdana" panose="020B0604030504040204" pitchFamily="34" charset="0"/>
                <a:ea typeface="Verdana" panose="020B0604030504040204" pitchFamily="34" charset="0"/>
                <a:cs typeface="Verdana" panose="020B0604030504040204" pitchFamily="34" charset="0"/>
                <a:hlinkClick r:id="rId2"/>
              </a:rPr>
              <a:t>Defination</a:t>
            </a:r>
            <a:r>
              <a:rPr lang="en-US" b="1" dirty="0">
                <a:latin typeface="Verdana" panose="020B0604030504040204" pitchFamily="34" charset="0"/>
                <a:ea typeface="Verdana" panose="020B0604030504040204" pitchFamily="34" charset="0"/>
                <a:cs typeface="Verdana" panose="020B0604030504040204" pitchFamily="34" charset="0"/>
                <a:hlinkClick r:id="rId2"/>
              </a:rPr>
              <a:t> for laymen: </a:t>
            </a:r>
            <a:r>
              <a:rPr lang="en-US" dirty="0">
                <a:hlinkClick r:id="rId2"/>
              </a:rPr>
              <a:t>https://www.youtube.com/watch?v=AnxrJiS5uKU</a:t>
            </a:r>
            <a:endParaRPr lang="en-US" dirty="0"/>
          </a:p>
          <a:p>
            <a:pPr marL="0" indent="0">
              <a:buNone/>
            </a:pPr>
            <a:endParaRPr lang="en-US" dirty="0"/>
          </a:p>
        </p:txBody>
      </p:sp>
      <p:pic>
        <p:nvPicPr>
          <p:cNvPr id="7" name="Picture 14" descr="buddy"/>
          <p:cNvPicPr>
            <a:picLocks noChangeAspect="1" noChangeArrowheads="1"/>
          </p:cNvPicPr>
          <p:nvPr/>
        </p:nvPicPr>
        <p:blipFill>
          <a:blip r:embed="rId3"/>
          <a:srcRect/>
          <a:stretch>
            <a:fillRect/>
          </a:stretch>
        </p:blipFill>
        <p:spPr bwMode="auto">
          <a:xfrm>
            <a:off x="8481342" y="-65814"/>
            <a:ext cx="1511300" cy="1468438"/>
          </a:xfrm>
          <a:prstGeom prst="rect">
            <a:avLst/>
          </a:prstGeom>
          <a:noFill/>
          <a:ln w="9525">
            <a:noFill/>
            <a:miter lim="800000"/>
            <a:headEnd/>
            <a:tailEnd/>
          </a:ln>
        </p:spPr>
      </p:pic>
      <p:grpSp>
        <p:nvGrpSpPr>
          <p:cNvPr id="20" name="Group 4"/>
          <p:cNvGrpSpPr>
            <a:grpSpLocks/>
          </p:cNvGrpSpPr>
          <p:nvPr/>
        </p:nvGrpSpPr>
        <p:grpSpPr bwMode="auto">
          <a:xfrm>
            <a:off x="1488584" y="2794226"/>
            <a:ext cx="2717800" cy="2184400"/>
            <a:chOff x="1336" y="1646"/>
            <a:chExt cx="1712" cy="1376"/>
          </a:xfrm>
        </p:grpSpPr>
        <p:sp>
          <p:nvSpPr>
            <p:cNvPr id="21" name="Text Box 5"/>
            <p:cNvSpPr txBox="1">
              <a:spLocks noChangeArrowheads="1"/>
            </p:cNvSpPr>
            <p:nvPr/>
          </p:nvSpPr>
          <p:spPr bwMode="auto">
            <a:xfrm>
              <a:off x="1336" y="2352"/>
              <a:ext cx="1711" cy="670"/>
            </a:xfrm>
            <a:prstGeom prst="rect">
              <a:avLst/>
            </a:prstGeom>
            <a:gradFill rotWithShape="1">
              <a:gsLst>
                <a:gs pos="0">
                  <a:srgbClr val="990000"/>
                </a:gs>
                <a:gs pos="100000">
                  <a:srgbClr val="FF0000"/>
                </a:gs>
              </a:gsLst>
              <a:lin ang="5400000" scaled="1"/>
            </a:gradFill>
            <a:ln w="19050">
              <a:solidFill>
                <a:srgbClr val="CC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3152" tIns="154800" rIns="73152" bIns="15480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dirty="0">
                  <a:ln>
                    <a:noFill/>
                  </a:ln>
                  <a:solidFill>
                    <a:prstClr val="white"/>
                  </a:solidFill>
                  <a:effectLst/>
                  <a:uLnTx/>
                  <a:uFillTx/>
                  <a:ea typeface="宋体" panose="02010600030101010101" pitchFamily="2" charset="-122"/>
                </a:rPr>
                <a:t>The “Cloud” is the default symbol of the internet in diagrams.</a:t>
              </a:r>
            </a:p>
          </p:txBody>
        </p:sp>
        <p:sp>
          <p:nvSpPr>
            <p:cNvPr id="22" name="AutoShape 6"/>
            <p:cNvSpPr>
              <a:spLocks noChangeArrowheads="1"/>
            </p:cNvSpPr>
            <p:nvPr/>
          </p:nvSpPr>
          <p:spPr bwMode="auto">
            <a:xfrm>
              <a:off x="2078" y="1646"/>
              <a:ext cx="970" cy="446"/>
            </a:xfrm>
            <a:prstGeom prst="roundRect">
              <a:avLst>
                <a:gd name="adj" fmla="val 7778"/>
              </a:avLst>
            </a:prstGeom>
            <a:solidFill>
              <a:srgbClr val="FF0000">
                <a:alpha val="8000"/>
              </a:srgbClr>
            </a:solidFill>
            <a:ln w="19050">
              <a:solidFill>
                <a:srgbClr val="CC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Cloud</a:t>
              </a:r>
            </a:p>
          </p:txBody>
        </p:sp>
        <p:sp>
          <p:nvSpPr>
            <p:cNvPr id="23" name="Line 7"/>
            <p:cNvSpPr>
              <a:spLocks noChangeShapeType="1"/>
            </p:cNvSpPr>
            <p:nvPr/>
          </p:nvSpPr>
          <p:spPr bwMode="auto">
            <a:xfrm rot="5400000">
              <a:off x="2435" y="2220"/>
              <a:ext cx="268" cy="2"/>
            </a:xfrm>
            <a:prstGeom prst="line">
              <a:avLst/>
            </a:prstGeom>
            <a:noFill/>
            <a:ln w="1905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grpSp>
      <p:grpSp>
        <p:nvGrpSpPr>
          <p:cNvPr id="24" name="Group 8"/>
          <p:cNvGrpSpPr>
            <a:grpSpLocks/>
          </p:cNvGrpSpPr>
          <p:nvPr/>
        </p:nvGrpSpPr>
        <p:grpSpPr bwMode="auto">
          <a:xfrm>
            <a:off x="4398472" y="2791051"/>
            <a:ext cx="3643312" cy="2568575"/>
            <a:chOff x="3112" y="1654"/>
            <a:chExt cx="2199" cy="1618"/>
          </a:xfrm>
        </p:grpSpPr>
        <p:sp>
          <p:nvSpPr>
            <p:cNvPr id="25" name="AutoShape 9"/>
            <p:cNvSpPr>
              <a:spLocks noChangeArrowheads="1"/>
            </p:cNvSpPr>
            <p:nvPr/>
          </p:nvSpPr>
          <p:spPr bwMode="auto">
            <a:xfrm>
              <a:off x="3118" y="1654"/>
              <a:ext cx="1714" cy="438"/>
            </a:xfrm>
            <a:prstGeom prst="roundRect">
              <a:avLst>
                <a:gd name="adj" fmla="val 7778"/>
              </a:avLst>
            </a:prstGeom>
            <a:solidFill>
              <a:srgbClr val="FF0000">
                <a:alpha val="8000"/>
              </a:srgbClr>
            </a:solidFill>
            <a:ln w="19050">
              <a:solidFill>
                <a:srgbClr val="CC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Computing</a:t>
              </a:r>
            </a:p>
          </p:txBody>
        </p:sp>
        <p:sp>
          <p:nvSpPr>
            <p:cNvPr id="26" name="Text Box 10"/>
            <p:cNvSpPr txBox="1">
              <a:spLocks noChangeArrowheads="1"/>
            </p:cNvSpPr>
            <p:nvPr/>
          </p:nvSpPr>
          <p:spPr bwMode="auto">
            <a:xfrm>
              <a:off x="3112" y="2352"/>
              <a:ext cx="2199" cy="920"/>
            </a:xfrm>
            <a:prstGeom prst="rect">
              <a:avLst/>
            </a:prstGeom>
            <a:gradFill rotWithShape="1">
              <a:gsLst>
                <a:gs pos="0">
                  <a:srgbClr val="990000"/>
                </a:gs>
                <a:gs pos="100000">
                  <a:srgbClr val="FF0000"/>
                </a:gs>
              </a:gsLst>
              <a:lin ang="5400000" scaled="1"/>
            </a:gradFill>
            <a:ln w="19050">
              <a:solidFill>
                <a:srgbClr val="CC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64592" tIns="154800" rIns="164592" bIns="64008">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dirty="0">
                  <a:ln>
                    <a:noFill/>
                  </a:ln>
                  <a:solidFill>
                    <a:prstClr val="white"/>
                  </a:solidFill>
                  <a:effectLst/>
                  <a:uLnTx/>
                  <a:uFillTx/>
                  <a:ea typeface="宋体" panose="02010600030101010101" pitchFamily="2" charset="-122"/>
                </a:rPr>
                <a:t>The broader term of “Computing” encompasses:</a:t>
              </a:r>
            </a:p>
            <a:p>
              <a:pPr marL="0" marR="0" lvl="0" indent="0" defTabSz="914400" eaLnBrk="1" fontAlgn="auto" latinLnBrk="0" hangingPunct="1">
                <a:lnSpc>
                  <a:spcPct val="100000"/>
                </a:lnSpc>
                <a:spcBef>
                  <a:spcPts val="0"/>
                </a:spcBef>
                <a:spcAft>
                  <a:spcPts val="0"/>
                </a:spcAft>
                <a:buClrTx/>
                <a:buSzTx/>
                <a:buFontTx/>
                <a:buChar char="-"/>
                <a:tabLst/>
                <a:defRPr/>
              </a:pPr>
              <a:r>
                <a:rPr kumimoji="0" lang="en-US" altLang="zh-CN" sz="1600" b="1" i="0" u="none" strike="noStrike" kern="0" cap="none" spc="0" normalizeH="0" baseline="0" noProof="0" dirty="0">
                  <a:ln>
                    <a:noFill/>
                  </a:ln>
                  <a:solidFill>
                    <a:prstClr val="white"/>
                  </a:solidFill>
                  <a:effectLst/>
                  <a:uLnTx/>
                  <a:uFillTx/>
                  <a:ea typeface="宋体" panose="02010600030101010101" pitchFamily="2" charset="-122"/>
                </a:rPr>
                <a:t> Computation</a:t>
              </a:r>
            </a:p>
            <a:p>
              <a:pPr marL="0" marR="0" lvl="0" indent="0" defTabSz="914400" eaLnBrk="1" fontAlgn="auto" latinLnBrk="0" hangingPunct="1">
                <a:lnSpc>
                  <a:spcPct val="100000"/>
                </a:lnSpc>
                <a:spcBef>
                  <a:spcPts val="0"/>
                </a:spcBef>
                <a:spcAft>
                  <a:spcPts val="0"/>
                </a:spcAft>
                <a:buClrTx/>
                <a:buSzTx/>
                <a:buFontTx/>
                <a:buChar char="-"/>
                <a:tabLst/>
                <a:defRPr/>
              </a:pPr>
              <a:r>
                <a:rPr kumimoji="0" lang="en-US" altLang="zh-CN" sz="1600" b="1" i="0" u="none" strike="noStrike" kern="0" cap="none" spc="0" normalizeH="0" baseline="0" noProof="0" dirty="0">
                  <a:ln>
                    <a:noFill/>
                  </a:ln>
                  <a:solidFill>
                    <a:prstClr val="white"/>
                  </a:solidFill>
                  <a:effectLst/>
                  <a:uLnTx/>
                  <a:uFillTx/>
                  <a:ea typeface="宋体" panose="02010600030101010101" pitchFamily="2" charset="-122"/>
                </a:rPr>
                <a:t> Coordination logic</a:t>
              </a:r>
            </a:p>
            <a:p>
              <a:pPr marL="0" marR="0" lvl="0" indent="0" defTabSz="914400" eaLnBrk="1" fontAlgn="auto" latinLnBrk="0" hangingPunct="1">
                <a:lnSpc>
                  <a:spcPct val="100000"/>
                </a:lnSpc>
                <a:spcBef>
                  <a:spcPts val="0"/>
                </a:spcBef>
                <a:spcAft>
                  <a:spcPts val="0"/>
                </a:spcAft>
                <a:buClrTx/>
                <a:buSzTx/>
                <a:buFontTx/>
                <a:buChar char="-"/>
                <a:tabLst/>
                <a:defRPr/>
              </a:pPr>
              <a:r>
                <a:rPr kumimoji="0" lang="en-US" altLang="zh-CN" sz="1600" b="1" i="0" u="none" strike="noStrike" kern="0" cap="none" spc="0" normalizeH="0" baseline="0" noProof="0" dirty="0">
                  <a:ln>
                    <a:noFill/>
                  </a:ln>
                  <a:solidFill>
                    <a:prstClr val="white"/>
                  </a:solidFill>
                  <a:effectLst/>
                  <a:uLnTx/>
                  <a:uFillTx/>
                  <a:ea typeface="宋体" panose="02010600030101010101" pitchFamily="2" charset="-122"/>
                </a:rPr>
                <a:t> Storage</a:t>
              </a:r>
            </a:p>
          </p:txBody>
        </p:sp>
        <p:sp>
          <p:nvSpPr>
            <p:cNvPr id="27" name="Line 11"/>
            <p:cNvSpPr>
              <a:spLocks noChangeShapeType="1"/>
            </p:cNvSpPr>
            <p:nvPr/>
          </p:nvSpPr>
          <p:spPr bwMode="auto">
            <a:xfrm rot="5400000">
              <a:off x="3843" y="2220"/>
              <a:ext cx="268" cy="2"/>
            </a:xfrm>
            <a:prstGeom prst="line">
              <a:avLst/>
            </a:prstGeom>
            <a:noFill/>
            <a:ln w="1905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grpSp>
      <p:grpSp>
        <p:nvGrpSpPr>
          <p:cNvPr id="28" name="Group 12"/>
          <p:cNvGrpSpPr>
            <a:grpSpLocks/>
          </p:cNvGrpSpPr>
          <p:nvPr/>
        </p:nvGrpSpPr>
        <p:grpSpPr bwMode="auto">
          <a:xfrm>
            <a:off x="2098184" y="5629501"/>
            <a:ext cx="5878513" cy="1101725"/>
            <a:chOff x="1328" y="3192"/>
            <a:chExt cx="3703" cy="694"/>
          </a:xfrm>
        </p:grpSpPr>
        <p:sp>
          <p:nvSpPr>
            <p:cNvPr id="29" name="Text Box 13"/>
            <p:cNvSpPr txBox="1">
              <a:spLocks noChangeArrowheads="1"/>
            </p:cNvSpPr>
            <p:nvPr/>
          </p:nvSpPr>
          <p:spPr bwMode="auto">
            <a:xfrm>
              <a:off x="1328" y="3208"/>
              <a:ext cx="3351" cy="446"/>
            </a:xfrm>
            <a:prstGeom prst="rect">
              <a:avLst/>
            </a:prstGeom>
            <a:gradFill rotWithShape="1">
              <a:gsLst>
                <a:gs pos="0">
                  <a:srgbClr val="0A5804"/>
                </a:gs>
                <a:gs pos="100000">
                  <a:srgbClr val="009900"/>
                </a:gs>
              </a:gsLst>
              <a:lin ang="5400000" scaled="1"/>
            </a:gradFill>
            <a:ln w="9525" algn="ctr">
              <a:solidFill>
                <a:srgbClr val="0A5804"/>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2880" tIns="137160" rIns="548640" bIns="137160">
              <a:spAutoFit/>
            </a:bodyPr>
            <a:lstStyle/>
            <a:p>
              <a:pPr algn="ctr"/>
              <a:r>
                <a:rPr lang="en-US" altLang="zh-CN" sz="1400" b="1" dirty="0">
                  <a:solidFill>
                    <a:prstClr val="white"/>
                  </a:solidFill>
                  <a:ea typeface="宋体" panose="02010600030101010101" pitchFamily="2" charset="-122"/>
                </a:rPr>
                <a:t>Cloud Computing is about moving computing from the single desktop pc/data centers to the internet.</a:t>
              </a:r>
            </a:p>
          </p:txBody>
        </p:sp>
        <p:pic>
          <p:nvPicPr>
            <p:cNvPr id="30" name="Picture 14" descr="MCj04298270000[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919217">
              <a:off x="4360" y="3192"/>
              <a:ext cx="671" cy="694"/>
            </a:xfrm>
            <a:prstGeom prst="rect">
              <a:avLst/>
            </a:prstGeom>
            <a:noFill/>
            <a:extLst>
              <a:ext uri="{909E8E84-426E-40DD-AFC4-6F175D3DCCD1}">
                <a14:hiddenFill xmlns:a14="http://schemas.microsoft.com/office/drawing/2010/main">
                  <a:solidFill>
                    <a:srgbClr val="FFFFFF"/>
                  </a:solidFill>
                </a14:hiddenFill>
              </a:ext>
            </a:extLst>
          </p:spPr>
        </p:pic>
      </p:grpSp>
      <p:sp>
        <p:nvSpPr>
          <p:cNvPr id="4" name="Slide Number Placeholder 3"/>
          <p:cNvSpPr>
            <a:spLocks noGrp="1"/>
          </p:cNvSpPr>
          <p:nvPr>
            <p:ph type="sldNum" sz="quarter" idx="12"/>
          </p:nvPr>
        </p:nvSpPr>
        <p:spPr/>
        <p:txBody>
          <a:bodyPr/>
          <a:lstStyle/>
          <a:p>
            <a:fld id="{2019AD06-451C-413E-AF31-86503C137FDF}" type="slidenum">
              <a:rPr lang="en-US" smtClean="0"/>
              <a:pPr/>
              <a:t>3</a:t>
            </a:fld>
            <a:endParaRPr lang="en-US"/>
          </a:p>
        </p:txBody>
      </p:sp>
    </p:spTree>
    <p:extLst>
      <p:ext uri="{BB962C8B-B14F-4D97-AF65-F5344CB8AC3E}">
        <p14:creationId xmlns:p14="http://schemas.microsoft.com/office/powerpoint/2010/main" val="1576753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0-#ppt_w/2"/>
                                          </p:val>
                                        </p:tav>
                                        <p:tav tm="100000">
                                          <p:val>
                                            <p:strVal val="#ppt_x"/>
                                          </p:val>
                                        </p:tav>
                                      </p:tavLst>
                                    </p:anim>
                                    <p:anim calcmode="lin" valueType="num">
                                      <p:cBhvr additive="base">
                                        <p:cTn id="8" dur="5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4"/>
                                        </p:tgtEl>
                                        <p:attrNameLst>
                                          <p:attrName>style.visibility</p:attrName>
                                        </p:attrNameLst>
                                      </p:cBhvr>
                                      <p:to>
                                        <p:strVal val="visible"/>
                                      </p:to>
                                    </p:set>
                                    <p:anim calcmode="lin" valueType="num">
                                      <p:cBhvr additive="base">
                                        <p:cTn id="13" dur="500" fill="hold"/>
                                        <p:tgtEl>
                                          <p:spTgt spid="24"/>
                                        </p:tgtEl>
                                        <p:attrNameLst>
                                          <p:attrName>ppt_x</p:attrName>
                                        </p:attrNameLst>
                                      </p:cBhvr>
                                      <p:tavLst>
                                        <p:tav tm="0">
                                          <p:val>
                                            <p:strVal val="#ppt_x"/>
                                          </p:val>
                                        </p:tav>
                                        <p:tav tm="100000">
                                          <p:val>
                                            <p:strVal val="#ppt_x"/>
                                          </p:val>
                                        </p:tav>
                                      </p:tavLst>
                                    </p:anim>
                                    <p:anim calcmode="lin" valueType="num">
                                      <p:cBhvr additive="base">
                                        <p:cTn id="14"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20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2"/>
          <p:cNvSpPr>
            <a:spLocks noGrp="1"/>
          </p:cNvSpPr>
          <p:nvPr>
            <p:ph type="title"/>
          </p:nvPr>
        </p:nvSpPr>
        <p:spPr>
          <a:xfrm>
            <a:off x="0" y="5624"/>
            <a:ext cx="12192000" cy="1325563"/>
          </a:xfrm>
          <a:solidFill>
            <a:schemeClr val="accent5"/>
          </a:solidFill>
        </p:spPr>
        <p:txBody>
          <a:bodyPr/>
          <a:lstStyle/>
          <a:p>
            <a:r>
              <a:rPr lang="en-AU" altLang="en-US" dirty="0">
                <a:latin typeface="Verdana" panose="020B0604030504040204" pitchFamily="34" charset="0"/>
                <a:ea typeface="Verdana" panose="020B0604030504040204" pitchFamily="34" charset="0"/>
                <a:cs typeface="Verdana" panose="020B0604030504040204" pitchFamily="34" charset="0"/>
              </a:rPr>
              <a:t>.</a:t>
            </a:r>
          </a:p>
        </p:txBody>
      </p:sp>
      <p:sp>
        <p:nvSpPr>
          <p:cNvPr id="7" name="Rectangle 2"/>
          <p:cNvSpPr txBox="1">
            <a:spLocks noChangeArrowheads="1"/>
          </p:cNvSpPr>
          <p:nvPr/>
        </p:nvSpPr>
        <p:spPr bwMode="auto">
          <a:xfrm>
            <a:off x="1219200" y="177800"/>
            <a:ext cx="7724775"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0" tIns="45692" rIns="91380" bIns="45692" numCol="1" anchor="ctr" anchorCtr="0" compatLnSpc="1">
            <a:prstTxWarp prst="textNoShape">
              <a:avLst/>
            </a:prstTxWarp>
          </a:bodyPr>
          <a:lstStyle>
            <a:lvl1pPr algn="ctr" rtl="0" eaLnBrk="0" fontAlgn="base" hangingPunct="0">
              <a:spcBef>
                <a:spcPct val="0"/>
              </a:spcBef>
              <a:spcAft>
                <a:spcPct val="0"/>
              </a:spcAft>
              <a:defRPr sz="3600">
                <a:solidFill>
                  <a:srgbClr val="FFFF00"/>
                </a:solidFill>
                <a:latin typeface="+mj-lt"/>
                <a:ea typeface="+mj-ea"/>
                <a:cs typeface="+mj-cs"/>
              </a:defRPr>
            </a:lvl1pPr>
            <a:lvl2pPr algn="ctr" rtl="0" eaLnBrk="0" fontAlgn="base" hangingPunct="0">
              <a:spcBef>
                <a:spcPct val="0"/>
              </a:spcBef>
              <a:spcAft>
                <a:spcPct val="0"/>
              </a:spcAft>
              <a:defRPr sz="3600">
                <a:solidFill>
                  <a:srgbClr val="FFFF00"/>
                </a:solidFill>
                <a:latin typeface="Verdana" pitchFamily="34" charset="0"/>
                <a:ea typeface="SimSun" pitchFamily="2" charset="-122"/>
              </a:defRPr>
            </a:lvl2pPr>
            <a:lvl3pPr algn="ctr" rtl="0" eaLnBrk="0" fontAlgn="base" hangingPunct="0">
              <a:spcBef>
                <a:spcPct val="0"/>
              </a:spcBef>
              <a:spcAft>
                <a:spcPct val="0"/>
              </a:spcAft>
              <a:defRPr sz="3600">
                <a:solidFill>
                  <a:srgbClr val="FFFF00"/>
                </a:solidFill>
                <a:latin typeface="Verdana" pitchFamily="34" charset="0"/>
                <a:ea typeface="SimSun" pitchFamily="2" charset="-122"/>
              </a:defRPr>
            </a:lvl3pPr>
            <a:lvl4pPr algn="ctr" rtl="0" eaLnBrk="0" fontAlgn="base" hangingPunct="0">
              <a:spcBef>
                <a:spcPct val="0"/>
              </a:spcBef>
              <a:spcAft>
                <a:spcPct val="0"/>
              </a:spcAft>
              <a:defRPr sz="3600">
                <a:solidFill>
                  <a:srgbClr val="FFFF00"/>
                </a:solidFill>
                <a:latin typeface="Verdana" pitchFamily="34" charset="0"/>
                <a:ea typeface="SimSun" pitchFamily="2" charset="-122"/>
              </a:defRPr>
            </a:lvl4pPr>
            <a:lvl5pPr algn="ctr" rtl="0" eaLnBrk="0" fontAlgn="base" hangingPunct="0">
              <a:spcBef>
                <a:spcPct val="0"/>
              </a:spcBef>
              <a:spcAft>
                <a:spcPct val="0"/>
              </a:spcAft>
              <a:defRPr sz="3600">
                <a:solidFill>
                  <a:srgbClr val="FFFF00"/>
                </a:solidFill>
                <a:latin typeface="Verdana" pitchFamily="34" charset="0"/>
                <a:ea typeface="SimSun" pitchFamily="2" charset="-122"/>
              </a:defRPr>
            </a:lvl5pPr>
            <a:lvl6pPr marL="457200" algn="ctr" rtl="0" fontAlgn="base">
              <a:spcBef>
                <a:spcPct val="0"/>
              </a:spcBef>
              <a:spcAft>
                <a:spcPct val="0"/>
              </a:spcAft>
              <a:defRPr sz="3600">
                <a:solidFill>
                  <a:srgbClr val="FFFF00"/>
                </a:solidFill>
                <a:latin typeface="Verdana" pitchFamily="34" charset="0"/>
                <a:ea typeface="SimSun" pitchFamily="2" charset="-122"/>
              </a:defRPr>
            </a:lvl6pPr>
            <a:lvl7pPr marL="914400" algn="ctr" rtl="0" fontAlgn="base">
              <a:spcBef>
                <a:spcPct val="0"/>
              </a:spcBef>
              <a:spcAft>
                <a:spcPct val="0"/>
              </a:spcAft>
              <a:defRPr sz="3600">
                <a:solidFill>
                  <a:srgbClr val="FFFF00"/>
                </a:solidFill>
                <a:latin typeface="Verdana" pitchFamily="34" charset="0"/>
                <a:ea typeface="SimSun" pitchFamily="2" charset="-122"/>
              </a:defRPr>
            </a:lvl7pPr>
            <a:lvl8pPr marL="1371600" algn="ctr" rtl="0" fontAlgn="base">
              <a:spcBef>
                <a:spcPct val="0"/>
              </a:spcBef>
              <a:spcAft>
                <a:spcPct val="0"/>
              </a:spcAft>
              <a:defRPr sz="3600">
                <a:solidFill>
                  <a:srgbClr val="FFFF00"/>
                </a:solidFill>
                <a:latin typeface="Verdana" pitchFamily="34" charset="0"/>
                <a:ea typeface="SimSun" pitchFamily="2" charset="-122"/>
              </a:defRPr>
            </a:lvl8pPr>
            <a:lvl9pPr marL="1828800" algn="ctr" rtl="0" fontAlgn="base">
              <a:spcBef>
                <a:spcPct val="0"/>
              </a:spcBef>
              <a:spcAft>
                <a:spcPct val="0"/>
              </a:spcAft>
              <a:defRPr sz="3600">
                <a:solidFill>
                  <a:srgbClr val="FFFF00"/>
                </a:solidFill>
                <a:latin typeface="Verdana" pitchFamily="34" charset="0"/>
                <a:ea typeface="SimSun"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AU" altLang="en-US" sz="3200" b="0" i="0" u="none" strike="noStrike" kern="0" cap="none" spc="0" normalizeH="0" baseline="0" noProof="0">
                <a:ln>
                  <a:noFill/>
                </a:ln>
                <a:solidFill>
                  <a:srgbClr val="FFFF00"/>
                </a:solidFill>
                <a:effectLst/>
                <a:uLnTx/>
                <a:uFillTx/>
                <a:latin typeface="Verdana"/>
                <a:ea typeface="SimSun"/>
                <a:cs typeface="+mj-cs"/>
              </a:rPr>
              <a:t>Defining Clouds: There are many views for what is cloud computing?</a:t>
            </a:r>
            <a:endParaRPr kumimoji="0" lang="en-US" altLang="en-US" sz="3200" b="0" i="0" u="none" strike="noStrike" kern="0" cap="none" spc="0" normalizeH="0" baseline="0" noProof="0" dirty="0">
              <a:ln>
                <a:noFill/>
              </a:ln>
              <a:solidFill>
                <a:srgbClr val="FFFF00"/>
              </a:solidFill>
              <a:effectLst/>
              <a:uLnTx/>
              <a:uFillTx/>
              <a:latin typeface="Verdana"/>
              <a:ea typeface="SimSun"/>
              <a:cs typeface="+mj-cs"/>
            </a:endParaRPr>
          </a:p>
        </p:txBody>
      </p:sp>
      <p:sp>
        <p:nvSpPr>
          <p:cNvPr id="9" name="Rectangle 3"/>
          <p:cNvSpPr txBox="1">
            <a:spLocks noChangeArrowheads="1"/>
          </p:cNvSpPr>
          <p:nvPr/>
        </p:nvSpPr>
        <p:spPr bwMode="auto">
          <a:xfrm>
            <a:off x="553792" y="1503362"/>
            <a:ext cx="11270345" cy="5086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0" tIns="45692" rIns="91380" bIns="45692" numCol="1" anchor="t" anchorCtr="0" compatLnSpc="1">
            <a:prstTxWarp prst="textNoShape">
              <a:avLst/>
            </a:prstTxWarp>
          </a:bodyPr>
          <a:lstStyle>
            <a:lvl1pPr marL="342900" indent="-342900" algn="l" rtl="0" eaLnBrk="0" fontAlgn="base" hangingPunct="0">
              <a:spcBef>
                <a:spcPct val="20000"/>
              </a:spcBef>
              <a:spcAft>
                <a:spcPct val="0"/>
              </a:spcAft>
              <a:buClr>
                <a:schemeClr val="accent2"/>
              </a:buClr>
              <a:buSzPct val="60000"/>
              <a:buFont typeface="Wingdings" panose="05000000000000000000" pitchFamily="2" charset="2"/>
              <a:buChar char="n"/>
              <a:defRPr sz="2800">
                <a:solidFill>
                  <a:srgbClr val="0000FF"/>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4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000">
                <a:solidFill>
                  <a:schemeClr val="tx1"/>
                </a:solidFill>
                <a:latin typeface="Times New Roman" pitchFamily="18" charset="0"/>
                <a:ea typeface="+mn-ea"/>
                <a:cs typeface="Times New Roman" pitchFamily="18" charset="0"/>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imes New Roman" pitchFamily="18" charset="0"/>
                <a:ea typeface="+mn-ea"/>
                <a:cs typeface="Times New Roman" pitchFamily="18" charset="0"/>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itchFamily="18" charset="0"/>
                <a:ea typeface="+mn-ea"/>
                <a:cs typeface="Times New Roman" pitchFamily="18" charset="0"/>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Times New Roman" pitchFamily="18" charset="0"/>
                <a:ea typeface="+mn-ea"/>
                <a:cs typeface="Times New Roman" pitchFamily="18" charset="0"/>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Times New Roman" pitchFamily="18" charset="0"/>
                <a:ea typeface="+mn-ea"/>
                <a:cs typeface="Times New Roman" pitchFamily="18" charset="0"/>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Times New Roman" pitchFamily="18" charset="0"/>
                <a:ea typeface="+mn-ea"/>
                <a:cs typeface="Times New Roman" pitchFamily="18" charset="0"/>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Times New Roman" pitchFamily="18" charset="0"/>
                <a:ea typeface="+mn-ea"/>
                <a:cs typeface="Times New Roman" pitchFamily="18" charset="0"/>
              </a:defRPr>
            </a:lvl9pPr>
          </a:lstStyle>
          <a:p>
            <a:pPr marL="342900" marR="0" lvl="0" indent="-342900" algn="l" defTabSz="914400" rtl="0" eaLnBrk="1" fontAlgn="base" latinLnBrk="0" hangingPunct="1">
              <a:lnSpc>
                <a:spcPct val="100000"/>
              </a:lnSpc>
              <a:spcBef>
                <a:spcPct val="20000"/>
              </a:spcBef>
              <a:spcAft>
                <a:spcPct val="0"/>
              </a:spcAft>
              <a:buClr>
                <a:srgbClr val="FFCF01"/>
              </a:buClr>
              <a:buSzPct val="60000"/>
              <a:buFont typeface="Wingdings" panose="05000000000000000000" pitchFamily="2" charset="2"/>
              <a:buChar char="n"/>
              <a:tabLst/>
              <a:defRPr/>
            </a:pPr>
            <a:r>
              <a:rPr kumimoji="0" lang="en-AU" altLang="en-US" sz="2400" b="0" i="0" u="none" strike="noStrike" kern="0" cap="none" spc="0" normalizeH="0" baseline="0" noProof="0" dirty="0">
                <a:ln>
                  <a:noFill/>
                </a:ln>
                <a:solidFill>
                  <a:srgbClr val="0000FF"/>
                </a:solidFill>
                <a:effectLst/>
                <a:uLnTx/>
                <a:uFillTx/>
                <a:latin typeface="Tahoma"/>
                <a:ea typeface="SimSun"/>
                <a:cs typeface="Tahoma"/>
              </a:rPr>
              <a:t>NIST</a:t>
            </a:r>
            <a:r>
              <a:rPr kumimoji="0" lang="en-AU" altLang="en-US" sz="2400" b="0" i="0" u="none" strike="noStrike" kern="0" cap="none" spc="0" normalizeH="0" noProof="0" dirty="0">
                <a:ln>
                  <a:noFill/>
                </a:ln>
                <a:solidFill>
                  <a:srgbClr val="0000FF"/>
                </a:solidFill>
                <a:effectLst/>
                <a:uLnTx/>
                <a:uFillTx/>
                <a:latin typeface="Tahoma"/>
                <a:ea typeface="SimSun"/>
                <a:cs typeface="Tahoma"/>
              </a:rPr>
              <a:t> DEFINITION</a:t>
            </a:r>
            <a:r>
              <a:rPr kumimoji="0" lang="en-AU" altLang="en-US" sz="2400" b="0" i="0" u="none" strike="noStrike" kern="0" cap="none" spc="0" normalizeH="0" baseline="0" noProof="0" dirty="0">
                <a:ln>
                  <a:noFill/>
                </a:ln>
                <a:solidFill>
                  <a:srgbClr val="0000FF"/>
                </a:solidFill>
                <a:effectLst/>
                <a:uLnTx/>
                <a:uFillTx/>
                <a:latin typeface="Tahoma"/>
                <a:ea typeface="SimSun"/>
                <a:cs typeface="Tahoma"/>
              </a:rPr>
              <a:t>:</a:t>
            </a:r>
          </a:p>
          <a:p>
            <a:pPr lvl="1" indent="-342900" algn="just" eaLnBrk="1" hangingPunct="1">
              <a:buClr>
                <a:srgbClr val="FFCF01"/>
              </a:buClr>
              <a:buSzPct val="60000"/>
              <a:buNone/>
              <a:defRPr/>
            </a:pPr>
            <a:r>
              <a:rPr lang="en-AU" altLang="en-US" sz="2000" kern="0" dirty="0">
                <a:latin typeface="Tahoma"/>
                <a:ea typeface="SimSun"/>
                <a:cs typeface="Tahoma"/>
              </a:rPr>
              <a:t>	</a:t>
            </a:r>
            <a:r>
              <a:rPr lang="en-AU" altLang="en-US" sz="2000" kern="0" dirty="0" err="1">
                <a:solidFill>
                  <a:schemeClr val="tx1"/>
                </a:solidFill>
                <a:latin typeface="Tahoma"/>
                <a:ea typeface="SimSun"/>
                <a:cs typeface="Tahoma"/>
              </a:rPr>
              <a:t>Accoprding</a:t>
            </a:r>
            <a:r>
              <a:rPr lang="en-AU" altLang="en-US" sz="2000" kern="0" dirty="0">
                <a:solidFill>
                  <a:schemeClr val="tx1"/>
                </a:solidFill>
                <a:latin typeface="Tahoma"/>
                <a:ea typeface="SimSun"/>
                <a:cs typeface="Tahoma"/>
              </a:rPr>
              <a:t> to NIST Special Publication 800-145, “Cloud computing is a model for enabling ubiquitous, convenient, on-demand network access to a shared pool of configurable computing resources (e.g. Networks, storage, memory, servers, applications, services etc.) that can be rapidly provisioned and de-provisioned with minimal management effort or service provider interaction.”</a:t>
            </a:r>
            <a:endParaRPr kumimoji="0" lang="en-AU" altLang="en-US" sz="2000" b="0" i="0" u="none" strike="noStrike" kern="0" cap="none" spc="0" normalizeH="0" baseline="0" noProof="0" dirty="0">
              <a:ln>
                <a:noFill/>
              </a:ln>
              <a:solidFill>
                <a:schemeClr val="tx1"/>
              </a:solidFill>
              <a:effectLst/>
              <a:uLnTx/>
              <a:uFillTx/>
              <a:latin typeface="Tahoma"/>
              <a:ea typeface="SimSun"/>
              <a:cs typeface="Tahoma"/>
            </a:endParaRPr>
          </a:p>
          <a:p>
            <a:pPr marL="342900" marR="0" lvl="0" indent="-342900" algn="l" defTabSz="914400" rtl="0" eaLnBrk="1" fontAlgn="base" latinLnBrk="0" hangingPunct="1">
              <a:lnSpc>
                <a:spcPct val="100000"/>
              </a:lnSpc>
              <a:spcBef>
                <a:spcPct val="20000"/>
              </a:spcBef>
              <a:spcAft>
                <a:spcPct val="0"/>
              </a:spcAft>
              <a:buClr>
                <a:srgbClr val="FFCF01"/>
              </a:buClr>
              <a:buSzPct val="60000"/>
              <a:buFont typeface="Wingdings" panose="05000000000000000000" pitchFamily="2" charset="2"/>
              <a:buChar char="n"/>
              <a:tabLst/>
              <a:defRPr/>
            </a:pPr>
            <a:r>
              <a:rPr kumimoji="0" lang="en-AU" altLang="en-US" sz="2400" b="0" i="0" u="none" strike="noStrike" kern="0" cap="none" spc="0" normalizeH="0" baseline="0" noProof="0" dirty="0" err="1">
                <a:ln>
                  <a:noFill/>
                </a:ln>
                <a:solidFill>
                  <a:srgbClr val="0000FF"/>
                </a:solidFill>
                <a:effectLst/>
                <a:uLnTx/>
                <a:uFillTx/>
                <a:latin typeface="Tahoma"/>
                <a:ea typeface="SimSun"/>
                <a:cs typeface="Tahoma"/>
              </a:rPr>
              <a:t>Buyya’s</a:t>
            </a:r>
            <a:r>
              <a:rPr kumimoji="0" lang="en-AU" altLang="en-US" sz="2400" b="0" i="0" u="none" strike="noStrike" kern="0" cap="none" spc="0" normalizeH="0" baseline="0" noProof="0" dirty="0">
                <a:ln>
                  <a:noFill/>
                </a:ln>
                <a:solidFill>
                  <a:srgbClr val="0000FF"/>
                </a:solidFill>
                <a:effectLst/>
                <a:uLnTx/>
                <a:uFillTx/>
                <a:latin typeface="Tahoma"/>
                <a:ea typeface="SimSun"/>
                <a:cs typeface="Tahoma"/>
              </a:rPr>
              <a:t> Scientific definition of Cloud Computing </a:t>
            </a:r>
            <a:r>
              <a:rPr kumimoji="0" lang="en-AU" altLang="en-US" sz="2400" b="0" i="0" u="none" strike="noStrike" kern="0" cap="none" spc="0" normalizeH="0" baseline="0" noProof="0" dirty="0">
                <a:ln>
                  <a:noFill/>
                </a:ln>
                <a:solidFill>
                  <a:srgbClr val="0000FF"/>
                </a:solidFill>
                <a:effectLst/>
                <a:uLnTx/>
                <a:uFillTx/>
                <a:latin typeface="Tahoma"/>
                <a:ea typeface="SimSun"/>
                <a:cs typeface="Tahoma"/>
                <a:sym typeface="Wingdings" panose="05000000000000000000" pitchFamily="2" charset="2"/>
              </a:rPr>
              <a:t></a:t>
            </a:r>
            <a:endParaRPr kumimoji="0" lang="en-US" altLang="en-US" sz="2400" b="0" i="0" u="none" strike="noStrike" kern="0" cap="none" spc="0" normalizeH="0" baseline="0" noProof="0" dirty="0">
              <a:ln>
                <a:noFill/>
              </a:ln>
              <a:solidFill>
                <a:srgbClr val="0000FF"/>
              </a:solidFill>
              <a:effectLst/>
              <a:uLnTx/>
              <a:uFillTx/>
              <a:latin typeface="Tahoma"/>
              <a:ea typeface="SimSun"/>
              <a:cs typeface="Tahoma"/>
            </a:endParaRPr>
          </a:p>
          <a:p>
            <a:pPr marL="742950" marR="0" lvl="1" indent="-285750" algn="just" defTabSz="914400" rtl="0" eaLnBrk="1" fontAlgn="base" latinLnBrk="0" hangingPunct="1">
              <a:lnSpc>
                <a:spcPct val="100000"/>
              </a:lnSpc>
              <a:spcBef>
                <a:spcPct val="20000"/>
              </a:spcBef>
              <a:spcAft>
                <a:spcPct val="0"/>
              </a:spcAft>
              <a:buClr>
                <a:srgbClr val="FF0000"/>
              </a:buClr>
              <a:buSzPct val="55000"/>
              <a:buFont typeface="Wingdings" panose="05000000000000000000" pitchFamily="2" charset="2"/>
              <a:buChar char="n"/>
              <a:tabLst/>
              <a:defRPr/>
            </a:pPr>
            <a:r>
              <a:rPr kumimoji="0" lang="en-US" altLang="en-US" sz="2000" b="0" i="0" u="none" strike="noStrike" kern="0" cap="none" spc="0" normalizeH="0" baseline="0" noProof="0" dirty="0">
                <a:ln>
                  <a:noFill/>
                </a:ln>
                <a:solidFill>
                  <a:srgbClr val="000000"/>
                </a:solidFill>
                <a:effectLst/>
                <a:uLnTx/>
                <a:uFillTx/>
                <a:latin typeface="Arial" pitchFamily="34" charset="0"/>
                <a:ea typeface="SimSun"/>
                <a:cs typeface="Arial" pitchFamily="34" charset="0"/>
              </a:rPr>
              <a:t>“Cloud is a </a:t>
            </a:r>
            <a:r>
              <a:rPr kumimoji="0" lang="en-US" altLang="en-US" sz="2000" b="1" i="0" u="none" strike="noStrike" kern="0" cap="none" spc="0" normalizeH="0" baseline="0" noProof="0" dirty="0">
                <a:ln>
                  <a:noFill/>
                </a:ln>
                <a:solidFill>
                  <a:srgbClr val="FF0000"/>
                </a:solidFill>
                <a:effectLst/>
                <a:uLnTx/>
                <a:uFillTx/>
                <a:latin typeface="Arial" pitchFamily="34" charset="0"/>
                <a:ea typeface="SimSun"/>
                <a:cs typeface="Arial" pitchFamily="34" charset="0"/>
              </a:rPr>
              <a:t>market-oriented</a:t>
            </a:r>
            <a:r>
              <a:rPr kumimoji="0" lang="en-US" altLang="en-US" sz="2000" b="0" i="0" u="none" strike="noStrike" kern="0" cap="none" spc="0" normalizeH="0" baseline="0" noProof="0" dirty="0">
                <a:ln>
                  <a:noFill/>
                </a:ln>
                <a:solidFill>
                  <a:srgbClr val="000000"/>
                </a:solidFill>
                <a:effectLst/>
                <a:uLnTx/>
                <a:uFillTx/>
                <a:latin typeface="Arial" pitchFamily="34" charset="0"/>
                <a:ea typeface="SimSun"/>
                <a:cs typeface="Arial" pitchFamily="34" charset="0"/>
              </a:rPr>
              <a:t> distributed computing system consisting of a collection of inter-connected and </a:t>
            </a:r>
            <a:r>
              <a:rPr kumimoji="0" lang="en-US" altLang="en-US" sz="2000" b="1" i="0" u="sng" strike="noStrike" kern="0" cap="none" spc="0" normalizeH="0" baseline="0" noProof="0" dirty="0" err="1">
                <a:ln>
                  <a:noFill/>
                </a:ln>
                <a:solidFill>
                  <a:srgbClr val="FF0000"/>
                </a:solidFill>
                <a:effectLst/>
                <a:uLnTx/>
                <a:uFillTx/>
                <a:latin typeface="Arial" pitchFamily="34" charset="0"/>
                <a:ea typeface="SimSun"/>
                <a:cs typeface="Arial" pitchFamily="34" charset="0"/>
              </a:rPr>
              <a:t>virtualised</a:t>
            </a:r>
            <a:r>
              <a:rPr kumimoji="0" lang="en-US" altLang="en-US" sz="2000" b="1" i="0" u="none" strike="noStrike" kern="0" cap="none" spc="0" normalizeH="0" baseline="0" noProof="0" dirty="0">
                <a:ln>
                  <a:noFill/>
                </a:ln>
                <a:solidFill>
                  <a:srgbClr val="000000"/>
                </a:solidFill>
                <a:effectLst/>
                <a:uLnTx/>
                <a:uFillTx/>
                <a:latin typeface="Arial" pitchFamily="34" charset="0"/>
                <a:ea typeface="SimSun"/>
                <a:cs typeface="Arial" pitchFamily="34" charset="0"/>
              </a:rPr>
              <a:t> </a:t>
            </a:r>
            <a:r>
              <a:rPr kumimoji="0" lang="en-US" altLang="en-US" sz="2000" b="0" i="0" u="none" strike="noStrike" kern="0" cap="none" spc="0" normalizeH="0" baseline="0" noProof="0" dirty="0">
                <a:ln>
                  <a:noFill/>
                </a:ln>
                <a:solidFill>
                  <a:srgbClr val="000000"/>
                </a:solidFill>
                <a:effectLst/>
                <a:uLnTx/>
                <a:uFillTx/>
                <a:latin typeface="Arial" pitchFamily="34" charset="0"/>
                <a:ea typeface="SimSun"/>
                <a:cs typeface="Arial" pitchFamily="34" charset="0"/>
              </a:rPr>
              <a:t>computers that are </a:t>
            </a:r>
            <a:r>
              <a:rPr kumimoji="0" lang="en-US" altLang="en-US" sz="2000" b="1" i="0" u="sng" strike="noStrike" kern="0" cap="none" spc="0" normalizeH="0" baseline="0" noProof="0" dirty="0">
                <a:ln>
                  <a:noFill/>
                </a:ln>
                <a:solidFill>
                  <a:srgbClr val="FF0000"/>
                </a:solidFill>
                <a:effectLst/>
                <a:uLnTx/>
                <a:uFillTx/>
                <a:latin typeface="Arial" pitchFamily="34" charset="0"/>
                <a:ea typeface="SimSun"/>
                <a:cs typeface="Arial" pitchFamily="34" charset="0"/>
              </a:rPr>
              <a:t>dynamically provisioned</a:t>
            </a:r>
            <a:r>
              <a:rPr kumimoji="0" lang="en-US" altLang="en-US" sz="2000" b="0" i="0" u="none" strike="noStrike" kern="0" cap="none" spc="0" normalizeH="0" baseline="0" noProof="0" dirty="0">
                <a:ln>
                  <a:noFill/>
                </a:ln>
                <a:solidFill>
                  <a:srgbClr val="FF0000"/>
                </a:solidFill>
                <a:effectLst/>
                <a:uLnTx/>
                <a:uFillTx/>
                <a:latin typeface="Arial" pitchFamily="34" charset="0"/>
                <a:ea typeface="SimSun"/>
                <a:cs typeface="Arial" pitchFamily="34" charset="0"/>
              </a:rPr>
              <a:t> </a:t>
            </a:r>
            <a:r>
              <a:rPr kumimoji="0" lang="en-US" altLang="en-US" sz="2000" b="0" i="0" u="none" strike="noStrike" kern="0" cap="none" spc="0" normalizeH="0" baseline="0" noProof="0" dirty="0">
                <a:ln>
                  <a:noFill/>
                </a:ln>
                <a:solidFill>
                  <a:srgbClr val="000000"/>
                </a:solidFill>
                <a:effectLst/>
                <a:uLnTx/>
                <a:uFillTx/>
                <a:latin typeface="Arial" pitchFamily="34" charset="0"/>
                <a:ea typeface="SimSun"/>
                <a:cs typeface="Arial" pitchFamily="34" charset="0"/>
              </a:rPr>
              <a:t>and presented as one or more unified computing resources based on </a:t>
            </a:r>
            <a:r>
              <a:rPr kumimoji="0" lang="en-US" altLang="en-US" sz="2000" b="1" i="0" u="sng" strike="noStrike" kern="0" cap="none" spc="0" normalizeH="0" baseline="0" noProof="0" dirty="0">
                <a:ln>
                  <a:noFill/>
                </a:ln>
                <a:solidFill>
                  <a:srgbClr val="FF0000"/>
                </a:solidFill>
                <a:effectLst/>
                <a:uLnTx/>
                <a:uFillTx/>
                <a:latin typeface="Arial" pitchFamily="34" charset="0"/>
                <a:ea typeface="SimSun"/>
                <a:cs typeface="Arial" pitchFamily="34" charset="0"/>
              </a:rPr>
              <a:t>service-level agreements (SLAs)</a:t>
            </a:r>
            <a:r>
              <a:rPr kumimoji="0" lang="en-US" altLang="en-US" sz="2000" b="0" i="0" u="none" strike="noStrike" kern="0" cap="none" spc="0" normalizeH="0" baseline="0" noProof="0" dirty="0">
                <a:ln>
                  <a:noFill/>
                </a:ln>
                <a:solidFill>
                  <a:srgbClr val="000000"/>
                </a:solidFill>
                <a:effectLst/>
                <a:uLnTx/>
                <a:uFillTx/>
                <a:latin typeface="Arial" pitchFamily="34" charset="0"/>
                <a:ea typeface="SimSun"/>
                <a:cs typeface="Arial" pitchFamily="34" charset="0"/>
              </a:rPr>
              <a:t> established through </a:t>
            </a:r>
            <a:r>
              <a:rPr kumimoji="0" lang="en-US" altLang="en-US" sz="2000" b="1" i="0" u="sng" strike="noStrike" kern="0" cap="none" spc="0" normalizeH="0" baseline="0" noProof="0" dirty="0">
                <a:ln>
                  <a:noFill/>
                </a:ln>
                <a:solidFill>
                  <a:srgbClr val="000000"/>
                </a:solidFill>
                <a:effectLst/>
                <a:uLnTx/>
                <a:uFillTx/>
                <a:latin typeface="Arial" pitchFamily="34" charset="0"/>
                <a:ea typeface="SimSun"/>
                <a:cs typeface="Arial" pitchFamily="34" charset="0"/>
              </a:rPr>
              <a:t>negotiation</a:t>
            </a:r>
            <a:r>
              <a:rPr kumimoji="0" lang="en-US" altLang="en-US" sz="2000" b="1" i="0" u="none" strike="noStrike" kern="0" cap="none" spc="0" normalizeH="0" baseline="0" noProof="0" dirty="0">
                <a:ln>
                  <a:noFill/>
                </a:ln>
                <a:solidFill>
                  <a:srgbClr val="000000"/>
                </a:solidFill>
                <a:effectLst/>
                <a:uLnTx/>
                <a:uFillTx/>
                <a:latin typeface="Arial" pitchFamily="34" charset="0"/>
                <a:ea typeface="SimSun"/>
                <a:cs typeface="Arial" pitchFamily="34" charset="0"/>
              </a:rPr>
              <a:t> </a:t>
            </a:r>
            <a:r>
              <a:rPr kumimoji="0" lang="en-US" altLang="en-US" sz="2000" b="0" i="0" u="none" strike="noStrike" kern="0" cap="none" spc="0" normalizeH="0" baseline="0" noProof="0" dirty="0">
                <a:ln>
                  <a:noFill/>
                </a:ln>
                <a:solidFill>
                  <a:srgbClr val="000000"/>
                </a:solidFill>
                <a:effectLst/>
                <a:uLnTx/>
                <a:uFillTx/>
                <a:latin typeface="Arial" pitchFamily="34" charset="0"/>
                <a:ea typeface="SimSun"/>
                <a:cs typeface="Arial" pitchFamily="34" charset="0"/>
              </a:rPr>
              <a:t>between the service provider and consumers.”</a:t>
            </a:r>
          </a:p>
          <a:p>
            <a:pPr marL="742950" marR="0" lvl="1" indent="-285750" algn="just" defTabSz="914400" rtl="0" eaLnBrk="1" fontAlgn="base" latinLnBrk="0" hangingPunct="1">
              <a:lnSpc>
                <a:spcPct val="100000"/>
              </a:lnSpc>
              <a:spcBef>
                <a:spcPct val="20000"/>
              </a:spcBef>
              <a:spcAft>
                <a:spcPct val="0"/>
              </a:spcAft>
              <a:buClr>
                <a:srgbClr val="FF0000"/>
              </a:buClr>
              <a:buSzPct val="55000"/>
              <a:buFont typeface="Wingdings" panose="05000000000000000000" pitchFamily="2" charset="2"/>
              <a:buChar char="n"/>
              <a:tabLst/>
              <a:defRPr/>
            </a:pPr>
            <a:r>
              <a:rPr kumimoji="0" lang="en-AU" altLang="en-US" sz="2000" b="0" i="0" u="none" strike="noStrike" kern="0" cap="none" spc="0" normalizeH="0" baseline="0" noProof="0" dirty="0">
                <a:ln>
                  <a:noFill/>
                </a:ln>
                <a:solidFill>
                  <a:srgbClr val="000000"/>
                </a:solidFill>
                <a:effectLst/>
                <a:uLnTx/>
                <a:uFillTx/>
                <a:latin typeface="Arial" pitchFamily="34" charset="0"/>
                <a:ea typeface="SimSun"/>
                <a:cs typeface="Arial" pitchFamily="34" charset="0"/>
              </a:rPr>
              <a:t>SLA = {negotiated and agreed </a:t>
            </a:r>
            <a:r>
              <a:rPr kumimoji="0" lang="en-AU" altLang="en-US" sz="2000" b="0" i="0" u="none" strike="noStrike" kern="0" cap="none" spc="0" normalizeH="0" baseline="0" noProof="0" dirty="0" err="1">
                <a:ln>
                  <a:noFill/>
                </a:ln>
                <a:solidFill>
                  <a:srgbClr val="000000"/>
                </a:solidFill>
                <a:effectLst/>
                <a:uLnTx/>
                <a:uFillTx/>
                <a:latin typeface="Arial" pitchFamily="34" charset="0"/>
                <a:ea typeface="SimSun"/>
                <a:cs typeface="Arial" pitchFamily="34" charset="0"/>
              </a:rPr>
              <a:t>QoS</a:t>
            </a:r>
            <a:r>
              <a:rPr kumimoji="0" lang="en-AU" altLang="en-US" sz="2000" b="0" i="0" u="none" strike="noStrike" kern="0" cap="none" spc="0" normalizeH="0" baseline="0" noProof="0" dirty="0">
                <a:ln>
                  <a:noFill/>
                </a:ln>
                <a:solidFill>
                  <a:srgbClr val="000000"/>
                </a:solidFill>
                <a:effectLst/>
                <a:uLnTx/>
                <a:uFillTx/>
                <a:latin typeface="Arial" pitchFamily="34" charset="0"/>
                <a:ea typeface="SimSun"/>
                <a:cs typeface="Arial" pitchFamily="34" charset="0"/>
              </a:rPr>
              <a:t> parameters + rewards + penalties for violation of agreement....}</a:t>
            </a:r>
            <a:endParaRPr kumimoji="0" lang="en-US" altLang="en-US" sz="2000" b="0" i="0" u="none" strike="noStrike" kern="0" cap="none" spc="0" normalizeH="0" baseline="0" noProof="0" dirty="0">
              <a:ln>
                <a:noFill/>
              </a:ln>
              <a:solidFill>
                <a:srgbClr val="000000"/>
              </a:solidFill>
              <a:effectLst/>
              <a:uLnTx/>
              <a:uFillTx/>
              <a:latin typeface="Arial" pitchFamily="34" charset="0"/>
              <a:ea typeface="SimSun"/>
              <a:cs typeface="Arial" pitchFamily="34" charset="0"/>
            </a:endParaRPr>
          </a:p>
        </p:txBody>
      </p:sp>
      <p:sp>
        <p:nvSpPr>
          <p:cNvPr id="5" name="Slide Number Placeholder 4"/>
          <p:cNvSpPr>
            <a:spLocks noGrp="1"/>
          </p:cNvSpPr>
          <p:nvPr>
            <p:ph type="sldNum" sz="quarter" idx="12"/>
          </p:nvPr>
        </p:nvSpPr>
        <p:spPr/>
        <p:txBody>
          <a:bodyPr/>
          <a:lstStyle/>
          <a:p>
            <a:fld id="{2019AD06-451C-413E-AF31-86503C137FDF}" type="slidenum">
              <a:rPr lang="en-US" smtClean="0"/>
              <a:pPr/>
              <a:t>4</a:t>
            </a:fld>
            <a:endParaRPr lang="en-US"/>
          </a:p>
        </p:txBody>
      </p:sp>
    </p:spTree>
    <p:extLst>
      <p:ext uri="{BB962C8B-B14F-4D97-AF65-F5344CB8AC3E}">
        <p14:creationId xmlns:p14="http://schemas.microsoft.com/office/powerpoint/2010/main" val="462588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2"/>
          <p:cNvSpPr>
            <a:spLocks noGrp="1"/>
          </p:cNvSpPr>
          <p:nvPr>
            <p:ph type="title"/>
          </p:nvPr>
        </p:nvSpPr>
        <p:spPr>
          <a:xfrm>
            <a:off x="0" y="5624"/>
            <a:ext cx="12192000" cy="1325563"/>
          </a:xfrm>
          <a:solidFill>
            <a:schemeClr val="accent5"/>
          </a:solidFill>
        </p:spPr>
        <p:txBody>
          <a:bodyPr/>
          <a:lstStyle/>
          <a:p>
            <a:r>
              <a:rPr lang="en-AU" altLang="en-US" dirty="0">
                <a:latin typeface="Verdana" panose="020B0604030504040204" pitchFamily="34" charset="0"/>
                <a:ea typeface="Verdana" panose="020B0604030504040204" pitchFamily="34" charset="0"/>
                <a:cs typeface="Verdana" panose="020B0604030504040204" pitchFamily="34" charset="0"/>
              </a:rPr>
              <a:t>.</a:t>
            </a:r>
          </a:p>
        </p:txBody>
      </p:sp>
      <p:sp>
        <p:nvSpPr>
          <p:cNvPr id="7" name="Rectangle 2"/>
          <p:cNvSpPr txBox="1">
            <a:spLocks noChangeArrowheads="1"/>
          </p:cNvSpPr>
          <p:nvPr/>
        </p:nvSpPr>
        <p:spPr bwMode="auto">
          <a:xfrm>
            <a:off x="1219200" y="177800"/>
            <a:ext cx="7724775"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0" tIns="45692" rIns="91380" bIns="45692" numCol="1" anchor="ctr" anchorCtr="0" compatLnSpc="1">
            <a:prstTxWarp prst="textNoShape">
              <a:avLst/>
            </a:prstTxWarp>
          </a:bodyPr>
          <a:lstStyle>
            <a:lvl1pPr algn="ctr" rtl="0" eaLnBrk="0" fontAlgn="base" hangingPunct="0">
              <a:spcBef>
                <a:spcPct val="0"/>
              </a:spcBef>
              <a:spcAft>
                <a:spcPct val="0"/>
              </a:spcAft>
              <a:defRPr sz="3600">
                <a:solidFill>
                  <a:srgbClr val="FFFF00"/>
                </a:solidFill>
                <a:latin typeface="+mj-lt"/>
                <a:ea typeface="+mj-ea"/>
                <a:cs typeface="+mj-cs"/>
              </a:defRPr>
            </a:lvl1pPr>
            <a:lvl2pPr algn="ctr" rtl="0" eaLnBrk="0" fontAlgn="base" hangingPunct="0">
              <a:spcBef>
                <a:spcPct val="0"/>
              </a:spcBef>
              <a:spcAft>
                <a:spcPct val="0"/>
              </a:spcAft>
              <a:defRPr sz="3600">
                <a:solidFill>
                  <a:srgbClr val="FFFF00"/>
                </a:solidFill>
                <a:latin typeface="Verdana" pitchFamily="34" charset="0"/>
                <a:ea typeface="SimSun" pitchFamily="2" charset="-122"/>
              </a:defRPr>
            </a:lvl2pPr>
            <a:lvl3pPr algn="ctr" rtl="0" eaLnBrk="0" fontAlgn="base" hangingPunct="0">
              <a:spcBef>
                <a:spcPct val="0"/>
              </a:spcBef>
              <a:spcAft>
                <a:spcPct val="0"/>
              </a:spcAft>
              <a:defRPr sz="3600">
                <a:solidFill>
                  <a:srgbClr val="FFFF00"/>
                </a:solidFill>
                <a:latin typeface="Verdana" pitchFamily="34" charset="0"/>
                <a:ea typeface="SimSun" pitchFamily="2" charset="-122"/>
              </a:defRPr>
            </a:lvl3pPr>
            <a:lvl4pPr algn="ctr" rtl="0" eaLnBrk="0" fontAlgn="base" hangingPunct="0">
              <a:spcBef>
                <a:spcPct val="0"/>
              </a:spcBef>
              <a:spcAft>
                <a:spcPct val="0"/>
              </a:spcAft>
              <a:defRPr sz="3600">
                <a:solidFill>
                  <a:srgbClr val="FFFF00"/>
                </a:solidFill>
                <a:latin typeface="Verdana" pitchFamily="34" charset="0"/>
                <a:ea typeface="SimSun" pitchFamily="2" charset="-122"/>
              </a:defRPr>
            </a:lvl4pPr>
            <a:lvl5pPr algn="ctr" rtl="0" eaLnBrk="0" fontAlgn="base" hangingPunct="0">
              <a:spcBef>
                <a:spcPct val="0"/>
              </a:spcBef>
              <a:spcAft>
                <a:spcPct val="0"/>
              </a:spcAft>
              <a:defRPr sz="3600">
                <a:solidFill>
                  <a:srgbClr val="FFFF00"/>
                </a:solidFill>
                <a:latin typeface="Verdana" pitchFamily="34" charset="0"/>
                <a:ea typeface="SimSun" pitchFamily="2" charset="-122"/>
              </a:defRPr>
            </a:lvl5pPr>
            <a:lvl6pPr marL="457200" algn="ctr" rtl="0" fontAlgn="base">
              <a:spcBef>
                <a:spcPct val="0"/>
              </a:spcBef>
              <a:spcAft>
                <a:spcPct val="0"/>
              </a:spcAft>
              <a:defRPr sz="3600">
                <a:solidFill>
                  <a:srgbClr val="FFFF00"/>
                </a:solidFill>
                <a:latin typeface="Verdana" pitchFamily="34" charset="0"/>
                <a:ea typeface="SimSun" pitchFamily="2" charset="-122"/>
              </a:defRPr>
            </a:lvl6pPr>
            <a:lvl7pPr marL="914400" algn="ctr" rtl="0" fontAlgn="base">
              <a:spcBef>
                <a:spcPct val="0"/>
              </a:spcBef>
              <a:spcAft>
                <a:spcPct val="0"/>
              </a:spcAft>
              <a:defRPr sz="3600">
                <a:solidFill>
                  <a:srgbClr val="FFFF00"/>
                </a:solidFill>
                <a:latin typeface="Verdana" pitchFamily="34" charset="0"/>
                <a:ea typeface="SimSun" pitchFamily="2" charset="-122"/>
              </a:defRPr>
            </a:lvl7pPr>
            <a:lvl8pPr marL="1371600" algn="ctr" rtl="0" fontAlgn="base">
              <a:spcBef>
                <a:spcPct val="0"/>
              </a:spcBef>
              <a:spcAft>
                <a:spcPct val="0"/>
              </a:spcAft>
              <a:defRPr sz="3600">
                <a:solidFill>
                  <a:srgbClr val="FFFF00"/>
                </a:solidFill>
                <a:latin typeface="Verdana" pitchFamily="34" charset="0"/>
                <a:ea typeface="SimSun" pitchFamily="2" charset="-122"/>
              </a:defRPr>
            </a:lvl8pPr>
            <a:lvl9pPr marL="1828800" algn="ctr" rtl="0" fontAlgn="base">
              <a:spcBef>
                <a:spcPct val="0"/>
              </a:spcBef>
              <a:spcAft>
                <a:spcPct val="0"/>
              </a:spcAft>
              <a:defRPr sz="3600">
                <a:solidFill>
                  <a:srgbClr val="FFFF00"/>
                </a:solidFill>
                <a:latin typeface="Verdana" pitchFamily="34" charset="0"/>
                <a:ea typeface="SimSun"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AU" altLang="en-US" sz="3200" b="0" i="0" u="none" strike="noStrike" kern="0" cap="none" spc="0" normalizeH="0" baseline="0" noProof="0" dirty="0">
                <a:ln>
                  <a:noFill/>
                </a:ln>
                <a:solidFill>
                  <a:srgbClr val="FFFF00"/>
                </a:solidFill>
                <a:effectLst/>
                <a:uLnTx/>
                <a:uFillTx/>
                <a:latin typeface="Verdana"/>
                <a:ea typeface="SimSun"/>
                <a:cs typeface="+mj-cs"/>
              </a:rPr>
              <a:t>Cloud Computing :</a:t>
            </a:r>
            <a:r>
              <a:rPr kumimoji="0" lang="en-AU" altLang="en-US" sz="3200" b="0" i="0" u="none" strike="noStrike" kern="0" cap="none" spc="0" normalizeH="0" noProof="0" dirty="0">
                <a:ln>
                  <a:noFill/>
                </a:ln>
                <a:solidFill>
                  <a:srgbClr val="FFFF00"/>
                </a:solidFill>
                <a:effectLst/>
                <a:uLnTx/>
                <a:uFillTx/>
                <a:latin typeface="Verdana"/>
                <a:ea typeface="SimSun"/>
                <a:cs typeface="+mj-cs"/>
              </a:rPr>
              <a:t> Buzzword</a:t>
            </a:r>
            <a:endParaRPr kumimoji="0" lang="en-US" altLang="en-US" sz="3200" b="0" i="0" u="none" strike="noStrike" kern="0" cap="none" spc="0" normalizeH="0" baseline="0" noProof="0" dirty="0">
              <a:ln>
                <a:noFill/>
              </a:ln>
              <a:solidFill>
                <a:srgbClr val="FFFF00"/>
              </a:solidFill>
              <a:effectLst/>
              <a:uLnTx/>
              <a:uFillTx/>
              <a:latin typeface="Verdana"/>
              <a:ea typeface="SimSun"/>
              <a:cs typeface="+mj-cs"/>
            </a:endParaRPr>
          </a:p>
        </p:txBody>
      </p:sp>
      <p:sp>
        <p:nvSpPr>
          <p:cNvPr id="8" name="Slide Number Placeholder 5"/>
          <p:cNvSpPr>
            <a:spLocks noGrp="1"/>
          </p:cNvSpPr>
          <p:nvPr>
            <p:ph type="sldNum" sz="quarter" idx="12"/>
          </p:nvPr>
        </p:nvSpPr>
        <p:spPr>
          <a:xfrm>
            <a:off x="6939570" y="6356350"/>
            <a:ext cx="2133600" cy="365125"/>
          </a:xfrm>
        </p:spPr>
        <p:txBody>
          <a:bodyPr/>
          <a:lstStyle/>
          <a:p>
            <a:fld id="{30D241FA-7412-43EF-83F0-D61B466081DE}" type="slidenum">
              <a:rPr lang="en-US" altLang="en-US"/>
              <a:pPr/>
              <a:t>5</a:t>
            </a:fld>
            <a:endParaRPr lang="en-US" altLang="en-US"/>
          </a:p>
        </p:txBody>
      </p:sp>
      <p:sp>
        <p:nvSpPr>
          <p:cNvPr id="11" name="Rectangle 3"/>
          <p:cNvSpPr txBox="1">
            <a:spLocks noChangeArrowheads="1"/>
          </p:cNvSpPr>
          <p:nvPr/>
        </p:nvSpPr>
        <p:spPr>
          <a:xfrm>
            <a:off x="1037245" y="1606550"/>
            <a:ext cx="8077200" cy="4456113"/>
          </a:xfrm>
          <a:prstGeom prst="rect">
            <a:avLst/>
          </a:prstGeom>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r>
              <a:rPr lang="en-US" altLang="en-US" sz="3600">
                <a:solidFill>
                  <a:srgbClr val="DDDDDD"/>
                </a:solidFill>
              </a:rPr>
              <a:t>.</a:t>
            </a:r>
            <a:endParaRPr lang="en-US" altLang="en-US" sz="3600" dirty="0">
              <a:solidFill>
                <a:srgbClr val="DDDDDD"/>
              </a:solidFill>
            </a:endParaRPr>
          </a:p>
        </p:txBody>
      </p:sp>
      <p:sp>
        <p:nvSpPr>
          <p:cNvPr id="12" name="Cloud"/>
          <p:cNvSpPr>
            <a:spLocks noChangeAspect="1" noEditPoints="1" noChangeArrowheads="1"/>
          </p:cNvSpPr>
          <p:nvPr/>
        </p:nvSpPr>
        <p:spPr bwMode="auto">
          <a:xfrm>
            <a:off x="3526445" y="4624388"/>
            <a:ext cx="2997200" cy="2008187"/>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0" y="11192"/>
                  <a:pt x="409" y="12169"/>
                  <a:pt x="1074" y="12702"/>
                </a:cubicBezTo>
                <a:lnTo>
                  <a:pt x="1063" y="12668"/>
                </a:lnTo>
                <a:cubicBezTo>
                  <a:pt x="685" y="13217"/>
                  <a:pt x="475" y="13940"/>
                  <a:pt x="475" y="14690"/>
                </a:cubicBezTo>
                <a:cubicBezTo>
                  <a:pt x="475" y="16325"/>
                  <a:pt x="1451" y="17650"/>
                  <a:pt x="2655" y="17650"/>
                </a:cubicBezTo>
                <a:cubicBezTo>
                  <a:pt x="2739" y="17649"/>
                  <a:pt x="2824" y="17643"/>
                  <a:pt x="2909" y="17629"/>
                </a:cubicBezTo>
                <a:lnTo>
                  <a:pt x="2897" y="17649"/>
                </a:lnTo>
                <a:cubicBezTo>
                  <a:pt x="3585" y="19288"/>
                  <a:pt x="4863" y="20299"/>
                  <a:pt x="6247" y="20299"/>
                </a:cubicBezTo>
                <a:cubicBezTo>
                  <a:pt x="6947" y="20299"/>
                  <a:pt x="7635" y="20039"/>
                  <a:pt x="8235" y="19546"/>
                </a:cubicBezTo>
                <a:lnTo>
                  <a:pt x="8229" y="19550"/>
                </a:lnTo>
                <a:cubicBezTo>
                  <a:pt x="8855" y="20829"/>
                  <a:pt x="9908" y="21596"/>
                  <a:pt x="11036" y="21596"/>
                </a:cubicBezTo>
                <a:cubicBezTo>
                  <a:pt x="12523" y="21596"/>
                  <a:pt x="13836" y="20267"/>
                  <a:pt x="14267" y="18324"/>
                </a:cubicBezTo>
                <a:lnTo>
                  <a:pt x="14270" y="18350"/>
                </a:lnTo>
                <a:cubicBezTo>
                  <a:pt x="14730" y="18740"/>
                  <a:pt x="15260" y="18946"/>
                  <a:pt x="15802" y="18946"/>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0"/>
                  <a:pt x="15367" y="426"/>
                  <a:pt x="14905" y="1165"/>
                </a:cubicBezTo>
                <a:lnTo>
                  <a:pt x="14909" y="1170"/>
                </a:lnTo>
                <a:cubicBezTo>
                  <a:pt x="14497" y="432"/>
                  <a:pt x="13855" y="0"/>
                  <a:pt x="13174" y="0"/>
                </a:cubicBezTo>
                <a:cubicBezTo>
                  <a:pt x="12347" y="0"/>
                  <a:pt x="11590" y="637"/>
                  <a:pt x="11221" y="1645"/>
                </a:cubicBezTo>
                <a:lnTo>
                  <a:pt x="11229" y="1694"/>
                </a:lnTo>
                <a:cubicBezTo>
                  <a:pt x="10730" y="1024"/>
                  <a:pt x="10058" y="650"/>
                  <a:pt x="9358" y="650"/>
                </a:cubicBezTo>
                <a:cubicBezTo>
                  <a:pt x="8372" y="650"/>
                  <a:pt x="7466" y="1391"/>
                  <a:pt x="7003" y="2578"/>
                </a:cubicBezTo>
                <a:lnTo>
                  <a:pt x="6995" y="2602"/>
                </a:lnTo>
                <a:cubicBezTo>
                  <a:pt x="6477" y="2189"/>
                  <a:pt x="5888" y="1972"/>
                  <a:pt x="5288" y="1972"/>
                </a:cubicBezTo>
                <a:cubicBezTo>
                  <a:pt x="3423" y="1972"/>
                  <a:pt x="1912" y="4029"/>
                  <a:pt x="1912" y="6567"/>
                </a:cubicBezTo>
                <a:cubicBezTo>
                  <a:pt x="1912" y="6774"/>
                  <a:pt x="1922" y="6981"/>
                  <a:pt x="1942" y="7186"/>
                </a:cubicBezTo>
                <a:close/>
              </a:path>
              <a:path w="21600" h="21600" fill="none" extrusionOk="0">
                <a:moveTo>
                  <a:pt x="1074" y="12702"/>
                </a:moveTo>
                <a:cubicBezTo>
                  <a:pt x="1407" y="12969"/>
                  <a:pt x="1786" y="13109"/>
                  <a:pt x="2172" y="13109"/>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gradFill rotWithShape="1">
            <a:gsLst>
              <a:gs pos="0">
                <a:srgbClr val="FFFFFF"/>
              </a:gs>
              <a:gs pos="100000">
                <a:srgbClr val="C0C0C0"/>
              </a:gs>
            </a:gsLst>
            <a:lin ang="5400000" scaled="1"/>
          </a:gradFill>
          <a:ln w="9525">
            <a:solidFill>
              <a:srgbClr val="000000"/>
            </a:solidFill>
            <a:miter lim="800000"/>
            <a:headEnd/>
            <a:tailEnd/>
          </a:ln>
          <a:effectLst>
            <a:outerShdw dist="53882" dir="2700000" algn="ctr" rotWithShape="0">
              <a:srgbClr val="777777"/>
            </a:outerShdw>
          </a:effectLst>
        </p:spPr>
        <p:txBody>
          <a:bodyPr/>
          <a:lstStyle/>
          <a:p>
            <a:pPr algn="r"/>
            <a:endParaRPr lang="en-US" altLang="en-US"/>
          </a:p>
        </p:txBody>
      </p:sp>
      <p:sp>
        <p:nvSpPr>
          <p:cNvPr id="13" name="Cloud"/>
          <p:cNvSpPr>
            <a:spLocks noChangeAspect="1" noEditPoints="1" noChangeArrowheads="1"/>
          </p:cNvSpPr>
          <p:nvPr/>
        </p:nvSpPr>
        <p:spPr bwMode="auto">
          <a:xfrm>
            <a:off x="6091845" y="1131888"/>
            <a:ext cx="2997200" cy="2008187"/>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0" y="11192"/>
                  <a:pt x="409" y="12169"/>
                  <a:pt x="1074" y="12702"/>
                </a:cubicBezTo>
                <a:lnTo>
                  <a:pt x="1063" y="12668"/>
                </a:lnTo>
                <a:cubicBezTo>
                  <a:pt x="685" y="13217"/>
                  <a:pt x="475" y="13940"/>
                  <a:pt x="475" y="14690"/>
                </a:cubicBezTo>
                <a:cubicBezTo>
                  <a:pt x="475" y="16325"/>
                  <a:pt x="1451" y="17650"/>
                  <a:pt x="2655" y="17650"/>
                </a:cubicBezTo>
                <a:cubicBezTo>
                  <a:pt x="2739" y="17649"/>
                  <a:pt x="2824" y="17643"/>
                  <a:pt x="2909" y="17629"/>
                </a:cubicBezTo>
                <a:lnTo>
                  <a:pt x="2897" y="17649"/>
                </a:lnTo>
                <a:cubicBezTo>
                  <a:pt x="3585" y="19288"/>
                  <a:pt x="4863" y="20299"/>
                  <a:pt x="6247" y="20299"/>
                </a:cubicBezTo>
                <a:cubicBezTo>
                  <a:pt x="6947" y="20299"/>
                  <a:pt x="7635" y="20039"/>
                  <a:pt x="8235" y="19546"/>
                </a:cubicBezTo>
                <a:lnTo>
                  <a:pt x="8229" y="19550"/>
                </a:lnTo>
                <a:cubicBezTo>
                  <a:pt x="8855" y="20829"/>
                  <a:pt x="9908" y="21596"/>
                  <a:pt x="11036" y="21596"/>
                </a:cubicBezTo>
                <a:cubicBezTo>
                  <a:pt x="12523" y="21596"/>
                  <a:pt x="13836" y="20267"/>
                  <a:pt x="14267" y="18324"/>
                </a:cubicBezTo>
                <a:lnTo>
                  <a:pt x="14270" y="18350"/>
                </a:lnTo>
                <a:cubicBezTo>
                  <a:pt x="14730" y="18740"/>
                  <a:pt x="15260" y="18946"/>
                  <a:pt x="15802" y="18946"/>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0"/>
                  <a:pt x="15367" y="426"/>
                  <a:pt x="14905" y="1165"/>
                </a:cubicBezTo>
                <a:lnTo>
                  <a:pt x="14909" y="1170"/>
                </a:lnTo>
                <a:cubicBezTo>
                  <a:pt x="14497" y="432"/>
                  <a:pt x="13855" y="0"/>
                  <a:pt x="13174" y="0"/>
                </a:cubicBezTo>
                <a:cubicBezTo>
                  <a:pt x="12347" y="0"/>
                  <a:pt x="11590" y="637"/>
                  <a:pt x="11221" y="1645"/>
                </a:cubicBezTo>
                <a:lnTo>
                  <a:pt x="11229" y="1694"/>
                </a:lnTo>
                <a:cubicBezTo>
                  <a:pt x="10730" y="1024"/>
                  <a:pt x="10058" y="650"/>
                  <a:pt x="9358" y="650"/>
                </a:cubicBezTo>
                <a:cubicBezTo>
                  <a:pt x="8372" y="650"/>
                  <a:pt x="7466" y="1391"/>
                  <a:pt x="7003" y="2578"/>
                </a:cubicBezTo>
                <a:lnTo>
                  <a:pt x="6995" y="2602"/>
                </a:lnTo>
                <a:cubicBezTo>
                  <a:pt x="6477" y="2189"/>
                  <a:pt x="5888" y="1972"/>
                  <a:pt x="5288" y="1972"/>
                </a:cubicBezTo>
                <a:cubicBezTo>
                  <a:pt x="3423" y="1972"/>
                  <a:pt x="1912" y="4029"/>
                  <a:pt x="1912" y="6567"/>
                </a:cubicBezTo>
                <a:cubicBezTo>
                  <a:pt x="1912" y="6774"/>
                  <a:pt x="1922" y="6981"/>
                  <a:pt x="1942" y="7186"/>
                </a:cubicBezTo>
                <a:close/>
              </a:path>
              <a:path w="21600" h="21600" fill="none" extrusionOk="0">
                <a:moveTo>
                  <a:pt x="1074" y="12702"/>
                </a:moveTo>
                <a:cubicBezTo>
                  <a:pt x="1407" y="12969"/>
                  <a:pt x="1786" y="13109"/>
                  <a:pt x="2172" y="13109"/>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gradFill rotWithShape="1">
            <a:gsLst>
              <a:gs pos="0">
                <a:srgbClr val="FFFFFF"/>
              </a:gs>
              <a:gs pos="100000">
                <a:srgbClr val="C0C0C0"/>
              </a:gs>
            </a:gsLst>
            <a:lin ang="5400000" scaled="1"/>
          </a:gradFill>
          <a:ln w="9525">
            <a:solidFill>
              <a:srgbClr val="000000"/>
            </a:solidFill>
            <a:miter lim="800000"/>
            <a:headEnd/>
            <a:tailEnd/>
          </a:ln>
          <a:effectLst>
            <a:outerShdw dist="53882" dir="2700000" algn="ctr" rotWithShape="0">
              <a:srgbClr val="777777"/>
            </a:outerShdw>
          </a:effectLst>
        </p:spPr>
        <p:txBody>
          <a:bodyPr/>
          <a:lstStyle/>
          <a:p>
            <a:pPr algn="r"/>
            <a:endParaRPr lang="en-US" altLang="en-US"/>
          </a:p>
        </p:txBody>
      </p:sp>
      <p:sp>
        <p:nvSpPr>
          <p:cNvPr id="14" name="Cloud"/>
          <p:cNvSpPr>
            <a:spLocks noChangeAspect="1" noEditPoints="1" noChangeArrowheads="1"/>
          </p:cNvSpPr>
          <p:nvPr/>
        </p:nvSpPr>
        <p:spPr bwMode="auto">
          <a:xfrm>
            <a:off x="884845" y="3765550"/>
            <a:ext cx="2997200" cy="2008188"/>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0" y="11192"/>
                  <a:pt x="409" y="12169"/>
                  <a:pt x="1074" y="12702"/>
                </a:cubicBezTo>
                <a:lnTo>
                  <a:pt x="1063" y="12668"/>
                </a:lnTo>
                <a:cubicBezTo>
                  <a:pt x="685" y="13217"/>
                  <a:pt x="475" y="13940"/>
                  <a:pt x="475" y="14690"/>
                </a:cubicBezTo>
                <a:cubicBezTo>
                  <a:pt x="475" y="16325"/>
                  <a:pt x="1451" y="17650"/>
                  <a:pt x="2655" y="17650"/>
                </a:cubicBezTo>
                <a:cubicBezTo>
                  <a:pt x="2739" y="17649"/>
                  <a:pt x="2824" y="17643"/>
                  <a:pt x="2909" y="17629"/>
                </a:cubicBezTo>
                <a:lnTo>
                  <a:pt x="2897" y="17649"/>
                </a:lnTo>
                <a:cubicBezTo>
                  <a:pt x="3585" y="19288"/>
                  <a:pt x="4863" y="20299"/>
                  <a:pt x="6247" y="20299"/>
                </a:cubicBezTo>
                <a:cubicBezTo>
                  <a:pt x="6947" y="20299"/>
                  <a:pt x="7635" y="20039"/>
                  <a:pt x="8235" y="19546"/>
                </a:cubicBezTo>
                <a:lnTo>
                  <a:pt x="8229" y="19550"/>
                </a:lnTo>
                <a:cubicBezTo>
                  <a:pt x="8855" y="20829"/>
                  <a:pt x="9908" y="21596"/>
                  <a:pt x="11036" y="21596"/>
                </a:cubicBezTo>
                <a:cubicBezTo>
                  <a:pt x="12523" y="21596"/>
                  <a:pt x="13836" y="20267"/>
                  <a:pt x="14267" y="18324"/>
                </a:cubicBezTo>
                <a:lnTo>
                  <a:pt x="14270" y="18350"/>
                </a:lnTo>
                <a:cubicBezTo>
                  <a:pt x="14730" y="18740"/>
                  <a:pt x="15260" y="18946"/>
                  <a:pt x="15802" y="18946"/>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0"/>
                  <a:pt x="15367" y="426"/>
                  <a:pt x="14905" y="1165"/>
                </a:cubicBezTo>
                <a:lnTo>
                  <a:pt x="14909" y="1170"/>
                </a:lnTo>
                <a:cubicBezTo>
                  <a:pt x="14497" y="432"/>
                  <a:pt x="13855" y="0"/>
                  <a:pt x="13174" y="0"/>
                </a:cubicBezTo>
                <a:cubicBezTo>
                  <a:pt x="12347" y="0"/>
                  <a:pt x="11590" y="637"/>
                  <a:pt x="11221" y="1645"/>
                </a:cubicBezTo>
                <a:lnTo>
                  <a:pt x="11229" y="1694"/>
                </a:lnTo>
                <a:cubicBezTo>
                  <a:pt x="10730" y="1024"/>
                  <a:pt x="10058" y="650"/>
                  <a:pt x="9358" y="650"/>
                </a:cubicBezTo>
                <a:cubicBezTo>
                  <a:pt x="8372" y="650"/>
                  <a:pt x="7466" y="1391"/>
                  <a:pt x="7003" y="2578"/>
                </a:cubicBezTo>
                <a:lnTo>
                  <a:pt x="6995" y="2602"/>
                </a:lnTo>
                <a:cubicBezTo>
                  <a:pt x="6477" y="2189"/>
                  <a:pt x="5888" y="1972"/>
                  <a:pt x="5288" y="1972"/>
                </a:cubicBezTo>
                <a:cubicBezTo>
                  <a:pt x="3423" y="1972"/>
                  <a:pt x="1912" y="4029"/>
                  <a:pt x="1912" y="6567"/>
                </a:cubicBezTo>
                <a:cubicBezTo>
                  <a:pt x="1912" y="6774"/>
                  <a:pt x="1922" y="6981"/>
                  <a:pt x="1942" y="7186"/>
                </a:cubicBezTo>
                <a:close/>
              </a:path>
              <a:path w="21600" h="21600" fill="none" extrusionOk="0">
                <a:moveTo>
                  <a:pt x="1074" y="12702"/>
                </a:moveTo>
                <a:cubicBezTo>
                  <a:pt x="1407" y="12969"/>
                  <a:pt x="1786" y="13109"/>
                  <a:pt x="2172" y="13109"/>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gradFill rotWithShape="1">
            <a:gsLst>
              <a:gs pos="0">
                <a:srgbClr val="FFFFFF"/>
              </a:gs>
              <a:gs pos="100000">
                <a:srgbClr val="C0C0C0"/>
              </a:gs>
            </a:gsLst>
            <a:lin ang="5400000" scaled="1"/>
          </a:gradFill>
          <a:ln w="9525">
            <a:solidFill>
              <a:srgbClr val="000000"/>
            </a:solidFill>
            <a:miter lim="800000"/>
            <a:headEnd/>
            <a:tailEnd/>
          </a:ln>
          <a:effectLst>
            <a:outerShdw dist="53882" dir="2700000" algn="ctr" rotWithShape="0">
              <a:srgbClr val="777777"/>
            </a:outerShdw>
          </a:effectLst>
        </p:spPr>
        <p:txBody>
          <a:bodyPr/>
          <a:lstStyle/>
          <a:p>
            <a:pPr algn="r"/>
            <a:endParaRPr lang="en-US" altLang="en-US"/>
          </a:p>
        </p:txBody>
      </p:sp>
      <p:sp>
        <p:nvSpPr>
          <p:cNvPr id="15" name="Cloud"/>
          <p:cNvSpPr>
            <a:spLocks noChangeAspect="1" noEditPoints="1" noChangeArrowheads="1"/>
          </p:cNvSpPr>
          <p:nvPr/>
        </p:nvSpPr>
        <p:spPr bwMode="auto">
          <a:xfrm>
            <a:off x="4186845" y="1131888"/>
            <a:ext cx="2997200" cy="2008187"/>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0" y="11192"/>
                  <a:pt x="409" y="12169"/>
                  <a:pt x="1074" y="12702"/>
                </a:cubicBezTo>
                <a:lnTo>
                  <a:pt x="1063" y="12668"/>
                </a:lnTo>
                <a:cubicBezTo>
                  <a:pt x="685" y="13217"/>
                  <a:pt x="475" y="13940"/>
                  <a:pt x="475" y="14690"/>
                </a:cubicBezTo>
                <a:cubicBezTo>
                  <a:pt x="475" y="16325"/>
                  <a:pt x="1451" y="17650"/>
                  <a:pt x="2655" y="17650"/>
                </a:cubicBezTo>
                <a:cubicBezTo>
                  <a:pt x="2739" y="17649"/>
                  <a:pt x="2824" y="17643"/>
                  <a:pt x="2909" y="17629"/>
                </a:cubicBezTo>
                <a:lnTo>
                  <a:pt x="2897" y="17649"/>
                </a:lnTo>
                <a:cubicBezTo>
                  <a:pt x="3585" y="19288"/>
                  <a:pt x="4863" y="20299"/>
                  <a:pt x="6247" y="20299"/>
                </a:cubicBezTo>
                <a:cubicBezTo>
                  <a:pt x="6947" y="20299"/>
                  <a:pt x="7635" y="20039"/>
                  <a:pt x="8235" y="19546"/>
                </a:cubicBezTo>
                <a:lnTo>
                  <a:pt x="8229" y="19550"/>
                </a:lnTo>
                <a:cubicBezTo>
                  <a:pt x="8855" y="20829"/>
                  <a:pt x="9908" y="21596"/>
                  <a:pt x="11036" y="21596"/>
                </a:cubicBezTo>
                <a:cubicBezTo>
                  <a:pt x="12523" y="21596"/>
                  <a:pt x="13836" y="20267"/>
                  <a:pt x="14267" y="18324"/>
                </a:cubicBezTo>
                <a:lnTo>
                  <a:pt x="14270" y="18350"/>
                </a:lnTo>
                <a:cubicBezTo>
                  <a:pt x="14730" y="18740"/>
                  <a:pt x="15260" y="18946"/>
                  <a:pt x="15802" y="18946"/>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0"/>
                  <a:pt x="15367" y="426"/>
                  <a:pt x="14905" y="1165"/>
                </a:cubicBezTo>
                <a:lnTo>
                  <a:pt x="14909" y="1170"/>
                </a:lnTo>
                <a:cubicBezTo>
                  <a:pt x="14497" y="432"/>
                  <a:pt x="13855" y="0"/>
                  <a:pt x="13174" y="0"/>
                </a:cubicBezTo>
                <a:cubicBezTo>
                  <a:pt x="12347" y="0"/>
                  <a:pt x="11590" y="637"/>
                  <a:pt x="11221" y="1645"/>
                </a:cubicBezTo>
                <a:lnTo>
                  <a:pt x="11229" y="1694"/>
                </a:lnTo>
                <a:cubicBezTo>
                  <a:pt x="10730" y="1024"/>
                  <a:pt x="10058" y="650"/>
                  <a:pt x="9358" y="650"/>
                </a:cubicBezTo>
                <a:cubicBezTo>
                  <a:pt x="8372" y="650"/>
                  <a:pt x="7466" y="1391"/>
                  <a:pt x="7003" y="2578"/>
                </a:cubicBezTo>
                <a:lnTo>
                  <a:pt x="6995" y="2602"/>
                </a:lnTo>
                <a:cubicBezTo>
                  <a:pt x="6477" y="2189"/>
                  <a:pt x="5888" y="1972"/>
                  <a:pt x="5288" y="1972"/>
                </a:cubicBezTo>
                <a:cubicBezTo>
                  <a:pt x="3423" y="1972"/>
                  <a:pt x="1912" y="4029"/>
                  <a:pt x="1912" y="6567"/>
                </a:cubicBezTo>
                <a:cubicBezTo>
                  <a:pt x="1912" y="6774"/>
                  <a:pt x="1922" y="6981"/>
                  <a:pt x="1942" y="7186"/>
                </a:cubicBezTo>
                <a:close/>
              </a:path>
              <a:path w="21600" h="21600" fill="none" extrusionOk="0">
                <a:moveTo>
                  <a:pt x="1074" y="12702"/>
                </a:moveTo>
                <a:cubicBezTo>
                  <a:pt x="1407" y="12969"/>
                  <a:pt x="1786" y="13109"/>
                  <a:pt x="2172" y="13109"/>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gradFill rotWithShape="1">
            <a:gsLst>
              <a:gs pos="0">
                <a:srgbClr val="FFFFFF"/>
              </a:gs>
              <a:gs pos="100000">
                <a:srgbClr val="C0C0C0"/>
              </a:gs>
            </a:gsLst>
            <a:lin ang="5400000" scaled="1"/>
          </a:gradFill>
          <a:ln w="9525">
            <a:solidFill>
              <a:srgbClr val="000000"/>
            </a:solidFill>
            <a:miter lim="800000"/>
            <a:headEnd/>
            <a:tailEnd/>
          </a:ln>
          <a:effectLst>
            <a:outerShdw dist="53882" dir="2700000" algn="ctr" rotWithShape="0">
              <a:srgbClr val="777777"/>
            </a:outerShdw>
          </a:effectLst>
        </p:spPr>
        <p:txBody>
          <a:bodyPr/>
          <a:lstStyle/>
          <a:p>
            <a:pPr algn="r"/>
            <a:endParaRPr lang="en-US" altLang="en-US"/>
          </a:p>
        </p:txBody>
      </p:sp>
      <p:sp>
        <p:nvSpPr>
          <p:cNvPr id="16" name="Cloud"/>
          <p:cNvSpPr>
            <a:spLocks noChangeAspect="1" noEditPoints="1" noChangeArrowheads="1"/>
          </p:cNvSpPr>
          <p:nvPr/>
        </p:nvSpPr>
        <p:spPr bwMode="auto">
          <a:xfrm>
            <a:off x="2370745" y="2459038"/>
            <a:ext cx="3784600" cy="2535237"/>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0" y="11192"/>
                  <a:pt x="409" y="12169"/>
                  <a:pt x="1074" y="12702"/>
                </a:cubicBezTo>
                <a:lnTo>
                  <a:pt x="1063" y="12668"/>
                </a:lnTo>
                <a:cubicBezTo>
                  <a:pt x="685" y="13217"/>
                  <a:pt x="475" y="13940"/>
                  <a:pt x="475" y="14690"/>
                </a:cubicBezTo>
                <a:cubicBezTo>
                  <a:pt x="475" y="16325"/>
                  <a:pt x="1451" y="17650"/>
                  <a:pt x="2655" y="17650"/>
                </a:cubicBezTo>
                <a:cubicBezTo>
                  <a:pt x="2739" y="17649"/>
                  <a:pt x="2824" y="17643"/>
                  <a:pt x="2909" y="17629"/>
                </a:cubicBezTo>
                <a:lnTo>
                  <a:pt x="2897" y="17649"/>
                </a:lnTo>
                <a:cubicBezTo>
                  <a:pt x="3585" y="19288"/>
                  <a:pt x="4863" y="20299"/>
                  <a:pt x="6247" y="20299"/>
                </a:cubicBezTo>
                <a:cubicBezTo>
                  <a:pt x="6947" y="20299"/>
                  <a:pt x="7635" y="20039"/>
                  <a:pt x="8235" y="19546"/>
                </a:cubicBezTo>
                <a:lnTo>
                  <a:pt x="8229" y="19550"/>
                </a:lnTo>
                <a:cubicBezTo>
                  <a:pt x="8855" y="20829"/>
                  <a:pt x="9908" y="21596"/>
                  <a:pt x="11036" y="21596"/>
                </a:cubicBezTo>
                <a:cubicBezTo>
                  <a:pt x="12523" y="21596"/>
                  <a:pt x="13836" y="20267"/>
                  <a:pt x="14267" y="18324"/>
                </a:cubicBezTo>
                <a:lnTo>
                  <a:pt x="14270" y="18350"/>
                </a:lnTo>
                <a:cubicBezTo>
                  <a:pt x="14730" y="18740"/>
                  <a:pt x="15260" y="18946"/>
                  <a:pt x="15802" y="18946"/>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0"/>
                  <a:pt x="15367" y="426"/>
                  <a:pt x="14905" y="1165"/>
                </a:cubicBezTo>
                <a:lnTo>
                  <a:pt x="14909" y="1170"/>
                </a:lnTo>
                <a:cubicBezTo>
                  <a:pt x="14497" y="432"/>
                  <a:pt x="13855" y="0"/>
                  <a:pt x="13174" y="0"/>
                </a:cubicBezTo>
                <a:cubicBezTo>
                  <a:pt x="12347" y="0"/>
                  <a:pt x="11590" y="637"/>
                  <a:pt x="11221" y="1645"/>
                </a:cubicBezTo>
                <a:lnTo>
                  <a:pt x="11229" y="1694"/>
                </a:lnTo>
                <a:cubicBezTo>
                  <a:pt x="10730" y="1024"/>
                  <a:pt x="10058" y="650"/>
                  <a:pt x="9358" y="650"/>
                </a:cubicBezTo>
                <a:cubicBezTo>
                  <a:pt x="8372" y="650"/>
                  <a:pt x="7466" y="1391"/>
                  <a:pt x="7003" y="2578"/>
                </a:cubicBezTo>
                <a:lnTo>
                  <a:pt x="6995" y="2602"/>
                </a:lnTo>
                <a:cubicBezTo>
                  <a:pt x="6477" y="2189"/>
                  <a:pt x="5888" y="1972"/>
                  <a:pt x="5288" y="1972"/>
                </a:cubicBezTo>
                <a:cubicBezTo>
                  <a:pt x="3423" y="1972"/>
                  <a:pt x="1912" y="4029"/>
                  <a:pt x="1912" y="6567"/>
                </a:cubicBezTo>
                <a:cubicBezTo>
                  <a:pt x="1912" y="6774"/>
                  <a:pt x="1922" y="6981"/>
                  <a:pt x="1942" y="7186"/>
                </a:cubicBezTo>
                <a:close/>
              </a:path>
              <a:path w="21600" h="21600" fill="none" extrusionOk="0">
                <a:moveTo>
                  <a:pt x="1074" y="12702"/>
                </a:moveTo>
                <a:cubicBezTo>
                  <a:pt x="1407" y="12969"/>
                  <a:pt x="1786" y="13109"/>
                  <a:pt x="2172" y="13109"/>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gradFill rotWithShape="1">
            <a:gsLst>
              <a:gs pos="0">
                <a:srgbClr val="FFFFFF"/>
              </a:gs>
              <a:gs pos="100000">
                <a:srgbClr val="C0C0C0"/>
              </a:gs>
            </a:gsLst>
            <a:lin ang="5400000" scaled="1"/>
          </a:gradFill>
          <a:ln w="9525">
            <a:solidFill>
              <a:srgbClr val="000000"/>
            </a:solidFill>
            <a:miter lim="800000"/>
            <a:headEnd/>
            <a:tailEnd/>
          </a:ln>
          <a:effectLst>
            <a:outerShdw dist="53882" dir="2700000" algn="ctr" rotWithShape="0">
              <a:srgbClr val="777777"/>
            </a:outerShdw>
          </a:effectLst>
        </p:spPr>
        <p:txBody>
          <a:bodyPr/>
          <a:lstStyle/>
          <a:p>
            <a:pPr algn="r"/>
            <a:endParaRPr lang="en-US" altLang="en-US"/>
          </a:p>
        </p:txBody>
      </p:sp>
      <p:sp>
        <p:nvSpPr>
          <p:cNvPr id="17" name="Cloud"/>
          <p:cNvSpPr>
            <a:spLocks noChangeAspect="1" noEditPoints="1" noChangeArrowheads="1"/>
          </p:cNvSpPr>
          <p:nvPr/>
        </p:nvSpPr>
        <p:spPr bwMode="auto">
          <a:xfrm>
            <a:off x="1405545" y="1296988"/>
            <a:ext cx="2997200" cy="2008187"/>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0" y="11192"/>
                  <a:pt x="409" y="12169"/>
                  <a:pt x="1074" y="12702"/>
                </a:cubicBezTo>
                <a:lnTo>
                  <a:pt x="1063" y="12668"/>
                </a:lnTo>
                <a:cubicBezTo>
                  <a:pt x="685" y="13217"/>
                  <a:pt x="475" y="13940"/>
                  <a:pt x="475" y="14690"/>
                </a:cubicBezTo>
                <a:cubicBezTo>
                  <a:pt x="475" y="16325"/>
                  <a:pt x="1451" y="17650"/>
                  <a:pt x="2655" y="17650"/>
                </a:cubicBezTo>
                <a:cubicBezTo>
                  <a:pt x="2739" y="17649"/>
                  <a:pt x="2824" y="17643"/>
                  <a:pt x="2909" y="17629"/>
                </a:cubicBezTo>
                <a:lnTo>
                  <a:pt x="2897" y="17649"/>
                </a:lnTo>
                <a:cubicBezTo>
                  <a:pt x="3585" y="19288"/>
                  <a:pt x="4863" y="20299"/>
                  <a:pt x="6247" y="20299"/>
                </a:cubicBezTo>
                <a:cubicBezTo>
                  <a:pt x="6947" y="20299"/>
                  <a:pt x="7635" y="20039"/>
                  <a:pt x="8235" y="19546"/>
                </a:cubicBezTo>
                <a:lnTo>
                  <a:pt x="8229" y="19550"/>
                </a:lnTo>
                <a:cubicBezTo>
                  <a:pt x="8855" y="20829"/>
                  <a:pt x="9908" y="21596"/>
                  <a:pt x="11036" y="21596"/>
                </a:cubicBezTo>
                <a:cubicBezTo>
                  <a:pt x="12523" y="21596"/>
                  <a:pt x="13836" y="20267"/>
                  <a:pt x="14267" y="18324"/>
                </a:cubicBezTo>
                <a:lnTo>
                  <a:pt x="14270" y="18350"/>
                </a:lnTo>
                <a:cubicBezTo>
                  <a:pt x="14730" y="18740"/>
                  <a:pt x="15260" y="18946"/>
                  <a:pt x="15802" y="18946"/>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0"/>
                  <a:pt x="15367" y="426"/>
                  <a:pt x="14905" y="1165"/>
                </a:cubicBezTo>
                <a:lnTo>
                  <a:pt x="14909" y="1170"/>
                </a:lnTo>
                <a:cubicBezTo>
                  <a:pt x="14497" y="432"/>
                  <a:pt x="13855" y="0"/>
                  <a:pt x="13174" y="0"/>
                </a:cubicBezTo>
                <a:cubicBezTo>
                  <a:pt x="12347" y="0"/>
                  <a:pt x="11590" y="637"/>
                  <a:pt x="11221" y="1645"/>
                </a:cubicBezTo>
                <a:lnTo>
                  <a:pt x="11229" y="1694"/>
                </a:lnTo>
                <a:cubicBezTo>
                  <a:pt x="10730" y="1024"/>
                  <a:pt x="10058" y="650"/>
                  <a:pt x="9358" y="650"/>
                </a:cubicBezTo>
                <a:cubicBezTo>
                  <a:pt x="8372" y="650"/>
                  <a:pt x="7466" y="1391"/>
                  <a:pt x="7003" y="2578"/>
                </a:cubicBezTo>
                <a:lnTo>
                  <a:pt x="6995" y="2602"/>
                </a:lnTo>
                <a:cubicBezTo>
                  <a:pt x="6477" y="2189"/>
                  <a:pt x="5888" y="1972"/>
                  <a:pt x="5288" y="1972"/>
                </a:cubicBezTo>
                <a:cubicBezTo>
                  <a:pt x="3423" y="1972"/>
                  <a:pt x="1912" y="4029"/>
                  <a:pt x="1912" y="6567"/>
                </a:cubicBezTo>
                <a:cubicBezTo>
                  <a:pt x="1912" y="6774"/>
                  <a:pt x="1922" y="6981"/>
                  <a:pt x="1942" y="7186"/>
                </a:cubicBezTo>
                <a:close/>
              </a:path>
              <a:path w="21600" h="21600" fill="none" extrusionOk="0">
                <a:moveTo>
                  <a:pt x="1074" y="12702"/>
                </a:moveTo>
                <a:cubicBezTo>
                  <a:pt x="1407" y="12969"/>
                  <a:pt x="1786" y="13109"/>
                  <a:pt x="2172" y="13109"/>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gradFill rotWithShape="1">
            <a:gsLst>
              <a:gs pos="0">
                <a:srgbClr val="FFFFFF"/>
              </a:gs>
              <a:gs pos="100000">
                <a:srgbClr val="C0C0C0"/>
              </a:gs>
            </a:gsLst>
            <a:lin ang="5400000" scaled="1"/>
          </a:gradFill>
          <a:ln w="9525">
            <a:solidFill>
              <a:srgbClr val="000000"/>
            </a:solidFill>
            <a:miter lim="800000"/>
            <a:headEnd/>
            <a:tailEnd/>
          </a:ln>
          <a:effectLst>
            <a:outerShdw dist="53882" dir="2700000" algn="ctr" rotWithShape="0">
              <a:srgbClr val="777777"/>
            </a:outerShdw>
          </a:effectLst>
        </p:spPr>
        <p:txBody>
          <a:bodyPr/>
          <a:lstStyle/>
          <a:p>
            <a:pPr algn="r"/>
            <a:endParaRPr lang="en-US" altLang="en-US"/>
          </a:p>
        </p:txBody>
      </p:sp>
      <p:sp>
        <p:nvSpPr>
          <p:cNvPr id="18" name="Text Box 10"/>
          <p:cNvSpPr txBox="1">
            <a:spLocks noChangeArrowheads="1"/>
          </p:cNvSpPr>
          <p:nvPr/>
        </p:nvSpPr>
        <p:spPr bwMode="auto">
          <a:xfrm>
            <a:off x="1045183" y="2109788"/>
            <a:ext cx="1017587" cy="495300"/>
          </a:xfrm>
          <a:prstGeom prst="rect">
            <a:avLst/>
          </a:prstGeom>
          <a:gradFill rotWithShape="1">
            <a:gsLst>
              <a:gs pos="0">
                <a:srgbClr val="000066"/>
              </a:gs>
              <a:gs pos="100000">
                <a:srgbClr val="0033CC"/>
              </a:gs>
            </a:gsLst>
            <a:lin ang="5400000" scaled="1"/>
          </a:gradFill>
          <a:ln w="9525" algn="ctr">
            <a:solidFill>
              <a:srgbClr val="00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2880" tIns="137160" rIns="182880" bIns="137160">
            <a:spAutoFit/>
          </a:bodyPr>
          <a:lstStyle/>
          <a:p>
            <a:pPr algn="ctr"/>
            <a:r>
              <a:rPr lang="en-US" altLang="en-US" sz="1400" b="1">
                <a:solidFill>
                  <a:schemeClr val="bg1"/>
                </a:solidFill>
              </a:rPr>
              <a:t>Billing</a:t>
            </a:r>
          </a:p>
        </p:txBody>
      </p:sp>
      <p:sp>
        <p:nvSpPr>
          <p:cNvPr id="19" name="Text Box 11"/>
          <p:cNvSpPr txBox="1">
            <a:spLocks noChangeArrowheads="1"/>
          </p:cNvSpPr>
          <p:nvPr/>
        </p:nvSpPr>
        <p:spPr bwMode="auto">
          <a:xfrm rot="-1237057">
            <a:off x="3051783" y="1233488"/>
            <a:ext cx="1017587" cy="495300"/>
          </a:xfrm>
          <a:prstGeom prst="rect">
            <a:avLst/>
          </a:prstGeom>
          <a:gradFill rotWithShape="1">
            <a:gsLst>
              <a:gs pos="0">
                <a:srgbClr val="0A5804"/>
              </a:gs>
              <a:gs pos="100000">
                <a:srgbClr val="009900"/>
              </a:gs>
            </a:gsLst>
            <a:lin ang="5400000" scaled="1"/>
          </a:gradFill>
          <a:ln w="9525" algn="ctr">
            <a:solidFill>
              <a:srgbClr val="0A5804"/>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2880" tIns="137160" rIns="182880" bIns="137160">
            <a:spAutoFit/>
          </a:bodyPr>
          <a:lstStyle/>
          <a:p>
            <a:pPr algn="ctr"/>
            <a:r>
              <a:rPr lang="en-US" altLang="en-US" sz="1400" b="1">
                <a:solidFill>
                  <a:schemeClr val="bg1"/>
                </a:solidFill>
              </a:rPr>
              <a:t>QoS</a:t>
            </a:r>
          </a:p>
        </p:txBody>
      </p:sp>
      <p:sp>
        <p:nvSpPr>
          <p:cNvPr id="20" name="Text Box 12"/>
          <p:cNvSpPr txBox="1">
            <a:spLocks noChangeArrowheads="1"/>
          </p:cNvSpPr>
          <p:nvPr/>
        </p:nvSpPr>
        <p:spPr bwMode="auto">
          <a:xfrm>
            <a:off x="3199420" y="1970088"/>
            <a:ext cx="1514475" cy="495300"/>
          </a:xfrm>
          <a:prstGeom prst="rect">
            <a:avLst/>
          </a:prstGeom>
          <a:gradFill rotWithShape="1">
            <a:gsLst>
              <a:gs pos="0">
                <a:srgbClr val="292929"/>
              </a:gs>
              <a:gs pos="100000">
                <a:srgbClr val="777777"/>
              </a:gs>
            </a:gsLst>
            <a:lin ang="5400000" scaled="1"/>
          </a:gradFill>
          <a:ln w="9525" algn="ctr">
            <a:solidFill>
              <a:srgbClr val="29292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2880" tIns="137160" rIns="182880" bIns="137160">
            <a:spAutoFit/>
          </a:bodyPr>
          <a:lstStyle/>
          <a:p>
            <a:pPr algn="ctr"/>
            <a:r>
              <a:rPr lang="en-US" altLang="en-US" sz="1400" b="1">
                <a:solidFill>
                  <a:schemeClr val="bg1"/>
                </a:solidFill>
              </a:rPr>
              <a:t>Storage</a:t>
            </a:r>
          </a:p>
        </p:txBody>
      </p:sp>
      <p:sp>
        <p:nvSpPr>
          <p:cNvPr id="21" name="Text Box 13"/>
          <p:cNvSpPr txBox="1">
            <a:spLocks noChangeArrowheads="1"/>
          </p:cNvSpPr>
          <p:nvPr/>
        </p:nvSpPr>
        <p:spPr bwMode="auto">
          <a:xfrm rot="1140777">
            <a:off x="1442058" y="1423988"/>
            <a:ext cx="1487487" cy="495300"/>
          </a:xfrm>
          <a:prstGeom prst="rect">
            <a:avLst/>
          </a:prstGeom>
          <a:gradFill rotWithShape="1">
            <a:gsLst>
              <a:gs pos="0">
                <a:srgbClr val="990000"/>
              </a:gs>
              <a:gs pos="100000">
                <a:srgbClr val="FF0000"/>
              </a:gs>
            </a:gsLst>
            <a:lin ang="5400000" scaled="1"/>
          </a:gradFill>
          <a:ln w="9525" algn="ctr">
            <a:solidFill>
              <a:srgbClr val="99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2880" tIns="137160" rIns="182880" bIns="137160">
            <a:spAutoFit/>
          </a:bodyPr>
          <a:lstStyle/>
          <a:p>
            <a:pPr algn="ctr"/>
            <a:r>
              <a:rPr lang="en-US" altLang="en-US" sz="1400" b="1">
                <a:solidFill>
                  <a:schemeClr val="bg1"/>
                </a:solidFill>
              </a:rPr>
              <a:t>Virtualization</a:t>
            </a:r>
          </a:p>
        </p:txBody>
      </p:sp>
      <p:sp>
        <p:nvSpPr>
          <p:cNvPr id="22" name="Text Box 14"/>
          <p:cNvSpPr txBox="1">
            <a:spLocks noChangeArrowheads="1"/>
          </p:cNvSpPr>
          <p:nvPr/>
        </p:nvSpPr>
        <p:spPr bwMode="auto">
          <a:xfrm rot="-2165441">
            <a:off x="2923195" y="3135313"/>
            <a:ext cx="1557338" cy="708025"/>
          </a:xfrm>
          <a:prstGeom prst="rect">
            <a:avLst/>
          </a:prstGeom>
          <a:gradFill rotWithShape="1">
            <a:gsLst>
              <a:gs pos="0">
                <a:srgbClr val="FF9933"/>
              </a:gs>
              <a:gs pos="100000">
                <a:srgbClr val="FFCC00"/>
              </a:gs>
            </a:gsLst>
            <a:lin ang="5400000" scaled="1"/>
          </a:gradFill>
          <a:ln w="9525" algn="ctr">
            <a:solidFill>
              <a:srgbClr val="FF99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2880" tIns="137160" rIns="182880" bIns="137160">
            <a:spAutoFit/>
          </a:bodyPr>
          <a:lstStyle/>
          <a:p>
            <a:pPr algn="ctr"/>
            <a:r>
              <a:rPr lang="en-US" altLang="en-US" sz="1400" b="1">
                <a:solidFill>
                  <a:schemeClr val="bg1"/>
                </a:solidFill>
              </a:rPr>
              <a:t>Service Level </a:t>
            </a:r>
          </a:p>
          <a:p>
            <a:pPr algn="ctr"/>
            <a:r>
              <a:rPr lang="en-US" altLang="en-US" sz="1400" b="1">
                <a:solidFill>
                  <a:schemeClr val="bg1"/>
                </a:solidFill>
              </a:rPr>
              <a:t>Agreement</a:t>
            </a:r>
          </a:p>
        </p:txBody>
      </p:sp>
      <p:sp>
        <p:nvSpPr>
          <p:cNvPr id="23" name="Text Box 15"/>
          <p:cNvSpPr txBox="1">
            <a:spLocks noChangeArrowheads="1"/>
          </p:cNvSpPr>
          <p:nvPr/>
        </p:nvSpPr>
        <p:spPr bwMode="auto">
          <a:xfrm rot="390885">
            <a:off x="4190020" y="3535363"/>
            <a:ext cx="1497013" cy="708025"/>
          </a:xfrm>
          <a:prstGeom prst="rect">
            <a:avLst/>
          </a:prstGeom>
          <a:gradFill rotWithShape="1">
            <a:gsLst>
              <a:gs pos="0">
                <a:srgbClr val="660066"/>
              </a:gs>
              <a:gs pos="100000">
                <a:srgbClr val="9900CC"/>
              </a:gs>
            </a:gsLst>
            <a:lin ang="5400000" scaled="1"/>
          </a:gradFill>
          <a:ln w="9525" algn="ctr">
            <a:solidFill>
              <a:srgbClr val="66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2880" tIns="137160" rIns="182880" bIns="137160">
            <a:spAutoFit/>
          </a:bodyPr>
          <a:lstStyle/>
          <a:p>
            <a:pPr algn="ctr"/>
            <a:r>
              <a:rPr lang="en-US" altLang="en-US" sz="1400" b="1">
                <a:solidFill>
                  <a:schemeClr val="bg1"/>
                </a:solidFill>
              </a:rPr>
              <a:t>Provisioning </a:t>
            </a:r>
          </a:p>
          <a:p>
            <a:pPr algn="ctr"/>
            <a:r>
              <a:rPr lang="en-US" altLang="en-US" sz="1400" b="1">
                <a:solidFill>
                  <a:schemeClr val="bg1"/>
                </a:solidFill>
              </a:rPr>
              <a:t>on Demand</a:t>
            </a:r>
          </a:p>
        </p:txBody>
      </p:sp>
      <p:sp>
        <p:nvSpPr>
          <p:cNvPr id="24" name="Text Box 16"/>
          <p:cNvSpPr txBox="1">
            <a:spLocks noChangeArrowheads="1"/>
          </p:cNvSpPr>
          <p:nvPr/>
        </p:nvSpPr>
        <p:spPr bwMode="auto">
          <a:xfrm>
            <a:off x="2797783" y="4421188"/>
            <a:ext cx="1195387" cy="495300"/>
          </a:xfrm>
          <a:prstGeom prst="rect">
            <a:avLst/>
          </a:prstGeom>
          <a:gradFill rotWithShape="1">
            <a:gsLst>
              <a:gs pos="0">
                <a:srgbClr val="000066"/>
              </a:gs>
              <a:gs pos="100000">
                <a:srgbClr val="0033CC"/>
              </a:gs>
            </a:gsLst>
            <a:lin ang="5400000" scaled="1"/>
          </a:gradFill>
          <a:ln w="9525" algn="ctr">
            <a:solidFill>
              <a:srgbClr val="00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2880" tIns="137160" rIns="182880" bIns="137160">
            <a:spAutoFit/>
          </a:bodyPr>
          <a:lstStyle/>
          <a:p>
            <a:pPr algn="ctr"/>
            <a:r>
              <a:rPr lang="en-US" altLang="en-US" sz="1400" b="1">
                <a:solidFill>
                  <a:schemeClr val="bg1"/>
                </a:solidFill>
              </a:rPr>
              <a:t>Web 2.0</a:t>
            </a:r>
          </a:p>
        </p:txBody>
      </p:sp>
      <p:sp>
        <p:nvSpPr>
          <p:cNvPr id="25" name="Text Box 17"/>
          <p:cNvSpPr txBox="1">
            <a:spLocks noChangeArrowheads="1"/>
          </p:cNvSpPr>
          <p:nvPr/>
        </p:nvSpPr>
        <p:spPr bwMode="auto">
          <a:xfrm rot="-758556">
            <a:off x="4445608" y="1360488"/>
            <a:ext cx="739775" cy="495300"/>
          </a:xfrm>
          <a:prstGeom prst="rect">
            <a:avLst/>
          </a:prstGeom>
          <a:gradFill rotWithShape="1">
            <a:gsLst>
              <a:gs pos="0">
                <a:srgbClr val="990000"/>
              </a:gs>
              <a:gs pos="100000">
                <a:srgbClr val="FF0000"/>
              </a:gs>
            </a:gsLst>
            <a:lin ang="5400000" scaled="1"/>
          </a:gradFill>
          <a:ln w="9525" algn="ctr">
            <a:solidFill>
              <a:srgbClr val="99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2880" tIns="137160" rIns="182880" bIns="137160">
            <a:spAutoFit/>
          </a:bodyPr>
          <a:lstStyle/>
          <a:p>
            <a:pPr algn="ctr"/>
            <a:r>
              <a:rPr lang="en-US" altLang="en-US" sz="1400" b="1">
                <a:solidFill>
                  <a:schemeClr val="bg1"/>
                </a:solidFill>
              </a:rPr>
              <a:t>IaaS</a:t>
            </a:r>
          </a:p>
        </p:txBody>
      </p:sp>
      <p:sp>
        <p:nvSpPr>
          <p:cNvPr id="26" name="Text Box 18"/>
          <p:cNvSpPr txBox="1">
            <a:spLocks noChangeArrowheads="1"/>
          </p:cNvSpPr>
          <p:nvPr/>
        </p:nvSpPr>
        <p:spPr bwMode="auto">
          <a:xfrm rot="963342">
            <a:off x="5096483" y="1906588"/>
            <a:ext cx="809625" cy="495300"/>
          </a:xfrm>
          <a:prstGeom prst="rect">
            <a:avLst/>
          </a:prstGeom>
          <a:gradFill rotWithShape="1">
            <a:gsLst>
              <a:gs pos="0">
                <a:srgbClr val="0099FF"/>
              </a:gs>
              <a:gs pos="100000">
                <a:srgbClr val="66CCFF"/>
              </a:gs>
            </a:gsLst>
            <a:lin ang="5400000" scaled="1"/>
          </a:gradFill>
          <a:ln w="9525" algn="ctr">
            <a:solidFill>
              <a:srgbClr val="33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2880" tIns="137160" rIns="182880" bIns="137160">
            <a:spAutoFit/>
          </a:bodyPr>
          <a:lstStyle/>
          <a:p>
            <a:pPr algn="ctr"/>
            <a:r>
              <a:rPr lang="en-US" altLang="en-US" sz="1400" b="1">
                <a:solidFill>
                  <a:schemeClr val="bg1"/>
                </a:solidFill>
              </a:rPr>
              <a:t>PaaS</a:t>
            </a:r>
          </a:p>
        </p:txBody>
      </p:sp>
      <p:sp>
        <p:nvSpPr>
          <p:cNvPr id="27" name="Text Box 19"/>
          <p:cNvSpPr txBox="1">
            <a:spLocks noChangeArrowheads="1"/>
          </p:cNvSpPr>
          <p:nvPr/>
        </p:nvSpPr>
        <p:spPr bwMode="auto">
          <a:xfrm rot="-246898">
            <a:off x="5744183" y="1246188"/>
            <a:ext cx="809625" cy="495300"/>
          </a:xfrm>
          <a:prstGeom prst="rect">
            <a:avLst/>
          </a:prstGeom>
          <a:gradFill rotWithShape="1">
            <a:gsLst>
              <a:gs pos="0">
                <a:srgbClr val="FF3399"/>
              </a:gs>
              <a:gs pos="100000">
                <a:srgbClr val="FF66FF"/>
              </a:gs>
            </a:gsLst>
            <a:lin ang="5400000" scaled="1"/>
          </a:gradFill>
          <a:ln w="9525" algn="ctr">
            <a:solidFill>
              <a:srgbClr val="FF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2880" tIns="137160" rIns="182880" bIns="137160">
            <a:spAutoFit/>
          </a:bodyPr>
          <a:lstStyle/>
          <a:p>
            <a:pPr algn="ctr"/>
            <a:r>
              <a:rPr lang="en-US" altLang="en-US" sz="1400" b="1">
                <a:solidFill>
                  <a:schemeClr val="bg1"/>
                </a:solidFill>
              </a:rPr>
              <a:t>SaaS</a:t>
            </a:r>
          </a:p>
        </p:txBody>
      </p:sp>
      <p:sp>
        <p:nvSpPr>
          <p:cNvPr id="28" name="Text Box 20"/>
          <p:cNvSpPr txBox="1">
            <a:spLocks noChangeArrowheads="1"/>
          </p:cNvSpPr>
          <p:nvPr/>
        </p:nvSpPr>
        <p:spPr bwMode="auto">
          <a:xfrm rot="-841391">
            <a:off x="6131533" y="2046288"/>
            <a:ext cx="976312" cy="495300"/>
          </a:xfrm>
          <a:prstGeom prst="rect">
            <a:avLst/>
          </a:prstGeom>
          <a:gradFill rotWithShape="1">
            <a:gsLst>
              <a:gs pos="0">
                <a:srgbClr val="FF9933"/>
              </a:gs>
              <a:gs pos="100000">
                <a:srgbClr val="FFCC00"/>
              </a:gs>
            </a:gsLst>
            <a:lin ang="5400000" scaled="1"/>
          </a:gradFill>
          <a:ln w="9525" algn="ctr">
            <a:solidFill>
              <a:srgbClr val="FF99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2880" tIns="137160" rIns="182880" bIns="137160">
            <a:spAutoFit/>
          </a:bodyPr>
          <a:lstStyle/>
          <a:p>
            <a:pPr algn="ctr"/>
            <a:r>
              <a:rPr lang="en-US" altLang="en-US" sz="1400" b="1">
                <a:solidFill>
                  <a:schemeClr val="bg1"/>
                </a:solidFill>
              </a:rPr>
              <a:t>Pricing</a:t>
            </a:r>
          </a:p>
        </p:txBody>
      </p:sp>
      <p:sp>
        <p:nvSpPr>
          <p:cNvPr id="29" name="Cloud"/>
          <p:cNvSpPr>
            <a:spLocks noChangeAspect="1" noEditPoints="1" noChangeArrowheads="1"/>
          </p:cNvSpPr>
          <p:nvPr/>
        </p:nvSpPr>
        <p:spPr bwMode="auto">
          <a:xfrm>
            <a:off x="5685445" y="2503488"/>
            <a:ext cx="2997200" cy="2008187"/>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0" y="11192"/>
                  <a:pt x="409" y="12169"/>
                  <a:pt x="1074" y="12702"/>
                </a:cubicBezTo>
                <a:lnTo>
                  <a:pt x="1063" y="12668"/>
                </a:lnTo>
                <a:cubicBezTo>
                  <a:pt x="685" y="13217"/>
                  <a:pt x="475" y="13940"/>
                  <a:pt x="475" y="14690"/>
                </a:cubicBezTo>
                <a:cubicBezTo>
                  <a:pt x="475" y="16325"/>
                  <a:pt x="1451" y="17650"/>
                  <a:pt x="2655" y="17650"/>
                </a:cubicBezTo>
                <a:cubicBezTo>
                  <a:pt x="2739" y="17649"/>
                  <a:pt x="2824" y="17643"/>
                  <a:pt x="2909" y="17629"/>
                </a:cubicBezTo>
                <a:lnTo>
                  <a:pt x="2897" y="17649"/>
                </a:lnTo>
                <a:cubicBezTo>
                  <a:pt x="3585" y="19288"/>
                  <a:pt x="4863" y="20299"/>
                  <a:pt x="6247" y="20299"/>
                </a:cubicBezTo>
                <a:cubicBezTo>
                  <a:pt x="6947" y="20299"/>
                  <a:pt x="7635" y="20039"/>
                  <a:pt x="8235" y="19546"/>
                </a:cubicBezTo>
                <a:lnTo>
                  <a:pt x="8229" y="19550"/>
                </a:lnTo>
                <a:cubicBezTo>
                  <a:pt x="8855" y="20829"/>
                  <a:pt x="9908" y="21596"/>
                  <a:pt x="11036" y="21596"/>
                </a:cubicBezTo>
                <a:cubicBezTo>
                  <a:pt x="12523" y="21596"/>
                  <a:pt x="13836" y="20267"/>
                  <a:pt x="14267" y="18324"/>
                </a:cubicBezTo>
                <a:lnTo>
                  <a:pt x="14270" y="18350"/>
                </a:lnTo>
                <a:cubicBezTo>
                  <a:pt x="14730" y="18740"/>
                  <a:pt x="15260" y="18946"/>
                  <a:pt x="15802" y="18946"/>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0"/>
                  <a:pt x="15367" y="426"/>
                  <a:pt x="14905" y="1165"/>
                </a:cubicBezTo>
                <a:lnTo>
                  <a:pt x="14909" y="1170"/>
                </a:lnTo>
                <a:cubicBezTo>
                  <a:pt x="14497" y="432"/>
                  <a:pt x="13855" y="0"/>
                  <a:pt x="13174" y="0"/>
                </a:cubicBezTo>
                <a:cubicBezTo>
                  <a:pt x="12347" y="0"/>
                  <a:pt x="11590" y="637"/>
                  <a:pt x="11221" y="1645"/>
                </a:cubicBezTo>
                <a:lnTo>
                  <a:pt x="11229" y="1694"/>
                </a:lnTo>
                <a:cubicBezTo>
                  <a:pt x="10730" y="1024"/>
                  <a:pt x="10058" y="650"/>
                  <a:pt x="9358" y="650"/>
                </a:cubicBezTo>
                <a:cubicBezTo>
                  <a:pt x="8372" y="650"/>
                  <a:pt x="7466" y="1391"/>
                  <a:pt x="7003" y="2578"/>
                </a:cubicBezTo>
                <a:lnTo>
                  <a:pt x="6995" y="2602"/>
                </a:lnTo>
                <a:cubicBezTo>
                  <a:pt x="6477" y="2189"/>
                  <a:pt x="5888" y="1972"/>
                  <a:pt x="5288" y="1972"/>
                </a:cubicBezTo>
                <a:cubicBezTo>
                  <a:pt x="3423" y="1972"/>
                  <a:pt x="1912" y="4029"/>
                  <a:pt x="1912" y="6567"/>
                </a:cubicBezTo>
                <a:cubicBezTo>
                  <a:pt x="1912" y="6774"/>
                  <a:pt x="1922" y="6981"/>
                  <a:pt x="1942" y="7186"/>
                </a:cubicBezTo>
                <a:close/>
              </a:path>
              <a:path w="21600" h="21600" fill="none" extrusionOk="0">
                <a:moveTo>
                  <a:pt x="1074" y="12702"/>
                </a:moveTo>
                <a:cubicBezTo>
                  <a:pt x="1407" y="12969"/>
                  <a:pt x="1786" y="13109"/>
                  <a:pt x="2172" y="13109"/>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gradFill rotWithShape="1">
            <a:gsLst>
              <a:gs pos="0">
                <a:srgbClr val="FFFFFF"/>
              </a:gs>
              <a:gs pos="100000">
                <a:srgbClr val="C0C0C0"/>
              </a:gs>
            </a:gsLst>
            <a:lin ang="5400000" scaled="1"/>
          </a:gradFill>
          <a:ln w="9525">
            <a:solidFill>
              <a:srgbClr val="000000"/>
            </a:solidFill>
            <a:miter lim="800000"/>
            <a:headEnd/>
            <a:tailEnd/>
          </a:ln>
          <a:effectLst>
            <a:outerShdw dist="53882" dir="2700000" algn="ctr" rotWithShape="0">
              <a:srgbClr val="777777"/>
            </a:outerShdw>
          </a:effectLst>
        </p:spPr>
        <p:txBody>
          <a:bodyPr/>
          <a:lstStyle/>
          <a:p>
            <a:pPr algn="r"/>
            <a:endParaRPr lang="en-US" altLang="en-US"/>
          </a:p>
        </p:txBody>
      </p:sp>
      <p:sp>
        <p:nvSpPr>
          <p:cNvPr id="30" name="Text Box 22"/>
          <p:cNvSpPr txBox="1">
            <a:spLocks noChangeArrowheads="1"/>
          </p:cNvSpPr>
          <p:nvPr/>
        </p:nvSpPr>
        <p:spPr bwMode="auto">
          <a:xfrm rot="1140777">
            <a:off x="4594833" y="2820988"/>
            <a:ext cx="1970087" cy="495300"/>
          </a:xfrm>
          <a:prstGeom prst="rect">
            <a:avLst/>
          </a:prstGeom>
          <a:gradFill rotWithShape="1">
            <a:gsLst>
              <a:gs pos="0">
                <a:srgbClr val="990033"/>
              </a:gs>
              <a:gs pos="100000">
                <a:srgbClr val="CC0066"/>
              </a:gs>
            </a:gsLst>
            <a:lin ang="5400000" scaled="1"/>
          </a:gradFill>
          <a:ln w="9525" algn="ctr">
            <a:solidFill>
              <a:srgbClr val="9900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2880" tIns="137160" rIns="182880" bIns="137160">
            <a:spAutoFit/>
          </a:bodyPr>
          <a:lstStyle/>
          <a:p>
            <a:pPr algn="ctr"/>
            <a:r>
              <a:rPr lang="en-US" altLang="en-US" sz="1400" b="1">
                <a:solidFill>
                  <a:schemeClr val="bg1"/>
                </a:solidFill>
              </a:rPr>
              <a:t>Resource Metering</a:t>
            </a:r>
          </a:p>
        </p:txBody>
      </p:sp>
      <p:sp>
        <p:nvSpPr>
          <p:cNvPr id="31" name="Text Box 23"/>
          <p:cNvSpPr txBox="1">
            <a:spLocks noChangeArrowheads="1"/>
          </p:cNvSpPr>
          <p:nvPr/>
        </p:nvSpPr>
        <p:spPr bwMode="auto">
          <a:xfrm rot="-2148510">
            <a:off x="6745895" y="2592388"/>
            <a:ext cx="1803400" cy="495300"/>
          </a:xfrm>
          <a:prstGeom prst="rect">
            <a:avLst/>
          </a:prstGeom>
          <a:gradFill rotWithShape="1">
            <a:gsLst>
              <a:gs pos="0">
                <a:srgbClr val="0A5804"/>
              </a:gs>
              <a:gs pos="100000">
                <a:srgbClr val="009900"/>
              </a:gs>
            </a:gsLst>
            <a:lin ang="5400000" scaled="1"/>
          </a:gradFill>
          <a:ln w="9525" algn="ctr">
            <a:solidFill>
              <a:srgbClr val="0A5804"/>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2880" tIns="137160" rIns="182880" bIns="137160">
            <a:spAutoFit/>
          </a:bodyPr>
          <a:lstStyle/>
          <a:p>
            <a:pPr algn="ctr"/>
            <a:r>
              <a:rPr lang="en-US" altLang="en-US" sz="1400" b="1">
                <a:solidFill>
                  <a:schemeClr val="bg1"/>
                </a:solidFill>
              </a:rPr>
              <a:t>Web Services</a:t>
            </a:r>
          </a:p>
        </p:txBody>
      </p:sp>
      <p:sp>
        <p:nvSpPr>
          <p:cNvPr id="32" name="Text Box 24"/>
          <p:cNvSpPr txBox="1">
            <a:spLocks noChangeArrowheads="1"/>
          </p:cNvSpPr>
          <p:nvPr/>
        </p:nvSpPr>
        <p:spPr bwMode="auto">
          <a:xfrm>
            <a:off x="7445983" y="3379788"/>
            <a:ext cx="1411287" cy="708025"/>
          </a:xfrm>
          <a:prstGeom prst="rect">
            <a:avLst/>
          </a:prstGeom>
          <a:gradFill rotWithShape="1">
            <a:gsLst>
              <a:gs pos="0">
                <a:srgbClr val="000066"/>
              </a:gs>
              <a:gs pos="100000">
                <a:srgbClr val="0033CC"/>
              </a:gs>
            </a:gsLst>
            <a:lin ang="5400000" scaled="1"/>
          </a:gradFill>
          <a:ln w="9525" algn="ctr">
            <a:solidFill>
              <a:srgbClr val="00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2880" tIns="137160" rIns="182880" bIns="137160">
            <a:spAutoFit/>
          </a:bodyPr>
          <a:lstStyle/>
          <a:p>
            <a:pPr algn="ctr"/>
            <a:r>
              <a:rPr lang="en-US" altLang="en-US" sz="1400" b="1">
                <a:solidFill>
                  <a:schemeClr val="bg1"/>
                </a:solidFill>
              </a:rPr>
              <a:t>Utility Computing</a:t>
            </a:r>
          </a:p>
        </p:txBody>
      </p:sp>
      <p:sp>
        <p:nvSpPr>
          <p:cNvPr id="33" name="Text Box 25"/>
          <p:cNvSpPr txBox="1">
            <a:spLocks noChangeArrowheads="1"/>
          </p:cNvSpPr>
          <p:nvPr/>
        </p:nvSpPr>
        <p:spPr bwMode="auto">
          <a:xfrm rot="-1120015">
            <a:off x="5841020" y="3886200"/>
            <a:ext cx="1514475" cy="495300"/>
          </a:xfrm>
          <a:prstGeom prst="rect">
            <a:avLst/>
          </a:prstGeom>
          <a:gradFill rotWithShape="1">
            <a:gsLst>
              <a:gs pos="0">
                <a:srgbClr val="292929"/>
              </a:gs>
              <a:gs pos="100000">
                <a:srgbClr val="777777"/>
              </a:gs>
            </a:gsLst>
            <a:lin ang="5400000" scaled="1"/>
          </a:gradFill>
          <a:ln w="9525" algn="ctr">
            <a:solidFill>
              <a:srgbClr val="29292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2880" tIns="137160" rIns="182880" bIns="137160">
            <a:spAutoFit/>
          </a:bodyPr>
          <a:lstStyle/>
          <a:p>
            <a:pPr algn="ctr"/>
            <a:r>
              <a:rPr lang="en-US" altLang="en-US" sz="1400" b="1">
                <a:solidFill>
                  <a:schemeClr val="bg1"/>
                </a:solidFill>
              </a:rPr>
              <a:t>Security</a:t>
            </a:r>
          </a:p>
        </p:txBody>
      </p:sp>
      <p:sp>
        <p:nvSpPr>
          <p:cNvPr id="34" name="Text Box 26"/>
          <p:cNvSpPr txBox="1">
            <a:spLocks noChangeArrowheads="1"/>
          </p:cNvSpPr>
          <p:nvPr/>
        </p:nvSpPr>
        <p:spPr bwMode="auto">
          <a:xfrm rot="-246898">
            <a:off x="4288445" y="4649788"/>
            <a:ext cx="1006475" cy="495300"/>
          </a:xfrm>
          <a:prstGeom prst="rect">
            <a:avLst/>
          </a:prstGeom>
          <a:gradFill rotWithShape="1">
            <a:gsLst>
              <a:gs pos="0">
                <a:srgbClr val="FF3399"/>
              </a:gs>
              <a:gs pos="100000">
                <a:srgbClr val="FF66FF"/>
              </a:gs>
            </a:gsLst>
            <a:lin ang="5400000" scaled="1"/>
          </a:gradFill>
          <a:ln w="9525" algn="ctr">
            <a:solidFill>
              <a:srgbClr val="FF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2880" tIns="137160" rIns="182880" bIns="137160">
            <a:spAutoFit/>
          </a:bodyPr>
          <a:lstStyle/>
          <a:p>
            <a:pPr algn="ctr"/>
            <a:r>
              <a:rPr lang="en-US" altLang="en-US" sz="1400" b="1">
                <a:solidFill>
                  <a:schemeClr val="bg1"/>
                </a:solidFill>
              </a:rPr>
              <a:t>Privacy</a:t>
            </a:r>
          </a:p>
        </p:txBody>
      </p:sp>
      <p:sp>
        <p:nvSpPr>
          <p:cNvPr id="35" name="Text Box 27"/>
          <p:cNvSpPr txBox="1">
            <a:spLocks noChangeArrowheads="1"/>
          </p:cNvSpPr>
          <p:nvPr/>
        </p:nvSpPr>
        <p:spPr bwMode="auto">
          <a:xfrm rot="963342">
            <a:off x="1003908" y="4191000"/>
            <a:ext cx="1457325" cy="495300"/>
          </a:xfrm>
          <a:prstGeom prst="rect">
            <a:avLst/>
          </a:prstGeom>
          <a:gradFill rotWithShape="1">
            <a:gsLst>
              <a:gs pos="0">
                <a:srgbClr val="0099FF"/>
              </a:gs>
              <a:gs pos="100000">
                <a:srgbClr val="66CCFF"/>
              </a:gs>
            </a:gsLst>
            <a:lin ang="5400000" scaled="1"/>
          </a:gradFill>
          <a:ln w="9525" algn="ctr">
            <a:solidFill>
              <a:srgbClr val="33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2880" tIns="137160" rIns="182880" bIns="137160">
            <a:spAutoFit/>
          </a:bodyPr>
          <a:lstStyle/>
          <a:p>
            <a:pPr algn="ctr"/>
            <a:r>
              <a:rPr lang="en-US" altLang="en-US" sz="1400" b="1">
                <a:solidFill>
                  <a:schemeClr val="bg1"/>
                </a:solidFill>
              </a:rPr>
              <a:t>Public Cloud</a:t>
            </a:r>
          </a:p>
        </p:txBody>
      </p:sp>
      <p:sp>
        <p:nvSpPr>
          <p:cNvPr id="36" name="Text Box 28"/>
          <p:cNvSpPr txBox="1">
            <a:spLocks noChangeArrowheads="1"/>
          </p:cNvSpPr>
          <p:nvPr/>
        </p:nvSpPr>
        <p:spPr bwMode="auto">
          <a:xfrm rot="390885">
            <a:off x="767370" y="4984750"/>
            <a:ext cx="1517650" cy="495300"/>
          </a:xfrm>
          <a:prstGeom prst="rect">
            <a:avLst/>
          </a:prstGeom>
          <a:gradFill rotWithShape="1">
            <a:gsLst>
              <a:gs pos="0">
                <a:srgbClr val="660066"/>
              </a:gs>
              <a:gs pos="100000">
                <a:srgbClr val="9900CC"/>
              </a:gs>
            </a:gsLst>
            <a:lin ang="5400000" scaled="1"/>
          </a:gradFill>
          <a:ln w="9525" algn="ctr">
            <a:solidFill>
              <a:srgbClr val="66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2880" tIns="137160" rIns="182880" bIns="137160">
            <a:spAutoFit/>
          </a:bodyPr>
          <a:lstStyle/>
          <a:p>
            <a:pPr algn="ctr"/>
            <a:r>
              <a:rPr lang="en-US" altLang="en-US" sz="1400" b="1">
                <a:solidFill>
                  <a:schemeClr val="bg1"/>
                </a:solidFill>
              </a:rPr>
              <a:t>Private Cloud</a:t>
            </a:r>
          </a:p>
        </p:txBody>
      </p:sp>
      <p:grpSp>
        <p:nvGrpSpPr>
          <p:cNvPr id="37" name="Group 29"/>
          <p:cNvGrpSpPr>
            <a:grpSpLocks/>
          </p:cNvGrpSpPr>
          <p:nvPr/>
        </p:nvGrpSpPr>
        <p:grpSpPr bwMode="auto">
          <a:xfrm>
            <a:off x="6031520" y="4464050"/>
            <a:ext cx="3270250" cy="2251075"/>
            <a:chOff x="3674" y="2856"/>
            <a:chExt cx="2060" cy="1418"/>
          </a:xfrm>
        </p:grpSpPr>
        <p:sp>
          <p:nvSpPr>
            <p:cNvPr id="38" name="AutoShape 30"/>
            <p:cNvSpPr>
              <a:spLocks noChangeArrowheads="1"/>
            </p:cNvSpPr>
            <p:nvPr/>
          </p:nvSpPr>
          <p:spPr bwMode="auto">
            <a:xfrm>
              <a:off x="3674" y="2856"/>
              <a:ext cx="1315" cy="752"/>
            </a:xfrm>
            <a:prstGeom prst="cloudCallout">
              <a:avLst>
                <a:gd name="adj1" fmla="val 30227"/>
                <a:gd name="adj2" fmla="val 67685"/>
              </a:avLst>
            </a:prstGeom>
            <a:gradFill rotWithShape="1">
              <a:gsLst>
                <a:gs pos="0">
                  <a:schemeClr val="bg1"/>
                </a:gs>
                <a:gs pos="100000">
                  <a:schemeClr val="accent1"/>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altLang="en-US">
                <a:ea typeface="宋体" panose="02010600030101010101" pitchFamily="2" charset="-122"/>
              </a:endParaRPr>
            </a:p>
          </p:txBody>
        </p:sp>
        <p:sp>
          <p:nvSpPr>
            <p:cNvPr id="39" name="Text Box 31"/>
            <p:cNvSpPr txBox="1">
              <a:spLocks noChangeArrowheads="1"/>
            </p:cNvSpPr>
            <p:nvPr/>
          </p:nvSpPr>
          <p:spPr bwMode="auto">
            <a:xfrm>
              <a:off x="3788" y="3018"/>
              <a:ext cx="1183" cy="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400" b="1">
                  <a:ea typeface="宋体" panose="02010600030101010101" pitchFamily="2" charset="-122"/>
                </a:rPr>
                <a:t>Uhm, I am not quite </a:t>
              </a:r>
            </a:p>
            <a:p>
              <a:pPr algn="ctr"/>
              <a:r>
                <a:rPr lang="en-US" altLang="zh-CN" sz="1400" b="1">
                  <a:ea typeface="宋体" panose="02010600030101010101" pitchFamily="2" charset="-122"/>
                </a:rPr>
                <a:t>clear…Yet another </a:t>
              </a:r>
            </a:p>
            <a:p>
              <a:pPr algn="ctr"/>
              <a:r>
                <a:rPr lang="en-US" altLang="zh-CN" sz="1400" b="1">
                  <a:ea typeface="宋体" panose="02010600030101010101" pitchFamily="2" charset="-122"/>
                </a:rPr>
                <a:t>buzzword..?</a:t>
              </a:r>
            </a:p>
          </p:txBody>
        </p:sp>
        <p:pic>
          <p:nvPicPr>
            <p:cNvPr id="40" name="Picture 32" descr="budd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2" y="3349"/>
              <a:ext cx="952" cy="925"/>
            </a:xfrm>
            <a:prstGeom prst="rect">
              <a:avLst/>
            </a:prstGeom>
            <a:noFill/>
            <a:extLst>
              <a:ext uri="{909E8E84-426E-40DD-AFC4-6F175D3DCCD1}">
                <a14:hiddenFill xmlns:a14="http://schemas.microsoft.com/office/drawing/2010/main">
                  <a:solidFill>
                    <a:srgbClr val="FFFFFF"/>
                  </a:solidFill>
                </a14:hiddenFill>
              </a:ext>
            </a:extLst>
          </p:spPr>
        </p:pic>
      </p:grpSp>
      <p:sp>
        <p:nvSpPr>
          <p:cNvPr id="41" name="Text Box 33"/>
          <p:cNvSpPr txBox="1">
            <a:spLocks noChangeArrowheads="1"/>
          </p:cNvSpPr>
          <p:nvPr/>
        </p:nvSpPr>
        <p:spPr bwMode="auto">
          <a:xfrm rot="-1237057">
            <a:off x="2261208" y="5291138"/>
            <a:ext cx="1830387" cy="495300"/>
          </a:xfrm>
          <a:prstGeom prst="rect">
            <a:avLst/>
          </a:prstGeom>
          <a:gradFill rotWithShape="1">
            <a:gsLst>
              <a:gs pos="0">
                <a:srgbClr val="0A5804"/>
              </a:gs>
              <a:gs pos="100000">
                <a:srgbClr val="009900"/>
              </a:gs>
            </a:gsLst>
            <a:lin ang="5400000" scaled="1"/>
          </a:gradFill>
          <a:ln w="9525" algn="ctr">
            <a:solidFill>
              <a:srgbClr val="0A5804"/>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2880" tIns="137160" rIns="182880" bIns="137160">
            <a:spAutoFit/>
          </a:bodyPr>
          <a:lstStyle/>
          <a:p>
            <a:pPr algn="ctr"/>
            <a:r>
              <a:rPr lang="en-US" altLang="en-US" sz="1400" b="1">
                <a:solidFill>
                  <a:schemeClr val="bg1"/>
                </a:solidFill>
              </a:rPr>
              <a:t>Enterprise Cloud</a:t>
            </a:r>
          </a:p>
        </p:txBody>
      </p:sp>
      <p:sp>
        <p:nvSpPr>
          <p:cNvPr id="42" name="Text Box 34"/>
          <p:cNvSpPr txBox="1">
            <a:spLocks noChangeArrowheads="1"/>
          </p:cNvSpPr>
          <p:nvPr/>
        </p:nvSpPr>
        <p:spPr bwMode="auto">
          <a:xfrm rot="1140777">
            <a:off x="6706208" y="1195388"/>
            <a:ext cx="1460500" cy="495300"/>
          </a:xfrm>
          <a:prstGeom prst="rect">
            <a:avLst/>
          </a:prstGeom>
          <a:gradFill rotWithShape="1">
            <a:gsLst>
              <a:gs pos="0">
                <a:srgbClr val="990033"/>
              </a:gs>
              <a:gs pos="100000">
                <a:srgbClr val="CC0066"/>
              </a:gs>
            </a:gsLst>
            <a:lin ang="5400000" scaled="1"/>
          </a:gradFill>
          <a:ln w="9525" algn="ctr">
            <a:solidFill>
              <a:srgbClr val="9900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2880" tIns="137160" rIns="182880" bIns="137160">
            <a:spAutoFit/>
          </a:bodyPr>
          <a:lstStyle/>
          <a:p>
            <a:pPr algn="ctr"/>
            <a:r>
              <a:rPr lang="en-US" altLang="en-US" sz="1400" b="1">
                <a:solidFill>
                  <a:schemeClr val="bg1"/>
                </a:solidFill>
              </a:rPr>
              <a:t>Amazon EC2</a:t>
            </a:r>
          </a:p>
        </p:txBody>
      </p:sp>
      <p:sp>
        <p:nvSpPr>
          <p:cNvPr id="43" name="Text Box 35"/>
          <p:cNvSpPr txBox="1">
            <a:spLocks noChangeArrowheads="1"/>
          </p:cNvSpPr>
          <p:nvPr/>
        </p:nvSpPr>
        <p:spPr bwMode="auto">
          <a:xfrm rot="4697201">
            <a:off x="8076220" y="1576388"/>
            <a:ext cx="1514475" cy="495300"/>
          </a:xfrm>
          <a:prstGeom prst="rect">
            <a:avLst/>
          </a:prstGeom>
          <a:gradFill rotWithShape="1">
            <a:gsLst>
              <a:gs pos="0">
                <a:srgbClr val="292929"/>
              </a:gs>
              <a:gs pos="100000">
                <a:srgbClr val="777777"/>
              </a:gs>
            </a:gsLst>
            <a:lin ang="5400000" scaled="1"/>
          </a:gradFill>
          <a:ln w="9525" algn="ctr">
            <a:solidFill>
              <a:srgbClr val="29292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2880" tIns="137160" rIns="182880" bIns="137160">
            <a:spAutoFit/>
          </a:bodyPr>
          <a:lstStyle/>
          <a:p>
            <a:pPr algn="ctr"/>
            <a:r>
              <a:rPr lang="en-US" altLang="en-US" sz="1400" b="1">
                <a:solidFill>
                  <a:schemeClr val="bg1"/>
                </a:solidFill>
              </a:rPr>
              <a:t>Amazon S3</a:t>
            </a:r>
          </a:p>
        </p:txBody>
      </p:sp>
      <p:sp>
        <p:nvSpPr>
          <p:cNvPr id="44" name="Text Box 36"/>
          <p:cNvSpPr txBox="1">
            <a:spLocks noChangeArrowheads="1"/>
          </p:cNvSpPr>
          <p:nvPr/>
        </p:nvSpPr>
        <p:spPr bwMode="auto">
          <a:xfrm rot="1140777">
            <a:off x="4698020" y="5386388"/>
            <a:ext cx="1968500" cy="495300"/>
          </a:xfrm>
          <a:prstGeom prst="rect">
            <a:avLst/>
          </a:prstGeom>
          <a:gradFill rotWithShape="1">
            <a:gsLst>
              <a:gs pos="0">
                <a:srgbClr val="990000"/>
              </a:gs>
              <a:gs pos="100000">
                <a:srgbClr val="FF0000"/>
              </a:gs>
            </a:gsLst>
            <a:lin ang="5400000" scaled="1"/>
          </a:gradFill>
          <a:ln w="9525" algn="ctr">
            <a:solidFill>
              <a:srgbClr val="99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2880" tIns="137160" rIns="182880" bIns="137160">
            <a:spAutoFit/>
          </a:bodyPr>
          <a:lstStyle/>
          <a:p>
            <a:pPr algn="ctr"/>
            <a:r>
              <a:rPr lang="en-US" altLang="en-US" sz="1400" b="1">
                <a:solidFill>
                  <a:schemeClr val="bg1"/>
                </a:solidFill>
              </a:rPr>
              <a:t>Google AppEngine</a:t>
            </a:r>
          </a:p>
        </p:txBody>
      </p:sp>
      <p:sp>
        <p:nvSpPr>
          <p:cNvPr id="45" name="Text Box 37"/>
          <p:cNvSpPr txBox="1">
            <a:spLocks noChangeArrowheads="1"/>
          </p:cNvSpPr>
          <p:nvPr/>
        </p:nvSpPr>
        <p:spPr bwMode="auto">
          <a:xfrm rot="-1559873">
            <a:off x="3188308" y="5778500"/>
            <a:ext cx="1735137" cy="495300"/>
          </a:xfrm>
          <a:prstGeom prst="rect">
            <a:avLst/>
          </a:prstGeom>
          <a:gradFill rotWithShape="1">
            <a:gsLst>
              <a:gs pos="0">
                <a:srgbClr val="0099FF"/>
              </a:gs>
              <a:gs pos="100000">
                <a:srgbClr val="66CCFF"/>
              </a:gs>
            </a:gsLst>
            <a:lin ang="5400000" scaled="1"/>
          </a:gradFill>
          <a:ln w="9525" algn="ctr">
            <a:solidFill>
              <a:srgbClr val="33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2880" tIns="137160" rIns="182880" bIns="137160">
            <a:spAutoFit/>
          </a:bodyPr>
          <a:lstStyle/>
          <a:p>
            <a:pPr algn="ctr"/>
            <a:r>
              <a:rPr lang="en-US" altLang="en-US" sz="1400" b="1">
                <a:solidFill>
                  <a:schemeClr val="bg1"/>
                </a:solidFill>
              </a:rPr>
              <a:t>SalesForce.com</a:t>
            </a:r>
          </a:p>
        </p:txBody>
      </p:sp>
      <p:sp>
        <p:nvSpPr>
          <p:cNvPr id="46" name="Text Box 38"/>
          <p:cNvSpPr txBox="1">
            <a:spLocks noChangeArrowheads="1"/>
          </p:cNvSpPr>
          <p:nvPr/>
        </p:nvSpPr>
        <p:spPr bwMode="auto">
          <a:xfrm rot="656392">
            <a:off x="4894870" y="6046788"/>
            <a:ext cx="935038" cy="495300"/>
          </a:xfrm>
          <a:prstGeom prst="rect">
            <a:avLst/>
          </a:prstGeom>
          <a:gradFill rotWithShape="1">
            <a:gsLst>
              <a:gs pos="0">
                <a:srgbClr val="FF9933"/>
              </a:gs>
              <a:gs pos="100000">
                <a:srgbClr val="FFCC00"/>
              </a:gs>
            </a:gsLst>
            <a:lin ang="5400000" scaled="1"/>
          </a:gradFill>
          <a:ln w="9525" algn="ctr">
            <a:solidFill>
              <a:srgbClr val="FF99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2880" tIns="137160" rIns="182880" bIns="137160">
            <a:spAutoFit/>
          </a:bodyPr>
          <a:lstStyle/>
          <a:p>
            <a:pPr algn="ctr"/>
            <a:r>
              <a:rPr lang="en-US" altLang="en-US" sz="1400" b="1">
                <a:solidFill>
                  <a:schemeClr val="bg1"/>
                </a:solidFill>
              </a:rPr>
              <a:t>Mosso</a:t>
            </a:r>
          </a:p>
        </p:txBody>
      </p:sp>
      <p:sp>
        <p:nvSpPr>
          <p:cNvPr id="47" name="Text Box 39"/>
          <p:cNvSpPr txBox="1">
            <a:spLocks noChangeArrowheads="1"/>
          </p:cNvSpPr>
          <p:nvPr/>
        </p:nvSpPr>
        <p:spPr bwMode="auto">
          <a:xfrm rot="-1644571">
            <a:off x="2372333" y="2782888"/>
            <a:ext cx="1076325" cy="495300"/>
          </a:xfrm>
          <a:prstGeom prst="rect">
            <a:avLst/>
          </a:prstGeom>
          <a:gradFill rotWithShape="1">
            <a:gsLst>
              <a:gs pos="0">
                <a:srgbClr val="FF3399"/>
              </a:gs>
              <a:gs pos="100000">
                <a:srgbClr val="FF66FF"/>
              </a:gs>
            </a:gsLst>
            <a:lin ang="5400000" scaled="1"/>
          </a:gradFill>
          <a:ln w="9525" algn="ctr">
            <a:solidFill>
              <a:srgbClr val="FF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2880" tIns="137160" rIns="182880" bIns="137160">
            <a:spAutoFit/>
          </a:bodyPr>
          <a:lstStyle/>
          <a:p>
            <a:pPr algn="ctr"/>
            <a:r>
              <a:rPr lang="en-US" altLang="en-US" sz="1400" b="1">
                <a:solidFill>
                  <a:schemeClr val="bg1"/>
                </a:solidFill>
              </a:rPr>
              <a:t>VMWare</a:t>
            </a:r>
          </a:p>
        </p:txBody>
      </p:sp>
      <p:sp>
        <p:nvSpPr>
          <p:cNvPr id="48" name="Text Box 40"/>
          <p:cNvSpPr txBox="1">
            <a:spLocks noChangeArrowheads="1"/>
          </p:cNvSpPr>
          <p:nvPr/>
        </p:nvSpPr>
        <p:spPr bwMode="auto">
          <a:xfrm rot="2260792">
            <a:off x="1362683" y="3316288"/>
            <a:ext cx="1400175" cy="495300"/>
          </a:xfrm>
          <a:prstGeom prst="rect">
            <a:avLst/>
          </a:prstGeom>
          <a:gradFill rotWithShape="1">
            <a:gsLst>
              <a:gs pos="0">
                <a:srgbClr val="990033"/>
              </a:gs>
              <a:gs pos="100000">
                <a:srgbClr val="CC0066"/>
              </a:gs>
            </a:gsLst>
            <a:lin ang="5400000" scaled="1"/>
          </a:gradFill>
          <a:ln w="9525" algn="ctr">
            <a:solidFill>
              <a:srgbClr val="9900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2880" tIns="137160" rIns="182880" bIns="137160">
            <a:spAutoFit/>
          </a:bodyPr>
          <a:lstStyle/>
          <a:p>
            <a:pPr algn="ctr"/>
            <a:r>
              <a:rPr lang="en-US" altLang="en-US" sz="1400" b="1">
                <a:solidFill>
                  <a:schemeClr val="bg1"/>
                </a:solidFill>
              </a:rPr>
              <a:t>Hypervisors</a:t>
            </a:r>
          </a:p>
        </p:txBody>
      </p:sp>
      <p:sp>
        <p:nvSpPr>
          <p:cNvPr id="49" name="Text Box 41"/>
          <p:cNvSpPr txBox="1">
            <a:spLocks noChangeArrowheads="1"/>
          </p:cNvSpPr>
          <p:nvPr/>
        </p:nvSpPr>
        <p:spPr bwMode="auto">
          <a:xfrm rot="963342">
            <a:off x="7209445" y="4124325"/>
            <a:ext cx="1851025" cy="495300"/>
          </a:xfrm>
          <a:prstGeom prst="rect">
            <a:avLst/>
          </a:prstGeom>
          <a:gradFill rotWithShape="1">
            <a:gsLst>
              <a:gs pos="0">
                <a:srgbClr val="0099FF"/>
              </a:gs>
              <a:gs pos="100000">
                <a:srgbClr val="66CCFF"/>
              </a:gs>
            </a:gsLst>
            <a:lin ang="5400000" scaled="1"/>
          </a:gradFill>
          <a:ln w="9525" algn="ctr">
            <a:solidFill>
              <a:srgbClr val="33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2880" tIns="137160" rIns="182880" bIns="137160">
            <a:spAutoFit/>
          </a:bodyPr>
          <a:lstStyle/>
          <a:p>
            <a:pPr algn="ctr"/>
            <a:r>
              <a:rPr lang="en-US" altLang="en-US" sz="1400" b="1">
                <a:solidFill>
                  <a:schemeClr val="bg1"/>
                </a:solidFill>
              </a:rPr>
              <a:t>Manjrasoft Aneka</a:t>
            </a:r>
          </a:p>
        </p:txBody>
      </p:sp>
    </p:spTree>
    <p:extLst>
      <p:ext uri="{BB962C8B-B14F-4D97-AF65-F5344CB8AC3E}">
        <p14:creationId xmlns:p14="http://schemas.microsoft.com/office/powerpoint/2010/main" val="26608514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2"/>
          <p:cNvSpPr>
            <a:spLocks noGrp="1"/>
          </p:cNvSpPr>
          <p:nvPr>
            <p:ph type="title"/>
          </p:nvPr>
        </p:nvSpPr>
        <p:spPr>
          <a:xfrm>
            <a:off x="0" y="5624"/>
            <a:ext cx="12192000" cy="1325563"/>
          </a:xfrm>
          <a:solidFill>
            <a:schemeClr val="accent5"/>
          </a:solidFill>
        </p:spPr>
        <p:txBody>
          <a:bodyPr/>
          <a:lstStyle/>
          <a:p>
            <a:r>
              <a:rPr lang="en-AU" altLang="en-US" dirty="0">
                <a:latin typeface="Verdana" panose="020B0604030504040204" pitchFamily="34" charset="0"/>
                <a:ea typeface="Verdana" panose="020B0604030504040204" pitchFamily="34" charset="0"/>
                <a:cs typeface="Verdana" panose="020B0604030504040204" pitchFamily="34" charset="0"/>
              </a:rPr>
              <a:t>.</a:t>
            </a:r>
          </a:p>
        </p:txBody>
      </p:sp>
      <p:sp>
        <p:nvSpPr>
          <p:cNvPr id="7" name="Rectangle 2"/>
          <p:cNvSpPr txBox="1">
            <a:spLocks noChangeArrowheads="1"/>
          </p:cNvSpPr>
          <p:nvPr/>
        </p:nvSpPr>
        <p:spPr bwMode="auto">
          <a:xfrm>
            <a:off x="1219200" y="177800"/>
            <a:ext cx="88392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0" tIns="45692" rIns="91380" bIns="45692" numCol="1" anchor="ctr" anchorCtr="0" compatLnSpc="1">
            <a:prstTxWarp prst="textNoShape">
              <a:avLst/>
            </a:prstTxWarp>
          </a:bodyPr>
          <a:lstStyle>
            <a:lvl1pPr algn="ctr" rtl="0" eaLnBrk="0" fontAlgn="base" hangingPunct="0">
              <a:spcBef>
                <a:spcPct val="0"/>
              </a:spcBef>
              <a:spcAft>
                <a:spcPct val="0"/>
              </a:spcAft>
              <a:defRPr sz="3600">
                <a:solidFill>
                  <a:srgbClr val="FFFF00"/>
                </a:solidFill>
                <a:latin typeface="+mj-lt"/>
                <a:ea typeface="+mj-ea"/>
                <a:cs typeface="+mj-cs"/>
              </a:defRPr>
            </a:lvl1pPr>
            <a:lvl2pPr algn="ctr" rtl="0" eaLnBrk="0" fontAlgn="base" hangingPunct="0">
              <a:spcBef>
                <a:spcPct val="0"/>
              </a:spcBef>
              <a:spcAft>
                <a:spcPct val="0"/>
              </a:spcAft>
              <a:defRPr sz="3600">
                <a:solidFill>
                  <a:srgbClr val="FFFF00"/>
                </a:solidFill>
                <a:latin typeface="Verdana" pitchFamily="34" charset="0"/>
                <a:ea typeface="SimSun" pitchFamily="2" charset="-122"/>
              </a:defRPr>
            </a:lvl2pPr>
            <a:lvl3pPr algn="ctr" rtl="0" eaLnBrk="0" fontAlgn="base" hangingPunct="0">
              <a:spcBef>
                <a:spcPct val="0"/>
              </a:spcBef>
              <a:spcAft>
                <a:spcPct val="0"/>
              </a:spcAft>
              <a:defRPr sz="3600">
                <a:solidFill>
                  <a:srgbClr val="FFFF00"/>
                </a:solidFill>
                <a:latin typeface="Verdana" pitchFamily="34" charset="0"/>
                <a:ea typeface="SimSun" pitchFamily="2" charset="-122"/>
              </a:defRPr>
            </a:lvl3pPr>
            <a:lvl4pPr algn="ctr" rtl="0" eaLnBrk="0" fontAlgn="base" hangingPunct="0">
              <a:spcBef>
                <a:spcPct val="0"/>
              </a:spcBef>
              <a:spcAft>
                <a:spcPct val="0"/>
              </a:spcAft>
              <a:defRPr sz="3600">
                <a:solidFill>
                  <a:srgbClr val="FFFF00"/>
                </a:solidFill>
                <a:latin typeface="Verdana" pitchFamily="34" charset="0"/>
                <a:ea typeface="SimSun" pitchFamily="2" charset="-122"/>
              </a:defRPr>
            </a:lvl4pPr>
            <a:lvl5pPr algn="ctr" rtl="0" eaLnBrk="0" fontAlgn="base" hangingPunct="0">
              <a:spcBef>
                <a:spcPct val="0"/>
              </a:spcBef>
              <a:spcAft>
                <a:spcPct val="0"/>
              </a:spcAft>
              <a:defRPr sz="3600">
                <a:solidFill>
                  <a:srgbClr val="FFFF00"/>
                </a:solidFill>
                <a:latin typeface="Verdana" pitchFamily="34" charset="0"/>
                <a:ea typeface="SimSun" pitchFamily="2" charset="-122"/>
              </a:defRPr>
            </a:lvl5pPr>
            <a:lvl6pPr marL="457200" algn="ctr" rtl="0" fontAlgn="base">
              <a:spcBef>
                <a:spcPct val="0"/>
              </a:spcBef>
              <a:spcAft>
                <a:spcPct val="0"/>
              </a:spcAft>
              <a:defRPr sz="3600">
                <a:solidFill>
                  <a:srgbClr val="FFFF00"/>
                </a:solidFill>
                <a:latin typeface="Verdana" pitchFamily="34" charset="0"/>
                <a:ea typeface="SimSun" pitchFamily="2" charset="-122"/>
              </a:defRPr>
            </a:lvl6pPr>
            <a:lvl7pPr marL="914400" algn="ctr" rtl="0" fontAlgn="base">
              <a:spcBef>
                <a:spcPct val="0"/>
              </a:spcBef>
              <a:spcAft>
                <a:spcPct val="0"/>
              </a:spcAft>
              <a:defRPr sz="3600">
                <a:solidFill>
                  <a:srgbClr val="FFFF00"/>
                </a:solidFill>
                <a:latin typeface="Verdana" pitchFamily="34" charset="0"/>
                <a:ea typeface="SimSun" pitchFamily="2" charset="-122"/>
              </a:defRPr>
            </a:lvl7pPr>
            <a:lvl8pPr marL="1371600" algn="ctr" rtl="0" fontAlgn="base">
              <a:spcBef>
                <a:spcPct val="0"/>
              </a:spcBef>
              <a:spcAft>
                <a:spcPct val="0"/>
              </a:spcAft>
              <a:defRPr sz="3600">
                <a:solidFill>
                  <a:srgbClr val="FFFF00"/>
                </a:solidFill>
                <a:latin typeface="Verdana" pitchFamily="34" charset="0"/>
                <a:ea typeface="SimSun" pitchFamily="2" charset="-122"/>
              </a:defRPr>
            </a:lvl8pPr>
            <a:lvl9pPr marL="1828800" algn="ctr" rtl="0" fontAlgn="base">
              <a:spcBef>
                <a:spcPct val="0"/>
              </a:spcBef>
              <a:spcAft>
                <a:spcPct val="0"/>
              </a:spcAft>
              <a:defRPr sz="3600">
                <a:solidFill>
                  <a:srgbClr val="FFFF00"/>
                </a:solidFill>
                <a:latin typeface="Verdana" pitchFamily="34" charset="0"/>
                <a:ea typeface="SimSun"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3200" b="0" i="0" u="none" strike="noStrike" kern="0" cap="none" spc="0" normalizeH="0" baseline="0" noProof="0" dirty="0">
                <a:ln>
                  <a:noFill/>
                </a:ln>
                <a:solidFill>
                  <a:srgbClr val="FFFF00"/>
                </a:solidFill>
                <a:effectLst/>
                <a:uLnTx/>
                <a:uFillTx/>
                <a:latin typeface="Verdana"/>
                <a:ea typeface="SimSun"/>
                <a:cs typeface="+mj-cs"/>
              </a:rPr>
              <a:t>When</a:t>
            </a:r>
            <a:r>
              <a:rPr kumimoji="0" lang="en-US" altLang="en-US" sz="3200" b="0" i="0" u="none" strike="noStrike" kern="0" cap="none" spc="0" normalizeH="0" noProof="0" dirty="0">
                <a:ln>
                  <a:noFill/>
                </a:ln>
                <a:solidFill>
                  <a:srgbClr val="FFFF00"/>
                </a:solidFill>
                <a:effectLst/>
                <a:uLnTx/>
                <a:uFillTx/>
                <a:latin typeface="Verdana"/>
                <a:ea typeface="SimSun"/>
                <a:cs typeface="+mj-cs"/>
              </a:rPr>
              <a:t> Should I say service is a Cloud?</a:t>
            </a:r>
            <a:endParaRPr kumimoji="0" lang="en-US" altLang="en-US" sz="3200" b="0" i="0" u="none" strike="noStrike" kern="0" cap="none" spc="0" normalizeH="0" baseline="0" noProof="0" dirty="0">
              <a:ln>
                <a:noFill/>
              </a:ln>
              <a:solidFill>
                <a:srgbClr val="FFFF00"/>
              </a:solidFill>
              <a:effectLst/>
              <a:uLnTx/>
              <a:uFillTx/>
              <a:latin typeface="Verdana"/>
              <a:ea typeface="SimSun"/>
              <a:cs typeface="+mj-cs"/>
            </a:endParaRPr>
          </a:p>
        </p:txBody>
      </p:sp>
      <p:sp>
        <p:nvSpPr>
          <p:cNvPr id="2" name="TextBox 1"/>
          <p:cNvSpPr txBox="1"/>
          <p:nvPr/>
        </p:nvSpPr>
        <p:spPr>
          <a:xfrm>
            <a:off x="819135" y="1724399"/>
            <a:ext cx="9994004" cy="707886"/>
          </a:xfrm>
          <a:prstGeom prst="rect">
            <a:avLst/>
          </a:prstGeom>
          <a:noFill/>
        </p:spPr>
        <p:txBody>
          <a:bodyPr wrap="square" rtlCol="0">
            <a:spAutoFit/>
          </a:bodyPr>
          <a:lstStyle/>
          <a:p>
            <a:pPr marL="342900" indent="-342900">
              <a:buClr>
                <a:srgbClr val="FF0000"/>
              </a:buClr>
              <a:buFont typeface="Wingdings" panose="05000000000000000000" pitchFamily="2" charset="2"/>
              <a:buChar char="q"/>
            </a:pPr>
            <a:r>
              <a:rPr lang="en-US" sz="4000" dirty="0">
                <a:latin typeface="Verdana" panose="020B0604030504040204" pitchFamily="34" charset="0"/>
                <a:ea typeface="Verdana" panose="020B0604030504040204" pitchFamily="34" charset="0"/>
                <a:cs typeface="Verdana" panose="020B0604030504040204" pitchFamily="34" charset="0"/>
              </a:rPr>
              <a:t>Elastic in nature</a:t>
            </a:r>
          </a:p>
        </p:txBody>
      </p:sp>
      <p:sp>
        <p:nvSpPr>
          <p:cNvPr id="3" name="Rectangle 2"/>
          <p:cNvSpPr/>
          <p:nvPr/>
        </p:nvSpPr>
        <p:spPr>
          <a:xfrm>
            <a:off x="920435" y="2635081"/>
            <a:ext cx="8023537" cy="646331"/>
          </a:xfrm>
          <a:prstGeom prst="rect">
            <a:avLst/>
          </a:prstGeom>
        </p:spPr>
        <p:txBody>
          <a:bodyPr wrap="square">
            <a:spAutoFit/>
          </a:bodyPr>
          <a:lstStyle/>
          <a:p>
            <a:pPr marL="342900" indent="-342900">
              <a:buClr>
                <a:srgbClr val="FF0000"/>
              </a:buClr>
              <a:buFont typeface="Wingdings" panose="05000000000000000000" pitchFamily="2" charset="2"/>
              <a:buChar char="q"/>
            </a:pPr>
            <a:r>
              <a:rPr lang="en-US" sz="3600" dirty="0">
                <a:latin typeface="Verdana" panose="020B0604030504040204" pitchFamily="34" charset="0"/>
                <a:ea typeface="Verdana" panose="020B0604030504040204" pitchFamily="34" charset="0"/>
                <a:cs typeface="Verdana" panose="020B0604030504040204" pitchFamily="34" charset="0"/>
              </a:rPr>
              <a:t>Scalable in nature</a:t>
            </a:r>
          </a:p>
        </p:txBody>
      </p:sp>
      <p:sp>
        <p:nvSpPr>
          <p:cNvPr id="8" name="Rectangle 7"/>
          <p:cNvSpPr/>
          <p:nvPr/>
        </p:nvSpPr>
        <p:spPr>
          <a:xfrm>
            <a:off x="920435" y="3555825"/>
            <a:ext cx="8023537" cy="646331"/>
          </a:xfrm>
          <a:prstGeom prst="rect">
            <a:avLst/>
          </a:prstGeom>
        </p:spPr>
        <p:txBody>
          <a:bodyPr wrap="square">
            <a:spAutoFit/>
          </a:bodyPr>
          <a:lstStyle/>
          <a:p>
            <a:pPr marL="342900" indent="-342900">
              <a:buClr>
                <a:srgbClr val="FF0000"/>
              </a:buClr>
              <a:buFont typeface="Wingdings" panose="05000000000000000000" pitchFamily="2" charset="2"/>
              <a:buChar char="q"/>
            </a:pPr>
            <a:r>
              <a:rPr lang="en-US" sz="3600" dirty="0">
                <a:latin typeface="Verdana" panose="020B0604030504040204" pitchFamily="34" charset="0"/>
                <a:ea typeface="Verdana" panose="020B0604030504040204" pitchFamily="34" charset="0"/>
                <a:cs typeface="Verdana" panose="020B0604030504040204" pitchFamily="34" charset="0"/>
              </a:rPr>
              <a:t>On Demand Access</a:t>
            </a:r>
          </a:p>
        </p:txBody>
      </p:sp>
      <p:sp>
        <p:nvSpPr>
          <p:cNvPr id="9" name="Rectangle 8"/>
          <p:cNvSpPr/>
          <p:nvPr/>
        </p:nvSpPr>
        <p:spPr>
          <a:xfrm>
            <a:off x="920435" y="4514119"/>
            <a:ext cx="8023537" cy="646331"/>
          </a:xfrm>
          <a:prstGeom prst="rect">
            <a:avLst/>
          </a:prstGeom>
        </p:spPr>
        <p:txBody>
          <a:bodyPr wrap="square">
            <a:spAutoFit/>
          </a:bodyPr>
          <a:lstStyle/>
          <a:p>
            <a:pPr marL="342900" indent="-342900">
              <a:buClr>
                <a:srgbClr val="FF0000"/>
              </a:buClr>
              <a:buFont typeface="Wingdings" panose="05000000000000000000" pitchFamily="2" charset="2"/>
              <a:buChar char="q"/>
            </a:pPr>
            <a:r>
              <a:rPr lang="en-US" sz="3600" dirty="0">
                <a:latin typeface="Verdana" panose="020B0604030504040204" pitchFamily="34" charset="0"/>
                <a:ea typeface="Verdana" panose="020B0604030504040204" pitchFamily="34" charset="0"/>
                <a:cs typeface="Verdana" panose="020B0604030504040204" pitchFamily="34" charset="0"/>
              </a:rPr>
              <a:t>Any Time any where</a:t>
            </a:r>
          </a:p>
        </p:txBody>
      </p:sp>
      <p:sp>
        <p:nvSpPr>
          <p:cNvPr id="10" name="Rectangle 9"/>
          <p:cNvSpPr/>
          <p:nvPr/>
        </p:nvSpPr>
        <p:spPr>
          <a:xfrm>
            <a:off x="819135" y="5315634"/>
            <a:ext cx="8757633" cy="646331"/>
          </a:xfrm>
          <a:prstGeom prst="rect">
            <a:avLst/>
          </a:prstGeom>
        </p:spPr>
        <p:txBody>
          <a:bodyPr wrap="square">
            <a:spAutoFit/>
          </a:bodyPr>
          <a:lstStyle/>
          <a:p>
            <a:pPr marL="342900" indent="-342900">
              <a:buClr>
                <a:srgbClr val="FF0000"/>
              </a:buClr>
              <a:buFont typeface="Wingdings" panose="05000000000000000000" pitchFamily="2" charset="2"/>
              <a:buChar char="q"/>
            </a:pPr>
            <a:r>
              <a:rPr lang="en-US" sz="3600" dirty="0">
                <a:latin typeface="Verdana" panose="020B0604030504040204" pitchFamily="34" charset="0"/>
                <a:ea typeface="Verdana" panose="020B0604030504040204" pitchFamily="34" charset="0"/>
                <a:cs typeface="Verdana" panose="020B0604030504040204" pitchFamily="34" charset="0"/>
              </a:rPr>
              <a:t>Accessible through API or browser</a:t>
            </a:r>
          </a:p>
        </p:txBody>
      </p:sp>
      <p:sp>
        <p:nvSpPr>
          <p:cNvPr id="11" name="Rectangle 10"/>
          <p:cNvSpPr/>
          <p:nvPr/>
        </p:nvSpPr>
        <p:spPr>
          <a:xfrm>
            <a:off x="6096000" y="1552106"/>
            <a:ext cx="8757633" cy="646331"/>
          </a:xfrm>
          <a:prstGeom prst="rect">
            <a:avLst/>
          </a:prstGeom>
        </p:spPr>
        <p:txBody>
          <a:bodyPr wrap="square">
            <a:spAutoFit/>
          </a:bodyPr>
          <a:lstStyle/>
          <a:p>
            <a:pPr marL="342900" indent="-342900">
              <a:buClr>
                <a:srgbClr val="FF0000"/>
              </a:buClr>
              <a:buFont typeface="Wingdings" panose="05000000000000000000" pitchFamily="2" charset="2"/>
              <a:buChar char="q"/>
            </a:pPr>
            <a:r>
              <a:rPr lang="en-US" sz="3600" dirty="0">
                <a:latin typeface="Verdana" panose="020B0604030504040204" pitchFamily="34" charset="0"/>
                <a:ea typeface="Verdana" panose="020B0604030504040204" pitchFamily="34" charset="0"/>
                <a:cs typeface="Verdana" panose="020B0604030504040204" pitchFamily="34" charset="0"/>
              </a:rPr>
              <a:t>Metering</a:t>
            </a:r>
          </a:p>
        </p:txBody>
      </p:sp>
      <p:sp>
        <p:nvSpPr>
          <p:cNvPr id="12" name="Rectangle 11"/>
          <p:cNvSpPr/>
          <p:nvPr/>
        </p:nvSpPr>
        <p:spPr>
          <a:xfrm>
            <a:off x="6095999" y="2203890"/>
            <a:ext cx="8757633" cy="646331"/>
          </a:xfrm>
          <a:prstGeom prst="rect">
            <a:avLst/>
          </a:prstGeom>
        </p:spPr>
        <p:txBody>
          <a:bodyPr wrap="square">
            <a:spAutoFit/>
          </a:bodyPr>
          <a:lstStyle/>
          <a:p>
            <a:pPr marL="342900" indent="-342900">
              <a:buClr>
                <a:srgbClr val="FF0000"/>
              </a:buClr>
              <a:buFont typeface="Wingdings" panose="05000000000000000000" pitchFamily="2" charset="2"/>
              <a:buChar char="q"/>
            </a:pPr>
            <a:r>
              <a:rPr lang="en-US" sz="3600" dirty="0">
                <a:latin typeface="Verdana" panose="020B0604030504040204" pitchFamily="34" charset="0"/>
                <a:ea typeface="Verdana" panose="020B0604030504040204" pitchFamily="34" charset="0"/>
                <a:cs typeface="Verdana" panose="020B0604030504040204" pitchFamily="34" charset="0"/>
              </a:rPr>
              <a:t>Dynamic Provisioning</a:t>
            </a:r>
          </a:p>
        </p:txBody>
      </p:sp>
      <p:sp>
        <p:nvSpPr>
          <p:cNvPr id="5" name="Slide Number Placeholder 4"/>
          <p:cNvSpPr>
            <a:spLocks noGrp="1"/>
          </p:cNvSpPr>
          <p:nvPr>
            <p:ph type="sldNum" sz="quarter" idx="12"/>
          </p:nvPr>
        </p:nvSpPr>
        <p:spPr/>
        <p:txBody>
          <a:bodyPr/>
          <a:lstStyle/>
          <a:p>
            <a:fld id="{2019AD06-451C-413E-AF31-86503C137FDF}" type="slidenum">
              <a:rPr lang="en-US" smtClean="0"/>
              <a:pPr/>
              <a:t>6</a:t>
            </a:fld>
            <a:endParaRPr lang="en-US"/>
          </a:p>
        </p:txBody>
      </p:sp>
    </p:spTree>
    <p:extLst>
      <p:ext uri="{BB962C8B-B14F-4D97-AF65-F5344CB8AC3E}">
        <p14:creationId xmlns:p14="http://schemas.microsoft.com/office/powerpoint/2010/main" val="2659955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8" grpId="0"/>
      <p:bldP spid="9" grpId="0"/>
      <p:bldP spid="10" grpId="0"/>
      <p:bldP spid="11" grpId="0"/>
      <p:bldP spid="1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2"/>
          <p:cNvSpPr>
            <a:spLocks noGrp="1"/>
          </p:cNvSpPr>
          <p:nvPr>
            <p:ph type="title"/>
          </p:nvPr>
        </p:nvSpPr>
        <p:spPr>
          <a:xfrm>
            <a:off x="0" y="5624"/>
            <a:ext cx="12192000" cy="1325563"/>
          </a:xfrm>
          <a:solidFill>
            <a:schemeClr val="accent5"/>
          </a:solidFill>
        </p:spPr>
        <p:txBody>
          <a:bodyPr/>
          <a:lstStyle/>
          <a:p>
            <a:r>
              <a:rPr lang="en-AU" altLang="en-US" sz="3600" kern="0" dirty="0">
                <a:solidFill>
                  <a:srgbClr val="FFFF00"/>
                </a:solidFill>
                <a:latin typeface="Verdana"/>
                <a:ea typeface="SimSun"/>
              </a:rPr>
              <a:t>                 Rentable Cloud Services</a:t>
            </a:r>
            <a:endParaRPr lang="en-AU" altLang="en-US" dirty="0">
              <a:latin typeface="Verdana" panose="020B0604030504040204" pitchFamily="34" charset="0"/>
              <a:ea typeface="Verdana" panose="020B0604030504040204" pitchFamily="34" charset="0"/>
              <a:cs typeface="Verdana" panose="020B0604030504040204" pitchFamily="34" charset="0"/>
            </a:endParaRPr>
          </a:p>
        </p:txBody>
      </p:sp>
      <p:sp>
        <p:nvSpPr>
          <p:cNvPr id="92" name="Rectangle 3"/>
          <p:cNvSpPr txBox="1">
            <a:spLocks noChangeArrowheads="1"/>
          </p:cNvSpPr>
          <p:nvPr/>
        </p:nvSpPr>
        <p:spPr bwMode="auto">
          <a:xfrm>
            <a:off x="2473816" y="1676400"/>
            <a:ext cx="4419600" cy="445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0" tIns="45692" rIns="91380" bIns="45692" numCol="1" anchor="t" anchorCtr="0" compatLnSpc="1">
            <a:prstTxWarp prst="textNoShape">
              <a:avLst/>
            </a:prstTxWarp>
          </a:bodyPr>
          <a:lstStyle>
            <a:lvl1pPr marL="342900" indent="-342900" algn="l" rtl="0" eaLnBrk="0" fontAlgn="base" hangingPunct="0">
              <a:spcBef>
                <a:spcPct val="20000"/>
              </a:spcBef>
              <a:spcAft>
                <a:spcPct val="0"/>
              </a:spcAft>
              <a:buClr>
                <a:schemeClr val="accent2"/>
              </a:buClr>
              <a:buSzPct val="60000"/>
              <a:buFont typeface="Wingdings" panose="05000000000000000000" pitchFamily="2" charset="2"/>
              <a:buChar char="n"/>
              <a:defRPr sz="2800">
                <a:solidFill>
                  <a:srgbClr val="0000FF"/>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4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000">
                <a:solidFill>
                  <a:schemeClr val="tx1"/>
                </a:solidFill>
                <a:latin typeface="Times New Roman" pitchFamily="18" charset="0"/>
                <a:ea typeface="+mn-ea"/>
                <a:cs typeface="Times New Roman" pitchFamily="18" charset="0"/>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1800">
                <a:solidFill>
                  <a:schemeClr val="tx1"/>
                </a:solidFill>
                <a:latin typeface="Times New Roman" pitchFamily="18" charset="0"/>
                <a:ea typeface="+mn-ea"/>
                <a:cs typeface="Times New Roman" pitchFamily="18" charset="0"/>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1800">
                <a:solidFill>
                  <a:schemeClr val="tx1"/>
                </a:solidFill>
                <a:latin typeface="Times New Roman" pitchFamily="18" charset="0"/>
                <a:ea typeface="+mn-ea"/>
                <a:cs typeface="Times New Roman" pitchFamily="18" charset="0"/>
              </a:defRPr>
            </a:lvl5pPr>
            <a:lvl6pPr marL="2514600" indent="-228600" algn="l" rtl="0" fontAlgn="base">
              <a:spcBef>
                <a:spcPct val="20000"/>
              </a:spcBef>
              <a:spcAft>
                <a:spcPct val="0"/>
              </a:spcAft>
              <a:buClr>
                <a:schemeClr val="accent1"/>
              </a:buClr>
              <a:buSzPct val="50000"/>
              <a:buFont typeface="Wingdings" pitchFamily="2" charset="2"/>
              <a:buChar char="n"/>
              <a:defRPr sz="1800">
                <a:solidFill>
                  <a:schemeClr val="tx1"/>
                </a:solidFill>
                <a:latin typeface="Times New Roman" pitchFamily="18" charset="0"/>
                <a:ea typeface="+mn-ea"/>
                <a:cs typeface="Times New Roman" pitchFamily="18" charset="0"/>
              </a:defRPr>
            </a:lvl6pPr>
            <a:lvl7pPr marL="2971800" indent="-228600" algn="l" rtl="0" fontAlgn="base">
              <a:spcBef>
                <a:spcPct val="20000"/>
              </a:spcBef>
              <a:spcAft>
                <a:spcPct val="0"/>
              </a:spcAft>
              <a:buClr>
                <a:schemeClr val="accent1"/>
              </a:buClr>
              <a:buSzPct val="50000"/>
              <a:buFont typeface="Wingdings" pitchFamily="2" charset="2"/>
              <a:buChar char="n"/>
              <a:defRPr sz="1800">
                <a:solidFill>
                  <a:schemeClr val="tx1"/>
                </a:solidFill>
                <a:latin typeface="Times New Roman" pitchFamily="18" charset="0"/>
                <a:ea typeface="+mn-ea"/>
                <a:cs typeface="Times New Roman" pitchFamily="18" charset="0"/>
              </a:defRPr>
            </a:lvl7pPr>
            <a:lvl8pPr marL="3429000" indent="-228600" algn="l" rtl="0" fontAlgn="base">
              <a:spcBef>
                <a:spcPct val="20000"/>
              </a:spcBef>
              <a:spcAft>
                <a:spcPct val="0"/>
              </a:spcAft>
              <a:buClr>
                <a:schemeClr val="accent1"/>
              </a:buClr>
              <a:buSzPct val="50000"/>
              <a:buFont typeface="Wingdings" pitchFamily="2" charset="2"/>
              <a:buChar char="n"/>
              <a:defRPr sz="1800">
                <a:solidFill>
                  <a:schemeClr val="tx1"/>
                </a:solidFill>
                <a:latin typeface="Times New Roman" pitchFamily="18" charset="0"/>
                <a:ea typeface="+mn-ea"/>
                <a:cs typeface="Times New Roman" pitchFamily="18" charset="0"/>
              </a:defRPr>
            </a:lvl8pPr>
            <a:lvl9pPr marL="3886200" indent="-228600" algn="l" rtl="0" fontAlgn="base">
              <a:spcBef>
                <a:spcPct val="20000"/>
              </a:spcBef>
              <a:spcAft>
                <a:spcPct val="0"/>
              </a:spcAft>
              <a:buClr>
                <a:schemeClr val="accent1"/>
              </a:buClr>
              <a:buSzPct val="50000"/>
              <a:buFont typeface="Wingdings" pitchFamily="2" charset="2"/>
              <a:buChar char="n"/>
              <a:defRPr sz="1800">
                <a:solidFill>
                  <a:schemeClr val="tx1"/>
                </a:solidFill>
                <a:latin typeface="Times New Roman" pitchFamily="18" charset="0"/>
                <a:ea typeface="+mn-ea"/>
                <a:cs typeface="Times New Roman" pitchFamily="18" charset="0"/>
              </a:defRPr>
            </a:lvl9pPr>
          </a:lstStyle>
          <a:p>
            <a:pPr marL="342900" marR="0" lvl="0" indent="-342900" algn="l" defTabSz="914400" rtl="0" eaLnBrk="1" fontAlgn="base" latinLnBrk="0" hangingPunct="1">
              <a:lnSpc>
                <a:spcPct val="100000"/>
              </a:lnSpc>
              <a:spcBef>
                <a:spcPct val="20000"/>
              </a:spcBef>
              <a:spcAft>
                <a:spcPct val="0"/>
              </a:spcAft>
              <a:buClr>
                <a:srgbClr val="FFCF01"/>
              </a:buClr>
              <a:buSzPct val="60000"/>
              <a:buFont typeface="Wingdings" panose="05000000000000000000" pitchFamily="2" charset="2"/>
              <a:buChar char="n"/>
              <a:tabLst/>
              <a:defRPr/>
            </a:pPr>
            <a:r>
              <a:rPr kumimoji="0" lang="en-AU" altLang="en-US" sz="2400" b="0" i="0" u="none" strike="noStrike" kern="0" cap="none" spc="0" normalizeH="0" baseline="0" noProof="0">
                <a:ln>
                  <a:noFill/>
                </a:ln>
                <a:solidFill>
                  <a:srgbClr val="0000FF"/>
                </a:solidFill>
                <a:effectLst/>
                <a:uLnTx/>
                <a:uFillTx/>
                <a:latin typeface="Tahoma"/>
                <a:ea typeface="SimSun"/>
                <a:cs typeface="Tahoma"/>
              </a:rPr>
              <a:t>Infrastructure as a Service (IaaS)</a:t>
            </a:r>
          </a:p>
          <a:p>
            <a:pPr marL="742950" marR="0" lvl="1" indent="-285750" algn="l" defTabSz="914400" rtl="0" eaLnBrk="1" fontAlgn="base" latinLnBrk="0" hangingPunct="1">
              <a:lnSpc>
                <a:spcPct val="100000"/>
              </a:lnSpc>
              <a:spcBef>
                <a:spcPct val="20000"/>
              </a:spcBef>
              <a:spcAft>
                <a:spcPct val="0"/>
              </a:spcAft>
              <a:buClr>
                <a:srgbClr val="FF0000"/>
              </a:buClr>
              <a:buSzPct val="55000"/>
              <a:buFont typeface="Wingdings" panose="05000000000000000000" pitchFamily="2" charset="2"/>
              <a:buChar char="n"/>
              <a:tabLst/>
              <a:defRPr/>
            </a:pPr>
            <a:r>
              <a:rPr kumimoji="0" lang="en-AU" altLang="en-US" sz="2000" b="0" i="0" u="none" strike="noStrike" kern="0" cap="none" spc="0" normalizeH="0" baseline="0" noProof="0">
                <a:ln>
                  <a:noFill/>
                </a:ln>
                <a:solidFill>
                  <a:srgbClr val="000000"/>
                </a:solidFill>
                <a:effectLst/>
                <a:uLnTx/>
                <a:uFillTx/>
                <a:latin typeface="Arial" pitchFamily="34" charset="0"/>
                <a:ea typeface="SimSun"/>
                <a:cs typeface="Arial" pitchFamily="34" charset="0"/>
              </a:rPr>
              <a:t>CPU, Storage: Amazon.com, Nirvanix, GoGrid….</a:t>
            </a:r>
          </a:p>
          <a:p>
            <a:pPr marL="342900" marR="0" lvl="0" indent="-342900" algn="l" defTabSz="914400" rtl="0" eaLnBrk="1" fontAlgn="base" latinLnBrk="0" hangingPunct="1">
              <a:lnSpc>
                <a:spcPct val="100000"/>
              </a:lnSpc>
              <a:spcBef>
                <a:spcPct val="20000"/>
              </a:spcBef>
              <a:spcAft>
                <a:spcPct val="0"/>
              </a:spcAft>
              <a:buClr>
                <a:srgbClr val="FFCF01"/>
              </a:buClr>
              <a:buSzPct val="60000"/>
              <a:buFont typeface="Wingdings" panose="05000000000000000000" pitchFamily="2" charset="2"/>
              <a:buChar char="n"/>
              <a:tabLst/>
              <a:defRPr/>
            </a:pPr>
            <a:r>
              <a:rPr kumimoji="0" lang="en-AU" altLang="en-US" sz="2400" b="0" i="0" u="none" strike="noStrike" kern="0" cap="none" spc="0" normalizeH="0" baseline="0" noProof="0">
                <a:ln>
                  <a:noFill/>
                </a:ln>
                <a:solidFill>
                  <a:srgbClr val="0000FF"/>
                </a:solidFill>
                <a:effectLst/>
                <a:uLnTx/>
                <a:uFillTx/>
                <a:latin typeface="Tahoma"/>
                <a:ea typeface="SimSun"/>
                <a:cs typeface="Tahoma"/>
              </a:rPr>
              <a:t>Platform as a Service (PaaS)</a:t>
            </a:r>
          </a:p>
          <a:p>
            <a:pPr marL="742950" marR="0" lvl="1" indent="-285750" algn="l" defTabSz="914400" rtl="0" eaLnBrk="1" fontAlgn="base" latinLnBrk="0" hangingPunct="1">
              <a:lnSpc>
                <a:spcPct val="100000"/>
              </a:lnSpc>
              <a:spcBef>
                <a:spcPct val="20000"/>
              </a:spcBef>
              <a:spcAft>
                <a:spcPct val="0"/>
              </a:spcAft>
              <a:buClr>
                <a:srgbClr val="FF0000"/>
              </a:buClr>
              <a:buSzPct val="55000"/>
              <a:buFont typeface="Wingdings" panose="05000000000000000000" pitchFamily="2" charset="2"/>
              <a:buChar char="n"/>
              <a:tabLst/>
              <a:defRPr/>
            </a:pPr>
            <a:r>
              <a:rPr kumimoji="0" lang="en-AU" altLang="en-US" sz="2000" b="0" i="0" u="none" strike="noStrike" kern="0" cap="none" spc="0" normalizeH="0" baseline="0" noProof="0">
                <a:ln>
                  <a:noFill/>
                </a:ln>
                <a:solidFill>
                  <a:srgbClr val="000000"/>
                </a:solidFill>
                <a:effectLst/>
                <a:uLnTx/>
                <a:uFillTx/>
                <a:latin typeface="Arial" pitchFamily="34" charset="0"/>
                <a:ea typeface="SimSun"/>
                <a:cs typeface="Arial" pitchFamily="34" charset="0"/>
              </a:rPr>
              <a:t>Google App Engine, Microsoft Azure, Manjrasoft Aneka..</a:t>
            </a:r>
          </a:p>
          <a:p>
            <a:pPr marL="342900" marR="0" lvl="0" indent="-342900" algn="l" defTabSz="914400" rtl="0" eaLnBrk="1" fontAlgn="base" latinLnBrk="0" hangingPunct="1">
              <a:lnSpc>
                <a:spcPct val="100000"/>
              </a:lnSpc>
              <a:spcBef>
                <a:spcPct val="20000"/>
              </a:spcBef>
              <a:spcAft>
                <a:spcPct val="0"/>
              </a:spcAft>
              <a:buClr>
                <a:srgbClr val="FFCF01"/>
              </a:buClr>
              <a:buSzPct val="60000"/>
              <a:buFont typeface="Wingdings" panose="05000000000000000000" pitchFamily="2" charset="2"/>
              <a:buChar char="n"/>
              <a:tabLst/>
              <a:defRPr/>
            </a:pPr>
            <a:r>
              <a:rPr kumimoji="0" lang="en-AU" altLang="en-US" sz="2400" b="0" i="0" u="none" strike="noStrike" kern="0" cap="none" spc="0" normalizeH="0" baseline="0" noProof="0">
                <a:ln>
                  <a:noFill/>
                </a:ln>
                <a:solidFill>
                  <a:srgbClr val="0000FF"/>
                </a:solidFill>
                <a:effectLst/>
                <a:uLnTx/>
                <a:uFillTx/>
                <a:latin typeface="Tahoma"/>
                <a:ea typeface="SimSun"/>
                <a:cs typeface="Tahoma"/>
              </a:rPr>
              <a:t>Software as a Service (SaaS)</a:t>
            </a:r>
          </a:p>
          <a:p>
            <a:pPr marL="742950" marR="0" lvl="1" indent="-285750" algn="l" defTabSz="914400" rtl="0" eaLnBrk="1" fontAlgn="base" latinLnBrk="0" hangingPunct="1">
              <a:lnSpc>
                <a:spcPct val="100000"/>
              </a:lnSpc>
              <a:spcBef>
                <a:spcPct val="20000"/>
              </a:spcBef>
              <a:spcAft>
                <a:spcPct val="0"/>
              </a:spcAft>
              <a:buClr>
                <a:srgbClr val="FF0000"/>
              </a:buClr>
              <a:buSzPct val="55000"/>
              <a:buFont typeface="Wingdings" panose="05000000000000000000" pitchFamily="2" charset="2"/>
              <a:buChar char="n"/>
              <a:tabLst/>
              <a:defRPr/>
            </a:pPr>
            <a:r>
              <a:rPr kumimoji="0" lang="en-AU" altLang="en-US" sz="2000" b="0" i="0" u="none" strike="noStrike" kern="0" cap="none" spc="0" normalizeH="0" baseline="0" noProof="0">
                <a:ln>
                  <a:noFill/>
                </a:ln>
                <a:solidFill>
                  <a:srgbClr val="000000"/>
                </a:solidFill>
                <a:effectLst/>
                <a:uLnTx/>
                <a:uFillTx/>
                <a:latin typeface="Arial" pitchFamily="34" charset="0"/>
                <a:ea typeface="SimSun"/>
                <a:cs typeface="Arial" pitchFamily="34" charset="0"/>
              </a:rPr>
              <a:t>SalesForce.Com</a:t>
            </a:r>
            <a:endParaRPr kumimoji="0" lang="en-US" altLang="en-US" sz="2000" b="0" i="0" u="none" strike="noStrike" kern="0" cap="none" spc="0" normalizeH="0" baseline="0" noProof="0" dirty="0">
              <a:ln>
                <a:noFill/>
              </a:ln>
              <a:solidFill>
                <a:srgbClr val="000000"/>
              </a:solidFill>
              <a:effectLst/>
              <a:uLnTx/>
              <a:uFillTx/>
              <a:latin typeface="Arial" pitchFamily="34" charset="0"/>
              <a:ea typeface="SimSun"/>
              <a:cs typeface="Arial" pitchFamily="34" charset="0"/>
            </a:endParaRPr>
          </a:p>
        </p:txBody>
      </p:sp>
      <p:sp>
        <p:nvSpPr>
          <p:cNvPr id="93" name="Rectangle 41"/>
          <p:cNvSpPr>
            <a:spLocks noChangeArrowheads="1"/>
          </p:cNvSpPr>
          <p:nvPr/>
        </p:nvSpPr>
        <p:spPr bwMode="auto">
          <a:xfrm>
            <a:off x="7350616" y="4419600"/>
            <a:ext cx="2895600" cy="762000"/>
          </a:xfrm>
          <a:prstGeom prst="rect">
            <a:avLst/>
          </a:prstGeom>
          <a:solidFill>
            <a:srgbClr val="FFCC99"/>
          </a:solidFill>
          <a:ln w="9525" algn="ctr">
            <a:solidFill>
              <a:srgbClr val="000000"/>
            </a:solidFill>
            <a:miter lim="800000"/>
            <a:headEnd/>
            <a:tailEnd/>
          </a:ln>
        </p:spPr>
        <p:txBody>
          <a:bodyPr wrap="none" lIns="91380" tIns="45692" rIns="91380" bIns="45692" anchor="ctr"/>
          <a:lstStyle>
            <a:lvl1pPr eaLnBrk="0" hangingPunct="0">
              <a:defRPr sz="1200">
                <a:solidFill>
                  <a:schemeClr val="tx1"/>
                </a:solidFill>
                <a:latin typeface="Verdana" panose="020B0604030504040204" pitchFamily="34" charset="0"/>
                <a:ea typeface="SimSun" panose="02010600030101010101" pitchFamily="2" charset="-122"/>
              </a:defRPr>
            </a:lvl1pPr>
            <a:lvl2pPr marL="742950" indent="-285750" eaLnBrk="0" hangingPunct="0">
              <a:defRPr sz="1200">
                <a:solidFill>
                  <a:schemeClr val="tx1"/>
                </a:solidFill>
                <a:latin typeface="Verdana" panose="020B0604030504040204" pitchFamily="34" charset="0"/>
                <a:ea typeface="SimSun" panose="02010600030101010101" pitchFamily="2" charset="-122"/>
              </a:defRPr>
            </a:lvl2pPr>
            <a:lvl3pPr marL="1143000" indent="-228600" eaLnBrk="0" hangingPunct="0">
              <a:defRPr sz="1200">
                <a:solidFill>
                  <a:schemeClr val="tx1"/>
                </a:solidFill>
                <a:latin typeface="Verdana" panose="020B0604030504040204" pitchFamily="34" charset="0"/>
                <a:ea typeface="SimSun" panose="02010600030101010101" pitchFamily="2" charset="-122"/>
              </a:defRPr>
            </a:lvl3pPr>
            <a:lvl4pPr marL="1600200" indent="-228600" eaLnBrk="0" hangingPunct="0">
              <a:defRPr sz="1200">
                <a:solidFill>
                  <a:schemeClr val="tx1"/>
                </a:solidFill>
                <a:latin typeface="Verdana" panose="020B0604030504040204" pitchFamily="34" charset="0"/>
                <a:ea typeface="SimSun" panose="02010600030101010101" pitchFamily="2" charset="-122"/>
              </a:defRPr>
            </a:lvl4pPr>
            <a:lvl5pPr marL="2057400" indent="-228600" eaLnBrk="0" hangingPunct="0">
              <a:defRPr sz="1200">
                <a:solidFill>
                  <a:schemeClr val="tx1"/>
                </a:solidFill>
                <a:latin typeface="Verdan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AU" alt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rPr>
              <a:t>Infrastructure as a Service (IaaS)</a:t>
            </a:r>
            <a:endParaRPr kumimoji="0" lang="en-US" alt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94" name="Rectangle 42"/>
          <p:cNvSpPr>
            <a:spLocks noChangeArrowheads="1"/>
          </p:cNvSpPr>
          <p:nvPr/>
        </p:nvSpPr>
        <p:spPr bwMode="auto">
          <a:xfrm>
            <a:off x="7350616" y="2209800"/>
            <a:ext cx="2895600" cy="762000"/>
          </a:xfrm>
          <a:prstGeom prst="rect">
            <a:avLst/>
          </a:prstGeom>
          <a:solidFill>
            <a:srgbClr val="00FFFF"/>
          </a:solidFill>
          <a:ln w="9525" algn="ctr">
            <a:solidFill>
              <a:srgbClr val="000000"/>
            </a:solidFill>
            <a:miter lim="800000"/>
            <a:headEnd/>
            <a:tailEnd/>
          </a:ln>
        </p:spPr>
        <p:txBody>
          <a:bodyPr wrap="none" lIns="91380" tIns="45692" rIns="91380" bIns="45692" anchor="ctr"/>
          <a:lstStyle>
            <a:lvl1pPr eaLnBrk="0" hangingPunct="0">
              <a:defRPr sz="1200">
                <a:solidFill>
                  <a:schemeClr val="tx1"/>
                </a:solidFill>
                <a:latin typeface="Verdana" panose="020B0604030504040204" pitchFamily="34" charset="0"/>
                <a:ea typeface="SimSun" panose="02010600030101010101" pitchFamily="2" charset="-122"/>
              </a:defRPr>
            </a:lvl1pPr>
            <a:lvl2pPr marL="742950" indent="-285750" eaLnBrk="0" hangingPunct="0">
              <a:defRPr sz="1200">
                <a:solidFill>
                  <a:schemeClr val="tx1"/>
                </a:solidFill>
                <a:latin typeface="Verdana" panose="020B0604030504040204" pitchFamily="34" charset="0"/>
                <a:ea typeface="SimSun" panose="02010600030101010101" pitchFamily="2" charset="-122"/>
              </a:defRPr>
            </a:lvl2pPr>
            <a:lvl3pPr marL="1143000" indent="-228600" eaLnBrk="0" hangingPunct="0">
              <a:defRPr sz="1200">
                <a:solidFill>
                  <a:schemeClr val="tx1"/>
                </a:solidFill>
                <a:latin typeface="Verdana" panose="020B0604030504040204" pitchFamily="34" charset="0"/>
                <a:ea typeface="SimSun" panose="02010600030101010101" pitchFamily="2" charset="-122"/>
              </a:defRPr>
            </a:lvl3pPr>
            <a:lvl4pPr marL="1600200" indent="-228600" eaLnBrk="0" hangingPunct="0">
              <a:defRPr sz="1200">
                <a:solidFill>
                  <a:schemeClr val="tx1"/>
                </a:solidFill>
                <a:latin typeface="Verdana" panose="020B0604030504040204" pitchFamily="34" charset="0"/>
                <a:ea typeface="SimSun" panose="02010600030101010101" pitchFamily="2" charset="-122"/>
              </a:defRPr>
            </a:lvl4pPr>
            <a:lvl5pPr marL="2057400" indent="-228600" eaLnBrk="0" hangingPunct="0">
              <a:defRPr sz="1200">
                <a:solidFill>
                  <a:schemeClr val="tx1"/>
                </a:solidFill>
                <a:latin typeface="Verdan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AU" alt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rPr>
              <a:t>Software as a Service (SaaS)</a:t>
            </a:r>
            <a:endParaRPr kumimoji="0" lang="en-US" alt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95" name="Rectangle 43"/>
          <p:cNvSpPr>
            <a:spLocks noChangeArrowheads="1"/>
          </p:cNvSpPr>
          <p:nvPr/>
        </p:nvSpPr>
        <p:spPr bwMode="auto">
          <a:xfrm>
            <a:off x="7350616" y="3276600"/>
            <a:ext cx="2895600" cy="762000"/>
          </a:xfrm>
          <a:prstGeom prst="rect">
            <a:avLst/>
          </a:prstGeom>
          <a:solidFill>
            <a:srgbClr val="CCFFCC"/>
          </a:solidFill>
          <a:ln w="9525" algn="ctr">
            <a:solidFill>
              <a:srgbClr val="000000"/>
            </a:solidFill>
            <a:miter lim="800000"/>
            <a:headEnd/>
            <a:tailEnd/>
          </a:ln>
        </p:spPr>
        <p:txBody>
          <a:bodyPr wrap="none" lIns="91380" tIns="45692" rIns="91380" bIns="45692" anchor="ctr"/>
          <a:lstStyle>
            <a:lvl1pPr eaLnBrk="0" hangingPunct="0">
              <a:defRPr sz="1200">
                <a:solidFill>
                  <a:schemeClr val="tx1"/>
                </a:solidFill>
                <a:latin typeface="Verdana" panose="020B0604030504040204" pitchFamily="34" charset="0"/>
                <a:ea typeface="SimSun" panose="02010600030101010101" pitchFamily="2" charset="-122"/>
              </a:defRPr>
            </a:lvl1pPr>
            <a:lvl2pPr marL="742950" indent="-285750" eaLnBrk="0" hangingPunct="0">
              <a:defRPr sz="1200">
                <a:solidFill>
                  <a:schemeClr val="tx1"/>
                </a:solidFill>
                <a:latin typeface="Verdana" panose="020B0604030504040204" pitchFamily="34" charset="0"/>
                <a:ea typeface="SimSun" panose="02010600030101010101" pitchFamily="2" charset="-122"/>
              </a:defRPr>
            </a:lvl2pPr>
            <a:lvl3pPr marL="1143000" indent="-228600" eaLnBrk="0" hangingPunct="0">
              <a:defRPr sz="1200">
                <a:solidFill>
                  <a:schemeClr val="tx1"/>
                </a:solidFill>
                <a:latin typeface="Verdana" panose="020B0604030504040204" pitchFamily="34" charset="0"/>
                <a:ea typeface="SimSun" panose="02010600030101010101" pitchFamily="2" charset="-122"/>
              </a:defRPr>
            </a:lvl3pPr>
            <a:lvl4pPr marL="1600200" indent="-228600" eaLnBrk="0" hangingPunct="0">
              <a:defRPr sz="1200">
                <a:solidFill>
                  <a:schemeClr val="tx1"/>
                </a:solidFill>
                <a:latin typeface="Verdana" panose="020B0604030504040204" pitchFamily="34" charset="0"/>
                <a:ea typeface="SimSun" panose="02010600030101010101" pitchFamily="2" charset="-122"/>
              </a:defRPr>
            </a:lvl4pPr>
            <a:lvl5pPr marL="2057400" indent="-228600" eaLnBrk="0" hangingPunct="0">
              <a:defRPr sz="1200">
                <a:solidFill>
                  <a:schemeClr val="tx1"/>
                </a:solidFill>
                <a:latin typeface="Verdan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AU" alt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rPr>
              <a:t>Platform as a Service (PaaS)</a:t>
            </a:r>
            <a:endParaRPr kumimoji="0" lang="en-US" alt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pic>
        <p:nvPicPr>
          <p:cNvPr id="96"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2416" y="5981700"/>
            <a:ext cx="142875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97"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5816" y="5943600"/>
            <a:ext cx="1143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98"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55016" y="5867400"/>
            <a:ext cx="1001713"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99" name="Picture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88016" y="5638800"/>
            <a:ext cx="133191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100" name="Picture 6"/>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521816" y="5654675"/>
            <a:ext cx="914400" cy="112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1" name="Picture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960216" y="5867400"/>
            <a:ext cx="1219200"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102" name="Picture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560416" y="5867400"/>
            <a:ext cx="1095375" cy="54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03" name="TextBox 15"/>
          <p:cNvSpPr txBox="1">
            <a:spLocks noChangeArrowheads="1"/>
          </p:cNvSpPr>
          <p:nvPr/>
        </p:nvSpPr>
        <p:spPr bwMode="auto">
          <a:xfrm>
            <a:off x="9142904" y="6019800"/>
            <a:ext cx="4095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Verdana" panose="020B0604030504040204" pitchFamily="34" charset="0"/>
                <a:ea typeface="SimSun" panose="02010600030101010101" pitchFamily="2" charset="-122"/>
              </a:defRPr>
            </a:lvl1pPr>
            <a:lvl2pPr marL="742950" indent="-285750" eaLnBrk="0" hangingPunct="0">
              <a:defRPr sz="1200">
                <a:solidFill>
                  <a:schemeClr val="tx1"/>
                </a:solidFill>
                <a:latin typeface="Verdana" panose="020B0604030504040204" pitchFamily="34" charset="0"/>
                <a:ea typeface="SimSun" panose="02010600030101010101" pitchFamily="2" charset="-122"/>
              </a:defRPr>
            </a:lvl2pPr>
            <a:lvl3pPr marL="1143000" indent="-228600" eaLnBrk="0" hangingPunct="0">
              <a:defRPr sz="1200">
                <a:solidFill>
                  <a:schemeClr val="tx1"/>
                </a:solidFill>
                <a:latin typeface="Verdana" panose="020B0604030504040204" pitchFamily="34" charset="0"/>
                <a:ea typeface="SimSun" panose="02010600030101010101" pitchFamily="2" charset="-122"/>
              </a:defRPr>
            </a:lvl3pPr>
            <a:lvl4pPr marL="1600200" indent="-228600" eaLnBrk="0" hangingPunct="0">
              <a:defRPr sz="1200">
                <a:solidFill>
                  <a:schemeClr val="tx1"/>
                </a:solidFill>
                <a:latin typeface="Verdana" panose="020B0604030504040204" pitchFamily="34" charset="0"/>
                <a:ea typeface="SimSun" panose="02010600030101010101" pitchFamily="2" charset="-122"/>
              </a:defRPr>
            </a:lvl4pPr>
            <a:lvl5pPr marL="2057400" indent="-228600" eaLnBrk="0" hangingPunct="0">
              <a:defRPr sz="1200">
                <a:solidFill>
                  <a:schemeClr val="tx1"/>
                </a:solidFill>
                <a:latin typeface="Verdan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9pPr>
          </a:lstStyle>
          <a:p>
            <a:pPr algn="ctr" eaLnBrk="1" fontAlgn="base" hangingPunct="1">
              <a:spcBef>
                <a:spcPct val="0"/>
              </a:spcBef>
              <a:spcAft>
                <a:spcPct val="0"/>
              </a:spcAft>
            </a:pPr>
            <a:r>
              <a:rPr lang="en-AU" altLang="en-US">
                <a:solidFill>
                  <a:srgbClr val="000000"/>
                </a:solidFill>
                <a:cs typeface="Tahoma"/>
              </a:rPr>
              <a:t>....</a:t>
            </a:r>
          </a:p>
        </p:txBody>
      </p:sp>
      <p:sp>
        <p:nvSpPr>
          <p:cNvPr id="3" name="Slide Number Placeholder 2"/>
          <p:cNvSpPr>
            <a:spLocks noGrp="1"/>
          </p:cNvSpPr>
          <p:nvPr>
            <p:ph type="sldNum" sz="quarter" idx="12"/>
          </p:nvPr>
        </p:nvSpPr>
        <p:spPr/>
        <p:txBody>
          <a:bodyPr/>
          <a:lstStyle/>
          <a:p>
            <a:fld id="{2019AD06-451C-413E-AF31-86503C137FDF}" type="slidenum">
              <a:rPr lang="en-US" smtClean="0"/>
              <a:pPr/>
              <a:t>7</a:t>
            </a:fld>
            <a:endParaRPr lang="en-US"/>
          </a:p>
        </p:txBody>
      </p:sp>
    </p:spTree>
    <p:extLst>
      <p:ext uri="{BB962C8B-B14F-4D97-AF65-F5344CB8AC3E}">
        <p14:creationId xmlns:p14="http://schemas.microsoft.com/office/powerpoint/2010/main" val="306474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2"/>
          <p:cNvSpPr>
            <a:spLocks noGrp="1"/>
          </p:cNvSpPr>
          <p:nvPr>
            <p:ph type="title"/>
          </p:nvPr>
        </p:nvSpPr>
        <p:spPr>
          <a:xfrm>
            <a:off x="0" y="6456"/>
            <a:ext cx="12192000" cy="1325563"/>
          </a:xfrm>
          <a:solidFill>
            <a:schemeClr val="accent5"/>
          </a:solidFill>
        </p:spPr>
        <p:txBody>
          <a:bodyPr/>
          <a:lstStyle/>
          <a:p>
            <a:r>
              <a:rPr lang="en-AU" altLang="en-US" sz="3600" kern="0" dirty="0">
                <a:solidFill>
                  <a:srgbClr val="FFFF00"/>
                </a:solidFill>
                <a:latin typeface="Verdana"/>
                <a:ea typeface="SimSun"/>
              </a:rPr>
              <a:t>                 </a:t>
            </a:r>
            <a:endParaRPr lang="en-AU" altLang="en-US" dirty="0">
              <a:latin typeface="Verdana" panose="020B0604030504040204" pitchFamily="34" charset="0"/>
              <a:ea typeface="Verdana" panose="020B0604030504040204" pitchFamily="34" charset="0"/>
              <a:cs typeface="Verdana" panose="020B0604030504040204" pitchFamily="34" charset="0"/>
            </a:endParaRPr>
          </a:p>
        </p:txBody>
      </p:sp>
      <p:grpSp>
        <p:nvGrpSpPr>
          <p:cNvPr id="17" name="Group 71"/>
          <p:cNvGrpSpPr>
            <a:grpSpLocks/>
          </p:cNvGrpSpPr>
          <p:nvPr/>
        </p:nvGrpSpPr>
        <p:grpSpPr bwMode="auto">
          <a:xfrm>
            <a:off x="4617075" y="1566863"/>
            <a:ext cx="2895600" cy="5113337"/>
            <a:chOff x="2016" y="987"/>
            <a:chExt cx="1824" cy="3221"/>
          </a:xfrm>
        </p:grpSpPr>
        <p:grpSp>
          <p:nvGrpSpPr>
            <p:cNvPr id="18" name="Group 5"/>
            <p:cNvGrpSpPr>
              <a:grpSpLocks/>
            </p:cNvGrpSpPr>
            <p:nvPr/>
          </p:nvGrpSpPr>
          <p:grpSpPr bwMode="auto">
            <a:xfrm>
              <a:off x="2016" y="987"/>
              <a:ext cx="1824" cy="816"/>
              <a:chOff x="4554" y="2181"/>
              <a:chExt cx="958" cy="873"/>
            </a:xfrm>
          </p:grpSpPr>
          <p:sp>
            <p:nvSpPr>
              <p:cNvPr id="22" name="Freeform 6"/>
              <p:cNvSpPr>
                <a:spLocks/>
              </p:cNvSpPr>
              <p:nvPr/>
            </p:nvSpPr>
            <p:spPr bwMode="auto">
              <a:xfrm>
                <a:off x="4602" y="2229"/>
                <a:ext cx="910" cy="825"/>
              </a:xfrm>
              <a:custGeom>
                <a:avLst/>
                <a:gdLst>
                  <a:gd name="T0" fmla="*/ 0 w 3800"/>
                  <a:gd name="T1" fmla="*/ 0 h 3433"/>
                  <a:gd name="T2" fmla="*/ 0 w 3800"/>
                  <a:gd name="T3" fmla="*/ 0 h 3433"/>
                  <a:gd name="T4" fmla="*/ 0 w 3800"/>
                  <a:gd name="T5" fmla="*/ 0 h 3433"/>
                  <a:gd name="T6" fmla="*/ 0 w 3800"/>
                  <a:gd name="T7" fmla="*/ 0 h 3433"/>
                  <a:gd name="T8" fmla="*/ 0 w 3800"/>
                  <a:gd name="T9" fmla="*/ 0 h 3433"/>
                  <a:gd name="T10" fmla="*/ 0 w 3800"/>
                  <a:gd name="T11" fmla="*/ 0 h 3433"/>
                  <a:gd name="T12" fmla="*/ 0 w 3800"/>
                  <a:gd name="T13" fmla="*/ 0 h 3433"/>
                  <a:gd name="T14" fmla="*/ 0 w 3800"/>
                  <a:gd name="T15" fmla="*/ 0 h 3433"/>
                  <a:gd name="T16" fmla="*/ 0 w 3800"/>
                  <a:gd name="T17" fmla="*/ 0 h 3433"/>
                  <a:gd name="T18" fmla="*/ 0 w 3800"/>
                  <a:gd name="T19" fmla="*/ 0 h 3433"/>
                  <a:gd name="T20" fmla="*/ 0 w 3800"/>
                  <a:gd name="T21" fmla="*/ 0 h 3433"/>
                  <a:gd name="T22" fmla="*/ 0 w 3800"/>
                  <a:gd name="T23" fmla="*/ 0 h 3433"/>
                  <a:gd name="T24" fmla="*/ 0 w 3800"/>
                  <a:gd name="T25" fmla="*/ 0 h 3433"/>
                  <a:gd name="T26" fmla="*/ 0 w 3800"/>
                  <a:gd name="T27" fmla="*/ 0 h 3433"/>
                  <a:gd name="T28" fmla="*/ 0 w 3800"/>
                  <a:gd name="T29" fmla="*/ 0 h 3433"/>
                  <a:gd name="T30" fmla="*/ 0 w 3800"/>
                  <a:gd name="T31" fmla="*/ 0 h 3433"/>
                  <a:gd name="T32" fmla="*/ 0 w 3800"/>
                  <a:gd name="T33" fmla="*/ 0 h 3433"/>
                  <a:gd name="T34" fmla="*/ 0 w 3800"/>
                  <a:gd name="T35" fmla="*/ 0 h 3433"/>
                  <a:gd name="T36" fmla="*/ 0 w 3800"/>
                  <a:gd name="T37" fmla="*/ 0 h 3433"/>
                  <a:gd name="T38" fmla="*/ 0 w 3800"/>
                  <a:gd name="T39" fmla="*/ 0 h 3433"/>
                  <a:gd name="T40" fmla="*/ 0 w 3800"/>
                  <a:gd name="T41" fmla="*/ 0 h 3433"/>
                  <a:gd name="T42" fmla="*/ 0 w 3800"/>
                  <a:gd name="T43" fmla="*/ 0 h 3433"/>
                  <a:gd name="T44" fmla="*/ 0 w 3800"/>
                  <a:gd name="T45" fmla="*/ 0 h 3433"/>
                  <a:gd name="T46" fmla="*/ 0 w 3800"/>
                  <a:gd name="T47" fmla="*/ 0 h 3433"/>
                  <a:gd name="T48" fmla="*/ 0 w 3800"/>
                  <a:gd name="T49" fmla="*/ 0 h 3433"/>
                  <a:gd name="T50" fmla="*/ 0 w 3800"/>
                  <a:gd name="T51" fmla="*/ 0 h 3433"/>
                  <a:gd name="T52" fmla="*/ 0 w 3800"/>
                  <a:gd name="T53" fmla="*/ 0 h 3433"/>
                  <a:gd name="T54" fmla="*/ 0 w 3800"/>
                  <a:gd name="T55" fmla="*/ 0 h 3433"/>
                  <a:gd name="T56" fmla="*/ 0 w 3800"/>
                  <a:gd name="T57" fmla="*/ 0 h 3433"/>
                  <a:gd name="T58" fmla="*/ 0 w 3800"/>
                  <a:gd name="T59" fmla="*/ 0 h 3433"/>
                  <a:gd name="T60" fmla="*/ 0 w 3800"/>
                  <a:gd name="T61" fmla="*/ 0 h 3433"/>
                  <a:gd name="T62" fmla="*/ 0 w 3800"/>
                  <a:gd name="T63" fmla="*/ 0 h 3433"/>
                  <a:gd name="T64" fmla="*/ 0 w 3800"/>
                  <a:gd name="T65" fmla="*/ 0 h 3433"/>
                  <a:gd name="T66" fmla="*/ 0 w 3800"/>
                  <a:gd name="T67" fmla="*/ 0 h 3433"/>
                  <a:gd name="T68" fmla="*/ 0 w 3800"/>
                  <a:gd name="T69" fmla="*/ 0 h 3433"/>
                  <a:gd name="T70" fmla="*/ 0 w 3800"/>
                  <a:gd name="T71" fmla="*/ 0 h 343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3800"/>
                  <a:gd name="T109" fmla="*/ 0 h 3433"/>
                  <a:gd name="T110" fmla="*/ 3800 w 3800"/>
                  <a:gd name="T111" fmla="*/ 3433 h 3433"/>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3800" h="3433">
                    <a:moveTo>
                      <a:pt x="343" y="1142"/>
                    </a:moveTo>
                    <a:cubicBezTo>
                      <a:pt x="148" y="1167"/>
                      <a:pt x="0" y="1370"/>
                      <a:pt x="0" y="1612"/>
                    </a:cubicBezTo>
                    <a:cubicBezTo>
                      <a:pt x="0" y="1780"/>
                      <a:pt x="72" y="1935"/>
                      <a:pt x="189" y="2020"/>
                    </a:cubicBezTo>
                    <a:lnTo>
                      <a:pt x="187" y="2014"/>
                    </a:lnTo>
                    <a:cubicBezTo>
                      <a:pt x="121" y="2101"/>
                      <a:pt x="84" y="2216"/>
                      <a:pt x="84" y="2336"/>
                    </a:cubicBezTo>
                    <a:cubicBezTo>
                      <a:pt x="84" y="2596"/>
                      <a:pt x="256" y="2806"/>
                      <a:pt x="468" y="2806"/>
                    </a:cubicBezTo>
                    <a:cubicBezTo>
                      <a:pt x="482" y="2806"/>
                      <a:pt x="497" y="2805"/>
                      <a:pt x="512" y="2803"/>
                    </a:cubicBezTo>
                    <a:lnTo>
                      <a:pt x="510" y="2806"/>
                    </a:lnTo>
                    <a:cubicBezTo>
                      <a:pt x="631" y="3066"/>
                      <a:pt x="856" y="3227"/>
                      <a:pt x="1099" y="3227"/>
                    </a:cubicBezTo>
                    <a:cubicBezTo>
                      <a:pt x="1223" y="3227"/>
                      <a:pt x="1344" y="3186"/>
                      <a:pt x="1449" y="3107"/>
                    </a:cubicBezTo>
                    <a:lnTo>
                      <a:pt x="1448" y="3108"/>
                    </a:lnTo>
                    <a:cubicBezTo>
                      <a:pt x="1558" y="3311"/>
                      <a:pt x="1744" y="3433"/>
                      <a:pt x="1942" y="3433"/>
                    </a:cubicBezTo>
                    <a:cubicBezTo>
                      <a:pt x="2204" y="3433"/>
                      <a:pt x="2435" y="3222"/>
                      <a:pt x="2510" y="2913"/>
                    </a:cubicBezTo>
                    <a:lnTo>
                      <a:pt x="2511" y="2917"/>
                    </a:lnTo>
                    <a:cubicBezTo>
                      <a:pt x="2592" y="2979"/>
                      <a:pt x="2685" y="3012"/>
                      <a:pt x="2780" y="3012"/>
                    </a:cubicBezTo>
                    <a:cubicBezTo>
                      <a:pt x="3060" y="3012"/>
                      <a:pt x="3287" y="2735"/>
                      <a:pt x="3289" y="2392"/>
                    </a:cubicBezTo>
                    <a:lnTo>
                      <a:pt x="3288" y="2390"/>
                    </a:lnTo>
                    <a:cubicBezTo>
                      <a:pt x="3582" y="2339"/>
                      <a:pt x="3800" y="2030"/>
                      <a:pt x="3800" y="1665"/>
                    </a:cubicBezTo>
                    <a:cubicBezTo>
                      <a:pt x="3800" y="1504"/>
                      <a:pt x="3756" y="1347"/>
                      <a:pt x="3677" y="1219"/>
                    </a:cubicBezTo>
                    <a:lnTo>
                      <a:pt x="3675" y="1218"/>
                    </a:lnTo>
                    <a:cubicBezTo>
                      <a:pt x="3700" y="1146"/>
                      <a:pt x="3713" y="1069"/>
                      <a:pt x="3713" y="991"/>
                    </a:cubicBezTo>
                    <a:cubicBezTo>
                      <a:pt x="3713" y="730"/>
                      <a:pt x="3572" y="501"/>
                      <a:pt x="3368" y="433"/>
                    </a:cubicBezTo>
                    <a:lnTo>
                      <a:pt x="3369" y="432"/>
                    </a:lnTo>
                    <a:cubicBezTo>
                      <a:pt x="3333" y="182"/>
                      <a:pt x="3155" y="1"/>
                      <a:pt x="2949" y="1"/>
                    </a:cubicBezTo>
                    <a:cubicBezTo>
                      <a:pt x="2823" y="0"/>
                      <a:pt x="2704" y="68"/>
                      <a:pt x="2623" y="186"/>
                    </a:cubicBezTo>
                    <a:lnTo>
                      <a:pt x="2623" y="187"/>
                    </a:lnTo>
                    <a:cubicBezTo>
                      <a:pt x="2551" y="69"/>
                      <a:pt x="2438" y="1"/>
                      <a:pt x="2318" y="1"/>
                    </a:cubicBezTo>
                    <a:cubicBezTo>
                      <a:pt x="2173" y="0"/>
                      <a:pt x="2039" y="102"/>
                      <a:pt x="1975" y="262"/>
                    </a:cubicBezTo>
                    <a:lnTo>
                      <a:pt x="1976" y="270"/>
                    </a:lnTo>
                    <a:cubicBezTo>
                      <a:pt x="1888" y="163"/>
                      <a:pt x="1770" y="104"/>
                      <a:pt x="1647" y="104"/>
                    </a:cubicBezTo>
                    <a:cubicBezTo>
                      <a:pt x="1473" y="104"/>
                      <a:pt x="1314" y="222"/>
                      <a:pt x="1232" y="410"/>
                    </a:cubicBezTo>
                    <a:lnTo>
                      <a:pt x="1231" y="414"/>
                    </a:lnTo>
                    <a:cubicBezTo>
                      <a:pt x="1140" y="349"/>
                      <a:pt x="1036" y="314"/>
                      <a:pt x="931" y="314"/>
                    </a:cubicBezTo>
                    <a:cubicBezTo>
                      <a:pt x="603" y="314"/>
                      <a:pt x="337" y="641"/>
                      <a:pt x="337" y="1044"/>
                    </a:cubicBezTo>
                    <a:cubicBezTo>
                      <a:pt x="337" y="1077"/>
                      <a:pt x="339" y="1110"/>
                      <a:pt x="342" y="1143"/>
                    </a:cubicBezTo>
                    <a:lnTo>
                      <a:pt x="343" y="1142"/>
                    </a:lnTo>
                    <a:close/>
                  </a:path>
                </a:pathLst>
              </a:custGeom>
              <a:solidFill>
                <a:srgbClr val="C0C0C0"/>
              </a:solidFill>
              <a:ln w="0">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23" name="Freeform 7"/>
              <p:cNvSpPr>
                <a:spLocks/>
              </p:cNvSpPr>
              <p:nvPr/>
            </p:nvSpPr>
            <p:spPr bwMode="auto">
              <a:xfrm>
                <a:off x="4554" y="2181"/>
                <a:ext cx="910" cy="825"/>
              </a:xfrm>
              <a:custGeom>
                <a:avLst/>
                <a:gdLst>
                  <a:gd name="T0" fmla="*/ 0 w 3800"/>
                  <a:gd name="T1" fmla="*/ 0 h 3433"/>
                  <a:gd name="T2" fmla="*/ 0 w 3800"/>
                  <a:gd name="T3" fmla="*/ 0 h 3433"/>
                  <a:gd name="T4" fmla="*/ 0 w 3800"/>
                  <a:gd name="T5" fmla="*/ 0 h 3433"/>
                  <a:gd name="T6" fmla="*/ 0 w 3800"/>
                  <a:gd name="T7" fmla="*/ 0 h 3433"/>
                  <a:gd name="T8" fmla="*/ 0 w 3800"/>
                  <a:gd name="T9" fmla="*/ 0 h 3433"/>
                  <a:gd name="T10" fmla="*/ 0 w 3800"/>
                  <a:gd name="T11" fmla="*/ 0 h 3433"/>
                  <a:gd name="T12" fmla="*/ 0 w 3800"/>
                  <a:gd name="T13" fmla="*/ 0 h 3433"/>
                  <a:gd name="T14" fmla="*/ 0 w 3800"/>
                  <a:gd name="T15" fmla="*/ 0 h 3433"/>
                  <a:gd name="T16" fmla="*/ 0 w 3800"/>
                  <a:gd name="T17" fmla="*/ 0 h 3433"/>
                  <a:gd name="T18" fmla="*/ 0 w 3800"/>
                  <a:gd name="T19" fmla="*/ 0 h 3433"/>
                  <a:gd name="T20" fmla="*/ 0 w 3800"/>
                  <a:gd name="T21" fmla="*/ 0 h 3433"/>
                  <a:gd name="T22" fmla="*/ 0 w 3800"/>
                  <a:gd name="T23" fmla="*/ 0 h 3433"/>
                  <a:gd name="T24" fmla="*/ 0 w 3800"/>
                  <a:gd name="T25" fmla="*/ 0 h 3433"/>
                  <a:gd name="T26" fmla="*/ 0 w 3800"/>
                  <a:gd name="T27" fmla="*/ 0 h 3433"/>
                  <a:gd name="T28" fmla="*/ 0 w 3800"/>
                  <a:gd name="T29" fmla="*/ 0 h 3433"/>
                  <a:gd name="T30" fmla="*/ 0 w 3800"/>
                  <a:gd name="T31" fmla="*/ 0 h 3433"/>
                  <a:gd name="T32" fmla="*/ 0 w 3800"/>
                  <a:gd name="T33" fmla="*/ 0 h 3433"/>
                  <a:gd name="T34" fmla="*/ 0 w 3800"/>
                  <a:gd name="T35" fmla="*/ 0 h 3433"/>
                  <a:gd name="T36" fmla="*/ 0 w 3800"/>
                  <a:gd name="T37" fmla="*/ 0 h 3433"/>
                  <a:gd name="T38" fmla="*/ 0 w 3800"/>
                  <a:gd name="T39" fmla="*/ 0 h 3433"/>
                  <a:gd name="T40" fmla="*/ 0 w 3800"/>
                  <a:gd name="T41" fmla="*/ 0 h 3433"/>
                  <a:gd name="T42" fmla="*/ 0 w 3800"/>
                  <a:gd name="T43" fmla="*/ 0 h 3433"/>
                  <a:gd name="T44" fmla="*/ 0 w 3800"/>
                  <a:gd name="T45" fmla="*/ 0 h 3433"/>
                  <a:gd name="T46" fmla="*/ 0 w 3800"/>
                  <a:gd name="T47" fmla="*/ 0 h 3433"/>
                  <a:gd name="T48" fmla="*/ 0 w 3800"/>
                  <a:gd name="T49" fmla="*/ 0 h 3433"/>
                  <a:gd name="T50" fmla="*/ 0 w 3800"/>
                  <a:gd name="T51" fmla="*/ 0 h 3433"/>
                  <a:gd name="T52" fmla="*/ 0 w 3800"/>
                  <a:gd name="T53" fmla="*/ 0 h 3433"/>
                  <a:gd name="T54" fmla="*/ 0 w 3800"/>
                  <a:gd name="T55" fmla="*/ 0 h 3433"/>
                  <a:gd name="T56" fmla="*/ 0 w 3800"/>
                  <a:gd name="T57" fmla="*/ 0 h 3433"/>
                  <a:gd name="T58" fmla="*/ 0 w 3800"/>
                  <a:gd name="T59" fmla="*/ 0 h 3433"/>
                  <a:gd name="T60" fmla="*/ 0 w 3800"/>
                  <a:gd name="T61" fmla="*/ 0 h 3433"/>
                  <a:gd name="T62" fmla="*/ 0 w 3800"/>
                  <a:gd name="T63" fmla="*/ 0 h 3433"/>
                  <a:gd name="T64" fmla="*/ 0 w 3800"/>
                  <a:gd name="T65" fmla="*/ 0 h 3433"/>
                  <a:gd name="T66" fmla="*/ 0 w 3800"/>
                  <a:gd name="T67" fmla="*/ 0 h 3433"/>
                  <a:gd name="T68" fmla="*/ 0 w 3800"/>
                  <a:gd name="T69" fmla="*/ 0 h 3433"/>
                  <a:gd name="T70" fmla="*/ 0 w 3800"/>
                  <a:gd name="T71" fmla="*/ 0 h 343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3800"/>
                  <a:gd name="T109" fmla="*/ 0 h 3433"/>
                  <a:gd name="T110" fmla="*/ 3800 w 3800"/>
                  <a:gd name="T111" fmla="*/ 3433 h 3433"/>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3800" h="3433">
                    <a:moveTo>
                      <a:pt x="343" y="1142"/>
                    </a:moveTo>
                    <a:cubicBezTo>
                      <a:pt x="148" y="1167"/>
                      <a:pt x="0" y="1370"/>
                      <a:pt x="0" y="1612"/>
                    </a:cubicBezTo>
                    <a:cubicBezTo>
                      <a:pt x="0" y="1780"/>
                      <a:pt x="72" y="1935"/>
                      <a:pt x="189" y="2020"/>
                    </a:cubicBezTo>
                    <a:lnTo>
                      <a:pt x="187" y="2014"/>
                    </a:lnTo>
                    <a:cubicBezTo>
                      <a:pt x="121" y="2101"/>
                      <a:pt x="84" y="2216"/>
                      <a:pt x="84" y="2336"/>
                    </a:cubicBezTo>
                    <a:cubicBezTo>
                      <a:pt x="84" y="2596"/>
                      <a:pt x="256" y="2806"/>
                      <a:pt x="468" y="2806"/>
                    </a:cubicBezTo>
                    <a:cubicBezTo>
                      <a:pt x="482" y="2806"/>
                      <a:pt x="497" y="2805"/>
                      <a:pt x="512" y="2803"/>
                    </a:cubicBezTo>
                    <a:lnTo>
                      <a:pt x="510" y="2806"/>
                    </a:lnTo>
                    <a:cubicBezTo>
                      <a:pt x="631" y="3066"/>
                      <a:pt x="856" y="3227"/>
                      <a:pt x="1099" y="3227"/>
                    </a:cubicBezTo>
                    <a:cubicBezTo>
                      <a:pt x="1223" y="3227"/>
                      <a:pt x="1344" y="3186"/>
                      <a:pt x="1449" y="3107"/>
                    </a:cubicBezTo>
                    <a:lnTo>
                      <a:pt x="1448" y="3108"/>
                    </a:lnTo>
                    <a:cubicBezTo>
                      <a:pt x="1558" y="3311"/>
                      <a:pt x="1744" y="3433"/>
                      <a:pt x="1942" y="3433"/>
                    </a:cubicBezTo>
                    <a:cubicBezTo>
                      <a:pt x="2204" y="3433"/>
                      <a:pt x="2435" y="3222"/>
                      <a:pt x="2510" y="2913"/>
                    </a:cubicBezTo>
                    <a:lnTo>
                      <a:pt x="2511" y="2917"/>
                    </a:lnTo>
                    <a:cubicBezTo>
                      <a:pt x="2592" y="2979"/>
                      <a:pt x="2685" y="3012"/>
                      <a:pt x="2780" y="3012"/>
                    </a:cubicBezTo>
                    <a:cubicBezTo>
                      <a:pt x="3060" y="3012"/>
                      <a:pt x="3287" y="2735"/>
                      <a:pt x="3289" y="2392"/>
                    </a:cubicBezTo>
                    <a:lnTo>
                      <a:pt x="3288" y="2390"/>
                    </a:lnTo>
                    <a:cubicBezTo>
                      <a:pt x="3582" y="2339"/>
                      <a:pt x="3800" y="2030"/>
                      <a:pt x="3800" y="1665"/>
                    </a:cubicBezTo>
                    <a:cubicBezTo>
                      <a:pt x="3800" y="1504"/>
                      <a:pt x="3756" y="1347"/>
                      <a:pt x="3677" y="1219"/>
                    </a:cubicBezTo>
                    <a:lnTo>
                      <a:pt x="3675" y="1218"/>
                    </a:lnTo>
                    <a:cubicBezTo>
                      <a:pt x="3700" y="1146"/>
                      <a:pt x="3713" y="1069"/>
                      <a:pt x="3713" y="991"/>
                    </a:cubicBezTo>
                    <a:cubicBezTo>
                      <a:pt x="3713" y="730"/>
                      <a:pt x="3572" y="501"/>
                      <a:pt x="3368" y="433"/>
                    </a:cubicBezTo>
                    <a:lnTo>
                      <a:pt x="3369" y="432"/>
                    </a:lnTo>
                    <a:cubicBezTo>
                      <a:pt x="3333" y="182"/>
                      <a:pt x="3155" y="1"/>
                      <a:pt x="2949" y="1"/>
                    </a:cubicBezTo>
                    <a:cubicBezTo>
                      <a:pt x="2823" y="0"/>
                      <a:pt x="2704" y="68"/>
                      <a:pt x="2623" y="186"/>
                    </a:cubicBezTo>
                    <a:lnTo>
                      <a:pt x="2623" y="187"/>
                    </a:lnTo>
                    <a:cubicBezTo>
                      <a:pt x="2551" y="69"/>
                      <a:pt x="2438" y="1"/>
                      <a:pt x="2318" y="1"/>
                    </a:cubicBezTo>
                    <a:cubicBezTo>
                      <a:pt x="2173" y="0"/>
                      <a:pt x="2039" y="102"/>
                      <a:pt x="1975" y="262"/>
                    </a:cubicBezTo>
                    <a:lnTo>
                      <a:pt x="1976" y="270"/>
                    </a:lnTo>
                    <a:cubicBezTo>
                      <a:pt x="1888" y="163"/>
                      <a:pt x="1770" y="104"/>
                      <a:pt x="1647" y="104"/>
                    </a:cubicBezTo>
                    <a:cubicBezTo>
                      <a:pt x="1473" y="104"/>
                      <a:pt x="1314" y="222"/>
                      <a:pt x="1232" y="410"/>
                    </a:cubicBezTo>
                    <a:lnTo>
                      <a:pt x="1231" y="414"/>
                    </a:lnTo>
                    <a:cubicBezTo>
                      <a:pt x="1140" y="349"/>
                      <a:pt x="1036" y="314"/>
                      <a:pt x="931" y="314"/>
                    </a:cubicBezTo>
                    <a:cubicBezTo>
                      <a:pt x="603" y="314"/>
                      <a:pt x="337" y="641"/>
                      <a:pt x="337" y="1044"/>
                    </a:cubicBezTo>
                    <a:cubicBezTo>
                      <a:pt x="337" y="1077"/>
                      <a:pt x="339" y="1110"/>
                      <a:pt x="342" y="1143"/>
                    </a:cubicBezTo>
                    <a:lnTo>
                      <a:pt x="343" y="1142"/>
                    </a:lnTo>
                    <a:close/>
                  </a:path>
                </a:pathLst>
              </a:custGeom>
              <a:solidFill>
                <a:srgbClr val="C0C0C0"/>
              </a:solidFill>
              <a:ln w="0">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24" name="Freeform 8"/>
              <p:cNvSpPr>
                <a:spLocks/>
              </p:cNvSpPr>
              <p:nvPr/>
            </p:nvSpPr>
            <p:spPr bwMode="auto">
              <a:xfrm>
                <a:off x="4554" y="2181"/>
                <a:ext cx="910" cy="825"/>
              </a:xfrm>
              <a:custGeom>
                <a:avLst/>
                <a:gdLst>
                  <a:gd name="T0" fmla="*/ 0 w 3800"/>
                  <a:gd name="T1" fmla="*/ 0 h 3433"/>
                  <a:gd name="T2" fmla="*/ 0 w 3800"/>
                  <a:gd name="T3" fmla="*/ 0 h 3433"/>
                  <a:gd name="T4" fmla="*/ 0 w 3800"/>
                  <a:gd name="T5" fmla="*/ 0 h 3433"/>
                  <a:gd name="T6" fmla="*/ 0 w 3800"/>
                  <a:gd name="T7" fmla="*/ 0 h 3433"/>
                  <a:gd name="T8" fmla="*/ 0 w 3800"/>
                  <a:gd name="T9" fmla="*/ 0 h 3433"/>
                  <a:gd name="T10" fmla="*/ 0 w 3800"/>
                  <a:gd name="T11" fmla="*/ 0 h 3433"/>
                  <a:gd name="T12" fmla="*/ 0 w 3800"/>
                  <a:gd name="T13" fmla="*/ 0 h 3433"/>
                  <a:gd name="T14" fmla="*/ 0 w 3800"/>
                  <a:gd name="T15" fmla="*/ 0 h 3433"/>
                  <a:gd name="T16" fmla="*/ 0 w 3800"/>
                  <a:gd name="T17" fmla="*/ 0 h 3433"/>
                  <a:gd name="T18" fmla="*/ 0 w 3800"/>
                  <a:gd name="T19" fmla="*/ 0 h 3433"/>
                  <a:gd name="T20" fmla="*/ 0 w 3800"/>
                  <a:gd name="T21" fmla="*/ 0 h 3433"/>
                  <a:gd name="T22" fmla="*/ 0 w 3800"/>
                  <a:gd name="T23" fmla="*/ 0 h 3433"/>
                  <a:gd name="T24" fmla="*/ 0 w 3800"/>
                  <a:gd name="T25" fmla="*/ 0 h 3433"/>
                  <a:gd name="T26" fmla="*/ 0 w 3800"/>
                  <a:gd name="T27" fmla="*/ 0 h 3433"/>
                  <a:gd name="T28" fmla="*/ 0 w 3800"/>
                  <a:gd name="T29" fmla="*/ 0 h 3433"/>
                  <a:gd name="T30" fmla="*/ 0 w 3800"/>
                  <a:gd name="T31" fmla="*/ 0 h 3433"/>
                  <a:gd name="T32" fmla="*/ 0 w 3800"/>
                  <a:gd name="T33" fmla="*/ 0 h 3433"/>
                  <a:gd name="T34" fmla="*/ 0 w 3800"/>
                  <a:gd name="T35" fmla="*/ 0 h 3433"/>
                  <a:gd name="T36" fmla="*/ 0 w 3800"/>
                  <a:gd name="T37" fmla="*/ 0 h 3433"/>
                  <a:gd name="T38" fmla="*/ 0 w 3800"/>
                  <a:gd name="T39" fmla="*/ 0 h 3433"/>
                  <a:gd name="T40" fmla="*/ 0 w 3800"/>
                  <a:gd name="T41" fmla="*/ 0 h 3433"/>
                  <a:gd name="T42" fmla="*/ 0 w 3800"/>
                  <a:gd name="T43" fmla="*/ 0 h 3433"/>
                  <a:gd name="T44" fmla="*/ 0 w 3800"/>
                  <a:gd name="T45" fmla="*/ 0 h 3433"/>
                  <a:gd name="T46" fmla="*/ 0 w 3800"/>
                  <a:gd name="T47" fmla="*/ 0 h 3433"/>
                  <a:gd name="T48" fmla="*/ 0 w 3800"/>
                  <a:gd name="T49" fmla="*/ 0 h 3433"/>
                  <a:gd name="T50" fmla="*/ 0 w 3800"/>
                  <a:gd name="T51" fmla="*/ 0 h 3433"/>
                  <a:gd name="T52" fmla="*/ 0 w 3800"/>
                  <a:gd name="T53" fmla="*/ 0 h 3433"/>
                  <a:gd name="T54" fmla="*/ 0 w 3800"/>
                  <a:gd name="T55" fmla="*/ 0 h 3433"/>
                  <a:gd name="T56" fmla="*/ 0 w 3800"/>
                  <a:gd name="T57" fmla="*/ 0 h 3433"/>
                  <a:gd name="T58" fmla="*/ 0 w 3800"/>
                  <a:gd name="T59" fmla="*/ 0 h 3433"/>
                  <a:gd name="T60" fmla="*/ 0 w 3800"/>
                  <a:gd name="T61" fmla="*/ 0 h 3433"/>
                  <a:gd name="T62" fmla="*/ 0 w 3800"/>
                  <a:gd name="T63" fmla="*/ 0 h 3433"/>
                  <a:gd name="T64" fmla="*/ 0 w 3800"/>
                  <a:gd name="T65" fmla="*/ 0 h 3433"/>
                  <a:gd name="T66" fmla="*/ 0 w 3800"/>
                  <a:gd name="T67" fmla="*/ 0 h 3433"/>
                  <a:gd name="T68" fmla="*/ 0 w 3800"/>
                  <a:gd name="T69" fmla="*/ 0 h 3433"/>
                  <a:gd name="T70" fmla="*/ 0 w 3800"/>
                  <a:gd name="T71" fmla="*/ 0 h 343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3800"/>
                  <a:gd name="T109" fmla="*/ 0 h 3433"/>
                  <a:gd name="T110" fmla="*/ 3800 w 3800"/>
                  <a:gd name="T111" fmla="*/ 3433 h 3433"/>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3800" h="3433">
                    <a:moveTo>
                      <a:pt x="343" y="1142"/>
                    </a:moveTo>
                    <a:cubicBezTo>
                      <a:pt x="148" y="1167"/>
                      <a:pt x="0" y="1370"/>
                      <a:pt x="0" y="1612"/>
                    </a:cubicBezTo>
                    <a:cubicBezTo>
                      <a:pt x="0" y="1780"/>
                      <a:pt x="72" y="1935"/>
                      <a:pt x="189" y="2020"/>
                    </a:cubicBezTo>
                    <a:lnTo>
                      <a:pt x="187" y="2014"/>
                    </a:lnTo>
                    <a:cubicBezTo>
                      <a:pt x="121" y="2101"/>
                      <a:pt x="84" y="2216"/>
                      <a:pt x="84" y="2336"/>
                    </a:cubicBezTo>
                    <a:cubicBezTo>
                      <a:pt x="84" y="2596"/>
                      <a:pt x="256" y="2806"/>
                      <a:pt x="468" y="2806"/>
                    </a:cubicBezTo>
                    <a:cubicBezTo>
                      <a:pt x="482" y="2806"/>
                      <a:pt x="497" y="2805"/>
                      <a:pt x="512" y="2803"/>
                    </a:cubicBezTo>
                    <a:lnTo>
                      <a:pt x="510" y="2806"/>
                    </a:lnTo>
                    <a:cubicBezTo>
                      <a:pt x="631" y="3066"/>
                      <a:pt x="856" y="3227"/>
                      <a:pt x="1099" y="3227"/>
                    </a:cubicBezTo>
                    <a:cubicBezTo>
                      <a:pt x="1223" y="3227"/>
                      <a:pt x="1344" y="3186"/>
                      <a:pt x="1449" y="3107"/>
                    </a:cubicBezTo>
                    <a:lnTo>
                      <a:pt x="1448" y="3108"/>
                    </a:lnTo>
                    <a:cubicBezTo>
                      <a:pt x="1558" y="3311"/>
                      <a:pt x="1744" y="3433"/>
                      <a:pt x="1942" y="3433"/>
                    </a:cubicBezTo>
                    <a:cubicBezTo>
                      <a:pt x="2204" y="3433"/>
                      <a:pt x="2435" y="3222"/>
                      <a:pt x="2510" y="2913"/>
                    </a:cubicBezTo>
                    <a:lnTo>
                      <a:pt x="2511" y="2917"/>
                    </a:lnTo>
                    <a:cubicBezTo>
                      <a:pt x="2592" y="2979"/>
                      <a:pt x="2685" y="3012"/>
                      <a:pt x="2780" y="3012"/>
                    </a:cubicBezTo>
                    <a:cubicBezTo>
                      <a:pt x="3060" y="3012"/>
                      <a:pt x="3287" y="2735"/>
                      <a:pt x="3289" y="2392"/>
                    </a:cubicBezTo>
                    <a:lnTo>
                      <a:pt x="3288" y="2390"/>
                    </a:lnTo>
                    <a:cubicBezTo>
                      <a:pt x="3582" y="2339"/>
                      <a:pt x="3800" y="2030"/>
                      <a:pt x="3800" y="1665"/>
                    </a:cubicBezTo>
                    <a:cubicBezTo>
                      <a:pt x="3800" y="1504"/>
                      <a:pt x="3756" y="1347"/>
                      <a:pt x="3677" y="1219"/>
                    </a:cubicBezTo>
                    <a:lnTo>
                      <a:pt x="3675" y="1218"/>
                    </a:lnTo>
                    <a:cubicBezTo>
                      <a:pt x="3700" y="1146"/>
                      <a:pt x="3713" y="1069"/>
                      <a:pt x="3713" y="991"/>
                    </a:cubicBezTo>
                    <a:cubicBezTo>
                      <a:pt x="3713" y="730"/>
                      <a:pt x="3572" y="501"/>
                      <a:pt x="3368" y="433"/>
                    </a:cubicBezTo>
                    <a:lnTo>
                      <a:pt x="3369" y="432"/>
                    </a:lnTo>
                    <a:cubicBezTo>
                      <a:pt x="3333" y="182"/>
                      <a:pt x="3155" y="1"/>
                      <a:pt x="2949" y="1"/>
                    </a:cubicBezTo>
                    <a:cubicBezTo>
                      <a:pt x="2823" y="0"/>
                      <a:pt x="2704" y="68"/>
                      <a:pt x="2623" y="186"/>
                    </a:cubicBezTo>
                    <a:lnTo>
                      <a:pt x="2623" y="187"/>
                    </a:lnTo>
                    <a:cubicBezTo>
                      <a:pt x="2551" y="69"/>
                      <a:pt x="2438" y="1"/>
                      <a:pt x="2318" y="1"/>
                    </a:cubicBezTo>
                    <a:cubicBezTo>
                      <a:pt x="2173" y="0"/>
                      <a:pt x="2039" y="102"/>
                      <a:pt x="1975" y="262"/>
                    </a:cubicBezTo>
                    <a:lnTo>
                      <a:pt x="1976" y="270"/>
                    </a:lnTo>
                    <a:cubicBezTo>
                      <a:pt x="1888" y="163"/>
                      <a:pt x="1770" y="104"/>
                      <a:pt x="1647" y="104"/>
                    </a:cubicBezTo>
                    <a:cubicBezTo>
                      <a:pt x="1473" y="104"/>
                      <a:pt x="1314" y="222"/>
                      <a:pt x="1232" y="410"/>
                    </a:cubicBezTo>
                    <a:lnTo>
                      <a:pt x="1231" y="414"/>
                    </a:lnTo>
                    <a:cubicBezTo>
                      <a:pt x="1140" y="349"/>
                      <a:pt x="1036" y="314"/>
                      <a:pt x="931" y="314"/>
                    </a:cubicBezTo>
                    <a:cubicBezTo>
                      <a:pt x="603" y="314"/>
                      <a:pt x="337" y="641"/>
                      <a:pt x="337" y="1044"/>
                    </a:cubicBezTo>
                    <a:cubicBezTo>
                      <a:pt x="337" y="1077"/>
                      <a:pt x="339" y="1110"/>
                      <a:pt x="342" y="1143"/>
                    </a:cubicBezTo>
                    <a:lnTo>
                      <a:pt x="343" y="1142"/>
                    </a:lnTo>
                    <a:close/>
                  </a:path>
                </a:pathLst>
              </a:custGeom>
              <a:solidFill>
                <a:srgbClr val="FFFFFF"/>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25" name="Freeform 9"/>
              <p:cNvSpPr>
                <a:spLocks/>
              </p:cNvSpPr>
              <p:nvPr/>
            </p:nvSpPr>
            <p:spPr bwMode="auto">
              <a:xfrm>
                <a:off x="4599" y="2667"/>
                <a:ext cx="54" cy="15"/>
              </a:xfrm>
              <a:custGeom>
                <a:avLst/>
                <a:gdLst>
                  <a:gd name="T0" fmla="*/ 0 w 54"/>
                  <a:gd name="T1" fmla="*/ 0 h 15"/>
                  <a:gd name="T2" fmla="*/ 47 w 54"/>
                  <a:gd name="T3" fmla="*/ 15 h 15"/>
                  <a:gd name="T4" fmla="*/ 54 w 54"/>
                  <a:gd name="T5" fmla="*/ 15 h 15"/>
                  <a:gd name="T6" fmla="*/ 0 60000 65536"/>
                  <a:gd name="T7" fmla="*/ 0 60000 65536"/>
                  <a:gd name="T8" fmla="*/ 0 60000 65536"/>
                  <a:gd name="T9" fmla="*/ 0 w 54"/>
                  <a:gd name="T10" fmla="*/ 0 h 15"/>
                  <a:gd name="T11" fmla="*/ 54 w 54"/>
                  <a:gd name="T12" fmla="*/ 15 h 15"/>
                </a:gdLst>
                <a:ahLst/>
                <a:cxnLst>
                  <a:cxn ang="T6">
                    <a:pos x="T0" y="T1"/>
                  </a:cxn>
                  <a:cxn ang="T7">
                    <a:pos x="T2" y="T3"/>
                  </a:cxn>
                  <a:cxn ang="T8">
                    <a:pos x="T4" y="T5"/>
                  </a:cxn>
                </a:cxnLst>
                <a:rect l="T9" t="T10" r="T11" b="T12"/>
                <a:pathLst>
                  <a:path w="54" h="15">
                    <a:moveTo>
                      <a:pt x="0" y="0"/>
                    </a:moveTo>
                    <a:cubicBezTo>
                      <a:pt x="14" y="10"/>
                      <a:pt x="30" y="15"/>
                      <a:pt x="47" y="15"/>
                    </a:cubicBezTo>
                    <a:cubicBezTo>
                      <a:pt x="49" y="15"/>
                      <a:pt x="51" y="15"/>
                      <a:pt x="54" y="15"/>
                    </a:cubicBezTo>
                  </a:path>
                </a:pathLst>
              </a:custGeom>
              <a:solidFill>
                <a:srgbClr val="C0C0C0"/>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26" name="Freeform 10"/>
              <p:cNvSpPr>
                <a:spLocks/>
              </p:cNvSpPr>
              <p:nvPr/>
            </p:nvSpPr>
            <p:spPr bwMode="auto">
              <a:xfrm>
                <a:off x="4676" y="2847"/>
                <a:ext cx="24" cy="8"/>
              </a:xfrm>
              <a:custGeom>
                <a:avLst/>
                <a:gdLst>
                  <a:gd name="T0" fmla="*/ 0 w 24"/>
                  <a:gd name="T1" fmla="*/ 8 h 8"/>
                  <a:gd name="T2" fmla="*/ 24 w 24"/>
                  <a:gd name="T3" fmla="*/ 0 h 8"/>
                  <a:gd name="T4" fmla="*/ 0 60000 65536"/>
                  <a:gd name="T5" fmla="*/ 0 60000 65536"/>
                  <a:gd name="T6" fmla="*/ 0 w 24"/>
                  <a:gd name="T7" fmla="*/ 0 h 8"/>
                  <a:gd name="T8" fmla="*/ 24 w 24"/>
                  <a:gd name="T9" fmla="*/ 8 h 8"/>
                </a:gdLst>
                <a:ahLst/>
                <a:cxnLst>
                  <a:cxn ang="T4">
                    <a:pos x="T0" y="T1"/>
                  </a:cxn>
                  <a:cxn ang="T5">
                    <a:pos x="T2" y="T3"/>
                  </a:cxn>
                </a:cxnLst>
                <a:rect l="T6" t="T7" r="T8" b="T9"/>
                <a:pathLst>
                  <a:path w="24" h="8">
                    <a:moveTo>
                      <a:pt x="0" y="8"/>
                    </a:moveTo>
                    <a:cubicBezTo>
                      <a:pt x="9" y="6"/>
                      <a:pt x="16" y="4"/>
                      <a:pt x="24" y="0"/>
                    </a:cubicBezTo>
                  </a:path>
                </a:pathLst>
              </a:custGeom>
              <a:solidFill>
                <a:srgbClr val="C0C0C0"/>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27" name="Freeform 11"/>
              <p:cNvSpPr>
                <a:spLocks/>
              </p:cNvSpPr>
              <p:nvPr/>
            </p:nvSpPr>
            <p:spPr bwMode="auto">
              <a:xfrm>
                <a:off x="4887" y="2895"/>
                <a:ext cx="14" cy="33"/>
              </a:xfrm>
              <a:custGeom>
                <a:avLst/>
                <a:gdLst>
                  <a:gd name="T0" fmla="*/ 0 w 14"/>
                  <a:gd name="T1" fmla="*/ 0 h 33"/>
                  <a:gd name="T2" fmla="*/ 14 w 14"/>
                  <a:gd name="T3" fmla="*/ 33 h 33"/>
                  <a:gd name="T4" fmla="*/ 0 60000 65536"/>
                  <a:gd name="T5" fmla="*/ 0 60000 65536"/>
                  <a:gd name="T6" fmla="*/ 0 w 14"/>
                  <a:gd name="T7" fmla="*/ 0 h 33"/>
                  <a:gd name="T8" fmla="*/ 14 w 14"/>
                  <a:gd name="T9" fmla="*/ 33 h 33"/>
                </a:gdLst>
                <a:ahLst/>
                <a:cxnLst>
                  <a:cxn ang="T4">
                    <a:pos x="T0" y="T1"/>
                  </a:cxn>
                  <a:cxn ang="T5">
                    <a:pos x="T2" y="T3"/>
                  </a:cxn>
                </a:cxnLst>
                <a:rect l="T6" t="T7" r="T8" b="T9"/>
                <a:pathLst>
                  <a:path w="14" h="33">
                    <a:moveTo>
                      <a:pt x="0" y="0"/>
                    </a:moveTo>
                    <a:cubicBezTo>
                      <a:pt x="3" y="11"/>
                      <a:pt x="8" y="23"/>
                      <a:pt x="14" y="33"/>
                    </a:cubicBezTo>
                  </a:path>
                </a:pathLst>
              </a:custGeom>
              <a:solidFill>
                <a:srgbClr val="C0C0C0"/>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28" name="Freeform 12"/>
              <p:cNvSpPr>
                <a:spLocks/>
              </p:cNvSpPr>
              <p:nvPr/>
            </p:nvSpPr>
            <p:spPr bwMode="auto">
              <a:xfrm>
                <a:off x="5155" y="2845"/>
                <a:ext cx="6" cy="36"/>
              </a:xfrm>
              <a:custGeom>
                <a:avLst/>
                <a:gdLst>
                  <a:gd name="T0" fmla="*/ 0 w 6"/>
                  <a:gd name="T1" fmla="*/ 36 h 36"/>
                  <a:gd name="T2" fmla="*/ 6 w 6"/>
                  <a:gd name="T3" fmla="*/ 0 h 36"/>
                  <a:gd name="T4" fmla="*/ 0 60000 65536"/>
                  <a:gd name="T5" fmla="*/ 0 60000 65536"/>
                  <a:gd name="T6" fmla="*/ 0 w 6"/>
                  <a:gd name="T7" fmla="*/ 0 h 36"/>
                  <a:gd name="T8" fmla="*/ 6 w 6"/>
                  <a:gd name="T9" fmla="*/ 36 h 36"/>
                </a:gdLst>
                <a:ahLst/>
                <a:cxnLst>
                  <a:cxn ang="T4">
                    <a:pos x="T0" y="T1"/>
                  </a:cxn>
                  <a:cxn ang="T5">
                    <a:pos x="T2" y="T3"/>
                  </a:cxn>
                </a:cxnLst>
                <a:rect l="T6" t="T7" r="T8" b="T9"/>
                <a:pathLst>
                  <a:path w="6" h="36">
                    <a:moveTo>
                      <a:pt x="0" y="36"/>
                    </a:moveTo>
                    <a:cubicBezTo>
                      <a:pt x="3" y="24"/>
                      <a:pt x="5" y="12"/>
                      <a:pt x="6" y="0"/>
                    </a:cubicBezTo>
                  </a:path>
                </a:pathLst>
              </a:custGeom>
              <a:solidFill>
                <a:srgbClr val="C0C0C0"/>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29" name="Freeform 13"/>
              <p:cNvSpPr>
                <a:spLocks/>
              </p:cNvSpPr>
              <p:nvPr/>
            </p:nvSpPr>
            <p:spPr bwMode="auto">
              <a:xfrm>
                <a:off x="5273" y="2620"/>
                <a:ext cx="69" cy="136"/>
              </a:xfrm>
              <a:custGeom>
                <a:avLst/>
                <a:gdLst>
                  <a:gd name="T0" fmla="*/ 69 w 69"/>
                  <a:gd name="T1" fmla="*/ 136 h 136"/>
                  <a:gd name="T2" fmla="*/ 69 w 69"/>
                  <a:gd name="T3" fmla="*/ 135 h 136"/>
                  <a:gd name="T4" fmla="*/ 0 w 69"/>
                  <a:gd name="T5" fmla="*/ 0 h 136"/>
                  <a:gd name="T6" fmla="*/ 0 60000 65536"/>
                  <a:gd name="T7" fmla="*/ 0 60000 65536"/>
                  <a:gd name="T8" fmla="*/ 0 60000 65536"/>
                  <a:gd name="T9" fmla="*/ 0 w 69"/>
                  <a:gd name="T10" fmla="*/ 0 h 136"/>
                  <a:gd name="T11" fmla="*/ 69 w 69"/>
                  <a:gd name="T12" fmla="*/ 136 h 136"/>
                </a:gdLst>
                <a:ahLst/>
                <a:cxnLst>
                  <a:cxn ang="T6">
                    <a:pos x="T0" y="T1"/>
                  </a:cxn>
                  <a:cxn ang="T7">
                    <a:pos x="T2" y="T3"/>
                  </a:cxn>
                  <a:cxn ang="T8">
                    <a:pos x="T4" y="T5"/>
                  </a:cxn>
                </a:cxnLst>
                <a:rect l="T9" t="T10" r="T11" b="T12"/>
                <a:pathLst>
                  <a:path w="69" h="136">
                    <a:moveTo>
                      <a:pt x="69" y="136"/>
                    </a:moveTo>
                    <a:cubicBezTo>
                      <a:pt x="69" y="135"/>
                      <a:pt x="69" y="135"/>
                      <a:pt x="69" y="135"/>
                    </a:cubicBezTo>
                    <a:cubicBezTo>
                      <a:pt x="69" y="77"/>
                      <a:pt x="42" y="25"/>
                      <a:pt x="0" y="0"/>
                    </a:cubicBezTo>
                  </a:path>
                </a:pathLst>
              </a:custGeom>
              <a:solidFill>
                <a:srgbClr val="C0C0C0"/>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30" name="Freeform 14"/>
              <p:cNvSpPr>
                <a:spLocks/>
              </p:cNvSpPr>
              <p:nvPr/>
            </p:nvSpPr>
            <p:spPr bwMode="auto">
              <a:xfrm>
                <a:off x="5404" y="2474"/>
                <a:ext cx="30" cy="51"/>
              </a:xfrm>
              <a:custGeom>
                <a:avLst/>
                <a:gdLst>
                  <a:gd name="T0" fmla="*/ 0 w 30"/>
                  <a:gd name="T1" fmla="*/ 51 h 51"/>
                  <a:gd name="T2" fmla="*/ 30 w 30"/>
                  <a:gd name="T3" fmla="*/ 0 h 51"/>
                  <a:gd name="T4" fmla="*/ 0 60000 65536"/>
                  <a:gd name="T5" fmla="*/ 0 60000 65536"/>
                  <a:gd name="T6" fmla="*/ 0 w 30"/>
                  <a:gd name="T7" fmla="*/ 0 h 51"/>
                  <a:gd name="T8" fmla="*/ 30 w 30"/>
                  <a:gd name="T9" fmla="*/ 51 h 51"/>
                </a:gdLst>
                <a:ahLst/>
                <a:cxnLst>
                  <a:cxn ang="T4">
                    <a:pos x="T0" y="T1"/>
                  </a:cxn>
                  <a:cxn ang="T5">
                    <a:pos x="T2" y="T3"/>
                  </a:cxn>
                </a:cxnLst>
                <a:rect l="T6" t="T7" r="T8" b="T9"/>
                <a:pathLst>
                  <a:path w="30" h="51">
                    <a:moveTo>
                      <a:pt x="0" y="51"/>
                    </a:moveTo>
                    <a:cubicBezTo>
                      <a:pt x="13" y="37"/>
                      <a:pt x="23" y="20"/>
                      <a:pt x="30" y="0"/>
                    </a:cubicBezTo>
                  </a:path>
                </a:pathLst>
              </a:custGeom>
              <a:solidFill>
                <a:srgbClr val="C0C0C0"/>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31" name="Freeform 15"/>
              <p:cNvSpPr>
                <a:spLocks/>
              </p:cNvSpPr>
              <p:nvPr/>
            </p:nvSpPr>
            <p:spPr bwMode="auto">
              <a:xfrm>
                <a:off x="5361" y="2285"/>
                <a:ext cx="2" cy="24"/>
              </a:xfrm>
              <a:custGeom>
                <a:avLst/>
                <a:gdLst>
                  <a:gd name="T0" fmla="*/ 2 w 2"/>
                  <a:gd name="T1" fmla="*/ 24 h 24"/>
                  <a:gd name="T2" fmla="*/ 2 w 2"/>
                  <a:gd name="T3" fmla="*/ 23 h 24"/>
                  <a:gd name="T4" fmla="*/ 0 w 2"/>
                  <a:gd name="T5" fmla="*/ 0 h 24"/>
                  <a:gd name="T6" fmla="*/ 0 60000 65536"/>
                  <a:gd name="T7" fmla="*/ 0 60000 65536"/>
                  <a:gd name="T8" fmla="*/ 0 60000 65536"/>
                  <a:gd name="T9" fmla="*/ 0 w 2"/>
                  <a:gd name="T10" fmla="*/ 0 h 24"/>
                  <a:gd name="T11" fmla="*/ 2 w 2"/>
                  <a:gd name="T12" fmla="*/ 24 h 24"/>
                </a:gdLst>
                <a:ahLst/>
                <a:cxnLst>
                  <a:cxn ang="T6">
                    <a:pos x="T0" y="T1"/>
                  </a:cxn>
                  <a:cxn ang="T7">
                    <a:pos x="T2" y="T3"/>
                  </a:cxn>
                  <a:cxn ang="T8">
                    <a:pos x="T4" y="T5"/>
                  </a:cxn>
                </a:cxnLst>
                <a:rect l="T9" t="T10" r="T11" b="T12"/>
                <a:pathLst>
                  <a:path w="2" h="24">
                    <a:moveTo>
                      <a:pt x="2" y="24"/>
                    </a:moveTo>
                    <a:cubicBezTo>
                      <a:pt x="2" y="24"/>
                      <a:pt x="2" y="23"/>
                      <a:pt x="2" y="23"/>
                    </a:cubicBezTo>
                    <a:cubicBezTo>
                      <a:pt x="2" y="15"/>
                      <a:pt x="1" y="7"/>
                      <a:pt x="0" y="0"/>
                    </a:cubicBezTo>
                  </a:path>
                </a:pathLst>
              </a:custGeom>
              <a:solidFill>
                <a:srgbClr val="C0C0C0"/>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32" name="Freeform 16"/>
              <p:cNvSpPr>
                <a:spLocks/>
              </p:cNvSpPr>
              <p:nvPr/>
            </p:nvSpPr>
            <p:spPr bwMode="auto">
              <a:xfrm>
                <a:off x="5167" y="2226"/>
                <a:ext cx="15" cy="31"/>
              </a:xfrm>
              <a:custGeom>
                <a:avLst/>
                <a:gdLst>
                  <a:gd name="T0" fmla="*/ 15 w 15"/>
                  <a:gd name="T1" fmla="*/ 0 h 31"/>
                  <a:gd name="T2" fmla="*/ 0 w 15"/>
                  <a:gd name="T3" fmla="*/ 31 h 31"/>
                  <a:gd name="T4" fmla="*/ 0 60000 65536"/>
                  <a:gd name="T5" fmla="*/ 0 60000 65536"/>
                  <a:gd name="T6" fmla="*/ 0 w 15"/>
                  <a:gd name="T7" fmla="*/ 0 h 31"/>
                  <a:gd name="T8" fmla="*/ 15 w 15"/>
                  <a:gd name="T9" fmla="*/ 31 h 31"/>
                </a:gdLst>
                <a:ahLst/>
                <a:cxnLst>
                  <a:cxn ang="T4">
                    <a:pos x="T0" y="T1"/>
                  </a:cxn>
                  <a:cxn ang="T5">
                    <a:pos x="T2" y="T3"/>
                  </a:cxn>
                </a:cxnLst>
                <a:rect l="T6" t="T7" r="T8" b="T9"/>
                <a:pathLst>
                  <a:path w="15" h="31">
                    <a:moveTo>
                      <a:pt x="15" y="0"/>
                    </a:moveTo>
                    <a:cubicBezTo>
                      <a:pt x="9" y="9"/>
                      <a:pt x="3" y="20"/>
                      <a:pt x="0" y="31"/>
                    </a:cubicBezTo>
                  </a:path>
                </a:pathLst>
              </a:custGeom>
              <a:solidFill>
                <a:srgbClr val="C0C0C0"/>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33" name="Freeform 17"/>
              <p:cNvSpPr>
                <a:spLocks/>
              </p:cNvSpPr>
              <p:nvPr/>
            </p:nvSpPr>
            <p:spPr bwMode="auto">
              <a:xfrm>
                <a:off x="5019" y="2244"/>
                <a:ext cx="8" cy="27"/>
              </a:xfrm>
              <a:custGeom>
                <a:avLst/>
                <a:gdLst>
                  <a:gd name="T0" fmla="*/ 8 w 8"/>
                  <a:gd name="T1" fmla="*/ 0 h 27"/>
                  <a:gd name="T2" fmla="*/ 0 w 8"/>
                  <a:gd name="T3" fmla="*/ 27 h 27"/>
                  <a:gd name="T4" fmla="*/ 0 60000 65536"/>
                  <a:gd name="T5" fmla="*/ 0 60000 65536"/>
                  <a:gd name="T6" fmla="*/ 0 w 8"/>
                  <a:gd name="T7" fmla="*/ 0 h 27"/>
                  <a:gd name="T8" fmla="*/ 8 w 8"/>
                  <a:gd name="T9" fmla="*/ 27 h 27"/>
                </a:gdLst>
                <a:ahLst/>
                <a:cxnLst>
                  <a:cxn ang="T4">
                    <a:pos x="T0" y="T1"/>
                  </a:cxn>
                  <a:cxn ang="T5">
                    <a:pos x="T2" y="T3"/>
                  </a:cxn>
                </a:cxnLst>
                <a:rect l="T6" t="T7" r="T8" b="T9"/>
                <a:pathLst>
                  <a:path w="8" h="27">
                    <a:moveTo>
                      <a:pt x="8" y="0"/>
                    </a:moveTo>
                    <a:cubicBezTo>
                      <a:pt x="4" y="9"/>
                      <a:pt x="2" y="18"/>
                      <a:pt x="0" y="27"/>
                    </a:cubicBezTo>
                  </a:path>
                </a:pathLst>
              </a:custGeom>
              <a:solidFill>
                <a:srgbClr val="C0C0C0"/>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34" name="Freeform 18"/>
              <p:cNvSpPr>
                <a:spLocks/>
              </p:cNvSpPr>
              <p:nvPr/>
            </p:nvSpPr>
            <p:spPr bwMode="auto">
              <a:xfrm>
                <a:off x="4849" y="2281"/>
                <a:ext cx="27" cy="26"/>
              </a:xfrm>
              <a:custGeom>
                <a:avLst/>
                <a:gdLst>
                  <a:gd name="T0" fmla="*/ 27 w 27"/>
                  <a:gd name="T1" fmla="*/ 26 h 26"/>
                  <a:gd name="T2" fmla="*/ 0 w 27"/>
                  <a:gd name="T3" fmla="*/ 0 h 26"/>
                  <a:gd name="T4" fmla="*/ 0 60000 65536"/>
                  <a:gd name="T5" fmla="*/ 0 60000 65536"/>
                  <a:gd name="T6" fmla="*/ 0 w 27"/>
                  <a:gd name="T7" fmla="*/ 0 h 26"/>
                  <a:gd name="T8" fmla="*/ 27 w 27"/>
                  <a:gd name="T9" fmla="*/ 26 h 26"/>
                </a:gdLst>
                <a:ahLst/>
                <a:cxnLst>
                  <a:cxn ang="T4">
                    <a:pos x="T0" y="T1"/>
                  </a:cxn>
                  <a:cxn ang="T5">
                    <a:pos x="T2" y="T3"/>
                  </a:cxn>
                </a:cxnLst>
                <a:rect l="T6" t="T7" r="T8" b="T9"/>
                <a:pathLst>
                  <a:path w="27" h="26">
                    <a:moveTo>
                      <a:pt x="27" y="26"/>
                    </a:moveTo>
                    <a:cubicBezTo>
                      <a:pt x="19" y="16"/>
                      <a:pt x="10" y="7"/>
                      <a:pt x="0" y="0"/>
                    </a:cubicBezTo>
                  </a:path>
                </a:pathLst>
              </a:custGeom>
              <a:solidFill>
                <a:srgbClr val="C0C0C0"/>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35" name="Freeform 19"/>
              <p:cNvSpPr>
                <a:spLocks/>
              </p:cNvSpPr>
              <p:nvPr/>
            </p:nvSpPr>
            <p:spPr bwMode="auto">
              <a:xfrm>
                <a:off x="4636" y="2456"/>
                <a:ext cx="5" cy="27"/>
              </a:xfrm>
              <a:custGeom>
                <a:avLst/>
                <a:gdLst>
                  <a:gd name="T0" fmla="*/ 0 w 5"/>
                  <a:gd name="T1" fmla="*/ 0 h 27"/>
                  <a:gd name="T2" fmla="*/ 5 w 5"/>
                  <a:gd name="T3" fmla="*/ 27 h 27"/>
                  <a:gd name="T4" fmla="*/ 0 60000 65536"/>
                  <a:gd name="T5" fmla="*/ 0 60000 65536"/>
                  <a:gd name="T6" fmla="*/ 0 w 5"/>
                  <a:gd name="T7" fmla="*/ 0 h 27"/>
                  <a:gd name="T8" fmla="*/ 5 w 5"/>
                  <a:gd name="T9" fmla="*/ 27 h 27"/>
                </a:gdLst>
                <a:ahLst/>
                <a:cxnLst>
                  <a:cxn ang="T4">
                    <a:pos x="T0" y="T1"/>
                  </a:cxn>
                  <a:cxn ang="T5">
                    <a:pos x="T2" y="T3"/>
                  </a:cxn>
                </a:cxnLst>
                <a:rect l="T6" t="T7" r="T8" b="T9"/>
                <a:pathLst>
                  <a:path w="5" h="27">
                    <a:moveTo>
                      <a:pt x="0" y="0"/>
                    </a:moveTo>
                    <a:cubicBezTo>
                      <a:pt x="1" y="9"/>
                      <a:pt x="2" y="18"/>
                      <a:pt x="5" y="27"/>
                    </a:cubicBezTo>
                  </a:path>
                </a:pathLst>
              </a:custGeom>
              <a:solidFill>
                <a:srgbClr val="C0C0C0"/>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grpSp>
        <p:sp>
          <p:nvSpPr>
            <p:cNvPr id="19" name="Text Box 37"/>
            <p:cNvSpPr txBox="1">
              <a:spLocks noChangeArrowheads="1"/>
            </p:cNvSpPr>
            <p:nvPr/>
          </p:nvSpPr>
          <p:spPr bwMode="auto">
            <a:xfrm>
              <a:off x="2103" y="1200"/>
              <a:ext cx="1584" cy="372"/>
            </a:xfrm>
            <a:prstGeom prst="rect">
              <a:avLst/>
            </a:prstGeom>
            <a:solidFill>
              <a:srgbClr val="00FF00"/>
            </a:solidFill>
            <a:ln w="9525" algn="ctr">
              <a:solidFill>
                <a:srgbClr val="000000"/>
              </a:solidFill>
              <a:miter lim="800000"/>
              <a:headEnd/>
              <a:tailEnd/>
            </a:ln>
          </p:spPr>
          <p:txBody>
            <a:bodyPr lIns="91380" tIns="45692" rIns="91380" bIns="45692">
              <a:spAutoFit/>
            </a:bodyPr>
            <a:lstStyle>
              <a:lvl1pPr eaLnBrk="0" hangingPunct="0">
                <a:defRPr sz="1200">
                  <a:solidFill>
                    <a:schemeClr val="tx1"/>
                  </a:solidFill>
                  <a:latin typeface="Verdana" panose="020B0604030504040204" pitchFamily="34" charset="0"/>
                  <a:ea typeface="SimSun" panose="02010600030101010101" pitchFamily="2" charset="-122"/>
                </a:defRPr>
              </a:lvl1pPr>
              <a:lvl2pPr marL="742950" indent="-285750" eaLnBrk="0" hangingPunct="0">
                <a:defRPr sz="1200">
                  <a:solidFill>
                    <a:schemeClr val="tx1"/>
                  </a:solidFill>
                  <a:latin typeface="Verdana" panose="020B0604030504040204" pitchFamily="34" charset="0"/>
                  <a:ea typeface="SimSun" panose="02010600030101010101" pitchFamily="2" charset="-122"/>
                </a:defRPr>
              </a:lvl2pPr>
              <a:lvl3pPr marL="1143000" indent="-228600" eaLnBrk="0" hangingPunct="0">
                <a:defRPr sz="1200">
                  <a:solidFill>
                    <a:schemeClr val="tx1"/>
                  </a:solidFill>
                  <a:latin typeface="Verdana" panose="020B0604030504040204" pitchFamily="34" charset="0"/>
                  <a:ea typeface="SimSun" panose="02010600030101010101" pitchFamily="2" charset="-122"/>
                </a:defRPr>
              </a:lvl3pPr>
              <a:lvl4pPr marL="1600200" indent="-228600" eaLnBrk="0" hangingPunct="0">
                <a:defRPr sz="1200">
                  <a:solidFill>
                    <a:schemeClr val="tx1"/>
                  </a:solidFill>
                  <a:latin typeface="Verdana" panose="020B0604030504040204" pitchFamily="34" charset="0"/>
                  <a:ea typeface="SimSun" panose="02010600030101010101" pitchFamily="2" charset="-122"/>
                </a:defRPr>
              </a:lvl4pPr>
              <a:lvl5pPr marL="2057400" indent="-228600" eaLnBrk="0" hangingPunct="0">
                <a:defRPr sz="1200">
                  <a:solidFill>
                    <a:schemeClr val="tx1"/>
                  </a:solidFill>
                  <a:latin typeface="Verdan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AU" altLang="en-US" sz="1600" b="1" i="0" u="none" strike="noStrike" kern="0" cap="none" spc="0" normalizeH="0" baseline="0" noProof="0">
                  <a:ln>
                    <a:noFill/>
                  </a:ln>
                  <a:solidFill>
                    <a:srgbClr val="0000FF"/>
                  </a:solidFill>
                  <a:effectLst/>
                  <a:uLnTx/>
                  <a:uFillTx/>
                  <a:latin typeface="Verdana" panose="020B0604030504040204" pitchFamily="34" charset="0"/>
                  <a:ea typeface="SimSun" panose="02010600030101010101" pitchFamily="2" charset="-122"/>
                  <a:cs typeface="Tahoma"/>
                </a:rPr>
                <a:t>Private/Enterprise Clouds</a:t>
              </a:r>
              <a:endParaRPr kumimoji="0" lang="en-US" altLang="en-US" sz="1600" b="1" i="0" u="none" strike="noStrike" kern="0" cap="none" spc="0" normalizeH="0" baseline="0" noProof="0">
                <a:ln>
                  <a:noFill/>
                </a:ln>
                <a:solidFill>
                  <a:srgbClr val="0000FF"/>
                </a:solidFill>
                <a:effectLst/>
                <a:uLnTx/>
                <a:uFillTx/>
                <a:latin typeface="Verdana" panose="020B0604030504040204" pitchFamily="34" charset="0"/>
                <a:ea typeface="SimSun" panose="02010600030101010101" pitchFamily="2" charset="-122"/>
                <a:cs typeface="Tahoma"/>
              </a:endParaRPr>
            </a:p>
          </p:txBody>
        </p:sp>
        <p:pic>
          <p:nvPicPr>
            <p:cNvPr id="20" name="Picture 6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2" y="3216"/>
              <a:ext cx="1506" cy="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21" name="AutoShape 64"/>
            <p:cNvSpPr>
              <a:spLocks noChangeArrowheads="1"/>
            </p:cNvSpPr>
            <p:nvPr/>
          </p:nvSpPr>
          <p:spPr bwMode="auto">
            <a:xfrm>
              <a:off x="2208" y="1920"/>
              <a:ext cx="1440" cy="1104"/>
            </a:xfrm>
            <a:prstGeom prst="roundRect">
              <a:avLst>
                <a:gd name="adj" fmla="val 16667"/>
              </a:avLst>
            </a:prstGeom>
            <a:solidFill>
              <a:srgbClr val="00FF00"/>
            </a:solidFill>
            <a:ln w="9525" algn="ctr">
              <a:solidFill>
                <a:srgbClr val="000000"/>
              </a:solidFill>
              <a:round/>
              <a:headEnd/>
              <a:tailEnd/>
            </a:ln>
          </p:spPr>
          <p:txBody>
            <a:bodyPr wrap="none" lIns="91380" tIns="45692" rIns="91380" bIns="45692" anchor="ctr"/>
            <a:lstStyle>
              <a:lvl1pPr eaLnBrk="0" hangingPunct="0">
                <a:defRPr sz="1200">
                  <a:solidFill>
                    <a:schemeClr val="tx1"/>
                  </a:solidFill>
                  <a:latin typeface="Verdana" panose="020B0604030504040204" pitchFamily="34" charset="0"/>
                  <a:ea typeface="SimSun" panose="02010600030101010101" pitchFamily="2" charset="-122"/>
                </a:defRPr>
              </a:lvl1pPr>
              <a:lvl2pPr marL="742950" indent="-285750" eaLnBrk="0" hangingPunct="0">
                <a:defRPr sz="1200">
                  <a:solidFill>
                    <a:schemeClr val="tx1"/>
                  </a:solidFill>
                  <a:latin typeface="Verdana" panose="020B0604030504040204" pitchFamily="34" charset="0"/>
                  <a:ea typeface="SimSun" panose="02010600030101010101" pitchFamily="2" charset="-122"/>
                </a:defRPr>
              </a:lvl2pPr>
              <a:lvl3pPr marL="1143000" indent="-228600" eaLnBrk="0" hangingPunct="0">
                <a:defRPr sz="1200">
                  <a:solidFill>
                    <a:schemeClr val="tx1"/>
                  </a:solidFill>
                  <a:latin typeface="Verdana" panose="020B0604030504040204" pitchFamily="34" charset="0"/>
                  <a:ea typeface="SimSun" panose="02010600030101010101" pitchFamily="2" charset="-122"/>
                </a:defRPr>
              </a:lvl3pPr>
              <a:lvl4pPr marL="1600200" indent="-228600" eaLnBrk="0" hangingPunct="0">
                <a:defRPr sz="1200">
                  <a:solidFill>
                    <a:schemeClr val="tx1"/>
                  </a:solidFill>
                  <a:latin typeface="Verdana" panose="020B0604030504040204" pitchFamily="34" charset="0"/>
                  <a:ea typeface="SimSun" panose="02010600030101010101" pitchFamily="2" charset="-122"/>
                </a:defRPr>
              </a:lvl4pPr>
              <a:lvl5pPr marL="2057400" indent="-228600" eaLnBrk="0" hangingPunct="0">
                <a:defRPr sz="1200">
                  <a:solidFill>
                    <a:schemeClr val="tx1"/>
                  </a:solidFill>
                  <a:latin typeface="Verdan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AU" altLang="en-US" sz="1400" b="1" i="0" u="none" strike="noStrike" kern="0" cap="none" spc="0" normalizeH="0" baseline="0" noProof="0">
                  <a:ln>
                    <a:noFill/>
                  </a:ln>
                  <a:solidFill>
                    <a:srgbClr val="0000FF"/>
                  </a:solidFill>
                  <a:effectLst/>
                  <a:uLnTx/>
                  <a:uFillTx/>
                  <a:latin typeface="Verdana" panose="020B0604030504040204" pitchFamily="34" charset="0"/>
                  <a:ea typeface="SimSun" panose="02010600030101010101" pitchFamily="2" charset="-122"/>
                  <a:cs typeface="Tahoma"/>
                </a:rPr>
                <a:t>Cloud model run </a:t>
              </a:r>
              <a:br>
                <a:rPr kumimoji="0" lang="en-AU" altLang="en-US" sz="1400" b="1" i="0" u="none" strike="noStrike" kern="0" cap="none" spc="0" normalizeH="0" baseline="0" noProof="0">
                  <a:ln>
                    <a:noFill/>
                  </a:ln>
                  <a:solidFill>
                    <a:srgbClr val="0000FF"/>
                  </a:solidFill>
                  <a:effectLst/>
                  <a:uLnTx/>
                  <a:uFillTx/>
                  <a:latin typeface="Verdana" panose="020B0604030504040204" pitchFamily="34" charset="0"/>
                  <a:ea typeface="SimSun" panose="02010600030101010101" pitchFamily="2" charset="-122"/>
                  <a:cs typeface="Tahoma"/>
                </a:rPr>
              </a:br>
              <a:r>
                <a:rPr kumimoji="0" lang="en-AU" altLang="en-US" sz="1400" b="1" i="0" u="none" strike="noStrike" kern="0" cap="none" spc="0" normalizeH="0" baseline="0" noProof="0">
                  <a:ln>
                    <a:noFill/>
                  </a:ln>
                  <a:solidFill>
                    <a:srgbClr val="0000FF"/>
                  </a:solidFill>
                  <a:effectLst/>
                  <a:uLnTx/>
                  <a:uFillTx/>
                  <a:latin typeface="Verdana" panose="020B0604030504040204" pitchFamily="34" charset="0"/>
                  <a:ea typeface="SimSun" panose="02010600030101010101" pitchFamily="2" charset="-122"/>
                  <a:cs typeface="Tahoma"/>
                </a:rPr>
                <a:t>within a company’s </a:t>
              </a:r>
              <a:br>
                <a:rPr kumimoji="0" lang="en-AU" altLang="en-US" sz="1400" b="1" i="0" u="none" strike="noStrike" kern="0" cap="none" spc="0" normalizeH="0" baseline="0" noProof="0">
                  <a:ln>
                    <a:noFill/>
                  </a:ln>
                  <a:solidFill>
                    <a:srgbClr val="0000FF"/>
                  </a:solidFill>
                  <a:effectLst/>
                  <a:uLnTx/>
                  <a:uFillTx/>
                  <a:latin typeface="Verdana" panose="020B0604030504040204" pitchFamily="34" charset="0"/>
                  <a:ea typeface="SimSun" panose="02010600030101010101" pitchFamily="2" charset="-122"/>
                  <a:cs typeface="Tahoma"/>
                </a:rPr>
              </a:br>
              <a:r>
                <a:rPr kumimoji="0" lang="en-AU" altLang="en-US" sz="1400" b="1" i="0" u="none" strike="noStrike" kern="0" cap="none" spc="0" normalizeH="0" baseline="0" noProof="0">
                  <a:ln>
                    <a:noFill/>
                  </a:ln>
                  <a:solidFill>
                    <a:srgbClr val="0000FF"/>
                  </a:solidFill>
                  <a:effectLst/>
                  <a:uLnTx/>
                  <a:uFillTx/>
                  <a:latin typeface="Verdana" panose="020B0604030504040204" pitchFamily="34" charset="0"/>
                  <a:ea typeface="SimSun" panose="02010600030101010101" pitchFamily="2" charset="-122"/>
                  <a:cs typeface="Tahoma"/>
                </a:rPr>
                <a:t>own Data Center / </a:t>
              </a:r>
              <a:br>
                <a:rPr kumimoji="0" lang="en-AU" altLang="en-US" sz="1400" b="1" i="0" u="none" strike="noStrike" kern="0" cap="none" spc="0" normalizeH="0" baseline="0" noProof="0">
                  <a:ln>
                    <a:noFill/>
                  </a:ln>
                  <a:solidFill>
                    <a:srgbClr val="0000FF"/>
                  </a:solidFill>
                  <a:effectLst/>
                  <a:uLnTx/>
                  <a:uFillTx/>
                  <a:latin typeface="Verdana" panose="020B0604030504040204" pitchFamily="34" charset="0"/>
                  <a:ea typeface="SimSun" panose="02010600030101010101" pitchFamily="2" charset="-122"/>
                  <a:cs typeface="Tahoma"/>
                </a:rPr>
              </a:br>
              <a:r>
                <a:rPr kumimoji="0" lang="en-AU" altLang="en-US" sz="1400" b="1" i="0" u="none" strike="noStrike" kern="0" cap="none" spc="0" normalizeH="0" baseline="0" noProof="0">
                  <a:ln>
                    <a:noFill/>
                  </a:ln>
                  <a:solidFill>
                    <a:srgbClr val="0000FF"/>
                  </a:solidFill>
                  <a:effectLst/>
                  <a:uLnTx/>
                  <a:uFillTx/>
                  <a:latin typeface="Verdana" panose="020B0604030504040204" pitchFamily="34" charset="0"/>
                  <a:ea typeface="SimSun" panose="02010600030101010101" pitchFamily="2" charset="-122"/>
                  <a:cs typeface="Tahoma"/>
                </a:rPr>
                <a:t>infrastructure for</a:t>
              </a:r>
              <a:br>
                <a:rPr kumimoji="0" lang="en-AU" altLang="en-US" sz="1400" b="1" i="0" u="none" strike="noStrike" kern="0" cap="none" spc="0" normalizeH="0" baseline="0" noProof="0">
                  <a:ln>
                    <a:noFill/>
                  </a:ln>
                  <a:solidFill>
                    <a:srgbClr val="0000FF"/>
                  </a:solidFill>
                  <a:effectLst/>
                  <a:uLnTx/>
                  <a:uFillTx/>
                  <a:latin typeface="Verdana" panose="020B0604030504040204" pitchFamily="34" charset="0"/>
                  <a:ea typeface="SimSun" panose="02010600030101010101" pitchFamily="2" charset="-122"/>
                  <a:cs typeface="Tahoma"/>
                </a:rPr>
              </a:br>
              <a:r>
                <a:rPr kumimoji="0" lang="en-AU" altLang="en-US" sz="1400" b="1" i="0" u="none" strike="noStrike" kern="0" cap="none" spc="0" normalizeH="0" baseline="0" noProof="0">
                  <a:ln>
                    <a:noFill/>
                  </a:ln>
                  <a:solidFill>
                    <a:srgbClr val="0000FF"/>
                  </a:solidFill>
                  <a:effectLst/>
                  <a:uLnTx/>
                  <a:uFillTx/>
                  <a:latin typeface="Verdana" panose="020B0604030504040204" pitchFamily="34" charset="0"/>
                  <a:ea typeface="SimSun" panose="02010600030101010101" pitchFamily="2" charset="-122"/>
                  <a:cs typeface="Tahoma"/>
                </a:rPr>
                <a:t>internal and/or</a:t>
              </a:r>
              <a:br>
                <a:rPr kumimoji="0" lang="en-AU" altLang="en-US" sz="1400" b="1" i="0" u="none" strike="noStrike" kern="0" cap="none" spc="0" normalizeH="0" baseline="0" noProof="0">
                  <a:ln>
                    <a:noFill/>
                  </a:ln>
                  <a:solidFill>
                    <a:srgbClr val="0000FF"/>
                  </a:solidFill>
                  <a:effectLst/>
                  <a:uLnTx/>
                  <a:uFillTx/>
                  <a:latin typeface="Verdana" panose="020B0604030504040204" pitchFamily="34" charset="0"/>
                  <a:ea typeface="SimSun" panose="02010600030101010101" pitchFamily="2" charset="-122"/>
                  <a:cs typeface="Tahoma"/>
                </a:rPr>
              </a:br>
              <a:r>
                <a:rPr kumimoji="0" lang="en-AU" altLang="en-US" sz="1400" b="1" i="0" u="none" strike="noStrike" kern="0" cap="none" spc="0" normalizeH="0" baseline="0" noProof="0">
                  <a:ln>
                    <a:noFill/>
                  </a:ln>
                  <a:solidFill>
                    <a:srgbClr val="0000FF"/>
                  </a:solidFill>
                  <a:effectLst/>
                  <a:uLnTx/>
                  <a:uFillTx/>
                  <a:latin typeface="Verdana" panose="020B0604030504040204" pitchFamily="34" charset="0"/>
                  <a:ea typeface="SimSun" panose="02010600030101010101" pitchFamily="2" charset="-122"/>
                  <a:cs typeface="Tahoma"/>
                </a:rPr>
                <a:t> partners use.</a:t>
              </a:r>
            </a:p>
          </p:txBody>
        </p:sp>
      </p:grpSp>
      <p:grpSp>
        <p:nvGrpSpPr>
          <p:cNvPr id="36" name="Group 70"/>
          <p:cNvGrpSpPr>
            <a:grpSpLocks/>
          </p:cNvGrpSpPr>
          <p:nvPr/>
        </p:nvGrpSpPr>
        <p:grpSpPr bwMode="auto">
          <a:xfrm>
            <a:off x="1569075" y="1524000"/>
            <a:ext cx="2819400" cy="5186363"/>
            <a:chOff x="96" y="960"/>
            <a:chExt cx="1776" cy="3267"/>
          </a:xfrm>
        </p:grpSpPr>
        <p:grpSp>
          <p:nvGrpSpPr>
            <p:cNvPr id="37" name="Group 20"/>
            <p:cNvGrpSpPr>
              <a:grpSpLocks/>
            </p:cNvGrpSpPr>
            <p:nvPr/>
          </p:nvGrpSpPr>
          <p:grpSpPr bwMode="auto">
            <a:xfrm>
              <a:off x="96" y="960"/>
              <a:ext cx="1776" cy="864"/>
              <a:chOff x="4554" y="2181"/>
              <a:chExt cx="958" cy="873"/>
            </a:xfrm>
          </p:grpSpPr>
          <p:sp>
            <p:nvSpPr>
              <p:cNvPr id="41" name="Freeform 21"/>
              <p:cNvSpPr>
                <a:spLocks/>
              </p:cNvSpPr>
              <p:nvPr/>
            </p:nvSpPr>
            <p:spPr bwMode="auto">
              <a:xfrm>
                <a:off x="4602" y="2229"/>
                <a:ext cx="910" cy="825"/>
              </a:xfrm>
              <a:custGeom>
                <a:avLst/>
                <a:gdLst>
                  <a:gd name="T0" fmla="*/ 0 w 3800"/>
                  <a:gd name="T1" fmla="*/ 0 h 3433"/>
                  <a:gd name="T2" fmla="*/ 0 w 3800"/>
                  <a:gd name="T3" fmla="*/ 0 h 3433"/>
                  <a:gd name="T4" fmla="*/ 0 w 3800"/>
                  <a:gd name="T5" fmla="*/ 0 h 3433"/>
                  <a:gd name="T6" fmla="*/ 0 w 3800"/>
                  <a:gd name="T7" fmla="*/ 0 h 3433"/>
                  <a:gd name="T8" fmla="*/ 0 w 3800"/>
                  <a:gd name="T9" fmla="*/ 0 h 3433"/>
                  <a:gd name="T10" fmla="*/ 0 w 3800"/>
                  <a:gd name="T11" fmla="*/ 0 h 3433"/>
                  <a:gd name="T12" fmla="*/ 0 w 3800"/>
                  <a:gd name="T13" fmla="*/ 0 h 3433"/>
                  <a:gd name="T14" fmla="*/ 0 w 3800"/>
                  <a:gd name="T15" fmla="*/ 0 h 3433"/>
                  <a:gd name="T16" fmla="*/ 0 w 3800"/>
                  <a:gd name="T17" fmla="*/ 0 h 3433"/>
                  <a:gd name="T18" fmla="*/ 0 w 3800"/>
                  <a:gd name="T19" fmla="*/ 0 h 3433"/>
                  <a:gd name="T20" fmla="*/ 0 w 3800"/>
                  <a:gd name="T21" fmla="*/ 0 h 3433"/>
                  <a:gd name="T22" fmla="*/ 0 w 3800"/>
                  <a:gd name="T23" fmla="*/ 0 h 3433"/>
                  <a:gd name="T24" fmla="*/ 0 w 3800"/>
                  <a:gd name="T25" fmla="*/ 0 h 3433"/>
                  <a:gd name="T26" fmla="*/ 0 w 3800"/>
                  <a:gd name="T27" fmla="*/ 0 h 3433"/>
                  <a:gd name="T28" fmla="*/ 0 w 3800"/>
                  <a:gd name="T29" fmla="*/ 0 h 3433"/>
                  <a:gd name="T30" fmla="*/ 0 w 3800"/>
                  <a:gd name="T31" fmla="*/ 0 h 3433"/>
                  <a:gd name="T32" fmla="*/ 0 w 3800"/>
                  <a:gd name="T33" fmla="*/ 0 h 3433"/>
                  <a:gd name="T34" fmla="*/ 0 w 3800"/>
                  <a:gd name="T35" fmla="*/ 0 h 3433"/>
                  <a:gd name="T36" fmla="*/ 0 w 3800"/>
                  <a:gd name="T37" fmla="*/ 0 h 3433"/>
                  <a:gd name="T38" fmla="*/ 0 w 3800"/>
                  <a:gd name="T39" fmla="*/ 0 h 3433"/>
                  <a:gd name="T40" fmla="*/ 0 w 3800"/>
                  <a:gd name="T41" fmla="*/ 0 h 3433"/>
                  <a:gd name="T42" fmla="*/ 0 w 3800"/>
                  <a:gd name="T43" fmla="*/ 0 h 3433"/>
                  <a:gd name="T44" fmla="*/ 0 w 3800"/>
                  <a:gd name="T45" fmla="*/ 0 h 3433"/>
                  <a:gd name="T46" fmla="*/ 0 w 3800"/>
                  <a:gd name="T47" fmla="*/ 0 h 3433"/>
                  <a:gd name="T48" fmla="*/ 0 w 3800"/>
                  <a:gd name="T49" fmla="*/ 0 h 3433"/>
                  <a:gd name="T50" fmla="*/ 0 w 3800"/>
                  <a:gd name="T51" fmla="*/ 0 h 3433"/>
                  <a:gd name="T52" fmla="*/ 0 w 3800"/>
                  <a:gd name="T53" fmla="*/ 0 h 3433"/>
                  <a:gd name="T54" fmla="*/ 0 w 3800"/>
                  <a:gd name="T55" fmla="*/ 0 h 3433"/>
                  <a:gd name="T56" fmla="*/ 0 w 3800"/>
                  <a:gd name="T57" fmla="*/ 0 h 3433"/>
                  <a:gd name="T58" fmla="*/ 0 w 3800"/>
                  <a:gd name="T59" fmla="*/ 0 h 3433"/>
                  <a:gd name="T60" fmla="*/ 0 w 3800"/>
                  <a:gd name="T61" fmla="*/ 0 h 3433"/>
                  <a:gd name="T62" fmla="*/ 0 w 3800"/>
                  <a:gd name="T63" fmla="*/ 0 h 3433"/>
                  <a:gd name="T64" fmla="*/ 0 w 3800"/>
                  <a:gd name="T65" fmla="*/ 0 h 3433"/>
                  <a:gd name="T66" fmla="*/ 0 w 3800"/>
                  <a:gd name="T67" fmla="*/ 0 h 3433"/>
                  <a:gd name="T68" fmla="*/ 0 w 3800"/>
                  <a:gd name="T69" fmla="*/ 0 h 3433"/>
                  <a:gd name="T70" fmla="*/ 0 w 3800"/>
                  <a:gd name="T71" fmla="*/ 0 h 343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3800"/>
                  <a:gd name="T109" fmla="*/ 0 h 3433"/>
                  <a:gd name="T110" fmla="*/ 3800 w 3800"/>
                  <a:gd name="T111" fmla="*/ 3433 h 3433"/>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3800" h="3433">
                    <a:moveTo>
                      <a:pt x="343" y="1142"/>
                    </a:moveTo>
                    <a:cubicBezTo>
                      <a:pt x="148" y="1167"/>
                      <a:pt x="0" y="1370"/>
                      <a:pt x="0" y="1612"/>
                    </a:cubicBezTo>
                    <a:cubicBezTo>
                      <a:pt x="0" y="1780"/>
                      <a:pt x="72" y="1935"/>
                      <a:pt x="189" y="2020"/>
                    </a:cubicBezTo>
                    <a:lnTo>
                      <a:pt x="187" y="2014"/>
                    </a:lnTo>
                    <a:cubicBezTo>
                      <a:pt x="121" y="2101"/>
                      <a:pt x="84" y="2216"/>
                      <a:pt x="84" y="2336"/>
                    </a:cubicBezTo>
                    <a:cubicBezTo>
                      <a:pt x="84" y="2596"/>
                      <a:pt x="256" y="2806"/>
                      <a:pt x="468" y="2806"/>
                    </a:cubicBezTo>
                    <a:cubicBezTo>
                      <a:pt x="482" y="2806"/>
                      <a:pt x="497" y="2805"/>
                      <a:pt x="512" y="2803"/>
                    </a:cubicBezTo>
                    <a:lnTo>
                      <a:pt x="510" y="2806"/>
                    </a:lnTo>
                    <a:cubicBezTo>
                      <a:pt x="631" y="3066"/>
                      <a:pt x="856" y="3227"/>
                      <a:pt x="1099" y="3227"/>
                    </a:cubicBezTo>
                    <a:cubicBezTo>
                      <a:pt x="1223" y="3227"/>
                      <a:pt x="1344" y="3186"/>
                      <a:pt x="1449" y="3107"/>
                    </a:cubicBezTo>
                    <a:lnTo>
                      <a:pt x="1448" y="3108"/>
                    </a:lnTo>
                    <a:cubicBezTo>
                      <a:pt x="1558" y="3311"/>
                      <a:pt x="1744" y="3433"/>
                      <a:pt x="1942" y="3433"/>
                    </a:cubicBezTo>
                    <a:cubicBezTo>
                      <a:pt x="2204" y="3433"/>
                      <a:pt x="2435" y="3222"/>
                      <a:pt x="2510" y="2913"/>
                    </a:cubicBezTo>
                    <a:lnTo>
                      <a:pt x="2511" y="2917"/>
                    </a:lnTo>
                    <a:cubicBezTo>
                      <a:pt x="2592" y="2979"/>
                      <a:pt x="2685" y="3012"/>
                      <a:pt x="2780" y="3012"/>
                    </a:cubicBezTo>
                    <a:cubicBezTo>
                      <a:pt x="3060" y="3012"/>
                      <a:pt x="3287" y="2735"/>
                      <a:pt x="3289" y="2392"/>
                    </a:cubicBezTo>
                    <a:lnTo>
                      <a:pt x="3288" y="2390"/>
                    </a:lnTo>
                    <a:cubicBezTo>
                      <a:pt x="3582" y="2339"/>
                      <a:pt x="3800" y="2030"/>
                      <a:pt x="3800" y="1665"/>
                    </a:cubicBezTo>
                    <a:cubicBezTo>
                      <a:pt x="3800" y="1504"/>
                      <a:pt x="3756" y="1347"/>
                      <a:pt x="3677" y="1219"/>
                    </a:cubicBezTo>
                    <a:lnTo>
                      <a:pt x="3675" y="1218"/>
                    </a:lnTo>
                    <a:cubicBezTo>
                      <a:pt x="3700" y="1146"/>
                      <a:pt x="3713" y="1069"/>
                      <a:pt x="3713" y="991"/>
                    </a:cubicBezTo>
                    <a:cubicBezTo>
                      <a:pt x="3713" y="730"/>
                      <a:pt x="3572" y="501"/>
                      <a:pt x="3368" y="433"/>
                    </a:cubicBezTo>
                    <a:lnTo>
                      <a:pt x="3369" y="432"/>
                    </a:lnTo>
                    <a:cubicBezTo>
                      <a:pt x="3333" y="182"/>
                      <a:pt x="3155" y="1"/>
                      <a:pt x="2949" y="1"/>
                    </a:cubicBezTo>
                    <a:cubicBezTo>
                      <a:pt x="2823" y="0"/>
                      <a:pt x="2704" y="68"/>
                      <a:pt x="2623" y="186"/>
                    </a:cubicBezTo>
                    <a:lnTo>
                      <a:pt x="2623" y="187"/>
                    </a:lnTo>
                    <a:cubicBezTo>
                      <a:pt x="2551" y="69"/>
                      <a:pt x="2438" y="1"/>
                      <a:pt x="2318" y="1"/>
                    </a:cubicBezTo>
                    <a:cubicBezTo>
                      <a:pt x="2173" y="0"/>
                      <a:pt x="2039" y="102"/>
                      <a:pt x="1975" y="262"/>
                    </a:cubicBezTo>
                    <a:lnTo>
                      <a:pt x="1976" y="270"/>
                    </a:lnTo>
                    <a:cubicBezTo>
                      <a:pt x="1888" y="163"/>
                      <a:pt x="1770" y="104"/>
                      <a:pt x="1647" y="104"/>
                    </a:cubicBezTo>
                    <a:cubicBezTo>
                      <a:pt x="1473" y="104"/>
                      <a:pt x="1314" y="222"/>
                      <a:pt x="1232" y="410"/>
                    </a:cubicBezTo>
                    <a:lnTo>
                      <a:pt x="1231" y="414"/>
                    </a:lnTo>
                    <a:cubicBezTo>
                      <a:pt x="1140" y="349"/>
                      <a:pt x="1036" y="314"/>
                      <a:pt x="931" y="314"/>
                    </a:cubicBezTo>
                    <a:cubicBezTo>
                      <a:pt x="603" y="314"/>
                      <a:pt x="337" y="641"/>
                      <a:pt x="337" y="1044"/>
                    </a:cubicBezTo>
                    <a:cubicBezTo>
                      <a:pt x="337" y="1077"/>
                      <a:pt x="339" y="1110"/>
                      <a:pt x="342" y="1143"/>
                    </a:cubicBezTo>
                    <a:lnTo>
                      <a:pt x="343" y="1142"/>
                    </a:lnTo>
                    <a:close/>
                  </a:path>
                </a:pathLst>
              </a:custGeom>
              <a:solidFill>
                <a:srgbClr val="C0C0C0"/>
              </a:solidFill>
              <a:ln w="0">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43" name="Freeform 22"/>
              <p:cNvSpPr>
                <a:spLocks/>
              </p:cNvSpPr>
              <p:nvPr/>
            </p:nvSpPr>
            <p:spPr bwMode="auto">
              <a:xfrm>
                <a:off x="4554" y="2181"/>
                <a:ext cx="910" cy="825"/>
              </a:xfrm>
              <a:custGeom>
                <a:avLst/>
                <a:gdLst>
                  <a:gd name="T0" fmla="*/ 0 w 3800"/>
                  <a:gd name="T1" fmla="*/ 0 h 3433"/>
                  <a:gd name="T2" fmla="*/ 0 w 3800"/>
                  <a:gd name="T3" fmla="*/ 0 h 3433"/>
                  <a:gd name="T4" fmla="*/ 0 w 3800"/>
                  <a:gd name="T5" fmla="*/ 0 h 3433"/>
                  <a:gd name="T6" fmla="*/ 0 w 3800"/>
                  <a:gd name="T7" fmla="*/ 0 h 3433"/>
                  <a:gd name="T8" fmla="*/ 0 w 3800"/>
                  <a:gd name="T9" fmla="*/ 0 h 3433"/>
                  <a:gd name="T10" fmla="*/ 0 w 3800"/>
                  <a:gd name="T11" fmla="*/ 0 h 3433"/>
                  <a:gd name="T12" fmla="*/ 0 w 3800"/>
                  <a:gd name="T13" fmla="*/ 0 h 3433"/>
                  <a:gd name="T14" fmla="*/ 0 w 3800"/>
                  <a:gd name="T15" fmla="*/ 0 h 3433"/>
                  <a:gd name="T16" fmla="*/ 0 w 3800"/>
                  <a:gd name="T17" fmla="*/ 0 h 3433"/>
                  <a:gd name="T18" fmla="*/ 0 w 3800"/>
                  <a:gd name="T19" fmla="*/ 0 h 3433"/>
                  <a:gd name="T20" fmla="*/ 0 w 3800"/>
                  <a:gd name="T21" fmla="*/ 0 h 3433"/>
                  <a:gd name="T22" fmla="*/ 0 w 3800"/>
                  <a:gd name="T23" fmla="*/ 0 h 3433"/>
                  <a:gd name="T24" fmla="*/ 0 w 3800"/>
                  <a:gd name="T25" fmla="*/ 0 h 3433"/>
                  <a:gd name="T26" fmla="*/ 0 w 3800"/>
                  <a:gd name="T27" fmla="*/ 0 h 3433"/>
                  <a:gd name="T28" fmla="*/ 0 w 3800"/>
                  <a:gd name="T29" fmla="*/ 0 h 3433"/>
                  <a:gd name="T30" fmla="*/ 0 w 3800"/>
                  <a:gd name="T31" fmla="*/ 0 h 3433"/>
                  <a:gd name="T32" fmla="*/ 0 w 3800"/>
                  <a:gd name="T33" fmla="*/ 0 h 3433"/>
                  <a:gd name="T34" fmla="*/ 0 w 3800"/>
                  <a:gd name="T35" fmla="*/ 0 h 3433"/>
                  <a:gd name="T36" fmla="*/ 0 w 3800"/>
                  <a:gd name="T37" fmla="*/ 0 h 3433"/>
                  <a:gd name="T38" fmla="*/ 0 w 3800"/>
                  <a:gd name="T39" fmla="*/ 0 h 3433"/>
                  <a:gd name="T40" fmla="*/ 0 w 3800"/>
                  <a:gd name="T41" fmla="*/ 0 h 3433"/>
                  <a:gd name="T42" fmla="*/ 0 w 3800"/>
                  <a:gd name="T43" fmla="*/ 0 h 3433"/>
                  <a:gd name="T44" fmla="*/ 0 w 3800"/>
                  <a:gd name="T45" fmla="*/ 0 h 3433"/>
                  <a:gd name="T46" fmla="*/ 0 w 3800"/>
                  <a:gd name="T47" fmla="*/ 0 h 3433"/>
                  <a:gd name="T48" fmla="*/ 0 w 3800"/>
                  <a:gd name="T49" fmla="*/ 0 h 3433"/>
                  <a:gd name="T50" fmla="*/ 0 w 3800"/>
                  <a:gd name="T51" fmla="*/ 0 h 3433"/>
                  <a:gd name="T52" fmla="*/ 0 w 3800"/>
                  <a:gd name="T53" fmla="*/ 0 h 3433"/>
                  <a:gd name="T54" fmla="*/ 0 w 3800"/>
                  <a:gd name="T55" fmla="*/ 0 h 3433"/>
                  <a:gd name="T56" fmla="*/ 0 w 3800"/>
                  <a:gd name="T57" fmla="*/ 0 h 3433"/>
                  <a:gd name="T58" fmla="*/ 0 w 3800"/>
                  <a:gd name="T59" fmla="*/ 0 h 3433"/>
                  <a:gd name="T60" fmla="*/ 0 w 3800"/>
                  <a:gd name="T61" fmla="*/ 0 h 3433"/>
                  <a:gd name="T62" fmla="*/ 0 w 3800"/>
                  <a:gd name="T63" fmla="*/ 0 h 3433"/>
                  <a:gd name="T64" fmla="*/ 0 w 3800"/>
                  <a:gd name="T65" fmla="*/ 0 h 3433"/>
                  <a:gd name="T66" fmla="*/ 0 w 3800"/>
                  <a:gd name="T67" fmla="*/ 0 h 3433"/>
                  <a:gd name="T68" fmla="*/ 0 w 3800"/>
                  <a:gd name="T69" fmla="*/ 0 h 3433"/>
                  <a:gd name="T70" fmla="*/ 0 w 3800"/>
                  <a:gd name="T71" fmla="*/ 0 h 343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3800"/>
                  <a:gd name="T109" fmla="*/ 0 h 3433"/>
                  <a:gd name="T110" fmla="*/ 3800 w 3800"/>
                  <a:gd name="T111" fmla="*/ 3433 h 3433"/>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3800" h="3433">
                    <a:moveTo>
                      <a:pt x="343" y="1142"/>
                    </a:moveTo>
                    <a:cubicBezTo>
                      <a:pt x="148" y="1167"/>
                      <a:pt x="0" y="1370"/>
                      <a:pt x="0" y="1612"/>
                    </a:cubicBezTo>
                    <a:cubicBezTo>
                      <a:pt x="0" y="1780"/>
                      <a:pt x="72" y="1935"/>
                      <a:pt x="189" y="2020"/>
                    </a:cubicBezTo>
                    <a:lnTo>
                      <a:pt x="187" y="2014"/>
                    </a:lnTo>
                    <a:cubicBezTo>
                      <a:pt x="121" y="2101"/>
                      <a:pt x="84" y="2216"/>
                      <a:pt x="84" y="2336"/>
                    </a:cubicBezTo>
                    <a:cubicBezTo>
                      <a:pt x="84" y="2596"/>
                      <a:pt x="256" y="2806"/>
                      <a:pt x="468" y="2806"/>
                    </a:cubicBezTo>
                    <a:cubicBezTo>
                      <a:pt x="482" y="2806"/>
                      <a:pt x="497" y="2805"/>
                      <a:pt x="512" y="2803"/>
                    </a:cubicBezTo>
                    <a:lnTo>
                      <a:pt x="510" y="2806"/>
                    </a:lnTo>
                    <a:cubicBezTo>
                      <a:pt x="631" y="3066"/>
                      <a:pt x="856" y="3227"/>
                      <a:pt x="1099" y="3227"/>
                    </a:cubicBezTo>
                    <a:cubicBezTo>
                      <a:pt x="1223" y="3227"/>
                      <a:pt x="1344" y="3186"/>
                      <a:pt x="1449" y="3107"/>
                    </a:cubicBezTo>
                    <a:lnTo>
                      <a:pt x="1448" y="3108"/>
                    </a:lnTo>
                    <a:cubicBezTo>
                      <a:pt x="1558" y="3311"/>
                      <a:pt x="1744" y="3433"/>
                      <a:pt x="1942" y="3433"/>
                    </a:cubicBezTo>
                    <a:cubicBezTo>
                      <a:pt x="2204" y="3433"/>
                      <a:pt x="2435" y="3222"/>
                      <a:pt x="2510" y="2913"/>
                    </a:cubicBezTo>
                    <a:lnTo>
                      <a:pt x="2511" y="2917"/>
                    </a:lnTo>
                    <a:cubicBezTo>
                      <a:pt x="2592" y="2979"/>
                      <a:pt x="2685" y="3012"/>
                      <a:pt x="2780" y="3012"/>
                    </a:cubicBezTo>
                    <a:cubicBezTo>
                      <a:pt x="3060" y="3012"/>
                      <a:pt x="3287" y="2735"/>
                      <a:pt x="3289" y="2392"/>
                    </a:cubicBezTo>
                    <a:lnTo>
                      <a:pt x="3288" y="2390"/>
                    </a:lnTo>
                    <a:cubicBezTo>
                      <a:pt x="3582" y="2339"/>
                      <a:pt x="3800" y="2030"/>
                      <a:pt x="3800" y="1665"/>
                    </a:cubicBezTo>
                    <a:cubicBezTo>
                      <a:pt x="3800" y="1504"/>
                      <a:pt x="3756" y="1347"/>
                      <a:pt x="3677" y="1219"/>
                    </a:cubicBezTo>
                    <a:lnTo>
                      <a:pt x="3675" y="1218"/>
                    </a:lnTo>
                    <a:cubicBezTo>
                      <a:pt x="3700" y="1146"/>
                      <a:pt x="3713" y="1069"/>
                      <a:pt x="3713" y="991"/>
                    </a:cubicBezTo>
                    <a:cubicBezTo>
                      <a:pt x="3713" y="730"/>
                      <a:pt x="3572" y="501"/>
                      <a:pt x="3368" y="433"/>
                    </a:cubicBezTo>
                    <a:lnTo>
                      <a:pt x="3369" y="432"/>
                    </a:lnTo>
                    <a:cubicBezTo>
                      <a:pt x="3333" y="182"/>
                      <a:pt x="3155" y="1"/>
                      <a:pt x="2949" y="1"/>
                    </a:cubicBezTo>
                    <a:cubicBezTo>
                      <a:pt x="2823" y="0"/>
                      <a:pt x="2704" y="68"/>
                      <a:pt x="2623" y="186"/>
                    </a:cubicBezTo>
                    <a:lnTo>
                      <a:pt x="2623" y="187"/>
                    </a:lnTo>
                    <a:cubicBezTo>
                      <a:pt x="2551" y="69"/>
                      <a:pt x="2438" y="1"/>
                      <a:pt x="2318" y="1"/>
                    </a:cubicBezTo>
                    <a:cubicBezTo>
                      <a:pt x="2173" y="0"/>
                      <a:pt x="2039" y="102"/>
                      <a:pt x="1975" y="262"/>
                    </a:cubicBezTo>
                    <a:lnTo>
                      <a:pt x="1976" y="270"/>
                    </a:lnTo>
                    <a:cubicBezTo>
                      <a:pt x="1888" y="163"/>
                      <a:pt x="1770" y="104"/>
                      <a:pt x="1647" y="104"/>
                    </a:cubicBezTo>
                    <a:cubicBezTo>
                      <a:pt x="1473" y="104"/>
                      <a:pt x="1314" y="222"/>
                      <a:pt x="1232" y="410"/>
                    </a:cubicBezTo>
                    <a:lnTo>
                      <a:pt x="1231" y="414"/>
                    </a:lnTo>
                    <a:cubicBezTo>
                      <a:pt x="1140" y="349"/>
                      <a:pt x="1036" y="314"/>
                      <a:pt x="931" y="314"/>
                    </a:cubicBezTo>
                    <a:cubicBezTo>
                      <a:pt x="603" y="314"/>
                      <a:pt x="337" y="641"/>
                      <a:pt x="337" y="1044"/>
                    </a:cubicBezTo>
                    <a:cubicBezTo>
                      <a:pt x="337" y="1077"/>
                      <a:pt x="339" y="1110"/>
                      <a:pt x="342" y="1143"/>
                    </a:cubicBezTo>
                    <a:lnTo>
                      <a:pt x="343" y="1142"/>
                    </a:lnTo>
                    <a:close/>
                  </a:path>
                </a:pathLst>
              </a:custGeom>
              <a:solidFill>
                <a:srgbClr val="C0C0C0"/>
              </a:solidFill>
              <a:ln w="0">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44" name="Freeform 23"/>
              <p:cNvSpPr>
                <a:spLocks/>
              </p:cNvSpPr>
              <p:nvPr/>
            </p:nvSpPr>
            <p:spPr bwMode="auto">
              <a:xfrm>
                <a:off x="4554" y="2181"/>
                <a:ext cx="910" cy="825"/>
              </a:xfrm>
              <a:custGeom>
                <a:avLst/>
                <a:gdLst>
                  <a:gd name="T0" fmla="*/ 0 w 3800"/>
                  <a:gd name="T1" fmla="*/ 0 h 3433"/>
                  <a:gd name="T2" fmla="*/ 0 w 3800"/>
                  <a:gd name="T3" fmla="*/ 0 h 3433"/>
                  <a:gd name="T4" fmla="*/ 0 w 3800"/>
                  <a:gd name="T5" fmla="*/ 0 h 3433"/>
                  <a:gd name="T6" fmla="*/ 0 w 3800"/>
                  <a:gd name="T7" fmla="*/ 0 h 3433"/>
                  <a:gd name="T8" fmla="*/ 0 w 3800"/>
                  <a:gd name="T9" fmla="*/ 0 h 3433"/>
                  <a:gd name="T10" fmla="*/ 0 w 3800"/>
                  <a:gd name="T11" fmla="*/ 0 h 3433"/>
                  <a:gd name="T12" fmla="*/ 0 w 3800"/>
                  <a:gd name="T13" fmla="*/ 0 h 3433"/>
                  <a:gd name="T14" fmla="*/ 0 w 3800"/>
                  <a:gd name="T15" fmla="*/ 0 h 3433"/>
                  <a:gd name="T16" fmla="*/ 0 w 3800"/>
                  <a:gd name="T17" fmla="*/ 0 h 3433"/>
                  <a:gd name="T18" fmla="*/ 0 w 3800"/>
                  <a:gd name="T19" fmla="*/ 0 h 3433"/>
                  <a:gd name="T20" fmla="*/ 0 w 3800"/>
                  <a:gd name="T21" fmla="*/ 0 h 3433"/>
                  <a:gd name="T22" fmla="*/ 0 w 3800"/>
                  <a:gd name="T23" fmla="*/ 0 h 3433"/>
                  <a:gd name="T24" fmla="*/ 0 w 3800"/>
                  <a:gd name="T25" fmla="*/ 0 h 3433"/>
                  <a:gd name="T26" fmla="*/ 0 w 3800"/>
                  <a:gd name="T27" fmla="*/ 0 h 3433"/>
                  <a:gd name="T28" fmla="*/ 0 w 3800"/>
                  <a:gd name="T29" fmla="*/ 0 h 3433"/>
                  <a:gd name="T30" fmla="*/ 0 w 3800"/>
                  <a:gd name="T31" fmla="*/ 0 h 3433"/>
                  <a:gd name="T32" fmla="*/ 0 w 3800"/>
                  <a:gd name="T33" fmla="*/ 0 h 3433"/>
                  <a:gd name="T34" fmla="*/ 0 w 3800"/>
                  <a:gd name="T35" fmla="*/ 0 h 3433"/>
                  <a:gd name="T36" fmla="*/ 0 w 3800"/>
                  <a:gd name="T37" fmla="*/ 0 h 3433"/>
                  <a:gd name="T38" fmla="*/ 0 w 3800"/>
                  <a:gd name="T39" fmla="*/ 0 h 3433"/>
                  <a:gd name="T40" fmla="*/ 0 w 3800"/>
                  <a:gd name="T41" fmla="*/ 0 h 3433"/>
                  <a:gd name="T42" fmla="*/ 0 w 3800"/>
                  <a:gd name="T43" fmla="*/ 0 h 3433"/>
                  <a:gd name="T44" fmla="*/ 0 w 3800"/>
                  <a:gd name="T45" fmla="*/ 0 h 3433"/>
                  <a:gd name="T46" fmla="*/ 0 w 3800"/>
                  <a:gd name="T47" fmla="*/ 0 h 3433"/>
                  <a:gd name="T48" fmla="*/ 0 w 3800"/>
                  <a:gd name="T49" fmla="*/ 0 h 3433"/>
                  <a:gd name="T50" fmla="*/ 0 w 3800"/>
                  <a:gd name="T51" fmla="*/ 0 h 3433"/>
                  <a:gd name="T52" fmla="*/ 0 w 3800"/>
                  <a:gd name="T53" fmla="*/ 0 h 3433"/>
                  <a:gd name="T54" fmla="*/ 0 w 3800"/>
                  <a:gd name="T55" fmla="*/ 0 h 3433"/>
                  <a:gd name="T56" fmla="*/ 0 w 3800"/>
                  <a:gd name="T57" fmla="*/ 0 h 3433"/>
                  <a:gd name="T58" fmla="*/ 0 w 3800"/>
                  <a:gd name="T59" fmla="*/ 0 h 3433"/>
                  <a:gd name="T60" fmla="*/ 0 w 3800"/>
                  <a:gd name="T61" fmla="*/ 0 h 3433"/>
                  <a:gd name="T62" fmla="*/ 0 w 3800"/>
                  <a:gd name="T63" fmla="*/ 0 h 3433"/>
                  <a:gd name="T64" fmla="*/ 0 w 3800"/>
                  <a:gd name="T65" fmla="*/ 0 h 3433"/>
                  <a:gd name="T66" fmla="*/ 0 w 3800"/>
                  <a:gd name="T67" fmla="*/ 0 h 3433"/>
                  <a:gd name="T68" fmla="*/ 0 w 3800"/>
                  <a:gd name="T69" fmla="*/ 0 h 3433"/>
                  <a:gd name="T70" fmla="*/ 0 w 3800"/>
                  <a:gd name="T71" fmla="*/ 0 h 343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3800"/>
                  <a:gd name="T109" fmla="*/ 0 h 3433"/>
                  <a:gd name="T110" fmla="*/ 3800 w 3800"/>
                  <a:gd name="T111" fmla="*/ 3433 h 3433"/>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3800" h="3433">
                    <a:moveTo>
                      <a:pt x="343" y="1142"/>
                    </a:moveTo>
                    <a:cubicBezTo>
                      <a:pt x="148" y="1167"/>
                      <a:pt x="0" y="1370"/>
                      <a:pt x="0" y="1612"/>
                    </a:cubicBezTo>
                    <a:cubicBezTo>
                      <a:pt x="0" y="1780"/>
                      <a:pt x="72" y="1935"/>
                      <a:pt x="189" y="2020"/>
                    </a:cubicBezTo>
                    <a:lnTo>
                      <a:pt x="187" y="2014"/>
                    </a:lnTo>
                    <a:cubicBezTo>
                      <a:pt x="121" y="2101"/>
                      <a:pt x="84" y="2216"/>
                      <a:pt x="84" y="2336"/>
                    </a:cubicBezTo>
                    <a:cubicBezTo>
                      <a:pt x="84" y="2596"/>
                      <a:pt x="256" y="2806"/>
                      <a:pt x="468" y="2806"/>
                    </a:cubicBezTo>
                    <a:cubicBezTo>
                      <a:pt x="482" y="2806"/>
                      <a:pt x="497" y="2805"/>
                      <a:pt x="512" y="2803"/>
                    </a:cubicBezTo>
                    <a:lnTo>
                      <a:pt x="510" y="2806"/>
                    </a:lnTo>
                    <a:cubicBezTo>
                      <a:pt x="631" y="3066"/>
                      <a:pt x="856" y="3227"/>
                      <a:pt x="1099" y="3227"/>
                    </a:cubicBezTo>
                    <a:cubicBezTo>
                      <a:pt x="1223" y="3227"/>
                      <a:pt x="1344" y="3186"/>
                      <a:pt x="1449" y="3107"/>
                    </a:cubicBezTo>
                    <a:lnTo>
                      <a:pt x="1448" y="3108"/>
                    </a:lnTo>
                    <a:cubicBezTo>
                      <a:pt x="1558" y="3311"/>
                      <a:pt x="1744" y="3433"/>
                      <a:pt x="1942" y="3433"/>
                    </a:cubicBezTo>
                    <a:cubicBezTo>
                      <a:pt x="2204" y="3433"/>
                      <a:pt x="2435" y="3222"/>
                      <a:pt x="2510" y="2913"/>
                    </a:cubicBezTo>
                    <a:lnTo>
                      <a:pt x="2511" y="2917"/>
                    </a:lnTo>
                    <a:cubicBezTo>
                      <a:pt x="2592" y="2979"/>
                      <a:pt x="2685" y="3012"/>
                      <a:pt x="2780" y="3012"/>
                    </a:cubicBezTo>
                    <a:cubicBezTo>
                      <a:pt x="3060" y="3012"/>
                      <a:pt x="3287" y="2735"/>
                      <a:pt x="3289" y="2392"/>
                    </a:cubicBezTo>
                    <a:lnTo>
                      <a:pt x="3288" y="2390"/>
                    </a:lnTo>
                    <a:cubicBezTo>
                      <a:pt x="3582" y="2339"/>
                      <a:pt x="3800" y="2030"/>
                      <a:pt x="3800" y="1665"/>
                    </a:cubicBezTo>
                    <a:cubicBezTo>
                      <a:pt x="3800" y="1504"/>
                      <a:pt x="3756" y="1347"/>
                      <a:pt x="3677" y="1219"/>
                    </a:cubicBezTo>
                    <a:lnTo>
                      <a:pt x="3675" y="1218"/>
                    </a:lnTo>
                    <a:cubicBezTo>
                      <a:pt x="3700" y="1146"/>
                      <a:pt x="3713" y="1069"/>
                      <a:pt x="3713" y="991"/>
                    </a:cubicBezTo>
                    <a:cubicBezTo>
                      <a:pt x="3713" y="730"/>
                      <a:pt x="3572" y="501"/>
                      <a:pt x="3368" y="433"/>
                    </a:cubicBezTo>
                    <a:lnTo>
                      <a:pt x="3369" y="432"/>
                    </a:lnTo>
                    <a:cubicBezTo>
                      <a:pt x="3333" y="182"/>
                      <a:pt x="3155" y="1"/>
                      <a:pt x="2949" y="1"/>
                    </a:cubicBezTo>
                    <a:cubicBezTo>
                      <a:pt x="2823" y="0"/>
                      <a:pt x="2704" y="68"/>
                      <a:pt x="2623" y="186"/>
                    </a:cubicBezTo>
                    <a:lnTo>
                      <a:pt x="2623" y="187"/>
                    </a:lnTo>
                    <a:cubicBezTo>
                      <a:pt x="2551" y="69"/>
                      <a:pt x="2438" y="1"/>
                      <a:pt x="2318" y="1"/>
                    </a:cubicBezTo>
                    <a:cubicBezTo>
                      <a:pt x="2173" y="0"/>
                      <a:pt x="2039" y="102"/>
                      <a:pt x="1975" y="262"/>
                    </a:cubicBezTo>
                    <a:lnTo>
                      <a:pt x="1976" y="270"/>
                    </a:lnTo>
                    <a:cubicBezTo>
                      <a:pt x="1888" y="163"/>
                      <a:pt x="1770" y="104"/>
                      <a:pt x="1647" y="104"/>
                    </a:cubicBezTo>
                    <a:cubicBezTo>
                      <a:pt x="1473" y="104"/>
                      <a:pt x="1314" y="222"/>
                      <a:pt x="1232" y="410"/>
                    </a:cubicBezTo>
                    <a:lnTo>
                      <a:pt x="1231" y="414"/>
                    </a:lnTo>
                    <a:cubicBezTo>
                      <a:pt x="1140" y="349"/>
                      <a:pt x="1036" y="314"/>
                      <a:pt x="931" y="314"/>
                    </a:cubicBezTo>
                    <a:cubicBezTo>
                      <a:pt x="603" y="314"/>
                      <a:pt x="337" y="641"/>
                      <a:pt x="337" y="1044"/>
                    </a:cubicBezTo>
                    <a:cubicBezTo>
                      <a:pt x="337" y="1077"/>
                      <a:pt x="339" y="1110"/>
                      <a:pt x="342" y="1143"/>
                    </a:cubicBezTo>
                    <a:lnTo>
                      <a:pt x="343" y="1142"/>
                    </a:lnTo>
                    <a:close/>
                  </a:path>
                </a:pathLst>
              </a:custGeom>
              <a:solidFill>
                <a:srgbClr val="FFFFFF"/>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45" name="Freeform 24"/>
              <p:cNvSpPr>
                <a:spLocks/>
              </p:cNvSpPr>
              <p:nvPr/>
            </p:nvSpPr>
            <p:spPr bwMode="auto">
              <a:xfrm>
                <a:off x="4599" y="2667"/>
                <a:ext cx="54" cy="15"/>
              </a:xfrm>
              <a:custGeom>
                <a:avLst/>
                <a:gdLst>
                  <a:gd name="T0" fmla="*/ 0 w 54"/>
                  <a:gd name="T1" fmla="*/ 0 h 15"/>
                  <a:gd name="T2" fmla="*/ 47 w 54"/>
                  <a:gd name="T3" fmla="*/ 15 h 15"/>
                  <a:gd name="T4" fmla="*/ 54 w 54"/>
                  <a:gd name="T5" fmla="*/ 15 h 15"/>
                  <a:gd name="T6" fmla="*/ 0 60000 65536"/>
                  <a:gd name="T7" fmla="*/ 0 60000 65536"/>
                  <a:gd name="T8" fmla="*/ 0 60000 65536"/>
                  <a:gd name="T9" fmla="*/ 0 w 54"/>
                  <a:gd name="T10" fmla="*/ 0 h 15"/>
                  <a:gd name="T11" fmla="*/ 54 w 54"/>
                  <a:gd name="T12" fmla="*/ 15 h 15"/>
                </a:gdLst>
                <a:ahLst/>
                <a:cxnLst>
                  <a:cxn ang="T6">
                    <a:pos x="T0" y="T1"/>
                  </a:cxn>
                  <a:cxn ang="T7">
                    <a:pos x="T2" y="T3"/>
                  </a:cxn>
                  <a:cxn ang="T8">
                    <a:pos x="T4" y="T5"/>
                  </a:cxn>
                </a:cxnLst>
                <a:rect l="T9" t="T10" r="T11" b="T12"/>
                <a:pathLst>
                  <a:path w="54" h="15">
                    <a:moveTo>
                      <a:pt x="0" y="0"/>
                    </a:moveTo>
                    <a:cubicBezTo>
                      <a:pt x="14" y="10"/>
                      <a:pt x="30" y="15"/>
                      <a:pt x="47" y="15"/>
                    </a:cubicBezTo>
                    <a:cubicBezTo>
                      <a:pt x="49" y="15"/>
                      <a:pt x="51" y="15"/>
                      <a:pt x="54" y="15"/>
                    </a:cubicBezTo>
                  </a:path>
                </a:pathLst>
              </a:custGeom>
              <a:solidFill>
                <a:srgbClr val="C0C0C0"/>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46" name="Freeform 25"/>
              <p:cNvSpPr>
                <a:spLocks/>
              </p:cNvSpPr>
              <p:nvPr/>
            </p:nvSpPr>
            <p:spPr bwMode="auto">
              <a:xfrm>
                <a:off x="4676" y="2847"/>
                <a:ext cx="24" cy="8"/>
              </a:xfrm>
              <a:custGeom>
                <a:avLst/>
                <a:gdLst>
                  <a:gd name="T0" fmla="*/ 0 w 24"/>
                  <a:gd name="T1" fmla="*/ 8 h 8"/>
                  <a:gd name="T2" fmla="*/ 24 w 24"/>
                  <a:gd name="T3" fmla="*/ 0 h 8"/>
                  <a:gd name="T4" fmla="*/ 0 60000 65536"/>
                  <a:gd name="T5" fmla="*/ 0 60000 65536"/>
                  <a:gd name="T6" fmla="*/ 0 w 24"/>
                  <a:gd name="T7" fmla="*/ 0 h 8"/>
                  <a:gd name="T8" fmla="*/ 24 w 24"/>
                  <a:gd name="T9" fmla="*/ 8 h 8"/>
                </a:gdLst>
                <a:ahLst/>
                <a:cxnLst>
                  <a:cxn ang="T4">
                    <a:pos x="T0" y="T1"/>
                  </a:cxn>
                  <a:cxn ang="T5">
                    <a:pos x="T2" y="T3"/>
                  </a:cxn>
                </a:cxnLst>
                <a:rect l="T6" t="T7" r="T8" b="T9"/>
                <a:pathLst>
                  <a:path w="24" h="8">
                    <a:moveTo>
                      <a:pt x="0" y="8"/>
                    </a:moveTo>
                    <a:cubicBezTo>
                      <a:pt x="9" y="6"/>
                      <a:pt x="16" y="4"/>
                      <a:pt x="24" y="0"/>
                    </a:cubicBezTo>
                  </a:path>
                </a:pathLst>
              </a:custGeom>
              <a:solidFill>
                <a:srgbClr val="C0C0C0"/>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47" name="Freeform 26"/>
              <p:cNvSpPr>
                <a:spLocks/>
              </p:cNvSpPr>
              <p:nvPr/>
            </p:nvSpPr>
            <p:spPr bwMode="auto">
              <a:xfrm>
                <a:off x="4887" y="2895"/>
                <a:ext cx="14" cy="33"/>
              </a:xfrm>
              <a:custGeom>
                <a:avLst/>
                <a:gdLst>
                  <a:gd name="T0" fmla="*/ 0 w 14"/>
                  <a:gd name="T1" fmla="*/ 0 h 33"/>
                  <a:gd name="T2" fmla="*/ 14 w 14"/>
                  <a:gd name="T3" fmla="*/ 33 h 33"/>
                  <a:gd name="T4" fmla="*/ 0 60000 65536"/>
                  <a:gd name="T5" fmla="*/ 0 60000 65536"/>
                  <a:gd name="T6" fmla="*/ 0 w 14"/>
                  <a:gd name="T7" fmla="*/ 0 h 33"/>
                  <a:gd name="T8" fmla="*/ 14 w 14"/>
                  <a:gd name="T9" fmla="*/ 33 h 33"/>
                </a:gdLst>
                <a:ahLst/>
                <a:cxnLst>
                  <a:cxn ang="T4">
                    <a:pos x="T0" y="T1"/>
                  </a:cxn>
                  <a:cxn ang="T5">
                    <a:pos x="T2" y="T3"/>
                  </a:cxn>
                </a:cxnLst>
                <a:rect l="T6" t="T7" r="T8" b="T9"/>
                <a:pathLst>
                  <a:path w="14" h="33">
                    <a:moveTo>
                      <a:pt x="0" y="0"/>
                    </a:moveTo>
                    <a:cubicBezTo>
                      <a:pt x="3" y="11"/>
                      <a:pt x="8" y="23"/>
                      <a:pt x="14" y="33"/>
                    </a:cubicBezTo>
                  </a:path>
                </a:pathLst>
              </a:custGeom>
              <a:solidFill>
                <a:srgbClr val="C0C0C0"/>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48" name="Freeform 27"/>
              <p:cNvSpPr>
                <a:spLocks/>
              </p:cNvSpPr>
              <p:nvPr/>
            </p:nvSpPr>
            <p:spPr bwMode="auto">
              <a:xfrm>
                <a:off x="5155" y="2845"/>
                <a:ext cx="6" cy="36"/>
              </a:xfrm>
              <a:custGeom>
                <a:avLst/>
                <a:gdLst>
                  <a:gd name="T0" fmla="*/ 0 w 6"/>
                  <a:gd name="T1" fmla="*/ 36 h 36"/>
                  <a:gd name="T2" fmla="*/ 6 w 6"/>
                  <a:gd name="T3" fmla="*/ 0 h 36"/>
                  <a:gd name="T4" fmla="*/ 0 60000 65536"/>
                  <a:gd name="T5" fmla="*/ 0 60000 65536"/>
                  <a:gd name="T6" fmla="*/ 0 w 6"/>
                  <a:gd name="T7" fmla="*/ 0 h 36"/>
                  <a:gd name="T8" fmla="*/ 6 w 6"/>
                  <a:gd name="T9" fmla="*/ 36 h 36"/>
                </a:gdLst>
                <a:ahLst/>
                <a:cxnLst>
                  <a:cxn ang="T4">
                    <a:pos x="T0" y="T1"/>
                  </a:cxn>
                  <a:cxn ang="T5">
                    <a:pos x="T2" y="T3"/>
                  </a:cxn>
                </a:cxnLst>
                <a:rect l="T6" t="T7" r="T8" b="T9"/>
                <a:pathLst>
                  <a:path w="6" h="36">
                    <a:moveTo>
                      <a:pt x="0" y="36"/>
                    </a:moveTo>
                    <a:cubicBezTo>
                      <a:pt x="3" y="24"/>
                      <a:pt x="5" y="12"/>
                      <a:pt x="6" y="0"/>
                    </a:cubicBezTo>
                  </a:path>
                </a:pathLst>
              </a:custGeom>
              <a:solidFill>
                <a:srgbClr val="C0C0C0"/>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49" name="Freeform 28"/>
              <p:cNvSpPr>
                <a:spLocks/>
              </p:cNvSpPr>
              <p:nvPr/>
            </p:nvSpPr>
            <p:spPr bwMode="auto">
              <a:xfrm>
                <a:off x="5273" y="2620"/>
                <a:ext cx="69" cy="136"/>
              </a:xfrm>
              <a:custGeom>
                <a:avLst/>
                <a:gdLst>
                  <a:gd name="T0" fmla="*/ 69 w 69"/>
                  <a:gd name="T1" fmla="*/ 136 h 136"/>
                  <a:gd name="T2" fmla="*/ 69 w 69"/>
                  <a:gd name="T3" fmla="*/ 135 h 136"/>
                  <a:gd name="T4" fmla="*/ 0 w 69"/>
                  <a:gd name="T5" fmla="*/ 0 h 136"/>
                  <a:gd name="T6" fmla="*/ 0 60000 65536"/>
                  <a:gd name="T7" fmla="*/ 0 60000 65536"/>
                  <a:gd name="T8" fmla="*/ 0 60000 65536"/>
                  <a:gd name="T9" fmla="*/ 0 w 69"/>
                  <a:gd name="T10" fmla="*/ 0 h 136"/>
                  <a:gd name="T11" fmla="*/ 69 w 69"/>
                  <a:gd name="T12" fmla="*/ 136 h 136"/>
                </a:gdLst>
                <a:ahLst/>
                <a:cxnLst>
                  <a:cxn ang="T6">
                    <a:pos x="T0" y="T1"/>
                  </a:cxn>
                  <a:cxn ang="T7">
                    <a:pos x="T2" y="T3"/>
                  </a:cxn>
                  <a:cxn ang="T8">
                    <a:pos x="T4" y="T5"/>
                  </a:cxn>
                </a:cxnLst>
                <a:rect l="T9" t="T10" r="T11" b="T12"/>
                <a:pathLst>
                  <a:path w="69" h="136">
                    <a:moveTo>
                      <a:pt x="69" y="136"/>
                    </a:moveTo>
                    <a:cubicBezTo>
                      <a:pt x="69" y="135"/>
                      <a:pt x="69" y="135"/>
                      <a:pt x="69" y="135"/>
                    </a:cubicBezTo>
                    <a:cubicBezTo>
                      <a:pt x="69" y="77"/>
                      <a:pt x="42" y="25"/>
                      <a:pt x="0" y="0"/>
                    </a:cubicBezTo>
                  </a:path>
                </a:pathLst>
              </a:custGeom>
              <a:solidFill>
                <a:srgbClr val="C0C0C0"/>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50" name="Freeform 29"/>
              <p:cNvSpPr>
                <a:spLocks/>
              </p:cNvSpPr>
              <p:nvPr/>
            </p:nvSpPr>
            <p:spPr bwMode="auto">
              <a:xfrm>
                <a:off x="5404" y="2474"/>
                <a:ext cx="30" cy="51"/>
              </a:xfrm>
              <a:custGeom>
                <a:avLst/>
                <a:gdLst>
                  <a:gd name="T0" fmla="*/ 0 w 30"/>
                  <a:gd name="T1" fmla="*/ 51 h 51"/>
                  <a:gd name="T2" fmla="*/ 30 w 30"/>
                  <a:gd name="T3" fmla="*/ 0 h 51"/>
                  <a:gd name="T4" fmla="*/ 0 60000 65536"/>
                  <a:gd name="T5" fmla="*/ 0 60000 65536"/>
                  <a:gd name="T6" fmla="*/ 0 w 30"/>
                  <a:gd name="T7" fmla="*/ 0 h 51"/>
                  <a:gd name="T8" fmla="*/ 30 w 30"/>
                  <a:gd name="T9" fmla="*/ 51 h 51"/>
                </a:gdLst>
                <a:ahLst/>
                <a:cxnLst>
                  <a:cxn ang="T4">
                    <a:pos x="T0" y="T1"/>
                  </a:cxn>
                  <a:cxn ang="T5">
                    <a:pos x="T2" y="T3"/>
                  </a:cxn>
                </a:cxnLst>
                <a:rect l="T6" t="T7" r="T8" b="T9"/>
                <a:pathLst>
                  <a:path w="30" h="51">
                    <a:moveTo>
                      <a:pt x="0" y="51"/>
                    </a:moveTo>
                    <a:cubicBezTo>
                      <a:pt x="13" y="37"/>
                      <a:pt x="23" y="20"/>
                      <a:pt x="30" y="0"/>
                    </a:cubicBezTo>
                  </a:path>
                </a:pathLst>
              </a:custGeom>
              <a:solidFill>
                <a:srgbClr val="C0C0C0"/>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51" name="Freeform 30"/>
              <p:cNvSpPr>
                <a:spLocks/>
              </p:cNvSpPr>
              <p:nvPr/>
            </p:nvSpPr>
            <p:spPr bwMode="auto">
              <a:xfrm>
                <a:off x="5361" y="2285"/>
                <a:ext cx="2" cy="24"/>
              </a:xfrm>
              <a:custGeom>
                <a:avLst/>
                <a:gdLst>
                  <a:gd name="T0" fmla="*/ 2 w 2"/>
                  <a:gd name="T1" fmla="*/ 24 h 24"/>
                  <a:gd name="T2" fmla="*/ 2 w 2"/>
                  <a:gd name="T3" fmla="*/ 23 h 24"/>
                  <a:gd name="T4" fmla="*/ 0 w 2"/>
                  <a:gd name="T5" fmla="*/ 0 h 24"/>
                  <a:gd name="T6" fmla="*/ 0 60000 65536"/>
                  <a:gd name="T7" fmla="*/ 0 60000 65536"/>
                  <a:gd name="T8" fmla="*/ 0 60000 65536"/>
                  <a:gd name="T9" fmla="*/ 0 w 2"/>
                  <a:gd name="T10" fmla="*/ 0 h 24"/>
                  <a:gd name="T11" fmla="*/ 2 w 2"/>
                  <a:gd name="T12" fmla="*/ 24 h 24"/>
                </a:gdLst>
                <a:ahLst/>
                <a:cxnLst>
                  <a:cxn ang="T6">
                    <a:pos x="T0" y="T1"/>
                  </a:cxn>
                  <a:cxn ang="T7">
                    <a:pos x="T2" y="T3"/>
                  </a:cxn>
                  <a:cxn ang="T8">
                    <a:pos x="T4" y="T5"/>
                  </a:cxn>
                </a:cxnLst>
                <a:rect l="T9" t="T10" r="T11" b="T12"/>
                <a:pathLst>
                  <a:path w="2" h="24">
                    <a:moveTo>
                      <a:pt x="2" y="24"/>
                    </a:moveTo>
                    <a:cubicBezTo>
                      <a:pt x="2" y="24"/>
                      <a:pt x="2" y="23"/>
                      <a:pt x="2" y="23"/>
                    </a:cubicBezTo>
                    <a:cubicBezTo>
                      <a:pt x="2" y="15"/>
                      <a:pt x="1" y="7"/>
                      <a:pt x="0" y="0"/>
                    </a:cubicBezTo>
                  </a:path>
                </a:pathLst>
              </a:custGeom>
              <a:solidFill>
                <a:srgbClr val="C0C0C0"/>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52" name="Freeform 31"/>
              <p:cNvSpPr>
                <a:spLocks/>
              </p:cNvSpPr>
              <p:nvPr/>
            </p:nvSpPr>
            <p:spPr bwMode="auto">
              <a:xfrm>
                <a:off x="5167" y="2226"/>
                <a:ext cx="15" cy="31"/>
              </a:xfrm>
              <a:custGeom>
                <a:avLst/>
                <a:gdLst>
                  <a:gd name="T0" fmla="*/ 15 w 15"/>
                  <a:gd name="T1" fmla="*/ 0 h 31"/>
                  <a:gd name="T2" fmla="*/ 0 w 15"/>
                  <a:gd name="T3" fmla="*/ 31 h 31"/>
                  <a:gd name="T4" fmla="*/ 0 60000 65536"/>
                  <a:gd name="T5" fmla="*/ 0 60000 65536"/>
                  <a:gd name="T6" fmla="*/ 0 w 15"/>
                  <a:gd name="T7" fmla="*/ 0 h 31"/>
                  <a:gd name="T8" fmla="*/ 15 w 15"/>
                  <a:gd name="T9" fmla="*/ 31 h 31"/>
                </a:gdLst>
                <a:ahLst/>
                <a:cxnLst>
                  <a:cxn ang="T4">
                    <a:pos x="T0" y="T1"/>
                  </a:cxn>
                  <a:cxn ang="T5">
                    <a:pos x="T2" y="T3"/>
                  </a:cxn>
                </a:cxnLst>
                <a:rect l="T6" t="T7" r="T8" b="T9"/>
                <a:pathLst>
                  <a:path w="15" h="31">
                    <a:moveTo>
                      <a:pt x="15" y="0"/>
                    </a:moveTo>
                    <a:cubicBezTo>
                      <a:pt x="9" y="9"/>
                      <a:pt x="3" y="20"/>
                      <a:pt x="0" y="31"/>
                    </a:cubicBezTo>
                  </a:path>
                </a:pathLst>
              </a:custGeom>
              <a:solidFill>
                <a:srgbClr val="C0C0C0"/>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53" name="Freeform 32"/>
              <p:cNvSpPr>
                <a:spLocks/>
              </p:cNvSpPr>
              <p:nvPr/>
            </p:nvSpPr>
            <p:spPr bwMode="auto">
              <a:xfrm>
                <a:off x="5019" y="2244"/>
                <a:ext cx="8" cy="27"/>
              </a:xfrm>
              <a:custGeom>
                <a:avLst/>
                <a:gdLst>
                  <a:gd name="T0" fmla="*/ 8 w 8"/>
                  <a:gd name="T1" fmla="*/ 0 h 27"/>
                  <a:gd name="T2" fmla="*/ 0 w 8"/>
                  <a:gd name="T3" fmla="*/ 27 h 27"/>
                  <a:gd name="T4" fmla="*/ 0 60000 65536"/>
                  <a:gd name="T5" fmla="*/ 0 60000 65536"/>
                  <a:gd name="T6" fmla="*/ 0 w 8"/>
                  <a:gd name="T7" fmla="*/ 0 h 27"/>
                  <a:gd name="T8" fmla="*/ 8 w 8"/>
                  <a:gd name="T9" fmla="*/ 27 h 27"/>
                </a:gdLst>
                <a:ahLst/>
                <a:cxnLst>
                  <a:cxn ang="T4">
                    <a:pos x="T0" y="T1"/>
                  </a:cxn>
                  <a:cxn ang="T5">
                    <a:pos x="T2" y="T3"/>
                  </a:cxn>
                </a:cxnLst>
                <a:rect l="T6" t="T7" r="T8" b="T9"/>
                <a:pathLst>
                  <a:path w="8" h="27">
                    <a:moveTo>
                      <a:pt x="8" y="0"/>
                    </a:moveTo>
                    <a:cubicBezTo>
                      <a:pt x="4" y="9"/>
                      <a:pt x="2" y="18"/>
                      <a:pt x="0" y="27"/>
                    </a:cubicBezTo>
                  </a:path>
                </a:pathLst>
              </a:custGeom>
              <a:solidFill>
                <a:srgbClr val="C0C0C0"/>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54" name="Freeform 33"/>
              <p:cNvSpPr>
                <a:spLocks/>
              </p:cNvSpPr>
              <p:nvPr/>
            </p:nvSpPr>
            <p:spPr bwMode="auto">
              <a:xfrm>
                <a:off x="4849" y="2281"/>
                <a:ext cx="27" cy="26"/>
              </a:xfrm>
              <a:custGeom>
                <a:avLst/>
                <a:gdLst>
                  <a:gd name="T0" fmla="*/ 27 w 27"/>
                  <a:gd name="T1" fmla="*/ 26 h 26"/>
                  <a:gd name="T2" fmla="*/ 0 w 27"/>
                  <a:gd name="T3" fmla="*/ 0 h 26"/>
                  <a:gd name="T4" fmla="*/ 0 60000 65536"/>
                  <a:gd name="T5" fmla="*/ 0 60000 65536"/>
                  <a:gd name="T6" fmla="*/ 0 w 27"/>
                  <a:gd name="T7" fmla="*/ 0 h 26"/>
                  <a:gd name="T8" fmla="*/ 27 w 27"/>
                  <a:gd name="T9" fmla="*/ 26 h 26"/>
                </a:gdLst>
                <a:ahLst/>
                <a:cxnLst>
                  <a:cxn ang="T4">
                    <a:pos x="T0" y="T1"/>
                  </a:cxn>
                  <a:cxn ang="T5">
                    <a:pos x="T2" y="T3"/>
                  </a:cxn>
                </a:cxnLst>
                <a:rect l="T6" t="T7" r="T8" b="T9"/>
                <a:pathLst>
                  <a:path w="27" h="26">
                    <a:moveTo>
                      <a:pt x="27" y="26"/>
                    </a:moveTo>
                    <a:cubicBezTo>
                      <a:pt x="19" y="16"/>
                      <a:pt x="10" y="7"/>
                      <a:pt x="0" y="0"/>
                    </a:cubicBezTo>
                  </a:path>
                </a:pathLst>
              </a:custGeom>
              <a:solidFill>
                <a:srgbClr val="C0C0C0"/>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55" name="Freeform 34"/>
              <p:cNvSpPr>
                <a:spLocks/>
              </p:cNvSpPr>
              <p:nvPr/>
            </p:nvSpPr>
            <p:spPr bwMode="auto">
              <a:xfrm>
                <a:off x="4636" y="2456"/>
                <a:ext cx="5" cy="27"/>
              </a:xfrm>
              <a:custGeom>
                <a:avLst/>
                <a:gdLst>
                  <a:gd name="T0" fmla="*/ 0 w 5"/>
                  <a:gd name="T1" fmla="*/ 0 h 27"/>
                  <a:gd name="T2" fmla="*/ 5 w 5"/>
                  <a:gd name="T3" fmla="*/ 27 h 27"/>
                  <a:gd name="T4" fmla="*/ 0 60000 65536"/>
                  <a:gd name="T5" fmla="*/ 0 60000 65536"/>
                  <a:gd name="T6" fmla="*/ 0 w 5"/>
                  <a:gd name="T7" fmla="*/ 0 h 27"/>
                  <a:gd name="T8" fmla="*/ 5 w 5"/>
                  <a:gd name="T9" fmla="*/ 27 h 27"/>
                </a:gdLst>
                <a:ahLst/>
                <a:cxnLst>
                  <a:cxn ang="T4">
                    <a:pos x="T0" y="T1"/>
                  </a:cxn>
                  <a:cxn ang="T5">
                    <a:pos x="T2" y="T3"/>
                  </a:cxn>
                </a:cxnLst>
                <a:rect l="T6" t="T7" r="T8" b="T9"/>
                <a:pathLst>
                  <a:path w="5" h="27">
                    <a:moveTo>
                      <a:pt x="0" y="0"/>
                    </a:moveTo>
                    <a:cubicBezTo>
                      <a:pt x="1" y="9"/>
                      <a:pt x="2" y="18"/>
                      <a:pt x="5" y="27"/>
                    </a:cubicBezTo>
                  </a:path>
                </a:pathLst>
              </a:custGeom>
              <a:solidFill>
                <a:srgbClr val="C0C0C0"/>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grpSp>
        <p:sp>
          <p:nvSpPr>
            <p:cNvPr id="38" name="Text Box 36"/>
            <p:cNvSpPr txBox="1">
              <a:spLocks noChangeArrowheads="1"/>
            </p:cNvSpPr>
            <p:nvPr/>
          </p:nvSpPr>
          <p:spPr bwMode="auto">
            <a:xfrm>
              <a:off x="144" y="1218"/>
              <a:ext cx="1584" cy="372"/>
            </a:xfrm>
            <a:prstGeom prst="rect">
              <a:avLst/>
            </a:prstGeom>
            <a:solidFill>
              <a:srgbClr val="FF0000"/>
            </a:solidFill>
            <a:ln w="9525" algn="ctr">
              <a:solidFill>
                <a:srgbClr val="000000"/>
              </a:solidFill>
              <a:miter lim="800000"/>
              <a:headEnd/>
              <a:tailEnd/>
            </a:ln>
          </p:spPr>
          <p:txBody>
            <a:bodyPr lIns="91380" tIns="45692" rIns="91380" bIns="45692">
              <a:spAutoFit/>
            </a:bodyPr>
            <a:lstStyle>
              <a:lvl1pPr eaLnBrk="0" hangingPunct="0">
                <a:defRPr sz="1200">
                  <a:solidFill>
                    <a:schemeClr val="tx1"/>
                  </a:solidFill>
                  <a:latin typeface="Verdana" panose="020B0604030504040204" pitchFamily="34" charset="0"/>
                  <a:ea typeface="SimSun" panose="02010600030101010101" pitchFamily="2" charset="-122"/>
                </a:defRPr>
              </a:lvl1pPr>
              <a:lvl2pPr marL="742950" indent="-285750" eaLnBrk="0" hangingPunct="0">
                <a:defRPr sz="1200">
                  <a:solidFill>
                    <a:schemeClr val="tx1"/>
                  </a:solidFill>
                  <a:latin typeface="Verdana" panose="020B0604030504040204" pitchFamily="34" charset="0"/>
                  <a:ea typeface="SimSun" panose="02010600030101010101" pitchFamily="2" charset="-122"/>
                </a:defRPr>
              </a:lvl2pPr>
              <a:lvl3pPr marL="1143000" indent="-228600" eaLnBrk="0" hangingPunct="0">
                <a:defRPr sz="1200">
                  <a:solidFill>
                    <a:schemeClr val="tx1"/>
                  </a:solidFill>
                  <a:latin typeface="Verdana" panose="020B0604030504040204" pitchFamily="34" charset="0"/>
                  <a:ea typeface="SimSun" panose="02010600030101010101" pitchFamily="2" charset="-122"/>
                </a:defRPr>
              </a:lvl3pPr>
              <a:lvl4pPr marL="1600200" indent="-228600" eaLnBrk="0" hangingPunct="0">
                <a:defRPr sz="1200">
                  <a:solidFill>
                    <a:schemeClr val="tx1"/>
                  </a:solidFill>
                  <a:latin typeface="Verdana" panose="020B0604030504040204" pitchFamily="34" charset="0"/>
                  <a:ea typeface="SimSun" panose="02010600030101010101" pitchFamily="2" charset="-122"/>
                </a:defRPr>
              </a:lvl4pPr>
              <a:lvl5pPr marL="2057400" indent="-228600" eaLnBrk="0" hangingPunct="0">
                <a:defRPr sz="1200">
                  <a:solidFill>
                    <a:schemeClr val="tx1"/>
                  </a:solidFill>
                  <a:latin typeface="Verdan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AU" altLang="en-US" sz="1600" b="1" i="0" u="none" strike="noStrike" kern="0" cap="none" spc="0" normalizeH="0" baseline="0" noProof="0">
                  <a:ln>
                    <a:noFill/>
                  </a:ln>
                  <a:solidFill>
                    <a:srgbClr val="FFFFFF"/>
                  </a:solidFill>
                  <a:effectLst/>
                  <a:uLnTx/>
                  <a:uFillTx/>
                  <a:latin typeface="Arial" panose="020B0604020202020204" pitchFamily="34" charset="0"/>
                  <a:ea typeface="SimSun" panose="02010600030101010101" pitchFamily="2" charset="-122"/>
                  <a:cs typeface="Tahoma"/>
                </a:rPr>
                <a:t> </a:t>
              </a:r>
              <a:r>
                <a:rPr kumimoji="0" lang="en-AU" altLang="en-US" sz="1600" b="1" i="0" u="none" strike="noStrike" kern="0" cap="none" spc="0" normalizeH="0" baseline="0" noProof="0">
                  <a:ln>
                    <a:noFill/>
                  </a:ln>
                  <a:solidFill>
                    <a:srgbClr val="FFFFFF"/>
                  </a:solidFill>
                  <a:effectLst/>
                  <a:uLnTx/>
                  <a:uFillTx/>
                  <a:latin typeface="Verdana" panose="020B0604030504040204" pitchFamily="34" charset="0"/>
                  <a:ea typeface="SimSun" panose="02010600030101010101" pitchFamily="2" charset="-122"/>
                  <a:cs typeface="Tahoma"/>
                </a:rPr>
                <a:t>Public/Internet Clouds</a:t>
              </a:r>
              <a:endParaRPr kumimoji="0" lang="en-US" altLang="en-US" sz="1600" b="1" i="0" u="none" strike="noStrike" kern="0" cap="none" spc="0" normalizeH="0" baseline="0" noProof="0">
                <a:ln>
                  <a:noFill/>
                </a:ln>
                <a:solidFill>
                  <a:srgbClr val="FFFFFF"/>
                </a:solidFill>
                <a:effectLst/>
                <a:uLnTx/>
                <a:uFillTx/>
                <a:latin typeface="Verdana" panose="020B0604030504040204" pitchFamily="34" charset="0"/>
                <a:ea typeface="SimSun" panose="02010600030101010101" pitchFamily="2" charset="-122"/>
                <a:cs typeface="Tahoma"/>
              </a:endParaRPr>
            </a:p>
          </p:txBody>
        </p:sp>
        <p:sp>
          <p:nvSpPr>
            <p:cNvPr id="39" name="AutoShape 59"/>
            <p:cNvSpPr>
              <a:spLocks noChangeArrowheads="1"/>
            </p:cNvSpPr>
            <p:nvPr/>
          </p:nvSpPr>
          <p:spPr bwMode="auto">
            <a:xfrm>
              <a:off x="240" y="1920"/>
              <a:ext cx="1488" cy="1104"/>
            </a:xfrm>
            <a:prstGeom prst="roundRect">
              <a:avLst>
                <a:gd name="adj" fmla="val 16667"/>
              </a:avLst>
            </a:prstGeom>
            <a:solidFill>
              <a:srgbClr val="FF0000"/>
            </a:solidFill>
            <a:ln w="9525" algn="ctr">
              <a:solidFill>
                <a:srgbClr val="000000"/>
              </a:solidFill>
              <a:round/>
              <a:headEnd/>
              <a:tailEnd/>
            </a:ln>
          </p:spPr>
          <p:txBody>
            <a:bodyPr wrap="none" lIns="91380" tIns="45692" rIns="91380" bIns="45692" anchor="ctr"/>
            <a:lstStyle>
              <a:lvl1pPr eaLnBrk="0" hangingPunct="0">
                <a:defRPr sz="1200">
                  <a:solidFill>
                    <a:schemeClr val="tx1"/>
                  </a:solidFill>
                  <a:latin typeface="Verdana" panose="020B0604030504040204" pitchFamily="34" charset="0"/>
                  <a:ea typeface="SimSun" panose="02010600030101010101" pitchFamily="2" charset="-122"/>
                </a:defRPr>
              </a:lvl1pPr>
              <a:lvl2pPr marL="742950" indent="-285750" eaLnBrk="0" hangingPunct="0">
                <a:defRPr sz="1200">
                  <a:solidFill>
                    <a:schemeClr val="tx1"/>
                  </a:solidFill>
                  <a:latin typeface="Verdana" panose="020B0604030504040204" pitchFamily="34" charset="0"/>
                  <a:ea typeface="SimSun" panose="02010600030101010101" pitchFamily="2" charset="-122"/>
                </a:defRPr>
              </a:lvl2pPr>
              <a:lvl3pPr marL="1143000" indent="-228600" eaLnBrk="0" hangingPunct="0">
                <a:defRPr sz="1200">
                  <a:solidFill>
                    <a:schemeClr val="tx1"/>
                  </a:solidFill>
                  <a:latin typeface="Verdana" panose="020B0604030504040204" pitchFamily="34" charset="0"/>
                  <a:ea typeface="SimSun" panose="02010600030101010101" pitchFamily="2" charset="-122"/>
                </a:defRPr>
              </a:lvl3pPr>
              <a:lvl4pPr marL="1600200" indent="-228600" eaLnBrk="0" hangingPunct="0">
                <a:defRPr sz="1200">
                  <a:solidFill>
                    <a:schemeClr val="tx1"/>
                  </a:solidFill>
                  <a:latin typeface="Verdana" panose="020B0604030504040204" pitchFamily="34" charset="0"/>
                  <a:ea typeface="SimSun" panose="02010600030101010101" pitchFamily="2" charset="-122"/>
                </a:defRPr>
              </a:lvl4pPr>
              <a:lvl5pPr marL="2057400" indent="-228600" eaLnBrk="0" hangingPunct="0">
                <a:defRPr sz="1200">
                  <a:solidFill>
                    <a:schemeClr val="tx1"/>
                  </a:solidFill>
                  <a:latin typeface="Verdan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AU" altLang="en-US" sz="1400" b="1" i="0" u="none" strike="noStrike" kern="0" cap="none" spc="0" normalizeH="0" baseline="0" noProof="0">
                  <a:ln>
                    <a:noFill/>
                  </a:ln>
                  <a:solidFill>
                    <a:srgbClr val="FFFFFF"/>
                  </a:solidFill>
                  <a:effectLst/>
                  <a:uLnTx/>
                  <a:uFillTx/>
                  <a:latin typeface="Verdana" panose="020B0604030504040204" pitchFamily="34" charset="0"/>
                  <a:ea typeface="SimSun" panose="02010600030101010101" pitchFamily="2" charset="-122"/>
                  <a:cs typeface="Tahoma"/>
                </a:rPr>
                <a:t>3rd party, </a:t>
              </a:r>
              <a:br>
                <a:rPr kumimoji="0" lang="en-AU" altLang="en-US" sz="1400" b="1" i="0" u="none" strike="noStrike" kern="0" cap="none" spc="0" normalizeH="0" baseline="0" noProof="0">
                  <a:ln>
                    <a:noFill/>
                  </a:ln>
                  <a:solidFill>
                    <a:srgbClr val="FFFFFF"/>
                  </a:solidFill>
                  <a:effectLst/>
                  <a:uLnTx/>
                  <a:uFillTx/>
                  <a:latin typeface="Verdana" panose="020B0604030504040204" pitchFamily="34" charset="0"/>
                  <a:ea typeface="SimSun" panose="02010600030101010101" pitchFamily="2" charset="-122"/>
                  <a:cs typeface="Tahoma"/>
                </a:rPr>
              </a:br>
              <a:r>
                <a:rPr kumimoji="0" lang="en-AU" altLang="en-US" sz="1400" b="1" i="0" u="none" strike="noStrike" kern="0" cap="none" spc="0" normalizeH="0" baseline="0" noProof="0">
                  <a:ln>
                    <a:noFill/>
                  </a:ln>
                  <a:solidFill>
                    <a:srgbClr val="FFFFFF"/>
                  </a:solidFill>
                  <a:effectLst/>
                  <a:uLnTx/>
                  <a:uFillTx/>
                  <a:latin typeface="Verdana" panose="020B0604030504040204" pitchFamily="34" charset="0"/>
                  <a:ea typeface="SimSun" panose="02010600030101010101" pitchFamily="2" charset="-122"/>
                  <a:cs typeface="Tahoma"/>
                </a:rPr>
                <a:t>multi-tenant Cloud</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AU" altLang="en-US" sz="1400" b="1" i="0" u="none" strike="noStrike" kern="0" cap="none" spc="0" normalizeH="0" baseline="0" noProof="0">
                  <a:ln>
                    <a:noFill/>
                  </a:ln>
                  <a:solidFill>
                    <a:srgbClr val="FFFFFF"/>
                  </a:solidFill>
                  <a:effectLst/>
                  <a:uLnTx/>
                  <a:uFillTx/>
                  <a:latin typeface="Verdana" panose="020B0604030504040204" pitchFamily="34" charset="0"/>
                  <a:ea typeface="SimSun" panose="02010600030101010101" pitchFamily="2" charset="-122"/>
                  <a:cs typeface="Tahoma"/>
                </a:rPr>
                <a:t>infrastructure </a:t>
              </a:r>
              <a:br>
                <a:rPr kumimoji="0" lang="en-AU" altLang="en-US" sz="1400" b="1" i="0" u="none" strike="noStrike" kern="0" cap="none" spc="0" normalizeH="0" baseline="0" noProof="0">
                  <a:ln>
                    <a:noFill/>
                  </a:ln>
                  <a:solidFill>
                    <a:srgbClr val="FFFFFF"/>
                  </a:solidFill>
                  <a:effectLst/>
                  <a:uLnTx/>
                  <a:uFillTx/>
                  <a:latin typeface="Verdana" panose="020B0604030504040204" pitchFamily="34" charset="0"/>
                  <a:ea typeface="SimSun" panose="02010600030101010101" pitchFamily="2" charset="-122"/>
                  <a:cs typeface="Tahoma"/>
                </a:rPr>
              </a:br>
              <a:r>
                <a:rPr kumimoji="0" lang="en-AU" altLang="en-US" sz="1400" b="1" i="0" u="none" strike="noStrike" kern="0" cap="none" spc="0" normalizeH="0" baseline="0" noProof="0">
                  <a:ln>
                    <a:noFill/>
                  </a:ln>
                  <a:solidFill>
                    <a:srgbClr val="FFFFFF"/>
                  </a:solidFill>
                  <a:effectLst/>
                  <a:uLnTx/>
                  <a:uFillTx/>
                  <a:latin typeface="Verdana" panose="020B0604030504040204" pitchFamily="34" charset="0"/>
                  <a:ea typeface="SimSun" panose="02010600030101010101" pitchFamily="2" charset="-122"/>
                  <a:cs typeface="Tahoma"/>
                </a:rPr>
                <a:t>&amp; services:</a:t>
              </a:r>
            </a:p>
            <a:p>
              <a:pPr marL="0" marR="0" lvl="0" indent="0" algn="ctr" defTabSz="914400" eaLnBrk="1" fontAlgn="base" latinLnBrk="0" hangingPunct="1">
                <a:lnSpc>
                  <a:spcPct val="100000"/>
                </a:lnSpc>
                <a:spcBef>
                  <a:spcPct val="0"/>
                </a:spcBef>
                <a:spcAft>
                  <a:spcPct val="0"/>
                </a:spcAft>
                <a:buClrTx/>
                <a:buSzTx/>
                <a:buFontTx/>
                <a:buNone/>
                <a:tabLst/>
                <a:defRPr/>
              </a:pPr>
              <a:endParaRPr kumimoji="0" lang="en-AU" altLang="en-US" sz="1400" b="1" i="0" u="none" strike="noStrike" kern="0" cap="none" spc="0" normalizeH="0" baseline="0" noProof="0">
                <a:ln>
                  <a:noFill/>
                </a:ln>
                <a:solidFill>
                  <a:srgbClr val="FFFFFF"/>
                </a:solidFill>
                <a:effectLst/>
                <a:uLnTx/>
                <a:uFillTx/>
                <a:latin typeface="Verdana" panose="020B0604030504040204" pitchFamily="34" charset="0"/>
                <a:ea typeface="SimSun" panose="02010600030101010101" pitchFamily="2" charset="-122"/>
                <a:cs typeface="Tahoma"/>
              </a:endParaRPr>
            </a:p>
            <a:p>
              <a:pPr marL="0" marR="0" lvl="0" indent="0" algn="ctr" defTabSz="914400" eaLnBrk="1" fontAlgn="base" latinLnBrk="0" hangingPunct="1">
                <a:lnSpc>
                  <a:spcPct val="100000"/>
                </a:lnSpc>
                <a:spcBef>
                  <a:spcPct val="0"/>
                </a:spcBef>
                <a:spcAft>
                  <a:spcPct val="0"/>
                </a:spcAft>
                <a:buClrTx/>
                <a:buSzTx/>
                <a:buFontTx/>
                <a:buNone/>
                <a:tabLst/>
                <a:defRPr/>
              </a:pPr>
              <a:r>
                <a:rPr kumimoji="0" lang="en-AU" altLang="en-US" sz="1400" b="1" i="0" u="none" strike="noStrike" kern="0" cap="none" spc="0" normalizeH="0" baseline="0" noProof="0">
                  <a:ln>
                    <a:noFill/>
                  </a:ln>
                  <a:solidFill>
                    <a:srgbClr val="FFFFFF"/>
                  </a:solidFill>
                  <a:effectLst/>
                  <a:uLnTx/>
                  <a:uFillTx/>
                  <a:latin typeface="Verdana" panose="020B0604030504040204" pitchFamily="34" charset="0"/>
                  <a:ea typeface="SimSun" panose="02010600030101010101" pitchFamily="2" charset="-122"/>
                  <a:cs typeface="Tahoma"/>
                </a:rPr>
                <a:t> * available on </a:t>
              </a:r>
              <a:br>
                <a:rPr kumimoji="0" lang="en-AU" altLang="en-US" sz="1400" b="1" i="0" u="none" strike="noStrike" kern="0" cap="none" spc="0" normalizeH="0" baseline="0" noProof="0">
                  <a:ln>
                    <a:noFill/>
                  </a:ln>
                  <a:solidFill>
                    <a:srgbClr val="FFFFFF"/>
                  </a:solidFill>
                  <a:effectLst/>
                  <a:uLnTx/>
                  <a:uFillTx/>
                  <a:latin typeface="Verdana" panose="020B0604030504040204" pitchFamily="34" charset="0"/>
                  <a:ea typeface="SimSun" panose="02010600030101010101" pitchFamily="2" charset="-122"/>
                  <a:cs typeface="Tahoma"/>
                </a:rPr>
              </a:br>
              <a:r>
                <a:rPr kumimoji="0" lang="en-AU" altLang="en-US" sz="1400" b="1" i="0" u="none" strike="noStrike" kern="0" cap="none" spc="0" normalizeH="0" baseline="0" noProof="0">
                  <a:ln>
                    <a:noFill/>
                  </a:ln>
                  <a:solidFill>
                    <a:srgbClr val="FFFFFF"/>
                  </a:solidFill>
                  <a:effectLst/>
                  <a:uLnTx/>
                  <a:uFillTx/>
                  <a:latin typeface="Verdana" panose="020B0604030504040204" pitchFamily="34" charset="0"/>
                  <a:ea typeface="SimSun" panose="02010600030101010101" pitchFamily="2" charset="-122"/>
                  <a:cs typeface="Tahoma"/>
                </a:rPr>
                <a:t>subscription basis</a:t>
              </a:r>
            </a:p>
          </p:txBody>
        </p:sp>
        <p:pic>
          <p:nvPicPr>
            <p:cNvPr id="40" name="Picture 6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 y="3183"/>
              <a:ext cx="1392" cy="1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grpSp>
      <p:grpSp>
        <p:nvGrpSpPr>
          <p:cNvPr id="56" name="Group 60"/>
          <p:cNvGrpSpPr>
            <a:grpSpLocks/>
          </p:cNvGrpSpPr>
          <p:nvPr/>
        </p:nvGrpSpPr>
        <p:grpSpPr bwMode="auto">
          <a:xfrm>
            <a:off x="7588875" y="1524000"/>
            <a:ext cx="2895600" cy="5334000"/>
            <a:chOff x="6172200" y="1524000"/>
            <a:chExt cx="2895600" cy="5334000"/>
          </a:xfrm>
        </p:grpSpPr>
        <p:pic>
          <p:nvPicPr>
            <p:cNvPr id="57"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00800" y="4572000"/>
              <a:ext cx="247884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8" name="Group 41"/>
            <p:cNvGrpSpPr>
              <a:grpSpLocks/>
            </p:cNvGrpSpPr>
            <p:nvPr/>
          </p:nvGrpSpPr>
          <p:grpSpPr bwMode="auto">
            <a:xfrm>
              <a:off x="6172200" y="1524000"/>
              <a:ext cx="2895600" cy="1295400"/>
              <a:chOff x="4554" y="2181"/>
              <a:chExt cx="958" cy="873"/>
            </a:xfrm>
          </p:grpSpPr>
          <p:sp>
            <p:nvSpPr>
              <p:cNvPr id="61" name="Freeform 42"/>
              <p:cNvSpPr>
                <a:spLocks/>
              </p:cNvSpPr>
              <p:nvPr/>
            </p:nvSpPr>
            <p:spPr bwMode="auto">
              <a:xfrm>
                <a:off x="4602" y="2229"/>
                <a:ext cx="910" cy="825"/>
              </a:xfrm>
              <a:custGeom>
                <a:avLst/>
                <a:gdLst>
                  <a:gd name="T0" fmla="*/ 0 w 3800"/>
                  <a:gd name="T1" fmla="*/ 0 h 3433"/>
                  <a:gd name="T2" fmla="*/ 0 w 3800"/>
                  <a:gd name="T3" fmla="*/ 0 h 3433"/>
                  <a:gd name="T4" fmla="*/ 0 w 3800"/>
                  <a:gd name="T5" fmla="*/ 0 h 3433"/>
                  <a:gd name="T6" fmla="*/ 0 w 3800"/>
                  <a:gd name="T7" fmla="*/ 0 h 3433"/>
                  <a:gd name="T8" fmla="*/ 0 w 3800"/>
                  <a:gd name="T9" fmla="*/ 0 h 3433"/>
                  <a:gd name="T10" fmla="*/ 0 w 3800"/>
                  <a:gd name="T11" fmla="*/ 0 h 3433"/>
                  <a:gd name="T12" fmla="*/ 0 w 3800"/>
                  <a:gd name="T13" fmla="*/ 0 h 3433"/>
                  <a:gd name="T14" fmla="*/ 0 w 3800"/>
                  <a:gd name="T15" fmla="*/ 0 h 3433"/>
                  <a:gd name="T16" fmla="*/ 0 w 3800"/>
                  <a:gd name="T17" fmla="*/ 0 h 3433"/>
                  <a:gd name="T18" fmla="*/ 0 w 3800"/>
                  <a:gd name="T19" fmla="*/ 0 h 3433"/>
                  <a:gd name="T20" fmla="*/ 0 w 3800"/>
                  <a:gd name="T21" fmla="*/ 0 h 3433"/>
                  <a:gd name="T22" fmla="*/ 0 w 3800"/>
                  <a:gd name="T23" fmla="*/ 0 h 3433"/>
                  <a:gd name="T24" fmla="*/ 0 w 3800"/>
                  <a:gd name="T25" fmla="*/ 0 h 3433"/>
                  <a:gd name="T26" fmla="*/ 0 w 3800"/>
                  <a:gd name="T27" fmla="*/ 0 h 3433"/>
                  <a:gd name="T28" fmla="*/ 0 w 3800"/>
                  <a:gd name="T29" fmla="*/ 0 h 3433"/>
                  <a:gd name="T30" fmla="*/ 0 w 3800"/>
                  <a:gd name="T31" fmla="*/ 0 h 3433"/>
                  <a:gd name="T32" fmla="*/ 0 w 3800"/>
                  <a:gd name="T33" fmla="*/ 0 h 3433"/>
                  <a:gd name="T34" fmla="*/ 0 w 3800"/>
                  <a:gd name="T35" fmla="*/ 0 h 3433"/>
                  <a:gd name="T36" fmla="*/ 0 w 3800"/>
                  <a:gd name="T37" fmla="*/ 0 h 3433"/>
                  <a:gd name="T38" fmla="*/ 0 w 3800"/>
                  <a:gd name="T39" fmla="*/ 0 h 3433"/>
                  <a:gd name="T40" fmla="*/ 0 w 3800"/>
                  <a:gd name="T41" fmla="*/ 0 h 3433"/>
                  <a:gd name="T42" fmla="*/ 0 w 3800"/>
                  <a:gd name="T43" fmla="*/ 0 h 3433"/>
                  <a:gd name="T44" fmla="*/ 0 w 3800"/>
                  <a:gd name="T45" fmla="*/ 0 h 3433"/>
                  <a:gd name="T46" fmla="*/ 0 w 3800"/>
                  <a:gd name="T47" fmla="*/ 0 h 3433"/>
                  <a:gd name="T48" fmla="*/ 0 w 3800"/>
                  <a:gd name="T49" fmla="*/ 0 h 3433"/>
                  <a:gd name="T50" fmla="*/ 0 w 3800"/>
                  <a:gd name="T51" fmla="*/ 0 h 3433"/>
                  <a:gd name="T52" fmla="*/ 0 w 3800"/>
                  <a:gd name="T53" fmla="*/ 0 h 3433"/>
                  <a:gd name="T54" fmla="*/ 0 w 3800"/>
                  <a:gd name="T55" fmla="*/ 0 h 3433"/>
                  <a:gd name="T56" fmla="*/ 0 w 3800"/>
                  <a:gd name="T57" fmla="*/ 0 h 3433"/>
                  <a:gd name="T58" fmla="*/ 0 w 3800"/>
                  <a:gd name="T59" fmla="*/ 0 h 3433"/>
                  <a:gd name="T60" fmla="*/ 0 w 3800"/>
                  <a:gd name="T61" fmla="*/ 0 h 3433"/>
                  <a:gd name="T62" fmla="*/ 0 w 3800"/>
                  <a:gd name="T63" fmla="*/ 0 h 3433"/>
                  <a:gd name="T64" fmla="*/ 0 w 3800"/>
                  <a:gd name="T65" fmla="*/ 0 h 3433"/>
                  <a:gd name="T66" fmla="*/ 0 w 3800"/>
                  <a:gd name="T67" fmla="*/ 0 h 3433"/>
                  <a:gd name="T68" fmla="*/ 0 w 3800"/>
                  <a:gd name="T69" fmla="*/ 0 h 3433"/>
                  <a:gd name="T70" fmla="*/ 0 w 3800"/>
                  <a:gd name="T71" fmla="*/ 0 h 343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3800"/>
                  <a:gd name="T109" fmla="*/ 0 h 3433"/>
                  <a:gd name="T110" fmla="*/ 3800 w 3800"/>
                  <a:gd name="T111" fmla="*/ 3433 h 3433"/>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3800" h="3433">
                    <a:moveTo>
                      <a:pt x="343" y="1142"/>
                    </a:moveTo>
                    <a:cubicBezTo>
                      <a:pt x="148" y="1167"/>
                      <a:pt x="0" y="1370"/>
                      <a:pt x="0" y="1612"/>
                    </a:cubicBezTo>
                    <a:cubicBezTo>
                      <a:pt x="0" y="1780"/>
                      <a:pt x="72" y="1935"/>
                      <a:pt x="189" y="2020"/>
                    </a:cubicBezTo>
                    <a:lnTo>
                      <a:pt x="187" y="2014"/>
                    </a:lnTo>
                    <a:cubicBezTo>
                      <a:pt x="121" y="2101"/>
                      <a:pt x="84" y="2216"/>
                      <a:pt x="84" y="2336"/>
                    </a:cubicBezTo>
                    <a:cubicBezTo>
                      <a:pt x="84" y="2596"/>
                      <a:pt x="256" y="2806"/>
                      <a:pt x="468" y="2806"/>
                    </a:cubicBezTo>
                    <a:cubicBezTo>
                      <a:pt x="482" y="2806"/>
                      <a:pt x="497" y="2805"/>
                      <a:pt x="512" y="2803"/>
                    </a:cubicBezTo>
                    <a:lnTo>
                      <a:pt x="510" y="2806"/>
                    </a:lnTo>
                    <a:cubicBezTo>
                      <a:pt x="631" y="3066"/>
                      <a:pt x="856" y="3227"/>
                      <a:pt x="1099" y="3227"/>
                    </a:cubicBezTo>
                    <a:cubicBezTo>
                      <a:pt x="1223" y="3227"/>
                      <a:pt x="1344" y="3186"/>
                      <a:pt x="1449" y="3107"/>
                    </a:cubicBezTo>
                    <a:lnTo>
                      <a:pt x="1448" y="3108"/>
                    </a:lnTo>
                    <a:cubicBezTo>
                      <a:pt x="1558" y="3311"/>
                      <a:pt x="1744" y="3433"/>
                      <a:pt x="1942" y="3433"/>
                    </a:cubicBezTo>
                    <a:cubicBezTo>
                      <a:pt x="2204" y="3433"/>
                      <a:pt x="2435" y="3222"/>
                      <a:pt x="2510" y="2913"/>
                    </a:cubicBezTo>
                    <a:lnTo>
                      <a:pt x="2511" y="2917"/>
                    </a:lnTo>
                    <a:cubicBezTo>
                      <a:pt x="2592" y="2979"/>
                      <a:pt x="2685" y="3012"/>
                      <a:pt x="2780" y="3012"/>
                    </a:cubicBezTo>
                    <a:cubicBezTo>
                      <a:pt x="3060" y="3012"/>
                      <a:pt x="3287" y="2735"/>
                      <a:pt x="3289" y="2392"/>
                    </a:cubicBezTo>
                    <a:lnTo>
                      <a:pt x="3288" y="2390"/>
                    </a:lnTo>
                    <a:cubicBezTo>
                      <a:pt x="3582" y="2339"/>
                      <a:pt x="3800" y="2030"/>
                      <a:pt x="3800" y="1665"/>
                    </a:cubicBezTo>
                    <a:cubicBezTo>
                      <a:pt x="3800" y="1504"/>
                      <a:pt x="3756" y="1347"/>
                      <a:pt x="3677" y="1219"/>
                    </a:cubicBezTo>
                    <a:lnTo>
                      <a:pt x="3675" y="1218"/>
                    </a:lnTo>
                    <a:cubicBezTo>
                      <a:pt x="3700" y="1146"/>
                      <a:pt x="3713" y="1069"/>
                      <a:pt x="3713" y="991"/>
                    </a:cubicBezTo>
                    <a:cubicBezTo>
                      <a:pt x="3713" y="730"/>
                      <a:pt x="3572" y="501"/>
                      <a:pt x="3368" y="433"/>
                    </a:cubicBezTo>
                    <a:lnTo>
                      <a:pt x="3369" y="432"/>
                    </a:lnTo>
                    <a:cubicBezTo>
                      <a:pt x="3333" y="182"/>
                      <a:pt x="3155" y="1"/>
                      <a:pt x="2949" y="1"/>
                    </a:cubicBezTo>
                    <a:cubicBezTo>
                      <a:pt x="2823" y="0"/>
                      <a:pt x="2704" y="68"/>
                      <a:pt x="2623" y="186"/>
                    </a:cubicBezTo>
                    <a:lnTo>
                      <a:pt x="2623" y="187"/>
                    </a:lnTo>
                    <a:cubicBezTo>
                      <a:pt x="2551" y="69"/>
                      <a:pt x="2438" y="1"/>
                      <a:pt x="2318" y="1"/>
                    </a:cubicBezTo>
                    <a:cubicBezTo>
                      <a:pt x="2173" y="0"/>
                      <a:pt x="2039" y="102"/>
                      <a:pt x="1975" y="262"/>
                    </a:cubicBezTo>
                    <a:lnTo>
                      <a:pt x="1976" y="270"/>
                    </a:lnTo>
                    <a:cubicBezTo>
                      <a:pt x="1888" y="163"/>
                      <a:pt x="1770" y="104"/>
                      <a:pt x="1647" y="104"/>
                    </a:cubicBezTo>
                    <a:cubicBezTo>
                      <a:pt x="1473" y="104"/>
                      <a:pt x="1314" y="222"/>
                      <a:pt x="1232" y="410"/>
                    </a:cubicBezTo>
                    <a:lnTo>
                      <a:pt x="1231" y="414"/>
                    </a:lnTo>
                    <a:cubicBezTo>
                      <a:pt x="1140" y="349"/>
                      <a:pt x="1036" y="314"/>
                      <a:pt x="931" y="314"/>
                    </a:cubicBezTo>
                    <a:cubicBezTo>
                      <a:pt x="603" y="314"/>
                      <a:pt x="337" y="641"/>
                      <a:pt x="337" y="1044"/>
                    </a:cubicBezTo>
                    <a:cubicBezTo>
                      <a:pt x="337" y="1077"/>
                      <a:pt x="339" y="1110"/>
                      <a:pt x="342" y="1143"/>
                    </a:cubicBezTo>
                    <a:lnTo>
                      <a:pt x="343" y="1142"/>
                    </a:lnTo>
                    <a:close/>
                  </a:path>
                </a:pathLst>
              </a:custGeom>
              <a:solidFill>
                <a:srgbClr val="C0C0C0"/>
              </a:solidFill>
              <a:ln w="0">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62" name="Freeform 43"/>
              <p:cNvSpPr>
                <a:spLocks/>
              </p:cNvSpPr>
              <p:nvPr/>
            </p:nvSpPr>
            <p:spPr bwMode="auto">
              <a:xfrm>
                <a:off x="4554" y="2181"/>
                <a:ext cx="910" cy="825"/>
              </a:xfrm>
              <a:custGeom>
                <a:avLst/>
                <a:gdLst>
                  <a:gd name="T0" fmla="*/ 0 w 3800"/>
                  <a:gd name="T1" fmla="*/ 0 h 3433"/>
                  <a:gd name="T2" fmla="*/ 0 w 3800"/>
                  <a:gd name="T3" fmla="*/ 0 h 3433"/>
                  <a:gd name="T4" fmla="*/ 0 w 3800"/>
                  <a:gd name="T5" fmla="*/ 0 h 3433"/>
                  <a:gd name="T6" fmla="*/ 0 w 3800"/>
                  <a:gd name="T7" fmla="*/ 0 h 3433"/>
                  <a:gd name="T8" fmla="*/ 0 w 3800"/>
                  <a:gd name="T9" fmla="*/ 0 h 3433"/>
                  <a:gd name="T10" fmla="*/ 0 w 3800"/>
                  <a:gd name="T11" fmla="*/ 0 h 3433"/>
                  <a:gd name="T12" fmla="*/ 0 w 3800"/>
                  <a:gd name="T13" fmla="*/ 0 h 3433"/>
                  <a:gd name="T14" fmla="*/ 0 w 3800"/>
                  <a:gd name="T15" fmla="*/ 0 h 3433"/>
                  <a:gd name="T16" fmla="*/ 0 w 3800"/>
                  <a:gd name="T17" fmla="*/ 0 h 3433"/>
                  <a:gd name="T18" fmla="*/ 0 w 3800"/>
                  <a:gd name="T19" fmla="*/ 0 h 3433"/>
                  <a:gd name="T20" fmla="*/ 0 w 3800"/>
                  <a:gd name="T21" fmla="*/ 0 h 3433"/>
                  <a:gd name="T22" fmla="*/ 0 w 3800"/>
                  <a:gd name="T23" fmla="*/ 0 h 3433"/>
                  <a:gd name="T24" fmla="*/ 0 w 3800"/>
                  <a:gd name="T25" fmla="*/ 0 h 3433"/>
                  <a:gd name="T26" fmla="*/ 0 w 3800"/>
                  <a:gd name="T27" fmla="*/ 0 h 3433"/>
                  <a:gd name="T28" fmla="*/ 0 w 3800"/>
                  <a:gd name="T29" fmla="*/ 0 h 3433"/>
                  <a:gd name="T30" fmla="*/ 0 w 3800"/>
                  <a:gd name="T31" fmla="*/ 0 h 3433"/>
                  <a:gd name="T32" fmla="*/ 0 w 3800"/>
                  <a:gd name="T33" fmla="*/ 0 h 3433"/>
                  <a:gd name="T34" fmla="*/ 0 w 3800"/>
                  <a:gd name="T35" fmla="*/ 0 h 3433"/>
                  <a:gd name="T36" fmla="*/ 0 w 3800"/>
                  <a:gd name="T37" fmla="*/ 0 h 3433"/>
                  <a:gd name="T38" fmla="*/ 0 w 3800"/>
                  <a:gd name="T39" fmla="*/ 0 h 3433"/>
                  <a:gd name="T40" fmla="*/ 0 w 3800"/>
                  <a:gd name="T41" fmla="*/ 0 h 3433"/>
                  <a:gd name="T42" fmla="*/ 0 w 3800"/>
                  <a:gd name="T43" fmla="*/ 0 h 3433"/>
                  <a:gd name="T44" fmla="*/ 0 w 3800"/>
                  <a:gd name="T45" fmla="*/ 0 h 3433"/>
                  <a:gd name="T46" fmla="*/ 0 w 3800"/>
                  <a:gd name="T47" fmla="*/ 0 h 3433"/>
                  <a:gd name="T48" fmla="*/ 0 w 3800"/>
                  <a:gd name="T49" fmla="*/ 0 h 3433"/>
                  <a:gd name="T50" fmla="*/ 0 w 3800"/>
                  <a:gd name="T51" fmla="*/ 0 h 3433"/>
                  <a:gd name="T52" fmla="*/ 0 w 3800"/>
                  <a:gd name="T53" fmla="*/ 0 h 3433"/>
                  <a:gd name="T54" fmla="*/ 0 w 3800"/>
                  <a:gd name="T55" fmla="*/ 0 h 3433"/>
                  <a:gd name="T56" fmla="*/ 0 w 3800"/>
                  <a:gd name="T57" fmla="*/ 0 h 3433"/>
                  <a:gd name="T58" fmla="*/ 0 w 3800"/>
                  <a:gd name="T59" fmla="*/ 0 h 3433"/>
                  <a:gd name="T60" fmla="*/ 0 w 3800"/>
                  <a:gd name="T61" fmla="*/ 0 h 3433"/>
                  <a:gd name="T62" fmla="*/ 0 w 3800"/>
                  <a:gd name="T63" fmla="*/ 0 h 3433"/>
                  <a:gd name="T64" fmla="*/ 0 w 3800"/>
                  <a:gd name="T65" fmla="*/ 0 h 3433"/>
                  <a:gd name="T66" fmla="*/ 0 w 3800"/>
                  <a:gd name="T67" fmla="*/ 0 h 3433"/>
                  <a:gd name="T68" fmla="*/ 0 w 3800"/>
                  <a:gd name="T69" fmla="*/ 0 h 3433"/>
                  <a:gd name="T70" fmla="*/ 0 w 3800"/>
                  <a:gd name="T71" fmla="*/ 0 h 343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3800"/>
                  <a:gd name="T109" fmla="*/ 0 h 3433"/>
                  <a:gd name="T110" fmla="*/ 3800 w 3800"/>
                  <a:gd name="T111" fmla="*/ 3433 h 3433"/>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3800" h="3433">
                    <a:moveTo>
                      <a:pt x="343" y="1142"/>
                    </a:moveTo>
                    <a:cubicBezTo>
                      <a:pt x="148" y="1167"/>
                      <a:pt x="0" y="1370"/>
                      <a:pt x="0" y="1612"/>
                    </a:cubicBezTo>
                    <a:cubicBezTo>
                      <a:pt x="0" y="1780"/>
                      <a:pt x="72" y="1935"/>
                      <a:pt x="189" y="2020"/>
                    </a:cubicBezTo>
                    <a:lnTo>
                      <a:pt x="187" y="2014"/>
                    </a:lnTo>
                    <a:cubicBezTo>
                      <a:pt x="121" y="2101"/>
                      <a:pt x="84" y="2216"/>
                      <a:pt x="84" y="2336"/>
                    </a:cubicBezTo>
                    <a:cubicBezTo>
                      <a:pt x="84" y="2596"/>
                      <a:pt x="256" y="2806"/>
                      <a:pt x="468" y="2806"/>
                    </a:cubicBezTo>
                    <a:cubicBezTo>
                      <a:pt x="482" y="2806"/>
                      <a:pt x="497" y="2805"/>
                      <a:pt x="512" y="2803"/>
                    </a:cubicBezTo>
                    <a:lnTo>
                      <a:pt x="510" y="2806"/>
                    </a:lnTo>
                    <a:cubicBezTo>
                      <a:pt x="631" y="3066"/>
                      <a:pt x="856" y="3227"/>
                      <a:pt x="1099" y="3227"/>
                    </a:cubicBezTo>
                    <a:cubicBezTo>
                      <a:pt x="1223" y="3227"/>
                      <a:pt x="1344" y="3186"/>
                      <a:pt x="1449" y="3107"/>
                    </a:cubicBezTo>
                    <a:lnTo>
                      <a:pt x="1448" y="3108"/>
                    </a:lnTo>
                    <a:cubicBezTo>
                      <a:pt x="1558" y="3311"/>
                      <a:pt x="1744" y="3433"/>
                      <a:pt x="1942" y="3433"/>
                    </a:cubicBezTo>
                    <a:cubicBezTo>
                      <a:pt x="2204" y="3433"/>
                      <a:pt x="2435" y="3222"/>
                      <a:pt x="2510" y="2913"/>
                    </a:cubicBezTo>
                    <a:lnTo>
                      <a:pt x="2511" y="2917"/>
                    </a:lnTo>
                    <a:cubicBezTo>
                      <a:pt x="2592" y="2979"/>
                      <a:pt x="2685" y="3012"/>
                      <a:pt x="2780" y="3012"/>
                    </a:cubicBezTo>
                    <a:cubicBezTo>
                      <a:pt x="3060" y="3012"/>
                      <a:pt x="3287" y="2735"/>
                      <a:pt x="3289" y="2392"/>
                    </a:cubicBezTo>
                    <a:lnTo>
                      <a:pt x="3288" y="2390"/>
                    </a:lnTo>
                    <a:cubicBezTo>
                      <a:pt x="3582" y="2339"/>
                      <a:pt x="3800" y="2030"/>
                      <a:pt x="3800" y="1665"/>
                    </a:cubicBezTo>
                    <a:cubicBezTo>
                      <a:pt x="3800" y="1504"/>
                      <a:pt x="3756" y="1347"/>
                      <a:pt x="3677" y="1219"/>
                    </a:cubicBezTo>
                    <a:lnTo>
                      <a:pt x="3675" y="1218"/>
                    </a:lnTo>
                    <a:cubicBezTo>
                      <a:pt x="3700" y="1146"/>
                      <a:pt x="3713" y="1069"/>
                      <a:pt x="3713" y="991"/>
                    </a:cubicBezTo>
                    <a:cubicBezTo>
                      <a:pt x="3713" y="730"/>
                      <a:pt x="3572" y="501"/>
                      <a:pt x="3368" y="433"/>
                    </a:cubicBezTo>
                    <a:lnTo>
                      <a:pt x="3369" y="432"/>
                    </a:lnTo>
                    <a:cubicBezTo>
                      <a:pt x="3333" y="182"/>
                      <a:pt x="3155" y="1"/>
                      <a:pt x="2949" y="1"/>
                    </a:cubicBezTo>
                    <a:cubicBezTo>
                      <a:pt x="2823" y="0"/>
                      <a:pt x="2704" y="68"/>
                      <a:pt x="2623" y="186"/>
                    </a:cubicBezTo>
                    <a:lnTo>
                      <a:pt x="2623" y="187"/>
                    </a:lnTo>
                    <a:cubicBezTo>
                      <a:pt x="2551" y="69"/>
                      <a:pt x="2438" y="1"/>
                      <a:pt x="2318" y="1"/>
                    </a:cubicBezTo>
                    <a:cubicBezTo>
                      <a:pt x="2173" y="0"/>
                      <a:pt x="2039" y="102"/>
                      <a:pt x="1975" y="262"/>
                    </a:cubicBezTo>
                    <a:lnTo>
                      <a:pt x="1976" y="270"/>
                    </a:lnTo>
                    <a:cubicBezTo>
                      <a:pt x="1888" y="163"/>
                      <a:pt x="1770" y="104"/>
                      <a:pt x="1647" y="104"/>
                    </a:cubicBezTo>
                    <a:cubicBezTo>
                      <a:pt x="1473" y="104"/>
                      <a:pt x="1314" y="222"/>
                      <a:pt x="1232" y="410"/>
                    </a:cubicBezTo>
                    <a:lnTo>
                      <a:pt x="1231" y="414"/>
                    </a:lnTo>
                    <a:cubicBezTo>
                      <a:pt x="1140" y="349"/>
                      <a:pt x="1036" y="314"/>
                      <a:pt x="931" y="314"/>
                    </a:cubicBezTo>
                    <a:cubicBezTo>
                      <a:pt x="603" y="314"/>
                      <a:pt x="337" y="641"/>
                      <a:pt x="337" y="1044"/>
                    </a:cubicBezTo>
                    <a:cubicBezTo>
                      <a:pt x="337" y="1077"/>
                      <a:pt x="339" y="1110"/>
                      <a:pt x="342" y="1143"/>
                    </a:cubicBezTo>
                    <a:lnTo>
                      <a:pt x="343" y="1142"/>
                    </a:lnTo>
                    <a:close/>
                  </a:path>
                </a:pathLst>
              </a:custGeom>
              <a:solidFill>
                <a:srgbClr val="C0C0C0"/>
              </a:solidFill>
              <a:ln w="0">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63" name="Freeform 44"/>
              <p:cNvSpPr>
                <a:spLocks/>
              </p:cNvSpPr>
              <p:nvPr/>
            </p:nvSpPr>
            <p:spPr bwMode="auto">
              <a:xfrm>
                <a:off x="4554" y="2181"/>
                <a:ext cx="910" cy="825"/>
              </a:xfrm>
              <a:custGeom>
                <a:avLst/>
                <a:gdLst>
                  <a:gd name="T0" fmla="*/ 0 w 3800"/>
                  <a:gd name="T1" fmla="*/ 0 h 3433"/>
                  <a:gd name="T2" fmla="*/ 0 w 3800"/>
                  <a:gd name="T3" fmla="*/ 0 h 3433"/>
                  <a:gd name="T4" fmla="*/ 0 w 3800"/>
                  <a:gd name="T5" fmla="*/ 0 h 3433"/>
                  <a:gd name="T6" fmla="*/ 0 w 3800"/>
                  <a:gd name="T7" fmla="*/ 0 h 3433"/>
                  <a:gd name="T8" fmla="*/ 0 w 3800"/>
                  <a:gd name="T9" fmla="*/ 0 h 3433"/>
                  <a:gd name="T10" fmla="*/ 0 w 3800"/>
                  <a:gd name="T11" fmla="*/ 0 h 3433"/>
                  <a:gd name="T12" fmla="*/ 0 w 3800"/>
                  <a:gd name="T13" fmla="*/ 0 h 3433"/>
                  <a:gd name="T14" fmla="*/ 0 w 3800"/>
                  <a:gd name="T15" fmla="*/ 0 h 3433"/>
                  <a:gd name="T16" fmla="*/ 0 w 3800"/>
                  <a:gd name="T17" fmla="*/ 0 h 3433"/>
                  <a:gd name="T18" fmla="*/ 0 w 3800"/>
                  <a:gd name="T19" fmla="*/ 0 h 3433"/>
                  <a:gd name="T20" fmla="*/ 0 w 3800"/>
                  <a:gd name="T21" fmla="*/ 0 h 3433"/>
                  <a:gd name="T22" fmla="*/ 0 w 3800"/>
                  <a:gd name="T23" fmla="*/ 0 h 3433"/>
                  <a:gd name="T24" fmla="*/ 0 w 3800"/>
                  <a:gd name="T25" fmla="*/ 0 h 3433"/>
                  <a:gd name="T26" fmla="*/ 0 w 3800"/>
                  <a:gd name="T27" fmla="*/ 0 h 3433"/>
                  <a:gd name="T28" fmla="*/ 0 w 3800"/>
                  <a:gd name="T29" fmla="*/ 0 h 3433"/>
                  <a:gd name="T30" fmla="*/ 0 w 3800"/>
                  <a:gd name="T31" fmla="*/ 0 h 3433"/>
                  <a:gd name="T32" fmla="*/ 0 w 3800"/>
                  <a:gd name="T33" fmla="*/ 0 h 3433"/>
                  <a:gd name="T34" fmla="*/ 0 w 3800"/>
                  <a:gd name="T35" fmla="*/ 0 h 3433"/>
                  <a:gd name="T36" fmla="*/ 0 w 3800"/>
                  <a:gd name="T37" fmla="*/ 0 h 3433"/>
                  <a:gd name="T38" fmla="*/ 0 w 3800"/>
                  <a:gd name="T39" fmla="*/ 0 h 3433"/>
                  <a:gd name="T40" fmla="*/ 0 w 3800"/>
                  <a:gd name="T41" fmla="*/ 0 h 3433"/>
                  <a:gd name="T42" fmla="*/ 0 w 3800"/>
                  <a:gd name="T43" fmla="*/ 0 h 3433"/>
                  <a:gd name="T44" fmla="*/ 0 w 3800"/>
                  <a:gd name="T45" fmla="*/ 0 h 3433"/>
                  <a:gd name="T46" fmla="*/ 0 w 3800"/>
                  <a:gd name="T47" fmla="*/ 0 h 3433"/>
                  <a:gd name="T48" fmla="*/ 0 w 3800"/>
                  <a:gd name="T49" fmla="*/ 0 h 3433"/>
                  <a:gd name="T50" fmla="*/ 0 w 3800"/>
                  <a:gd name="T51" fmla="*/ 0 h 3433"/>
                  <a:gd name="T52" fmla="*/ 0 w 3800"/>
                  <a:gd name="T53" fmla="*/ 0 h 3433"/>
                  <a:gd name="T54" fmla="*/ 0 w 3800"/>
                  <a:gd name="T55" fmla="*/ 0 h 3433"/>
                  <a:gd name="T56" fmla="*/ 0 w 3800"/>
                  <a:gd name="T57" fmla="*/ 0 h 3433"/>
                  <a:gd name="T58" fmla="*/ 0 w 3800"/>
                  <a:gd name="T59" fmla="*/ 0 h 3433"/>
                  <a:gd name="T60" fmla="*/ 0 w 3800"/>
                  <a:gd name="T61" fmla="*/ 0 h 3433"/>
                  <a:gd name="T62" fmla="*/ 0 w 3800"/>
                  <a:gd name="T63" fmla="*/ 0 h 3433"/>
                  <a:gd name="T64" fmla="*/ 0 w 3800"/>
                  <a:gd name="T65" fmla="*/ 0 h 3433"/>
                  <a:gd name="T66" fmla="*/ 0 w 3800"/>
                  <a:gd name="T67" fmla="*/ 0 h 3433"/>
                  <a:gd name="T68" fmla="*/ 0 w 3800"/>
                  <a:gd name="T69" fmla="*/ 0 h 3433"/>
                  <a:gd name="T70" fmla="*/ 0 w 3800"/>
                  <a:gd name="T71" fmla="*/ 0 h 343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3800"/>
                  <a:gd name="T109" fmla="*/ 0 h 3433"/>
                  <a:gd name="T110" fmla="*/ 3800 w 3800"/>
                  <a:gd name="T111" fmla="*/ 3433 h 3433"/>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3800" h="3433">
                    <a:moveTo>
                      <a:pt x="343" y="1142"/>
                    </a:moveTo>
                    <a:cubicBezTo>
                      <a:pt x="148" y="1167"/>
                      <a:pt x="0" y="1370"/>
                      <a:pt x="0" y="1612"/>
                    </a:cubicBezTo>
                    <a:cubicBezTo>
                      <a:pt x="0" y="1780"/>
                      <a:pt x="72" y="1935"/>
                      <a:pt x="189" y="2020"/>
                    </a:cubicBezTo>
                    <a:lnTo>
                      <a:pt x="187" y="2014"/>
                    </a:lnTo>
                    <a:cubicBezTo>
                      <a:pt x="121" y="2101"/>
                      <a:pt x="84" y="2216"/>
                      <a:pt x="84" y="2336"/>
                    </a:cubicBezTo>
                    <a:cubicBezTo>
                      <a:pt x="84" y="2596"/>
                      <a:pt x="256" y="2806"/>
                      <a:pt x="468" y="2806"/>
                    </a:cubicBezTo>
                    <a:cubicBezTo>
                      <a:pt x="482" y="2806"/>
                      <a:pt x="497" y="2805"/>
                      <a:pt x="512" y="2803"/>
                    </a:cubicBezTo>
                    <a:lnTo>
                      <a:pt x="510" y="2806"/>
                    </a:lnTo>
                    <a:cubicBezTo>
                      <a:pt x="631" y="3066"/>
                      <a:pt x="856" y="3227"/>
                      <a:pt x="1099" y="3227"/>
                    </a:cubicBezTo>
                    <a:cubicBezTo>
                      <a:pt x="1223" y="3227"/>
                      <a:pt x="1344" y="3186"/>
                      <a:pt x="1449" y="3107"/>
                    </a:cubicBezTo>
                    <a:lnTo>
                      <a:pt x="1448" y="3108"/>
                    </a:lnTo>
                    <a:cubicBezTo>
                      <a:pt x="1558" y="3311"/>
                      <a:pt x="1744" y="3433"/>
                      <a:pt x="1942" y="3433"/>
                    </a:cubicBezTo>
                    <a:cubicBezTo>
                      <a:pt x="2204" y="3433"/>
                      <a:pt x="2435" y="3222"/>
                      <a:pt x="2510" y="2913"/>
                    </a:cubicBezTo>
                    <a:lnTo>
                      <a:pt x="2511" y="2917"/>
                    </a:lnTo>
                    <a:cubicBezTo>
                      <a:pt x="2592" y="2979"/>
                      <a:pt x="2685" y="3012"/>
                      <a:pt x="2780" y="3012"/>
                    </a:cubicBezTo>
                    <a:cubicBezTo>
                      <a:pt x="3060" y="3012"/>
                      <a:pt x="3287" y="2735"/>
                      <a:pt x="3289" y="2392"/>
                    </a:cubicBezTo>
                    <a:lnTo>
                      <a:pt x="3288" y="2390"/>
                    </a:lnTo>
                    <a:cubicBezTo>
                      <a:pt x="3582" y="2339"/>
                      <a:pt x="3800" y="2030"/>
                      <a:pt x="3800" y="1665"/>
                    </a:cubicBezTo>
                    <a:cubicBezTo>
                      <a:pt x="3800" y="1504"/>
                      <a:pt x="3756" y="1347"/>
                      <a:pt x="3677" y="1219"/>
                    </a:cubicBezTo>
                    <a:lnTo>
                      <a:pt x="3675" y="1218"/>
                    </a:lnTo>
                    <a:cubicBezTo>
                      <a:pt x="3700" y="1146"/>
                      <a:pt x="3713" y="1069"/>
                      <a:pt x="3713" y="991"/>
                    </a:cubicBezTo>
                    <a:cubicBezTo>
                      <a:pt x="3713" y="730"/>
                      <a:pt x="3572" y="501"/>
                      <a:pt x="3368" y="433"/>
                    </a:cubicBezTo>
                    <a:lnTo>
                      <a:pt x="3369" y="432"/>
                    </a:lnTo>
                    <a:cubicBezTo>
                      <a:pt x="3333" y="182"/>
                      <a:pt x="3155" y="1"/>
                      <a:pt x="2949" y="1"/>
                    </a:cubicBezTo>
                    <a:cubicBezTo>
                      <a:pt x="2823" y="0"/>
                      <a:pt x="2704" y="68"/>
                      <a:pt x="2623" y="186"/>
                    </a:cubicBezTo>
                    <a:lnTo>
                      <a:pt x="2623" y="187"/>
                    </a:lnTo>
                    <a:cubicBezTo>
                      <a:pt x="2551" y="69"/>
                      <a:pt x="2438" y="1"/>
                      <a:pt x="2318" y="1"/>
                    </a:cubicBezTo>
                    <a:cubicBezTo>
                      <a:pt x="2173" y="0"/>
                      <a:pt x="2039" y="102"/>
                      <a:pt x="1975" y="262"/>
                    </a:cubicBezTo>
                    <a:lnTo>
                      <a:pt x="1976" y="270"/>
                    </a:lnTo>
                    <a:cubicBezTo>
                      <a:pt x="1888" y="163"/>
                      <a:pt x="1770" y="104"/>
                      <a:pt x="1647" y="104"/>
                    </a:cubicBezTo>
                    <a:cubicBezTo>
                      <a:pt x="1473" y="104"/>
                      <a:pt x="1314" y="222"/>
                      <a:pt x="1232" y="410"/>
                    </a:cubicBezTo>
                    <a:lnTo>
                      <a:pt x="1231" y="414"/>
                    </a:lnTo>
                    <a:cubicBezTo>
                      <a:pt x="1140" y="349"/>
                      <a:pt x="1036" y="314"/>
                      <a:pt x="931" y="314"/>
                    </a:cubicBezTo>
                    <a:cubicBezTo>
                      <a:pt x="603" y="314"/>
                      <a:pt x="337" y="641"/>
                      <a:pt x="337" y="1044"/>
                    </a:cubicBezTo>
                    <a:cubicBezTo>
                      <a:pt x="337" y="1077"/>
                      <a:pt x="339" y="1110"/>
                      <a:pt x="342" y="1143"/>
                    </a:cubicBezTo>
                    <a:lnTo>
                      <a:pt x="343" y="1142"/>
                    </a:lnTo>
                    <a:close/>
                  </a:path>
                </a:pathLst>
              </a:custGeom>
              <a:solidFill>
                <a:srgbClr val="FFFFFF"/>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64" name="Freeform 45"/>
              <p:cNvSpPr>
                <a:spLocks/>
              </p:cNvSpPr>
              <p:nvPr/>
            </p:nvSpPr>
            <p:spPr bwMode="auto">
              <a:xfrm>
                <a:off x="4599" y="2667"/>
                <a:ext cx="54" cy="15"/>
              </a:xfrm>
              <a:custGeom>
                <a:avLst/>
                <a:gdLst>
                  <a:gd name="T0" fmla="*/ 0 w 54"/>
                  <a:gd name="T1" fmla="*/ 0 h 15"/>
                  <a:gd name="T2" fmla="*/ 47 w 54"/>
                  <a:gd name="T3" fmla="*/ 15 h 15"/>
                  <a:gd name="T4" fmla="*/ 54 w 54"/>
                  <a:gd name="T5" fmla="*/ 15 h 15"/>
                  <a:gd name="T6" fmla="*/ 0 60000 65536"/>
                  <a:gd name="T7" fmla="*/ 0 60000 65536"/>
                  <a:gd name="T8" fmla="*/ 0 60000 65536"/>
                  <a:gd name="T9" fmla="*/ 0 w 54"/>
                  <a:gd name="T10" fmla="*/ 0 h 15"/>
                  <a:gd name="T11" fmla="*/ 54 w 54"/>
                  <a:gd name="T12" fmla="*/ 15 h 15"/>
                </a:gdLst>
                <a:ahLst/>
                <a:cxnLst>
                  <a:cxn ang="T6">
                    <a:pos x="T0" y="T1"/>
                  </a:cxn>
                  <a:cxn ang="T7">
                    <a:pos x="T2" y="T3"/>
                  </a:cxn>
                  <a:cxn ang="T8">
                    <a:pos x="T4" y="T5"/>
                  </a:cxn>
                </a:cxnLst>
                <a:rect l="T9" t="T10" r="T11" b="T12"/>
                <a:pathLst>
                  <a:path w="54" h="15">
                    <a:moveTo>
                      <a:pt x="0" y="0"/>
                    </a:moveTo>
                    <a:cubicBezTo>
                      <a:pt x="14" y="10"/>
                      <a:pt x="30" y="15"/>
                      <a:pt x="47" y="15"/>
                    </a:cubicBezTo>
                    <a:cubicBezTo>
                      <a:pt x="49" y="15"/>
                      <a:pt x="51" y="15"/>
                      <a:pt x="54" y="15"/>
                    </a:cubicBezTo>
                  </a:path>
                </a:pathLst>
              </a:custGeom>
              <a:solidFill>
                <a:srgbClr val="C0C0C0"/>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65" name="Freeform 46"/>
              <p:cNvSpPr>
                <a:spLocks/>
              </p:cNvSpPr>
              <p:nvPr/>
            </p:nvSpPr>
            <p:spPr bwMode="auto">
              <a:xfrm>
                <a:off x="4676" y="2847"/>
                <a:ext cx="24" cy="8"/>
              </a:xfrm>
              <a:custGeom>
                <a:avLst/>
                <a:gdLst>
                  <a:gd name="T0" fmla="*/ 0 w 24"/>
                  <a:gd name="T1" fmla="*/ 8 h 8"/>
                  <a:gd name="T2" fmla="*/ 24 w 24"/>
                  <a:gd name="T3" fmla="*/ 0 h 8"/>
                  <a:gd name="T4" fmla="*/ 0 60000 65536"/>
                  <a:gd name="T5" fmla="*/ 0 60000 65536"/>
                  <a:gd name="T6" fmla="*/ 0 w 24"/>
                  <a:gd name="T7" fmla="*/ 0 h 8"/>
                  <a:gd name="T8" fmla="*/ 24 w 24"/>
                  <a:gd name="T9" fmla="*/ 8 h 8"/>
                </a:gdLst>
                <a:ahLst/>
                <a:cxnLst>
                  <a:cxn ang="T4">
                    <a:pos x="T0" y="T1"/>
                  </a:cxn>
                  <a:cxn ang="T5">
                    <a:pos x="T2" y="T3"/>
                  </a:cxn>
                </a:cxnLst>
                <a:rect l="T6" t="T7" r="T8" b="T9"/>
                <a:pathLst>
                  <a:path w="24" h="8">
                    <a:moveTo>
                      <a:pt x="0" y="8"/>
                    </a:moveTo>
                    <a:cubicBezTo>
                      <a:pt x="9" y="6"/>
                      <a:pt x="16" y="4"/>
                      <a:pt x="24" y="0"/>
                    </a:cubicBezTo>
                  </a:path>
                </a:pathLst>
              </a:custGeom>
              <a:solidFill>
                <a:srgbClr val="C0C0C0"/>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66" name="Freeform 47"/>
              <p:cNvSpPr>
                <a:spLocks/>
              </p:cNvSpPr>
              <p:nvPr/>
            </p:nvSpPr>
            <p:spPr bwMode="auto">
              <a:xfrm>
                <a:off x="4887" y="2895"/>
                <a:ext cx="14" cy="33"/>
              </a:xfrm>
              <a:custGeom>
                <a:avLst/>
                <a:gdLst>
                  <a:gd name="T0" fmla="*/ 0 w 14"/>
                  <a:gd name="T1" fmla="*/ 0 h 33"/>
                  <a:gd name="T2" fmla="*/ 14 w 14"/>
                  <a:gd name="T3" fmla="*/ 33 h 33"/>
                  <a:gd name="T4" fmla="*/ 0 60000 65536"/>
                  <a:gd name="T5" fmla="*/ 0 60000 65536"/>
                  <a:gd name="T6" fmla="*/ 0 w 14"/>
                  <a:gd name="T7" fmla="*/ 0 h 33"/>
                  <a:gd name="T8" fmla="*/ 14 w 14"/>
                  <a:gd name="T9" fmla="*/ 33 h 33"/>
                </a:gdLst>
                <a:ahLst/>
                <a:cxnLst>
                  <a:cxn ang="T4">
                    <a:pos x="T0" y="T1"/>
                  </a:cxn>
                  <a:cxn ang="T5">
                    <a:pos x="T2" y="T3"/>
                  </a:cxn>
                </a:cxnLst>
                <a:rect l="T6" t="T7" r="T8" b="T9"/>
                <a:pathLst>
                  <a:path w="14" h="33">
                    <a:moveTo>
                      <a:pt x="0" y="0"/>
                    </a:moveTo>
                    <a:cubicBezTo>
                      <a:pt x="3" y="11"/>
                      <a:pt x="8" y="23"/>
                      <a:pt x="14" y="33"/>
                    </a:cubicBezTo>
                  </a:path>
                </a:pathLst>
              </a:custGeom>
              <a:solidFill>
                <a:srgbClr val="C0C0C0"/>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67" name="Freeform 48"/>
              <p:cNvSpPr>
                <a:spLocks/>
              </p:cNvSpPr>
              <p:nvPr/>
            </p:nvSpPr>
            <p:spPr bwMode="auto">
              <a:xfrm>
                <a:off x="5155" y="2845"/>
                <a:ext cx="6" cy="36"/>
              </a:xfrm>
              <a:custGeom>
                <a:avLst/>
                <a:gdLst>
                  <a:gd name="T0" fmla="*/ 0 w 6"/>
                  <a:gd name="T1" fmla="*/ 36 h 36"/>
                  <a:gd name="T2" fmla="*/ 6 w 6"/>
                  <a:gd name="T3" fmla="*/ 0 h 36"/>
                  <a:gd name="T4" fmla="*/ 0 60000 65536"/>
                  <a:gd name="T5" fmla="*/ 0 60000 65536"/>
                  <a:gd name="T6" fmla="*/ 0 w 6"/>
                  <a:gd name="T7" fmla="*/ 0 h 36"/>
                  <a:gd name="T8" fmla="*/ 6 w 6"/>
                  <a:gd name="T9" fmla="*/ 36 h 36"/>
                </a:gdLst>
                <a:ahLst/>
                <a:cxnLst>
                  <a:cxn ang="T4">
                    <a:pos x="T0" y="T1"/>
                  </a:cxn>
                  <a:cxn ang="T5">
                    <a:pos x="T2" y="T3"/>
                  </a:cxn>
                </a:cxnLst>
                <a:rect l="T6" t="T7" r="T8" b="T9"/>
                <a:pathLst>
                  <a:path w="6" h="36">
                    <a:moveTo>
                      <a:pt x="0" y="36"/>
                    </a:moveTo>
                    <a:cubicBezTo>
                      <a:pt x="3" y="24"/>
                      <a:pt x="5" y="12"/>
                      <a:pt x="6" y="0"/>
                    </a:cubicBezTo>
                  </a:path>
                </a:pathLst>
              </a:custGeom>
              <a:solidFill>
                <a:srgbClr val="C0C0C0"/>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68" name="Freeform 49"/>
              <p:cNvSpPr>
                <a:spLocks/>
              </p:cNvSpPr>
              <p:nvPr/>
            </p:nvSpPr>
            <p:spPr bwMode="auto">
              <a:xfrm>
                <a:off x="5273" y="2620"/>
                <a:ext cx="69" cy="136"/>
              </a:xfrm>
              <a:custGeom>
                <a:avLst/>
                <a:gdLst>
                  <a:gd name="T0" fmla="*/ 69 w 69"/>
                  <a:gd name="T1" fmla="*/ 136 h 136"/>
                  <a:gd name="T2" fmla="*/ 69 w 69"/>
                  <a:gd name="T3" fmla="*/ 135 h 136"/>
                  <a:gd name="T4" fmla="*/ 0 w 69"/>
                  <a:gd name="T5" fmla="*/ 0 h 136"/>
                  <a:gd name="T6" fmla="*/ 0 60000 65536"/>
                  <a:gd name="T7" fmla="*/ 0 60000 65536"/>
                  <a:gd name="T8" fmla="*/ 0 60000 65536"/>
                  <a:gd name="T9" fmla="*/ 0 w 69"/>
                  <a:gd name="T10" fmla="*/ 0 h 136"/>
                  <a:gd name="T11" fmla="*/ 69 w 69"/>
                  <a:gd name="T12" fmla="*/ 136 h 136"/>
                </a:gdLst>
                <a:ahLst/>
                <a:cxnLst>
                  <a:cxn ang="T6">
                    <a:pos x="T0" y="T1"/>
                  </a:cxn>
                  <a:cxn ang="T7">
                    <a:pos x="T2" y="T3"/>
                  </a:cxn>
                  <a:cxn ang="T8">
                    <a:pos x="T4" y="T5"/>
                  </a:cxn>
                </a:cxnLst>
                <a:rect l="T9" t="T10" r="T11" b="T12"/>
                <a:pathLst>
                  <a:path w="69" h="136">
                    <a:moveTo>
                      <a:pt x="69" y="136"/>
                    </a:moveTo>
                    <a:cubicBezTo>
                      <a:pt x="69" y="135"/>
                      <a:pt x="69" y="135"/>
                      <a:pt x="69" y="135"/>
                    </a:cubicBezTo>
                    <a:cubicBezTo>
                      <a:pt x="69" y="77"/>
                      <a:pt x="42" y="25"/>
                      <a:pt x="0" y="0"/>
                    </a:cubicBezTo>
                  </a:path>
                </a:pathLst>
              </a:custGeom>
              <a:solidFill>
                <a:srgbClr val="C0C0C0"/>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69" name="Freeform 50"/>
              <p:cNvSpPr>
                <a:spLocks/>
              </p:cNvSpPr>
              <p:nvPr/>
            </p:nvSpPr>
            <p:spPr bwMode="auto">
              <a:xfrm>
                <a:off x="5404" y="2474"/>
                <a:ext cx="30" cy="51"/>
              </a:xfrm>
              <a:custGeom>
                <a:avLst/>
                <a:gdLst>
                  <a:gd name="T0" fmla="*/ 0 w 30"/>
                  <a:gd name="T1" fmla="*/ 51 h 51"/>
                  <a:gd name="T2" fmla="*/ 30 w 30"/>
                  <a:gd name="T3" fmla="*/ 0 h 51"/>
                  <a:gd name="T4" fmla="*/ 0 60000 65536"/>
                  <a:gd name="T5" fmla="*/ 0 60000 65536"/>
                  <a:gd name="T6" fmla="*/ 0 w 30"/>
                  <a:gd name="T7" fmla="*/ 0 h 51"/>
                  <a:gd name="T8" fmla="*/ 30 w 30"/>
                  <a:gd name="T9" fmla="*/ 51 h 51"/>
                </a:gdLst>
                <a:ahLst/>
                <a:cxnLst>
                  <a:cxn ang="T4">
                    <a:pos x="T0" y="T1"/>
                  </a:cxn>
                  <a:cxn ang="T5">
                    <a:pos x="T2" y="T3"/>
                  </a:cxn>
                </a:cxnLst>
                <a:rect l="T6" t="T7" r="T8" b="T9"/>
                <a:pathLst>
                  <a:path w="30" h="51">
                    <a:moveTo>
                      <a:pt x="0" y="51"/>
                    </a:moveTo>
                    <a:cubicBezTo>
                      <a:pt x="13" y="37"/>
                      <a:pt x="23" y="20"/>
                      <a:pt x="30" y="0"/>
                    </a:cubicBezTo>
                  </a:path>
                </a:pathLst>
              </a:custGeom>
              <a:solidFill>
                <a:srgbClr val="C0C0C0"/>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70" name="Freeform 51"/>
              <p:cNvSpPr>
                <a:spLocks/>
              </p:cNvSpPr>
              <p:nvPr/>
            </p:nvSpPr>
            <p:spPr bwMode="auto">
              <a:xfrm>
                <a:off x="5361" y="2285"/>
                <a:ext cx="2" cy="24"/>
              </a:xfrm>
              <a:custGeom>
                <a:avLst/>
                <a:gdLst>
                  <a:gd name="T0" fmla="*/ 2 w 2"/>
                  <a:gd name="T1" fmla="*/ 24 h 24"/>
                  <a:gd name="T2" fmla="*/ 2 w 2"/>
                  <a:gd name="T3" fmla="*/ 23 h 24"/>
                  <a:gd name="T4" fmla="*/ 0 w 2"/>
                  <a:gd name="T5" fmla="*/ 0 h 24"/>
                  <a:gd name="T6" fmla="*/ 0 60000 65536"/>
                  <a:gd name="T7" fmla="*/ 0 60000 65536"/>
                  <a:gd name="T8" fmla="*/ 0 60000 65536"/>
                  <a:gd name="T9" fmla="*/ 0 w 2"/>
                  <a:gd name="T10" fmla="*/ 0 h 24"/>
                  <a:gd name="T11" fmla="*/ 2 w 2"/>
                  <a:gd name="T12" fmla="*/ 24 h 24"/>
                </a:gdLst>
                <a:ahLst/>
                <a:cxnLst>
                  <a:cxn ang="T6">
                    <a:pos x="T0" y="T1"/>
                  </a:cxn>
                  <a:cxn ang="T7">
                    <a:pos x="T2" y="T3"/>
                  </a:cxn>
                  <a:cxn ang="T8">
                    <a:pos x="T4" y="T5"/>
                  </a:cxn>
                </a:cxnLst>
                <a:rect l="T9" t="T10" r="T11" b="T12"/>
                <a:pathLst>
                  <a:path w="2" h="24">
                    <a:moveTo>
                      <a:pt x="2" y="24"/>
                    </a:moveTo>
                    <a:cubicBezTo>
                      <a:pt x="2" y="24"/>
                      <a:pt x="2" y="23"/>
                      <a:pt x="2" y="23"/>
                    </a:cubicBezTo>
                    <a:cubicBezTo>
                      <a:pt x="2" y="15"/>
                      <a:pt x="1" y="7"/>
                      <a:pt x="0" y="0"/>
                    </a:cubicBezTo>
                  </a:path>
                </a:pathLst>
              </a:custGeom>
              <a:solidFill>
                <a:srgbClr val="C0C0C0"/>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71" name="Freeform 52"/>
              <p:cNvSpPr>
                <a:spLocks/>
              </p:cNvSpPr>
              <p:nvPr/>
            </p:nvSpPr>
            <p:spPr bwMode="auto">
              <a:xfrm>
                <a:off x="5167" y="2226"/>
                <a:ext cx="15" cy="31"/>
              </a:xfrm>
              <a:custGeom>
                <a:avLst/>
                <a:gdLst>
                  <a:gd name="T0" fmla="*/ 15 w 15"/>
                  <a:gd name="T1" fmla="*/ 0 h 31"/>
                  <a:gd name="T2" fmla="*/ 0 w 15"/>
                  <a:gd name="T3" fmla="*/ 31 h 31"/>
                  <a:gd name="T4" fmla="*/ 0 60000 65536"/>
                  <a:gd name="T5" fmla="*/ 0 60000 65536"/>
                  <a:gd name="T6" fmla="*/ 0 w 15"/>
                  <a:gd name="T7" fmla="*/ 0 h 31"/>
                  <a:gd name="T8" fmla="*/ 15 w 15"/>
                  <a:gd name="T9" fmla="*/ 31 h 31"/>
                </a:gdLst>
                <a:ahLst/>
                <a:cxnLst>
                  <a:cxn ang="T4">
                    <a:pos x="T0" y="T1"/>
                  </a:cxn>
                  <a:cxn ang="T5">
                    <a:pos x="T2" y="T3"/>
                  </a:cxn>
                </a:cxnLst>
                <a:rect l="T6" t="T7" r="T8" b="T9"/>
                <a:pathLst>
                  <a:path w="15" h="31">
                    <a:moveTo>
                      <a:pt x="15" y="0"/>
                    </a:moveTo>
                    <a:cubicBezTo>
                      <a:pt x="9" y="9"/>
                      <a:pt x="3" y="20"/>
                      <a:pt x="0" y="31"/>
                    </a:cubicBezTo>
                  </a:path>
                </a:pathLst>
              </a:custGeom>
              <a:solidFill>
                <a:srgbClr val="C0C0C0"/>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72" name="Freeform 53"/>
              <p:cNvSpPr>
                <a:spLocks/>
              </p:cNvSpPr>
              <p:nvPr/>
            </p:nvSpPr>
            <p:spPr bwMode="auto">
              <a:xfrm>
                <a:off x="5019" y="2244"/>
                <a:ext cx="8" cy="27"/>
              </a:xfrm>
              <a:custGeom>
                <a:avLst/>
                <a:gdLst>
                  <a:gd name="T0" fmla="*/ 8 w 8"/>
                  <a:gd name="T1" fmla="*/ 0 h 27"/>
                  <a:gd name="T2" fmla="*/ 0 w 8"/>
                  <a:gd name="T3" fmla="*/ 27 h 27"/>
                  <a:gd name="T4" fmla="*/ 0 60000 65536"/>
                  <a:gd name="T5" fmla="*/ 0 60000 65536"/>
                  <a:gd name="T6" fmla="*/ 0 w 8"/>
                  <a:gd name="T7" fmla="*/ 0 h 27"/>
                  <a:gd name="T8" fmla="*/ 8 w 8"/>
                  <a:gd name="T9" fmla="*/ 27 h 27"/>
                </a:gdLst>
                <a:ahLst/>
                <a:cxnLst>
                  <a:cxn ang="T4">
                    <a:pos x="T0" y="T1"/>
                  </a:cxn>
                  <a:cxn ang="T5">
                    <a:pos x="T2" y="T3"/>
                  </a:cxn>
                </a:cxnLst>
                <a:rect l="T6" t="T7" r="T8" b="T9"/>
                <a:pathLst>
                  <a:path w="8" h="27">
                    <a:moveTo>
                      <a:pt x="8" y="0"/>
                    </a:moveTo>
                    <a:cubicBezTo>
                      <a:pt x="4" y="9"/>
                      <a:pt x="2" y="18"/>
                      <a:pt x="0" y="27"/>
                    </a:cubicBezTo>
                  </a:path>
                </a:pathLst>
              </a:custGeom>
              <a:solidFill>
                <a:srgbClr val="C0C0C0"/>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73" name="Freeform 54"/>
              <p:cNvSpPr>
                <a:spLocks/>
              </p:cNvSpPr>
              <p:nvPr/>
            </p:nvSpPr>
            <p:spPr bwMode="auto">
              <a:xfrm>
                <a:off x="4849" y="2281"/>
                <a:ext cx="27" cy="26"/>
              </a:xfrm>
              <a:custGeom>
                <a:avLst/>
                <a:gdLst>
                  <a:gd name="T0" fmla="*/ 27 w 27"/>
                  <a:gd name="T1" fmla="*/ 26 h 26"/>
                  <a:gd name="T2" fmla="*/ 0 w 27"/>
                  <a:gd name="T3" fmla="*/ 0 h 26"/>
                  <a:gd name="T4" fmla="*/ 0 60000 65536"/>
                  <a:gd name="T5" fmla="*/ 0 60000 65536"/>
                  <a:gd name="T6" fmla="*/ 0 w 27"/>
                  <a:gd name="T7" fmla="*/ 0 h 26"/>
                  <a:gd name="T8" fmla="*/ 27 w 27"/>
                  <a:gd name="T9" fmla="*/ 26 h 26"/>
                </a:gdLst>
                <a:ahLst/>
                <a:cxnLst>
                  <a:cxn ang="T4">
                    <a:pos x="T0" y="T1"/>
                  </a:cxn>
                  <a:cxn ang="T5">
                    <a:pos x="T2" y="T3"/>
                  </a:cxn>
                </a:cxnLst>
                <a:rect l="T6" t="T7" r="T8" b="T9"/>
                <a:pathLst>
                  <a:path w="27" h="26">
                    <a:moveTo>
                      <a:pt x="27" y="26"/>
                    </a:moveTo>
                    <a:cubicBezTo>
                      <a:pt x="19" y="16"/>
                      <a:pt x="10" y="7"/>
                      <a:pt x="0" y="0"/>
                    </a:cubicBezTo>
                  </a:path>
                </a:pathLst>
              </a:custGeom>
              <a:solidFill>
                <a:srgbClr val="C0C0C0"/>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74" name="Freeform 55"/>
              <p:cNvSpPr>
                <a:spLocks/>
              </p:cNvSpPr>
              <p:nvPr/>
            </p:nvSpPr>
            <p:spPr bwMode="auto">
              <a:xfrm>
                <a:off x="4636" y="2456"/>
                <a:ext cx="5" cy="27"/>
              </a:xfrm>
              <a:custGeom>
                <a:avLst/>
                <a:gdLst>
                  <a:gd name="T0" fmla="*/ 0 w 5"/>
                  <a:gd name="T1" fmla="*/ 0 h 27"/>
                  <a:gd name="T2" fmla="*/ 5 w 5"/>
                  <a:gd name="T3" fmla="*/ 27 h 27"/>
                  <a:gd name="T4" fmla="*/ 0 60000 65536"/>
                  <a:gd name="T5" fmla="*/ 0 60000 65536"/>
                  <a:gd name="T6" fmla="*/ 0 w 5"/>
                  <a:gd name="T7" fmla="*/ 0 h 27"/>
                  <a:gd name="T8" fmla="*/ 5 w 5"/>
                  <a:gd name="T9" fmla="*/ 27 h 27"/>
                </a:gdLst>
                <a:ahLst/>
                <a:cxnLst>
                  <a:cxn ang="T4">
                    <a:pos x="T0" y="T1"/>
                  </a:cxn>
                  <a:cxn ang="T5">
                    <a:pos x="T2" y="T3"/>
                  </a:cxn>
                </a:cxnLst>
                <a:rect l="T6" t="T7" r="T8" b="T9"/>
                <a:pathLst>
                  <a:path w="5" h="27">
                    <a:moveTo>
                      <a:pt x="0" y="0"/>
                    </a:moveTo>
                    <a:cubicBezTo>
                      <a:pt x="1" y="9"/>
                      <a:pt x="2" y="18"/>
                      <a:pt x="5" y="27"/>
                    </a:cubicBezTo>
                  </a:path>
                </a:pathLst>
              </a:custGeom>
              <a:solidFill>
                <a:srgbClr val="C0C0C0"/>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grpSp>
        <p:sp>
          <p:nvSpPr>
            <p:cNvPr id="59" name="Text Box 56"/>
            <p:cNvSpPr txBox="1">
              <a:spLocks noChangeArrowheads="1"/>
            </p:cNvSpPr>
            <p:nvPr/>
          </p:nvSpPr>
          <p:spPr bwMode="auto">
            <a:xfrm>
              <a:off x="6324600" y="1905000"/>
              <a:ext cx="2514600" cy="584200"/>
            </a:xfrm>
            <a:prstGeom prst="rect">
              <a:avLst/>
            </a:prstGeom>
            <a:solidFill>
              <a:srgbClr val="0000FF"/>
            </a:solidFill>
            <a:ln w="9525" algn="ctr">
              <a:solidFill>
                <a:srgbClr val="000000"/>
              </a:solidFill>
              <a:miter lim="800000"/>
              <a:headEnd/>
              <a:tailEnd/>
            </a:ln>
          </p:spPr>
          <p:txBody>
            <a:bodyPr lIns="91380" tIns="45692" rIns="91380" bIns="45692">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AU" sz="1600" b="1" i="0" u="none" strike="noStrike" kern="0" cap="none" spc="0" normalizeH="0" baseline="0" noProof="0" dirty="0">
                  <a:ln>
                    <a:noFill/>
                  </a:ln>
                  <a:solidFill>
                    <a:srgbClr val="FFFFFF"/>
                  </a:solidFill>
                  <a:effectLst/>
                  <a:uLnTx/>
                  <a:uFillTx/>
                  <a:latin typeface="Verdana"/>
                  <a:ea typeface="SimSun" panose="02010600030101010101" pitchFamily="2" charset="-122"/>
                  <a:cs typeface="Tahoma"/>
                </a:rPr>
                <a:t>Hybrid/Inter</a:t>
              </a:r>
              <a:br>
                <a:rPr kumimoji="0" lang="en-AU" sz="1600" b="1" i="0" u="none" strike="noStrike" kern="0" cap="none" spc="0" normalizeH="0" baseline="0" noProof="0" dirty="0">
                  <a:ln>
                    <a:noFill/>
                  </a:ln>
                  <a:solidFill>
                    <a:srgbClr val="FFFFFF"/>
                  </a:solidFill>
                  <a:effectLst/>
                  <a:uLnTx/>
                  <a:uFillTx/>
                  <a:latin typeface="Verdana"/>
                  <a:ea typeface="SimSun" panose="02010600030101010101" pitchFamily="2" charset="-122"/>
                  <a:cs typeface="Tahoma"/>
                </a:rPr>
              </a:br>
              <a:r>
                <a:rPr kumimoji="0" lang="en-AU" sz="1600" b="1" i="0" u="none" strike="noStrike" kern="0" cap="none" spc="0" normalizeH="0" baseline="0" noProof="0" dirty="0">
                  <a:ln>
                    <a:noFill/>
                  </a:ln>
                  <a:solidFill>
                    <a:srgbClr val="FFFFFF"/>
                  </a:solidFill>
                  <a:effectLst/>
                  <a:uLnTx/>
                  <a:uFillTx/>
                  <a:latin typeface="Verdana"/>
                  <a:ea typeface="SimSun" panose="02010600030101010101" pitchFamily="2" charset="-122"/>
                  <a:cs typeface="Tahoma"/>
                </a:rPr>
                <a:t>Clouds</a:t>
              </a:r>
              <a:endParaRPr kumimoji="0" lang="en-US" sz="1600" b="1" i="0" u="none" strike="noStrike" kern="0" cap="none" spc="0" normalizeH="0" baseline="0" noProof="0" dirty="0">
                <a:ln>
                  <a:noFill/>
                </a:ln>
                <a:solidFill>
                  <a:srgbClr val="FFFFFF"/>
                </a:solidFill>
                <a:effectLst/>
                <a:uLnTx/>
                <a:uFillTx/>
                <a:latin typeface="Verdana"/>
                <a:ea typeface="SimSun" panose="02010600030101010101" pitchFamily="2" charset="-122"/>
                <a:cs typeface="Tahoma"/>
              </a:endParaRPr>
            </a:p>
          </p:txBody>
        </p:sp>
        <p:sp>
          <p:nvSpPr>
            <p:cNvPr id="60" name="AutoShape 65"/>
            <p:cNvSpPr>
              <a:spLocks noChangeArrowheads="1"/>
            </p:cNvSpPr>
            <p:nvPr/>
          </p:nvSpPr>
          <p:spPr bwMode="auto">
            <a:xfrm>
              <a:off x="6477000" y="3048000"/>
              <a:ext cx="2362200" cy="1752600"/>
            </a:xfrm>
            <a:prstGeom prst="roundRect">
              <a:avLst>
                <a:gd name="adj" fmla="val 16667"/>
              </a:avLst>
            </a:prstGeom>
            <a:solidFill>
              <a:srgbClr val="0000FF"/>
            </a:solidFill>
            <a:ln w="9525" algn="ctr">
              <a:solidFill>
                <a:srgbClr val="000000"/>
              </a:solidFill>
              <a:round/>
              <a:headEnd/>
              <a:tailEnd/>
            </a:ln>
          </p:spPr>
          <p:txBody>
            <a:bodyPr wrap="none" lIns="91380" tIns="45692" rIns="91380" bIns="45692" anchor="ctr"/>
            <a:lstStyle>
              <a:lvl1pPr eaLnBrk="0" hangingPunct="0">
                <a:defRPr sz="1200">
                  <a:solidFill>
                    <a:schemeClr val="tx1"/>
                  </a:solidFill>
                  <a:latin typeface="Verdana" panose="020B0604030504040204" pitchFamily="34" charset="0"/>
                  <a:ea typeface="SimSun" panose="02010600030101010101" pitchFamily="2" charset="-122"/>
                </a:defRPr>
              </a:lvl1pPr>
              <a:lvl2pPr marL="742950" indent="-285750" eaLnBrk="0" hangingPunct="0">
                <a:defRPr sz="1200">
                  <a:solidFill>
                    <a:schemeClr val="tx1"/>
                  </a:solidFill>
                  <a:latin typeface="Verdana" panose="020B0604030504040204" pitchFamily="34" charset="0"/>
                  <a:ea typeface="SimSun" panose="02010600030101010101" pitchFamily="2" charset="-122"/>
                </a:defRPr>
              </a:lvl2pPr>
              <a:lvl3pPr marL="1143000" indent="-228600" eaLnBrk="0" hangingPunct="0">
                <a:defRPr sz="1200">
                  <a:solidFill>
                    <a:schemeClr val="tx1"/>
                  </a:solidFill>
                  <a:latin typeface="Verdana" panose="020B0604030504040204" pitchFamily="34" charset="0"/>
                  <a:ea typeface="SimSun" panose="02010600030101010101" pitchFamily="2" charset="-122"/>
                </a:defRPr>
              </a:lvl3pPr>
              <a:lvl4pPr marL="1600200" indent="-228600" eaLnBrk="0" hangingPunct="0">
                <a:defRPr sz="1200">
                  <a:solidFill>
                    <a:schemeClr val="tx1"/>
                  </a:solidFill>
                  <a:latin typeface="Verdana" panose="020B0604030504040204" pitchFamily="34" charset="0"/>
                  <a:ea typeface="SimSun" panose="02010600030101010101" pitchFamily="2" charset="-122"/>
                </a:defRPr>
              </a:lvl4pPr>
              <a:lvl5pPr marL="2057400" indent="-228600" eaLnBrk="0" hangingPunct="0">
                <a:defRPr sz="1200">
                  <a:solidFill>
                    <a:schemeClr val="tx1"/>
                  </a:solidFill>
                  <a:latin typeface="Verdan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AU" altLang="en-US" sz="1400" b="1" i="0" u="none" strike="noStrike" kern="0" cap="none" spc="0" normalizeH="0" baseline="0" noProof="0">
                  <a:ln>
                    <a:noFill/>
                  </a:ln>
                  <a:solidFill>
                    <a:srgbClr val="FFFFFF"/>
                  </a:solidFill>
                  <a:effectLst/>
                  <a:uLnTx/>
                  <a:uFillTx/>
                  <a:latin typeface="Verdana" panose="020B0604030504040204" pitchFamily="34" charset="0"/>
                  <a:ea typeface="SimSun" panose="02010600030101010101" pitchFamily="2" charset="-122"/>
                  <a:cs typeface="Tahoma"/>
                </a:rPr>
                <a:t>Mixed usage of </a:t>
              </a:r>
              <a:br>
                <a:rPr kumimoji="0" lang="en-AU" altLang="en-US" sz="1400" b="1" i="0" u="none" strike="noStrike" kern="0" cap="none" spc="0" normalizeH="0" baseline="0" noProof="0">
                  <a:ln>
                    <a:noFill/>
                  </a:ln>
                  <a:solidFill>
                    <a:srgbClr val="FFFFFF"/>
                  </a:solidFill>
                  <a:effectLst/>
                  <a:uLnTx/>
                  <a:uFillTx/>
                  <a:latin typeface="Verdana" panose="020B0604030504040204" pitchFamily="34" charset="0"/>
                  <a:ea typeface="SimSun" panose="02010600030101010101" pitchFamily="2" charset="-122"/>
                  <a:cs typeface="Tahoma"/>
                </a:rPr>
              </a:br>
              <a:r>
                <a:rPr kumimoji="0" lang="en-AU" altLang="en-US" sz="1400" b="1" i="0" u="none" strike="noStrike" kern="0" cap="none" spc="0" normalizeH="0" baseline="0" noProof="0">
                  <a:ln>
                    <a:noFill/>
                  </a:ln>
                  <a:solidFill>
                    <a:srgbClr val="FFFFFF"/>
                  </a:solidFill>
                  <a:effectLst/>
                  <a:uLnTx/>
                  <a:uFillTx/>
                  <a:latin typeface="Verdana" panose="020B0604030504040204" pitchFamily="34" charset="0"/>
                  <a:ea typeface="SimSun" panose="02010600030101010101" pitchFamily="2" charset="-122"/>
                  <a:cs typeface="Tahoma"/>
                </a:rPr>
                <a:t>private and public </a:t>
              </a:r>
              <a:br>
                <a:rPr kumimoji="0" lang="en-AU" altLang="en-US" sz="1400" b="1" i="0" u="none" strike="noStrike" kern="0" cap="none" spc="0" normalizeH="0" baseline="0" noProof="0">
                  <a:ln>
                    <a:noFill/>
                  </a:ln>
                  <a:solidFill>
                    <a:srgbClr val="FFFFFF"/>
                  </a:solidFill>
                  <a:effectLst/>
                  <a:uLnTx/>
                  <a:uFillTx/>
                  <a:latin typeface="Verdana" panose="020B0604030504040204" pitchFamily="34" charset="0"/>
                  <a:ea typeface="SimSun" panose="02010600030101010101" pitchFamily="2" charset="-122"/>
                  <a:cs typeface="Tahoma"/>
                </a:rPr>
              </a:br>
              <a:r>
                <a:rPr kumimoji="0" lang="en-AU" altLang="en-US" sz="1400" b="1" i="0" u="none" strike="noStrike" kern="0" cap="none" spc="0" normalizeH="0" baseline="0" noProof="0">
                  <a:ln>
                    <a:noFill/>
                  </a:ln>
                  <a:solidFill>
                    <a:srgbClr val="FFFFFF"/>
                  </a:solidFill>
                  <a:effectLst/>
                  <a:uLnTx/>
                  <a:uFillTx/>
                  <a:latin typeface="Verdana" panose="020B0604030504040204" pitchFamily="34" charset="0"/>
                  <a:ea typeface="SimSun" panose="02010600030101010101" pitchFamily="2" charset="-122"/>
                  <a:cs typeface="Tahoma"/>
                </a:rPr>
                <a:t>Clouds: Leasing public</a:t>
              </a:r>
              <a:br>
                <a:rPr kumimoji="0" lang="en-AU" altLang="en-US" sz="1400" b="1" i="0" u="none" strike="noStrike" kern="0" cap="none" spc="0" normalizeH="0" baseline="0" noProof="0">
                  <a:ln>
                    <a:noFill/>
                  </a:ln>
                  <a:solidFill>
                    <a:srgbClr val="FFFFFF"/>
                  </a:solidFill>
                  <a:effectLst/>
                  <a:uLnTx/>
                  <a:uFillTx/>
                  <a:latin typeface="Verdana" panose="020B0604030504040204" pitchFamily="34" charset="0"/>
                  <a:ea typeface="SimSun" panose="02010600030101010101" pitchFamily="2" charset="-122"/>
                  <a:cs typeface="Tahoma"/>
                </a:rPr>
              </a:br>
              <a:r>
                <a:rPr kumimoji="0" lang="en-AU" altLang="en-US" sz="1400" b="1" i="0" u="none" strike="noStrike" kern="0" cap="none" spc="0" normalizeH="0" baseline="0" noProof="0">
                  <a:ln>
                    <a:noFill/>
                  </a:ln>
                  <a:solidFill>
                    <a:srgbClr val="FFFFFF"/>
                  </a:solidFill>
                  <a:effectLst/>
                  <a:uLnTx/>
                  <a:uFillTx/>
                  <a:latin typeface="Verdana" panose="020B0604030504040204" pitchFamily="34" charset="0"/>
                  <a:ea typeface="SimSun" panose="02010600030101010101" pitchFamily="2" charset="-122"/>
                  <a:cs typeface="Tahoma"/>
                </a:rPr>
                <a:t>cloud services</a:t>
              </a:r>
              <a:br>
                <a:rPr kumimoji="0" lang="en-AU" altLang="en-US" sz="1400" b="1" i="0" u="none" strike="noStrike" kern="0" cap="none" spc="0" normalizeH="0" baseline="0" noProof="0">
                  <a:ln>
                    <a:noFill/>
                  </a:ln>
                  <a:solidFill>
                    <a:srgbClr val="FFFFFF"/>
                  </a:solidFill>
                  <a:effectLst/>
                  <a:uLnTx/>
                  <a:uFillTx/>
                  <a:latin typeface="Verdana" panose="020B0604030504040204" pitchFamily="34" charset="0"/>
                  <a:ea typeface="SimSun" panose="02010600030101010101" pitchFamily="2" charset="-122"/>
                  <a:cs typeface="Tahoma"/>
                </a:rPr>
              </a:br>
              <a:r>
                <a:rPr kumimoji="0" lang="en-AU" altLang="en-US" sz="1400" b="1" i="0" u="none" strike="noStrike" kern="0" cap="none" spc="0" normalizeH="0" baseline="0" noProof="0">
                  <a:ln>
                    <a:noFill/>
                  </a:ln>
                  <a:solidFill>
                    <a:srgbClr val="FFFFFF"/>
                  </a:solidFill>
                  <a:effectLst/>
                  <a:uLnTx/>
                  <a:uFillTx/>
                  <a:latin typeface="Verdana" panose="020B0604030504040204" pitchFamily="34" charset="0"/>
                  <a:ea typeface="SimSun" panose="02010600030101010101" pitchFamily="2" charset="-122"/>
                  <a:cs typeface="Tahoma"/>
                </a:rPr>
                <a:t>when private cloud </a:t>
              </a:r>
              <a:br>
                <a:rPr kumimoji="0" lang="en-AU" altLang="en-US" sz="1400" b="1" i="0" u="none" strike="noStrike" kern="0" cap="none" spc="0" normalizeH="0" baseline="0" noProof="0">
                  <a:ln>
                    <a:noFill/>
                  </a:ln>
                  <a:solidFill>
                    <a:srgbClr val="FFFFFF"/>
                  </a:solidFill>
                  <a:effectLst/>
                  <a:uLnTx/>
                  <a:uFillTx/>
                  <a:latin typeface="Verdana" panose="020B0604030504040204" pitchFamily="34" charset="0"/>
                  <a:ea typeface="SimSun" panose="02010600030101010101" pitchFamily="2" charset="-122"/>
                  <a:cs typeface="Tahoma"/>
                </a:rPr>
              </a:br>
              <a:r>
                <a:rPr kumimoji="0" lang="en-AU" altLang="en-US" sz="1400" b="1" i="0" u="none" strike="noStrike" kern="0" cap="none" spc="0" normalizeH="0" baseline="0" noProof="0">
                  <a:ln>
                    <a:noFill/>
                  </a:ln>
                  <a:solidFill>
                    <a:srgbClr val="FFFFFF"/>
                  </a:solidFill>
                  <a:effectLst/>
                  <a:uLnTx/>
                  <a:uFillTx/>
                  <a:latin typeface="Verdana" panose="020B0604030504040204" pitchFamily="34" charset="0"/>
                  <a:ea typeface="SimSun" panose="02010600030101010101" pitchFamily="2" charset="-122"/>
                  <a:cs typeface="Tahoma"/>
                </a:rPr>
                <a:t>capacity is </a:t>
              </a:r>
              <a:br>
                <a:rPr kumimoji="0" lang="en-AU" altLang="en-US" sz="1400" b="1" i="0" u="none" strike="noStrike" kern="0" cap="none" spc="0" normalizeH="0" baseline="0" noProof="0">
                  <a:ln>
                    <a:noFill/>
                  </a:ln>
                  <a:solidFill>
                    <a:srgbClr val="FFFFFF"/>
                  </a:solidFill>
                  <a:effectLst/>
                  <a:uLnTx/>
                  <a:uFillTx/>
                  <a:latin typeface="Verdana" panose="020B0604030504040204" pitchFamily="34" charset="0"/>
                  <a:ea typeface="SimSun" panose="02010600030101010101" pitchFamily="2" charset="-122"/>
                  <a:cs typeface="Tahoma"/>
                </a:rPr>
              </a:br>
              <a:r>
                <a:rPr kumimoji="0" lang="en-AU" altLang="en-US" sz="1400" b="1" i="0" u="none" strike="noStrike" kern="0" cap="none" spc="0" normalizeH="0" baseline="0" noProof="0">
                  <a:ln>
                    <a:noFill/>
                  </a:ln>
                  <a:solidFill>
                    <a:srgbClr val="FFFFFF"/>
                  </a:solidFill>
                  <a:effectLst/>
                  <a:uLnTx/>
                  <a:uFillTx/>
                  <a:latin typeface="Verdana" panose="020B0604030504040204" pitchFamily="34" charset="0"/>
                  <a:ea typeface="SimSun" panose="02010600030101010101" pitchFamily="2" charset="-122"/>
                  <a:cs typeface="Tahoma"/>
                </a:rPr>
                <a:t>insufficient</a:t>
              </a:r>
            </a:p>
          </p:txBody>
        </p:sp>
      </p:grpSp>
      <p:sp>
        <p:nvSpPr>
          <p:cNvPr id="75" name="Rectangle 4"/>
          <p:cNvSpPr txBox="1">
            <a:spLocks noChangeArrowheads="1"/>
          </p:cNvSpPr>
          <p:nvPr/>
        </p:nvSpPr>
        <p:spPr bwMode="auto">
          <a:xfrm>
            <a:off x="2635875" y="177800"/>
            <a:ext cx="7724775"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0" tIns="45692" rIns="91380" bIns="45692" numCol="1" anchor="ctr" anchorCtr="0" compatLnSpc="1">
            <a:prstTxWarp prst="textNoShape">
              <a:avLst/>
            </a:prstTxWarp>
          </a:bodyPr>
          <a:lstStyle>
            <a:lvl1pPr algn="ctr" rtl="0" eaLnBrk="0" fontAlgn="base" hangingPunct="0">
              <a:spcBef>
                <a:spcPct val="0"/>
              </a:spcBef>
              <a:spcAft>
                <a:spcPct val="0"/>
              </a:spcAft>
              <a:defRPr sz="3600">
                <a:solidFill>
                  <a:srgbClr val="FFFF00"/>
                </a:solidFill>
                <a:latin typeface="+mj-lt"/>
                <a:ea typeface="+mj-ea"/>
                <a:cs typeface="+mj-cs"/>
              </a:defRPr>
            </a:lvl1pPr>
            <a:lvl2pPr algn="ctr" rtl="0" eaLnBrk="0" fontAlgn="base" hangingPunct="0">
              <a:spcBef>
                <a:spcPct val="0"/>
              </a:spcBef>
              <a:spcAft>
                <a:spcPct val="0"/>
              </a:spcAft>
              <a:defRPr sz="3600">
                <a:solidFill>
                  <a:srgbClr val="FFFF00"/>
                </a:solidFill>
                <a:latin typeface="Verdana" pitchFamily="34" charset="0"/>
                <a:ea typeface="SimSun" pitchFamily="2" charset="-122"/>
              </a:defRPr>
            </a:lvl2pPr>
            <a:lvl3pPr algn="ctr" rtl="0" eaLnBrk="0" fontAlgn="base" hangingPunct="0">
              <a:spcBef>
                <a:spcPct val="0"/>
              </a:spcBef>
              <a:spcAft>
                <a:spcPct val="0"/>
              </a:spcAft>
              <a:defRPr sz="3600">
                <a:solidFill>
                  <a:srgbClr val="FFFF00"/>
                </a:solidFill>
                <a:latin typeface="Verdana" pitchFamily="34" charset="0"/>
                <a:ea typeface="SimSun" pitchFamily="2" charset="-122"/>
              </a:defRPr>
            </a:lvl3pPr>
            <a:lvl4pPr algn="ctr" rtl="0" eaLnBrk="0" fontAlgn="base" hangingPunct="0">
              <a:spcBef>
                <a:spcPct val="0"/>
              </a:spcBef>
              <a:spcAft>
                <a:spcPct val="0"/>
              </a:spcAft>
              <a:defRPr sz="3600">
                <a:solidFill>
                  <a:srgbClr val="FFFF00"/>
                </a:solidFill>
                <a:latin typeface="Verdana" pitchFamily="34" charset="0"/>
                <a:ea typeface="SimSun" pitchFamily="2" charset="-122"/>
              </a:defRPr>
            </a:lvl4pPr>
            <a:lvl5pPr algn="ctr" rtl="0" eaLnBrk="0" fontAlgn="base" hangingPunct="0">
              <a:spcBef>
                <a:spcPct val="0"/>
              </a:spcBef>
              <a:spcAft>
                <a:spcPct val="0"/>
              </a:spcAft>
              <a:defRPr sz="3600">
                <a:solidFill>
                  <a:srgbClr val="FFFF00"/>
                </a:solidFill>
                <a:latin typeface="Verdana" pitchFamily="34" charset="0"/>
                <a:ea typeface="SimSun" pitchFamily="2" charset="-122"/>
              </a:defRPr>
            </a:lvl5pPr>
            <a:lvl6pPr marL="457200" algn="ctr" rtl="0" fontAlgn="base">
              <a:spcBef>
                <a:spcPct val="0"/>
              </a:spcBef>
              <a:spcAft>
                <a:spcPct val="0"/>
              </a:spcAft>
              <a:defRPr sz="3600">
                <a:solidFill>
                  <a:srgbClr val="FFFF00"/>
                </a:solidFill>
                <a:latin typeface="Verdana" pitchFamily="34" charset="0"/>
                <a:ea typeface="SimSun" pitchFamily="2" charset="-122"/>
              </a:defRPr>
            </a:lvl6pPr>
            <a:lvl7pPr marL="914400" algn="ctr" rtl="0" fontAlgn="base">
              <a:spcBef>
                <a:spcPct val="0"/>
              </a:spcBef>
              <a:spcAft>
                <a:spcPct val="0"/>
              </a:spcAft>
              <a:defRPr sz="3600">
                <a:solidFill>
                  <a:srgbClr val="FFFF00"/>
                </a:solidFill>
                <a:latin typeface="Verdana" pitchFamily="34" charset="0"/>
                <a:ea typeface="SimSun" pitchFamily="2" charset="-122"/>
              </a:defRPr>
            </a:lvl7pPr>
            <a:lvl8pPr marL="1371600" algn="ctr" rtl="0" fontAlgn="base">
              <a:spcBef>
                <a:spcPct val="0"/>
              </a:spcBef>
              <a:spcAft>
                <a:spcPct val="0"/>
              </a:spcAft>
              <a:defRPr sz="3600">
                <a:solidFill>
                  <a:srgbClr val="FFFF00"/>
                </a:solidFill>
                <a:latin typeface="Verdana" pitchFamily="34" charset="0"/>
                <a:ea typeface="SimSun" pitchFamily="2" charset="-122"/>
              </a:defRPr>
            </a:lvl8pPr>
            <a:lvl9pPr marL="1828800" algn="ctr" rtl="0" fontAlgn="base">
              <a:spcBef>
                <a:spcPct val="0"/>
              </a:spcBef>
              <a:spcAft>
                <a:spcPct val="0"/>
              </a:spcAft>
              <a:defRPr sz="3600">
                <a:solidFill>
                  <a:srgbClr val="FFFF00"/>
                </a:solidFill>
                <a:latin typeface="Verdana" pitchFamily="34" charset="0"/>
                <a:ea typeface="SimSun"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AU" altLang="en-US" sz="3200" b="0" i="0" u="none" strike="noStrike" kern="0" cap="none" spc="0" normalizeH="0" baseline="0" noProof="0">
                <a:ln>
                  <a:noFill/>
                </a:ln>
                <a:solidFill>
                  <a:srgbClr val="FFFF00"/>
                </a:solidFill>
                <a:effectLst/>
                <a:uLnTx/>
                <a:uFillTx/>
                <a:latin typeface="Verdana"/>
                <a:ea typeface="SimSun"/>
                <a:cs typeface="+mj-cs"/>
              </a:rPr>
              <a:t>Cloud Deployment Models</a:t>
            </a:r>
            <a:endParaRPr kumimoji="0" lang="en-US" altLang="en-US" sz="3200" b="0" i="0" u="none" strike="noStrike" kern="0" cap="none" spc="0" normalizeH="0" baseline="0" noProof="0" dirty="0">
              <a:ln>
                <a:noFill/>
              </a:ln>
              <a:solidFill>
                <a:srgbClr val="FFFF00"/>
              </a:solidFill>
              <a:effectLst/>
              <a:uLnTx/>
              <a:uFillTx/>
              <a:latin typeface="Verdana"/>
              <a:ea typeface="SimSun"/>
              <a:cs typeface="+mj-cs"/>
            </a:endParaRPr>
          </a:p>
        </p:txBody>
      </p:sp>
      <p:sp>
        <p:nvSpPr>
          <p:cNvPr id="3" name="Slide Number Placeholder 2"/>
          <p:cNvSpPr>
            <a:spLocks noGrp="1"/>
          </p:cNvSpPr>
          <p:nvPr>
            <p:ph type="sldNum" sz="quarter" idx="12"/>
          </p:nvPr>
        </p:nvSpPr>
        <p:spPr/>
        <p:txBody>
          <a:bodyPr/>
          <a:lstStyle/>
          <a:p>
            <a:fld id="{2019AD06-451C-413E-AF31-86503C137FDF}" type="slidenum">
              <a:rPr lang="en-US" smtClean="0"/>
              <a:pPr/>
              <a:t>8</a:t>
            </a:fld>
            <a:endParaRPr lang="en-US"/>
          </a:p>
        </p:txBody>
      </p:sp>
    </p:spTree>
    <p:extLst>
      <p:ext uri="{BB962C8B-B14F-4D97-AF65-F5344CB8AC3E}">
        <p14:creationId xmlns:p14="http://schemas.microsoft.com/office/powerpoint/2010/main" val="637542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2"/>
          <p:cNvSpPr>
            <a:spLocks noGrp="1"/>
          </p:cNvSpPr>
          <p:nvPr>
            <p:ph type="title"/>
          </p:nvPr>
        </p:nvSpPr>
        <p:spPr>
          <a:xfrm>
            <a:off x="0" y="6456"/>
            <a:ext cx="12192000" cy="1325563"/>
          </a:xfrm>
          <a:solidFill>
            <a:schemeClr val="accent5"/>
          </a:solidFill>
        </p:spPr>
        <p:txBody>
          <a:bodyPr/>
          <a:lstStyle/>
          <a:p>
            <a:r>
              <a:rPr lang="en-AU" altLang="en-US" sz="3600" kern="0" dirty="0">
                <a:solidFill>
                  <a:srgbClr val="FFFF00"/>
                </a:solidFill>
                <a:latin typeface="Verdana"/>
                <a:ea typeface="SimSun"/>
              </a:rPr>
              <a:t>                 </a:t>
            </a:r>
            <a:endParaRPr lang="en-AU" altLang="en-US" dirty="0">
              <a:latin typeface="Verdana" panose="020B0604030504040204" pitchFamily="34" charset="0"/>
              <a:ea typeface="Verdana" panose="020B0604030504040204" pitchFamily="34" charset="0"/>
              <a:cs typeface="Verdana" panose="020B0604030504040204" pitchFamily="34" charset="0"/>
            </a:endParaRPr>
          </a:p>
        </p:txBody>
      </p:sp>
      <p:sp>
        <p:nvSpPr>
          <p:cNvPr id="77" name="Title 1"/>
          <p:cNvSpPr txBox="1">
            <a:spLocks/>
          </p:cNvSpPr>
          <p:nvPr/>
        </p:nvSpPr>
        <p:spPr bwMode="auto">
          <a:xfrm>
            <a:off x="1094704" y="177800"/>
            <a:ext cx="9337183"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0" tIns="45692" rIns="91380" bIns="45692" numCol="1" anchor="ctr" anchorCtr="0" compatLnSpc="1">
            <a:prstTxWarp prst="textNoShape">
              <a:avLst/>
            </a:prstTxWarp>
          </a:bodyPr>
          <a:lstStyle>
            <a:lvl1pPr algn="ctr" rtl="0" eaLnBrk="0" fontAlgn="base" hangingPunct="0">
              <a:spcBef>
                <a:spcPct val="0"/>
              </a:spcBef>
              <a:spcAft>
                <a:spcPct val="0"/>
              </a:spcAft>
              <a:defRPr sz="3600">
                <a:solidFill>
                  <a:srgbClr val="FFFF00"/>
                </a:solidFill>
                <a:latin typeface="+mj-lt"/>
                <a:ea typeface="+mj-ea"/>
                <a:cs typeface="+mj-cs"/>
              </a:defRPr>
            </a:lvl1pPr>
            <a:lvl2pPr algn="ctr" rtl="0" eaLnBrk="0" fontAlgn="base" hangingPunct="0">
              <a:spcBef>
                <a:spcPct val="0"/>
              </a:spcBef>
              <a:spcAft>
                <a:spcPct val="0"/>
              </a:spcAft>
              <a:defRPr sz="3600">
                <a:solidFill>
                  <a:srgbClr val="FFFF00"/>
                </a:solidFill>
                <a:latin typeface="Verdana" pitchFamily="34" charset="0"/>
                <a:ea typeface="SimSun" pitchFamily="2" charset="-122"/>
              </a:defRPr>
            </a:lvl2pPr>
            <a:lvl3pPr algn="ctr" rtl="0" eaLnBrk="0" fontAlgn="base" hangingPunct="0">
              <a:spcBef>
                <a:spcPct val="0"/>
              </a:spcBef>
              <a:spcAft>
                <a:spcPct val="0"/>
              </a:spcAft>
              <a:defRPr sz="3600">
                <a:solidFill>
                  <a:srgbClr val="FFFF00"/>
                </a:solidFill>
                <a:latin typeface="Verdana" pitchFamily="34" charset="0"/>
                <a:ea typeface="SimSun" pitchFamily="2" charset="-122"/>
              </a:defRPr>
            </a:lvl3pPr>
            <a:lvl4pPr algn="ctr" rtl="0" eaLnBrk="0" fontAlgn="base" hangingPunct="0">
              <a:spcBef>
                <a:spcPct val="0"/>
              </a:spcBef>
              <a:spcAft>
                <a:spcPct val="0"/>
              </a:spcAft>
              <a:defRPr sz="3600">
                <a:solidFill>
                  <a:srgbClr val="FFFF00"/>
                </a:solidFill>
                <a:latin typeface="Verdana" pitchFamily="34" charset="0"/>
                <a:ea typeface="SimSun" pitchFamily="2" charset="-122"/>
              </a:defRPr>
            </a:lvl4pPr>
            <a:lvl5pPr algn="ctr" rtl="0" eaLnBrk="0" fontAlgn="base" hangingPunct="0">
              <a:spcBef>
                <a:spcPct val="0"/>
              </a:spcBef>
              <a:spcAft>
                <a:spcPct val="0"/>
              </a:spcAft>
              <a:defRPr sz="3600">
                <a:solidFill>
                  <a:srgbClr val="FFFF00"/>
                </a:solidFill>
                <a:latin typeface="Verdana" pitchFamily="34" charset="0"/>
                <a:ea typeface="SimSun" pitchFamily="2" charset="-122"/>
              </a:defRPr>
            </a:lvl5pPr>
            <a:lvl6pPr marL="457200" algn="ctr" rtl="0" fontAlgn="base">
              <a:spcBef>
                <a:spcPct val="0"/>
              </a:spcBef>
              <a:spcAft>
                <a:spcPct val="0"/>
              </a:spcAft>
              <a:defRPr sz="3600">
                <a:solidFill>
                  <a:srgbClr val="FFFF00"/>
                </a:solidFill>
                <a:latin typeface="Verdana" pitchFamily="34" charset="0"/>
                <a:ea typeface="SimSun" pitchFamily="2" charset="-122"/>
              </a:defRPr>
            </a:lvl6pPr>
            <a:lvl7pPr marL="914400" algn="ctr" rtl="0" fontAlgn="base">
              <a:spcBef>
                <a:spcPct val="0"/>
              </a:spcBef>
              <a:spcAft>
                <a:spcPct val="0"/>
              </a:spcAft>
              <a:defRPr sz="3600">
                <a:solidFill>
                  <a:srgbClr val="FFFF00"/>
                </a:solidFill>
                <a:latin typeface="Verdana" pitchFamily="34" charset="0"/>
                <a:ea typeface="SimSun" pitchFamily="2" charset="-122"/>
              </a:defRPr>
            </a:lvl7pPr>
            <a:lvl8pPr marL="1371600" algn="ctr" rtl="0" fontAlgn="base">
              <a:spcBef>
                <a:spcPct val="0"/>
              </a:spcBef>
              <a:spcAft>
                <a:spcPct val="0"/>
              </a:spcAft>
              <a:defRPr sz="3600">
                <a:solidFill>
                  <a:srgbClr val="FFFF00"/>
                </a:solidFill>
                <a:latin typeface="Verdana" pitchFamily="34" charset="0"/>
                <a:ea typeface="SimSun" pitchFamily="2" charset="-122"/>
              </a:defRPr>
            </a:lvl8pPr>
            <a:lvl9pPr marL="1828800" algn="ctr" rtl="0" fontAlgn="base">
              <a:spcBef>
                <a:spcPct val="0"/>
              </a:spcBef>
              <a:spcAft>
                <a:spcPct val="0"/>
              </a:spcAft>
              <a:defRPr sz="3600">
                <a:solidFill>
                  <a:srgbClr val="FFFF00"/>
                </a:solidFill>
                <a:latin typeface="Verdana" pitchFamily="34" charset="0"/>
                <a:ea typeface="SimSun"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AU" altLang="en-US" kern="0" noProof="0" dirty="0">
                <a:latin typeface="Verdana"/>
                <a:ea typeface="SimSun"/>
              </a:rPr>
              <a:t>Responsibilities of each stake holder</a:t>
            </a:r>
            <a:endParaRPr kumimoji="0" lang="en-AU" altLang="en-US" sz="3600" b="0" i="0" u="none" strike="noStrike" kern="0" cap="none" spc="0" normalizeH="0" baseline="0" noProof="0" dirty="0">
              <a:ln>
                <a:noFill/>
              </a:ln>
              <a:solidFill>
                <a:srgbClr val="FFFF00"/>
              </a:solidFill>
              <a:effectLst/>
              <a:uLnTx/>
              <a:uFillTx/>
              <a:latin typeface="Verdana"/>
              <a:ea typeface="SimSun"/>
              <a:cs typeface="+mj-cs"/>
            </a:endParaRPr>
          </a:p>
        </p:txBody>
      </p:sp>
      <p:sp>
        <p:nvSpPr>
          <p:cNvPr id="3" name="Slide Number Placeholder 2"/>
          <p:cNvSpPr>
            <a:spLocks noGrp="1"/>
          </p:cNvSpPr>
          <p:nvPr>
            <p:ph type="sldNum" sz="quarter" idx="12"/>
          </p:nvPr>
        </p:nvSpPr>
        <p:spPr/>
        <p:txBody>
          <a:bodyPr/>
          <a:lstStyle/>
          <a:p>
            <a:fld id="{2019AD06-451C-413E-AF31-86503C137FDF}" type="slidenum">
              <a:rPr lang="en-US" smtClean="0"/>
              <a:pPr/>
              <a:t>9</a:t>
            </a:fld>
            <a:endParaRPr 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7437" y="1334999"/>
            <a:ext cx="8114763" cy="5021351"/>
          </a:xfrm>
          <a:prstGeom prst="rect">
            <a:avLst/>
          </a:prstGeom>
        </p:spPr>
      </p:pic>
      <p:sp>
        <p:nvSpPr>
          <p:cNvPr id="6" name="TextBox 5"/>
          <p:cNvSpPr txBox="1"/>
          <p:nvPr/>
        </p:nvSpPr>
        <p:spPr>
          <a:xfrm>
            <a:off x="1867437" y="6536809"/>
            <a:ext cx="8255357" cy="369332"/>
          </a:xfrm>
          <a:prstGeom prst="rect">
            <a:avLst/>
          </a:prstGeom>
          <a:noFill/>
        </p:spPr>
        <p:txBody>
          <a:bodyPr wrap="square" rtlCol="0">
            <a:spAutoFit/>
          </a:bodyPr>
          <a:lstStyle/>
          <a:p>
            <a:r>
              <a:rPr lang="en-US"/>
              <a:t>Credit:http</a:t>
            </a:r>
            <a:r>
              <a:rPr lang="en-US" dirty="0"/>
              <a:t>://robertgreiner.com/2014/03/windows-azure-</a:t>
            </a:r>
            <a:r>
              <a:rPr lang="en-US" dirty="0" err="1"/>
              <a:t>iaas</a:t>
            </a:r>
            <a:r>
              <a:rPr lang="en-US" dirty="0"/>
              <a:t>-</a:t>
            </a:r>
            <a:r>
              <a:rPr lang="en-US" dirty="0" err="1"/>
              <a:t>paas</a:t>
            </a:r>
            <a:r>
              <a:rPr lang="en-US" dirty="0"/>
              <a:t>-</a:t>
            </a:r>
            <a:r>
              <a:rPr lang="en-US" dirty="0" err="1"/>
              <a:t>saas</a:t>
            </a:r>
            <a:r>
              <a:rPr lang="en-US" dirty="0"/>
              <a:t>-overview/</a:t>
            </a:r>
          </a:p>
        </p:txBody>
      </p:sp>
    </p:spTree>
    <p:extLst>
      <p:ext uri="{BB962C8B-B14F-4D97-AF65-F5344CB8AC3E}">
        <p14:creationId xmlns:p14="http://schemas.microsoft.com/office/powerpoint/2010/main" val="10539334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2"/>
          <p:cNvSpPr>
            <a:spLocks noGrp="1"/>
          </p:cNvSpPr>
          <p:nvPr>
            <p:ph type="title"/>
          </p:nvPr>
        </p:nvSpPr>
        <p:spPr>
          <a:xfrm>
            <a:off x="0" y="5624"/>
            <a:ext cx="12192000" cy="1325563"/>
          </a:xfrm>
          <a:solidFill>
            <a:schemeClr val="accent5"/>
          </a:solidFill>
        </p:spPr>
        <p:txBody>
          <a:bodyPr/>
          <a:lstStyle/>
          <a:p>
            <a:r>
              <a:rPr lang="en-AU" altLang="en-US" dirty="0">
                <a:latin typeface="Verdana" panose="020B0604030504040204" pitchFamily="34" charset="0"/>
                <a:ea typeface="Verdana" panose="020B0604030504040204" pitchFamily="34" charset="0"/>
                <a:cs typeface="Verdana" panose="020B0604030504040204" pitchFamily="34" charset="0"/>
              </a:rPr>
              <a:t>.</a:t>
            </a:r>
          </a:p>
        </p:txBody>
      </p:sp>
      <p:sp>
        <p:nvSpPr>
          <p:cNvPr id="7" name="Rectangle 2"/>
          <p:cNvSpPr txBox="1">
            <a:spLocks noChangeArrowheads="1"/>
          </p:cNvSpPr>
          <p:nvPr/>
        </p:nvSpPr>
        <p:spPr bwMode="auto">
          <a:xfrm>
            <a:off x="1219200" y="177800"/>
            <a:ext cx="7724775"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0" tIns="45692" rIns="91380" bIns="45692" numCol="1" anchor="ctr" anchorCtr="0" compatLnSpc="1">
            <a:prstTxWarp prst="textNoShape">
              <a:avLst/>
            </a:prstTxWarp>
          </a:bodyPr>
          <a:lstStyle>
            <a:lvl1pPr algn="ctr" rtl="0" eaLnBrk="0" fontAlgn="base" hangingPunct="0">
              <a:spcBef>
                <a:spcPct val="0"/>
              </a:spcBef>
              <a:spcAft>
                <a:spcPct val="0"/>
              </a:spcAft>
              <a:defRPr sz="3600">
                <a:solidFill>
                  <a:srgbClr val="FFFF00"/>
                </a:solidFill>
                <a:latin typeface="+mj-lt"/>
                <a:ea typeface="+mj-ea"/>
                <a:cs typeface="+mj-cs"/>
              </a:defRPr>
            </a:lvl1pPr>
            <a:lvl2pPr algn="ctr" rtl="0" eaLnBrk="0" fontAlgn="base" hangingPunct="0">
              <a:spcBef>
                <a:spcPct val="0"/>
              </a:spcBef>
              <a:spcAft>
                <a:spcPct val="0"/>
              </a:spcAft>
              <a:defRPr sz="3600">
                <a:solidFill>
                  <a:srgbClr val="FFFF00"/>
                </a:solidFill>
                <a:latin typeface="Verdana" pitchFamily="34" charset="0"/>
                <a:ea typeface="SimSun" pitchFamily="2" charset="-122"/>
              </a:defRPr>
            </a:lvl2pPr>
            <a:lvl3pPr algn="ctr" rtl="0" eaLnBrk="0" fontAlgn="base" hangingPunct="0">
              <a:spcBef>
                <a:spcPct val="0"/>
              </a:spcBef>
              <a:spcAft>
                <a:spcPct val="0"/>
              </a:spcAft>
              <a:defRPr sz="3600">
                <a:solidFill>
                  <a:srgbClr val="FFFF00"/>
                </a:solidFill>
                <a:latin typeface="Verdana" pitchFamily="34" charset="0"/>
                <a:ea typeface="SimSun" pitchFamily="2" charset="-122"/>
              </a:defRPr>
            </a:lvl3pPr>
            <a:lvl4pPr algn="ctr" rtl="0" eaLnBrk="0" fontAlgn="base" hangingPunct="0">
              <a:spcBef>
                <a:spcPct val="0"/>
              </a:spcBef>
              <a:spcAft>
                <a:spcPct val="0"/>
              </a:spcAft>
              <a:defRPr sz="3600">
                <a:solidFill>
                  <a:srgbClr val="FFFF00"/>
                </a:solidFill>
                <a:latin typeface="Verdana" pitchFamily="34" charset="0"/>
                <a:ea typeface="SimSun" pitchFamily="2" charset="-122"/>
              </a:defRPr>
            </a:lvl4pPr>
            <a:lvl5pPr algn="ctr" rtl="0" eaLnBrk="0" fontAlgn="base" hangingPunct="0">
              <a:spcBef>
                <a:spcPct val="0"/>
              </a:spcBef>
              <a:spcAft>
                <a:spcPct val="0"/>
              </a:spcAft>
              <a:defRPr sz="3600">
                <a:solidFill>
                  <a:srgbClr val="FFFF00"/>
                </a:solidFill>
                <a:latin typeface="Verdana" pitchFamily="34" charset="0"/>
                <a:ea typeface="SimSun" pitchFamily="2" charset="-122"/>
              </a:defRPr>
            </a:lvl5pPr>
            <a:lvl6pPr marL="457200" algn="ctr" rtl="0" fontAlgn="base">
              <a:spcBef>
                <a:spcPct val="0"/>
              </a:spcBef>
              <a:spcAft>
                <a:spcPct val="0"/>
              </a:spcAft>
              <a:defRPr sz="3600">
                <a:solidFill>
                  <a:srgbClr val="FFFF00"/>
                </a:solidFill>
                <a:latin typeface="Verdana" pitchFamily="34" charset="0"/>
                <a:ea typeface="SimSun" pitchFamily="2" charset="-122"/>
              </a:defRPr>
            </a:lvl6pPr>
            <a:lvl7pPr marL="914400" algn="ctr" rtl="0" fontAlgn="base">
              <a:spcBef>
                <a:spcPct val="0"/>
              </a:spcBef>
              <a:spcAft>
                <a:spcPct val="0"/>
              </a:spcAft>
              <a:defRPr sz="3600">
                <a:solidFill>
                  <a:srgbClr val="FFFF00"/>
                </a:solidFill>
                <a:latin typeface="Verdana" pitchFamily="34" charset="0"/>
                <a:ea typeface="SimSun" pitchFamily="2" charset="-122"/>
              </a:defRPr>
            </a:lvl7pPr>
            <a:lvl8pPr marL="1371600" algn="ctr" rtl="0" fontAlgn="base">
              <a:spcBef>
                <a:spcPct val="0"/>
              </a:spcBef>
              <a:spcAft>
                <a:spcPct val="0"/>
              </a:spcAft>
              <a:defRPr sz="3600">
                <a:solidFill>
                  <a:srgbClr val="FFFF00"/>
                </a:solidFill>
                <a:latin typeface="Verdana" pitchFamily="34" charset="0"/>
                <a:ea typeface="SimSun" pitchFamily="2" charset="-122"/>
              </a:defRPr>
            </a:lvl8pPr>
            <a:lvl9pPr marL="1828800" algn="ctr" rtl="0" fontAlgn="base">
              <a:spcBef>
                <a:spcPct val="0"/>
              </a:spcBef>
              <a:spcAft>
                <a:spcPct val="0"/>
              </a:spcAft>
              <a:defRPr sz="3600">
                <a:solidFill>
                  <a:srgbClr val="FFFF00"/>
                </a:solidFill>
                <a:latin typeface="Verdana" pitchFamily="34" charset="0"/>
                <a:ea typeface="SimSun"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3200" b="0" i="0" u="none" strike="noStrike" kern="0" cap="none" spc="0" normalizeH="0" baseline="0" noProof="0" dirty="0">
                <a:ln>
                  <a:noFill/>
                </a:ln>
                <a:solidFill>
                  <a:srgbClr val="FFFF00"/>
                </a:solidFill>
                <a:effectLst/>
                <a:uLnTx/>
                <a:uFillTx/>
                <a:latin typeface="Verdana"/>
                <a:ea typeface="SimSun"/>
                <a:cs typeface="+mj-cs"/>
              </a:rPr>
              <a:t>Enabling</a:t>
            </a:r>
            <a:r>
              <a:rPr kumimoji="0" lang="en-US" altLang="en-US" sz="3200" b="0" i="0" u="none" strike="noStrike" kern="0" cap="none" spc="0" normalizeH="0" noProof="0" dirty="0">
                <a:ln>
                  <a:noFill/>
                </a:ln>
                <a:solidFill>
                  <a:srgbClr val="FFFF00"/>
                </a:solidFill>
                <a:effectLst/>
                <a:uLnTx/>
                <a:uFillTx/>
                <a:latin typeface="Verdana"/>
                <a:ea typeface="SimSun"/>
                <a:cs typeface="+mj-cs"/>
              </a:rPr>
              <a:t> Technologies for cloud</a:t>
            </a:r>
            <a:endParaRPr kumimoji="0" lang="en-US" altLang="en-US" sz="3200" b="0" i="0" u="none" strike="noStrike" kern="0" cap="none" spc="0" normalizeH="0" baseline="0" noProof="0" dirty="0">
              <a:ln>
                <a:noFill/>
              </a:ln>
              <a:solidFill>
                <a:srgbClr val="FFFF00"/>
              </a:solidFill>
              <a:effectLst/>
              <a:uLnTx/>
              <a:uFillTx/>
              <a:latin typeface="Verdana"/>
              <a:ea typeface="SimSun"/>
              <a:cs typeface="+mj-cs"/>
            </a:endParaRPr>
          </a:p>
        </p:txBody>
      </p:sp>
      <p:sp>
        <p:nvSpPr>
          <p:cNvPr id="2" name="TextBox 1"/>
          <p:cNvSpPr txBox="1"/>
          <p:nvPr/>
        </p:nvSpPr>
        <p:spPr>
          <a:xfrm>
            <a:off x="940159" y="1466095"/>
            <a:ext cx="7212168" cy="1754326"/>
          </a:xfrm>
          <a:prstGeom prst="rect">
            <a:avLst/>
          </a:prstGeom>
          <a:noFill/>
        </p:spPr>
        <p:txBody>
          <a:bodyPr wrap="square" rtlCol="0">
            <a:spAutoFit/>
          </a:bodyPr>
          <a:lstStyle/>
          <a:p>
            <a:pPr marL="342900" indent="-342900">
              <a:buClr>
                <a:srgbClr val="FF0000"/>
              </a:buClr>
              <a:buFont typeface="Wingdings" panose="05000000000000000000" pitchFamily="2" charset="2"/>
              <a:buChar char="q"/>
            </a:pPr>
            <a:r>
              <a:rPr lang="en-US" sz="5400" dirty="0">
                <a:latin typeface="Verdana" panose="020B0604030504040204" pitchFamily="34" charset="0"/>
                <a:ea typeface="Verdana" panose="020B0604030504040204" pitchFamily="34" charset="0"/>
                <a:cs typeface="Verdana" panose="020B0604030504040204" pitchFamily="34" charset="0"/>
              </a:rPr>
              <a:t>Virtualization </a:t>
            </a:r>
            <a:r>
              <a:rPr lang="en-US" sz="1000" dirty="0">
                <a:latin typeface="Verdana" panose="020B0604030504040204" pitchFamily="34" charset="0"/>
                <a:ea typeface="Verdana" panose="020B0604030504040204" pitchFamily="34" charset="0"/>
                <a:cs typeface="Verdana" panose="020B0604030504040204" pitchFamily="34" charset="0"/>
                <a:hlinkClick r:id="rId2" action="ppaction://hlinkpres?slideindex=1&amp;slidetitle="/>
              </a:rPr>
              <a:t>Virtualization.ppt</a:t>
            </a:r>
            <a:r>
              <a:rPr lang="en-US" sz="1000" dirty="0">
                <a:latin typeface="Verdana" panose="020B0604030504040204" pitchFamily="34" charset="0"/>
                <a:ea typeface="Verdana" panose="020B0604030504040204" pitchFamily="34" charset="0"/>
                <a:cs typeface="Verdana" panose="020B0604030504040204" pitchFamily="34" charset="0"/>
              </a:rPr>
              <a:t> </a:t>
            </a:r>
          </a:p>
          <a:p>
            <a:pPr marL="342900" indent="-342900">
              <a:buClr>
                <a:srgbClr val="FF0000"/>
              </a:buClr>
              <a:buFont typeface="Wingdings" panose="05000000000000000000" pitchFamily="2" charset="2"/>
              <a:buChar char="q"/>
            </a:pPr>
            <a:endParaRPr lang="en-US" sz="5400" dirty="0">
              <a:latin typeface="Verdana" panose="020B0604030504040204" pitchFamily="34" charset="0"/>
              <a:ea typeface="Verdana" panose="020B0604030504040204" pitchFamily="34" charset="0"/>
              <a:cs typeface="Verdana" panose="020B0604030504040204" pitchFamily="34" charset="0"/>
            </a:endParaRPr>
          </a:p>
        </p:txBody>
      </p:sp>
      <p:sp>
        <p:nvSpPr>
          <p:cNvPr id="50" name="TextBox 49"/>
          <p:cNvSpPr txBox="1"/>
          <p:nvPr/>
        </p:nvSpPr>
        <p:spPr>
          <a:xfrm>
            <a:off x="940159" y="2343258"/>
            <a:ext cx="9788325" cy="3416320"/>
          </a:xfrm>
          <a:prstGeom prst="rect">
            <a:avLst/>
          </a:prstGeom>
          <a:noFill/>
        </p:spPr>
        <p:txBody>
          <a:bodyPr wrap="square" rtlCol="0">
            <a:spAutoFit/>
          </a:bodyPr>
          <a:lstStyle/>
          <a:p>
            <a:pPr marL="342900" indent="-342900">
              <a:buClr>
                <a:srgbClr val="FF0000"/>
              </a:buClr>
              <a:buFont typeface="Wingdings" panose="05000000000000000000" pitchFamily="2" charset="2"/>
              <a:buChar char="q"/>
            </a:pPr>
            <a:r>
              <a:rPr lang="en-US" sz="5400" dirty="0">
                <a:latin typeface="Verdana" panose="020B0604030504040204" pitchFamily="34" charset="0"/>
                <a:ea typeface="Verdana" panose="020B0604030504040204" pitchFamily="34" charset="0"/>
                <a:cs typeface="Verdana" panose="020B0604030504040204" pitchFamily="34" charset="0"/>
              </a:rPr>
              <a:t>Distributed Computing</a:t>
            </a:r>
          </a:p>
          <a:p>
            <a:pPr lvl="1">
              <a:buClr>
                <a:srgbClr val="FF0000"/>
              </a:buClr>
            </a:pPr>
            <a:endParaRPr lang="en-US" sz="5400" dirty="0">
              <a:latin typeface="Verdana" panose="020B0604030504040204" pitchFamily="34" charset="0"/>
              <a:ea typeface="Verdana" panose="020B0604030504040204" pitchFamily="34" charset="0"/>
              <a:cs typeface="Verdana" panose="020B0604030504040204" pitchFamily="34" charset="0"/>
            </a:endParaRPr>
          </a:p>
          <a:p>
            <a:pPr lvl="1">
              <a:buClr>
                <a:srgbClr val="FF0000"/>
              </a:buClr>
            </a:pPr>
            <a:endParaRPr lang="en-US" sz="5400" dirty="0">
              <a:latin typeface="Verdana" panose="020B0604030504040204" pitchFamily="34" charset="0"/>
              <a:ea typeface="Verdana" panose="020B0604030504040204" pitchFamily="34" charset="0"/>
              <a:cs typeface="Verdana" panose="020B0604030504040204" pitchFamily="34" charset="0"/>
            </a:endParaRPr>
          </a:p>
          <a:p>
            <a:pPr marL="342900" indent="-342900">
              <a:buClr>
                <a:srgbClr val="FF0000"/>
              </a:buClr>
              <a:buFont typeface="Wingdings" panose="05000000000000000000" pitchFamily="2" charset="2"/>
              <a:buChar char="q"/>
            </a:pPr>
            <a:endParaRPr lang="en-US" sz="5400" dirty="0">
              <a:latin typeface="Verdana" panose="020B0604030504040204" pitchFamily="34" charset="0"/>
              <a:ea typeface="Verdana" panose="020B0604030504040204" pitchFamily="34" charset="0"/>
              <a:cs typeface="Verdana" panose="020B0604030504040204" pitchFamily="34" charset="0"/>
            </a:endParaRPr>
          </a:p>
        </p:txBody>
      </p:sp>
      <p:sp>
        <p:nvSpPr>
          <p:cNvPr id="3" name="TextBox 2"/>
          <p:cNvSpPr txBox="1"/>
          <p:nvPr/>
        </p:nvSpPr>
        <p:spPr>
          <a:xfrm>
            <a:off x="1893195" y="3281294"/>
            <a:ext cx="2279560" cy="646331"/>
          </a:xfrm>
          <a:prstGeom prst="rect">
            <a:avLst/>
          </a:prstGeom>
          <a:noFill/>
        </p:spPr>
        <p:txBody>
          <a:bodyPr wrap="square" rtlCol="0">
            <a:spAutoFit/>
          </a:bodyPr>
          <a:lstStyle/>
          <a:p>
            <a:pPr marL="285750" indent="-285750">
              <a:buClr>
                <a:schemeClr val="accent1">
                  <a:lumMod val="75000"/>
                </a:schemeClr>
              </a:buClr>
              <a:buFont typeface="Wingdings" panose="05000000000000000000" pitchFamily="2" charset="2"/>
              <a:buChar char="§"/>
            </a:pPr>
            <a:r>
              <a:rPr lang="en-US" dirty="0">
                <a:solidFill>
                  <a:srgbClr val="FF0000"/>
                </a:solidFill>
                <a:latin typeface="Verdana" panose="020B0604030504040204" pitchFamily="34" charset="0"/>
                <a:ea typeface="Verdana" panose="020B0604030504040204" pitchFamily="34" charset="0"/>
                <a:cs typeface="Verdana" panose="020B0604030504040204" pitchFamily="34" charset="0"/>
              </a:rPr>
              <a:t>Mainframes</a:t>
            </a:r>
          </a:p>
          <a:p>
            <a:pPr>
              <a:buClr>
                <a:schemeClr val="accent1">
                  <a:lumMod val="75000"/>
                </a:schemeClr>
              </a:buClr>
            </a:pPr>
            <a:endParaRPr lang="en-US" dirty="0"/>
          </a:p>
        </p:txBody>
      </p:sp>
      <p:sp>
        <p:nvSpPr>
          <p:cNvPr id="4" name="TextBox 3"/>
          <p:cNvSpPr txBox="1"/>
          <p:nvPr/>
        </p:nvSpPr>
        <p:spPr>
          <a:xfrm>
            <a:off x="1873877" y="3799851"/>
            <a:ext cx="2635658" cy="369332"/>
          </a:xfrm>
          <a:prstGeom prst="rect">
            <a:avLst/>
          </a:prstGeom>
          <a:noFill/>
        </p:spPr>
        <p:txBody>
          <a:bodyPr wrap="none" rtlCol="0">
            <a:spAutoFit/>
          </a:bodyPr>
          <a:lstStyle/>
          <a:p>
            <a:pPr marL="285750" indent="-285750">
              <a:buClr>
                <a:schemeClr val="accent1">
                  <a:lumMod val="75000"/>
                </a:schemeClr>
              </a:buClr>
              <a:buFont typeface="Wingdings" panose="05000000000000000000" pitchFamily="2" charset="2"/>
              <a:buChar char="§"/>
            </a:pPr>
            <a:r>
              <a:rPr lang="en-US" dirty="0">
                <a:latin typeface="Verdana" panose="020B0604030504040204" pitchFamily="34" charset="0"/>
                <a:ea typeface="Verdana" panose="020B0604030504040204" pitchFamily="34" charset="0"/>
                <a:cs typeface="Verdana" panose="020B0604030504040204" pitchFamily="34" charset="0"/>
              </a:rPr>
              <a:t>Cluster </a:t>
            </a:r>
            <a:r>
              <a:rPr lang="en-US" dirty="0">
                <a:solidFill>
                  <a:schemeClr val="accent1">
                    <a:lumMod val="75000"/>
                  </a:schemeClr>
                </a:solidFill>
                <a:latin typeface="Verdana" panose="020B0604030504040204" pitchFamily="34" charset="0"/>
                <a:ea typeface="Verdana" panose="020B0604030504040204" pitchFamily="34" charset="0"/>
                <a:cs typeface="Verdana" panose="020B0604030504040204" pitchFamily="34" charset="0"/>
              </a:rPr>
              <a:t>Computing</a:t>
            </a:r>
          </a:p>
        </p:txBody>
      </p:sp>
      <p:sp>
        <p:nvSpPr>
          <p:cNvPr id="52" name="TextBox 51"/>
          <p:cNvSpPr txBox="1"/>
          <p:nvPr/>
        </p:nvSpPr>
        <p:spPr>
          <a:xfrm>
            <a:off x="1870522" y="4290478"/>
            <a:ext cx="2302233" cy="369332"/>
          </a:xfrm>
          <a:prstGeom prst="rect">
            <a:avLst/>
          </a:prstGeom>
          <a:noFill/>
        </p:spPr>
        <p:txBody>
          <a:bodyPr wrap="none" rtlCol="0">
            <a:spAutoFit/>
          </a:bodyPr>
          <a:lstStyle/>
          <a:p>
            <a:pPr marL="285750" indent="-285750">
              <a:buClr>
                <a:schemeClr val="accent1">
                  <a:lumMod val="75000"/>
                </a:schemeClr>
              </a:buClr>
              <a:buFont typeface="Wingdings" panose="05000000000000000000" pitchFamily="2" charset="2"/>
              <a:buChar char="§"/>
            </a:pPr>
            <a:r>
              <a:rPr lang="en-US" dirty="0">
                <a:solidFill>
                  <a:schemeClr val="accent6">
                    <a:lumMod val="50000"/>
                  </a:schemeClr>
                </a:solidFill>
                <a:latin typeface="Verdana" panose="020B0604030504040204" pitchFamily="34" charset="0"/>
                <a:ea typeface="Verdana" panose="020B0604030504040204" pitchFamily="34" charset="0"/>
                <a:cs typeface="Verdana" panose="020B0604030504040204" pitchFamily="34" charset="0"/>
              </a:rPr>
              <a:t>Grid Computing</a:t>
            </a:r>
          </a:p>
        </p:txBody>
      </p:sp>
      <p:sp>
        <p:nvSpPr>
          <p:cNvPr id="53" name="TextBox 52"/>
          <p:cNvSpPr txBox="1"/>
          <p:nvPr/>
        </p:nvSpPr>
        <p:spPr>
          <a:xfrm>
            <a:off x="1870522" y="4748613"/>
            <a:ext cx="2472152" cy="369332"/>
          </a:xfrm>
          <a:prstGeom prst="rect">
            <a:avLst/>
          </a:prstGeom>
          <a:noFill/>
        </p:spPr>
        <p:txBody>
          <a:bodyPr wrap="none" rtlCol="0">
            <a:spAutoFit/>
          </a:bodyPr>
          <a:lstStyle/>
          <a:p>
            <a:pPr marL="285750" indent="-285750">
              <a:buClr>
                <a:schemeClr val="accent1">
                  <a:lumMod val="75000"/>
                </a:schemeClr>
              </a:buClr>
              <a:buFont typeface="Wingdings" panose="05000000000000000000" pitchFamily="2" charset="2"/>
              <a:buChar char="§"/>
            </a:pPr>
            <a:r>
              <a:rPr lang="en-US" dirty="0">
                <a:solidFill>
                  <a:srgbClr val="C00000"/>
                </a:solidFill>
                <a:latin typeface="Verdana" panose="020B0604030504040204" pitchFamily="34" charset="0"/>
                <a:ea typeface="Verdana" panose="020B0604030504040204" pitchFamily="34" charset="0"/>
                <a:cs typeface="Verdana" panose="020B0604030504040204" pitchFamily="34" charset="0"/>
              </a:rPr>
              <a:t>Cloud Computing</a:t>
            </a:r>
          </a:p>
        </p:txBody>
      </p:sp>
      <p:sp>
        <p:nvSpPr>
          <p:cNvPr id="54" name="TextBox 53"/>
          <p:cNvSpPr txBox="1"/>
          <p:nvPr/>
        </p:nvSpPr>
        <p:spPr>
          <a:xfrm>
            <a:off x="1893195" y="5181254"/>
            <a:ext cx="2227661" cy="369332"/>
          </a:xfrm>
          <a:prstGeom prst="rect">
            <a:avLst/>
          </a:prstGeom>
          <a:noFill/>
        </p:spPr>
        <p:txBody>
          <a:bodyPr wrap="none" rtlCol="0">
            <a:spAutoFit/>
          </a:bodyPr>
          <a:lstStyle/>
          <a:p>
            <a:pPr marL="285750" indent="-285750">
              <a:buClr>
                <a:schemeClr val="accent1">
                  <a:lumMod val="75000"/>
                </a:schemeClr>
              </a:buClr>
              <a:buFont typeface="Wingdings" panose="05000000000000000000" pitchFamily="2" charset="2"/>
              <a:buChar char="§"/>
            </a:pPr>
            <a:r>
              <a:rPr lang="en-US" dirty="0">
                <a:latin typeface="Verdana" panose="020B0604030504040204" pitchFamily="34" charset="0"/>
                <a:ea typeface="Verdana" panose="020B0604030504040204" pitchFamily="34" charset="0"/>
                <a:cs typeface="Verdana" panose="020B0604030504040204" pitchFamily="34" charset="0"/>
              </a:rPr>
              <a:t>Fog Computing</a:t>
            </a:r>
          </a:p>
        </p:txBody>
      </p:sp>
      <p:sp>
        <p:nvSpPr>
          <p:cNvPr id="55" name="TextBox 54"/>
          <p:cNvSpPr txBox="1"/>
          <p:nvPr/>
        </p:nvSpPr>
        <p:spPr>
          <a:xfrm>
            <a:off x="1893195" y="5696207"/>
            <a:ext cx="2388795" cy="369332"/>
          </a:xfrm>
          <a:prstGeom prst="rect">
            <a:avLst/>
          </a:prstGeom>
          <a:noFill/>
        </p:spPr>
        <p:txBody>
          <a:bodyPr wrap="none" rtlCol="0">
            <a:spAutoFit/>
          </a:bodyPr>
          <a:lstStyle/>
          <a:p>
            <a:pPr marL="285750" indent="-285750">
              <a:buClr>
                <a:schemeClr val="accent1">
                  <a:lumMod val="75000"/>
                </a:schemeClr>
              </a:buClr>
              <a:buFont typeface="Wingdings" panose="05000000000000000000" pitchFamily="2" charset="2"/>
              <a:buChar char="§"/>
            </a:pPr>
            <a:r>
              <a:rPr lang="en-US" dirty="0">
                <a:latin typeface="Verdana" panose="020B0604030504040204" pitchFamily="34" charset="0"/>
                <a:ea typeface="Verdana" panose="020B0604030504040204" pitchFamily="34" charset="0"/>
                <a:cs typeface="Verdana" panose="020B0604030504040204" pitchFamily="34" charset="0"/>
              </a:rPr>
              <a:t>Edge Computing</a:t>
            </a:r>
          </a:p>
        </p:txBody>
      </p:sp>
      <p:sp>
        <p:nvSpPr>
          <p:cNvPr id="9" name="Slide Number Placeholder 8"/>
          <p:cNvSpPr>
            <a:spLocks noGrp="1"/>
          </p:cNvSpPr>
          <p:nvPr>
            <p:ph type="sldNum" sz="quarter" idx="12"/>
          </p:nvPr>
        </p:nvSpPr>
        <p:spPr/>
        <p:txBody>
          <a:bodyPr/>
          <a:lstStyle/>
          <a:p>
            <a:fld id="{2019AD06-451C-413E-AF31-86503C137FDF}" type="slidenum">
              <a:rPr lang="en-US" smtClean="0"/>
              <a:pPr/>
              <a:t>10</a:t>
            </a:fld>
            <a:endParaRPr lang="en-US"/>
          </a:p>
        </p:txBody>
      </p:sp>
    </p:spTree>
    <p:extLst>
      <p:ext uri="{BB962C8B-B14F-4D97-AF65-F5344CB8AC3E}">
        <p14:creationId xmlns:p14="http://schemas.microsoft.com/office/powerpoint/2010/main" val="1377550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0" grpId="0"/>
      <p:bldP spid="3" grpId="0"/>
      <p:bldP spid="4" grpId="0"/>
      <p:bldP spid="52" grpId="0"/>
      <p:bldP spid="53" grpId="0"/>
      <p:bldP spid="54" grpId="0"/>
      <p:bldP spid="5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4"/>
          <p:cNvSpPr txBox="1">
            <a:spLocks noChangeArrowheads="1"/>
          </p:cNvSpPr>
          <p:nvPr/>
        </p:nvSpPr>
        <p:spPr bwMode="auto">
          <a:xfrm>
            <a:off x="7112000" y="1905001"/>
            <a:ext cx="3860800" cy="366713"/>
          </a:xfrm>
          <a:prstGeom prst="rect">
            <a:avLst/>
          </a:prstGeom>
          <a:noFill/>
          <a:ln w="9525" algn="ctr">
            <a:noFill/>
            <a:miter lim="800000"/>
            <a:headEnd/>
            <a:tailEnd/>
          </a:ln>
        </p:spPr>
        <p:txBody>
          <a:bodyPr>
            <a:spAutoFit/>
          </a:bodyPr>
          <a:lstStyle/>
          <a:p>
            <a:pPr algn="ctr" eaLnBrk="1" hangingPunct="1">
              <a:spcBef>
                <a:spcPct val="50000"/>
              </a:spcBef>
            </a:pPr>
            <a:endParaRPr lang="en-US" altLang="en-US"/>
          </a:p>
        </p:txBody>
      </p:sp>
      <p:sp>
        <p:nvSpPr>
          <p:cNvPr id="14" name="Rectangle 13"/>
          <p:cNvSpPr/>
          <p:nvPr/>
        </p:nvSpPr>
        <p:spPr>
          <a:xfrm>
            <a:off x="0" y="0"/>
            <a:ext cx="12192000" cy="914400"/>
          </a:xfrm>
          <a:prstGeom prst="rect">
            <a:avLst/>
          </a:prstGeom>
          <a:solidFill>
            <a:srgbClr val="E42452">
              <a:alpha val="9411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Times New Roman" pitchFamily="16" charset="0"/>
              <a:buNone/>
              <a:defRPr/>
            </a:pPr>
            <a:r>
              <a:rPr lang="en-US" sz="3600" b="1" dirty="0">
                <a:solidFill>
                  <a:schemeClr val="bg1"/>
                </a:solidFill>
              </a:rPr>
              <a:t>Introduction</a:t>
            </a:r>
          </a:p>
        </p:txBody>
      </p:sp>
      <p:sp>
        <p:nvSpPr>
          <p:cNvPr id="16" name="Rectangle 2"/>
          <p:cNvSpPr txBox="1">
            <a:spLocks noChangeArrowheads="1"/>
          </p:cNvSpPr>
          <p:nvPr/>
        </p:nvSpPr>
        <p:spPr>
          <a:xfrm>
            <a:off x="609600" y="152401"/>
            <a:ext cx="10972800" cy="639763"/>
          </a:xfrm>
          <a:prstGeom prst="rect">
            <a:avLst/>
          </a:prstGeom>
        </p:spPr>
        <p:txBody>
          <a:bodyPr anchor="ctr">
            <a:normAutofit/>
          </a:bodyPr>
          <a:lstStyle/>
          <a:p>
            <a:pPr algn="ctr" eaLnBrk="1" fontAlgn="auto" hangingPunct="1">
              <a:spcAft>
                <a:spcPts val="0"/>
              </a:spcAft>
              <a:defRPr/>
            </a:pPr>
            <a:endParaRPr lang="en-US" sz="2800" dirty="0">
              <a:latin typeface="Tahoma" pitchFamily="34" charset="0"/>
              <a:ea typeface="+mj-ea"/>
              <a:cs typeface="+mj-cs"/>
            </a:endParaRPr>
          </a:p>
        </p:txBody>
      </p:sp>
      <p:sp>
        <p:nvSpPr>
          <p:cNvPr id="11269" name="Title 17"/>
          <p:cNvSpPr>
            <a:spLocks noGrp="1"/>
          </p:cNvSpPr>
          <p:nvPr>
            <p:ph type="title"/>
          </p:nvPr>
        </p:nvSpPr>
        <p:spPr>
          <a:xfrm>
            <a:off x="304800" y="1981200"/>
            <a:ext cx="10972800" cy="1143000"/>
          </a:xfrm>
        </p:spPr>
        <p:txBody>
          <a:bodyPr/>
          <a:lstStyle/>
          <a:p>
            <a:r>
              <a:rPr lang="en-US" altLang="en-US"/>
              <a:t>.</a:t>
            </a:r>
          </a:p>
        </p:txBody>
      </p:sp>
      <p:sp>
        <p:nvSpPr>
          <p:cNvPr id="7" name="TextBox 6"/>
          <p:cNvSpPr txBox="1"/>
          <p:nvPr/>
        </p:nvSpPr>
        <p:spPr>
          <a:xfrm>
            <a:off x="304800" y="990600"/>
            <a:ext cx="11176000" cy="6217087"/>
          </a:xfrm>
          <a:prstGeom prst="rect">
            <a:avLst/>
          </a:prstGeom>
          <a:noFill/>
        </p:spPr>
        <p:txBody>
          <a:bodyPr>
            <a:spAutoFit/>
          </a:bodyPr>
          <a:lstStyle/>
          <a:p>
            <a:pPr algn="ctr" eaLnBrk="1" hangingPunct="1">
              <a:defRPr/>
            </a:pPr>
            <a:endParaRPr lang="en-US" dirty="0"/>
          </a:p>
          <a:p>
            <a:pPr eaLnBrk="1" hangingPunct="1">
              <a:defRPr/>
            </a:pPr>
            <a:r>
              <a:rPr lang="en-US" sz="2000" b="1" dirty="0"/>
              <a:t>Definition - What does Virtualization mean?</a:t>
            </a:r>
          </a:p>
          <a:p>
            <a:pPr eaLnBrk="1" hangingPunct="1">
              <a:defRPr/>
            </a:pPr>
            <a:endParaRPr lang="en-US" sz="2000" b="1" dirty="0"/>
          </a:p>
          <a:p>
            <a:pPr eaLnBrk="1" hangingPunct="1">
              <a:defRPr/>
            </a:pPr>
            <a:r>
              <a:rPr lang="en-US" sz="2800" dirty="0">
                <a:latin typeface="+mn-lt"/>
              </a:rPr>
              <a:t>Virtualization refers to the creation of a virtual resource such as a server, desktop, operating system, file, storage or network.</a:t>
            </a:r>
          </a:p>
          <a:p>
            <a:pPr eaLnBrk="1" hangingPunct="1">
              <a:buFont typeface="Arial" pitchFamily="34" charset="0"/>
              <a:buChar char="•"/>
              <a:defRPr/>
            </a:pPr>
            <a:r>
              <a:rPr lang="en-US" sz="2800" dirty="0">
                <a:latin typeface="+mn-lt"/>
              </a:rPr>
              <a:t>Allows creation of </a:t>
            </a:r>
            <a:r>
              <a:rPr lang="en-US" sz="2800" dirty="0">
                <a:solidFill>
                  <a:srgbClr val="FF0000"/>
                </a:solidFill>
                <a:latin typeface="+mn-lt"/>
              </a:rPr>
              <a:t>secure, customizable </a:t>
            </a:r>
            <a:r>
              <a:rPr lang="en-US" sz="2800" dirty="0">
                <a:latin typeface="+mn-lt"/>
              </a:rPr>
              <a:t>and </a:t>
            </a:r>
            <a:r>
              <a:rPr lang="en-US" sz="2800" dirty="0">
                <a:solidFill>
                  <a:srgbClr val="00B0F0"/>
                </a:solidFill>
                <a:latin typeface="+mn-lt"/>
              </a:rPr>
              <a:t>isolated</a:t>
            </a:r>
            <a:r>
              <a:rPr lang="en-US" sz="2800" dirty="0">
                <a:latin typeface="+mn-lt"/>
              </a:rPr>
              <a:t> execution environment for running applications.</a:t>
            </a:r>
          </a:p>
          <a:p>
            <a:pPr eaLnBrk="1" hangingPunct="1">
              <a:buFont typeface="Arial" pitchFamily="34" charset="0"/>
              <a:buChar char="•"/>
              <a:defRPr/>
            </a:pPr>
            <a:r>
              <a:rPr lang="en-US" sz="2800" dirty="0">
                <a:latin typeface="+mn-lt"/>
              </a:rPr>
              <a:t>Windows or Linux</a:t>
            </a:r>
          </a:p>
          <a:p>
            <a:pPr eaLnBrk="1" hangingPunct="1">
              <a:buFont typeface="Arial" pitchFamily="34" charset="0"/>
              <a:buChar char="•"/>
              <a:defRPr/>
            </a:pPr>
            <a:r>
              <a:rPr lang="en-US" sz="2800" dirty="0">
                <a:latin typeface="+mn-lt"/>
              </a:rPr>
              <a:t>Virtualization provides an </a:t>
            </a:r>
            <a:r>
              <a:rPr lang="en-US" sz="2800" dirty="0">
                <a:solidFill>
                  <a:srgbClr val="00B0F0"/>
                </a:solidFill>
                <a:latin typeface="+mn-lt"/>
              </a:rPr>
              <a:t>abstract environment</a:t>
            </a:r>
            <a:r>
              <a:rPr lang="en-US" sz="2800" dirty="0">
                <a:latin typeface="+mn-lt"/>
              </a:rPr>
              <a:t>.</a:t>
            </a:r>
          </a:p>
          <a:p>
            <a:pPr eaLnBrk="1" hangingPunct="1">
              <a:defRPr/>
            </a:pPr>
            <a:r>
              <a:rPr lang="en-US" sz="2800" dirty="0">
                <a:latin typeface="+mn-lt"/>
              </a:rPr>
              <a:t>Example-Hardware virtualization.</a:t>
            </a:r>
          </a:p>
          <a:p>
            <a:pPr eaLnBrk="1" hangingPunct="1">
              <a:defRPr/>
            </a:pPr>
            <a:r>
              <a:rPr lang="en-US" sz="2800" dirty="0">
                <a:solidFill>
                  <a:srgbClr val="00B050"/>
                </a:solidFill>
                <a:latin typeface="+mn-lt"/>
              </a:rPr>
              <a:t>Programming level</a:t>
            </a:r>
          </a:p>
          <a:p>
            <a:pPr eaLnBrk="1" hangingPunct="1">
              <a:defRPr/>
            </a:pPr>
            <a:r>
              <a:rPr lang="en-US" sz="2800" dirty="0">
                <a:solidFill>
                  <a:srgbClr val="00B050"/>
                </a:solidFill>
                <a:latin typeface="+mn-lt"/>
              </a:rPr>
              <a:t>Application level</a:t>
            </a:r>
          </a:p>
          <a:p>
            <a:pPr eaLnBrk="1" hangingPunct="1">
              <a:defRPr/>
            </a:pPr>
            <a:r>
              <a:rPr lang="en-US" sz="2800" dirty="0">
                <a:solidFill>
                  <a:srgbClr val="00B050"/>
                </a:solidFill>
                <a:latin typeface="+mn-lt"/>
              </a:rPr>
              <a:t>Operating system level</a:t>
            </a:r>
          </a:p>
          <a:p>
            <a:pPr eaLnBrk="1" hangingPunct="1">
              <a:defRPr/>
            </a:pPr>
            <a:endParaRPr lang="en-US" sz="2000" dirty="0"/>
          </a:p>
          <a:p>
            <a:pPr eaLnBrk="1" hangingPunct="1">
              <a:defRPr/>
            </a:pPr>
            <a:r>
              <a:rPr lang="en-US" sz="2000" dirty="0"/>
              <a:t> </a:t>
            </a:r>
            <a:br>
              <a:rPr lang="en-US" sz="2000" dirty="0"/>
            </a:b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r>
              <a:rPr lang="en-US" altLang="en-US"/>
              <a:t>.</a:t>
            </a:r>
          </a:p>
        </p:txBody>
      </p:sp>
      <p:sp>
        <p:nvSpPr>
          <p:cNvPr id="4" name="Rectangle 3"/>
          <p:cNvSpPr/>
          <p:nvPr/>
        </p:nvSpPr>
        <p:spPr>
          <a:xfrm>
            <a:off x="0" y="0"/>
            <a:ext cx="12192000" cy="914400"/>
          </a:xfrm>
          <a:prstGeom prst="rect">
            <a:avLst/>
          </a:prstGeom>
          <a:solidFill>
            <a:srgbClr val="E42452">
              <a:alpha val="9411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Times New Roman" pitchFamily="16" charset="0"/>
              <a:buNone/>
              <a:defRPr/>
            </a:pPr>
            <a:r>
              <a:rPr lang="en-US" sz="3600" dirty="0"/>
              <a:t>Taxonomy of Virtualization Techniques</a:t>
            </a:r>
            <a:endParaRPr lang="en-US" sz="3600" b="1" dirty="0">
              <a:solidFill>
                <a:schemeClr val="bg1"/>
              </a:solidFill>
            </a:endParaRPr>
          </a:p>
        </p:txBody>
      </p:sp>
      <p:sp>
        <p:nvSpPr>
          <p:cNvPr id="32772" name="AutoShape 2" descr="http://image.slidesharecdn.com/virtualizationfinal-140301120900-phpapp02/95/introduction-to-virtualization-19-638.jpg?cb=1393697478"/>
          <p:cNvSpPr>
            <a:spLocks noGrp="1" noChangeAspect="1" noChangeArrowheads="1"/>
          </p:cNvSpPr>
          <p:nvPr>
            <p:ph idx="1"/>
          </p:nvPr>
        </p:nvSpPr>
        <p:spPr>
          <a:xfrm>
            <a:off x="406400" y="1143000"/>
            <a:ext cx="10972800" cy="5410200"/>
          </a:xfrm>
        </p:spPr>
        <p:txBody>
          <a:bodyPr/>
          <a:lstStyle/>
          <a:p>
            <a:r>
              <a:rPr lang="en-US" altLang="en-US"/>
              <a:t>Virtualization is mainly used to emulate execution environment , storage and networks. </a:t>
            </a:r>
          </a:p>
          <a:p>
            <a:r>
              <a:rPr lang="en-US" altLang="en-US"/>
              <a:t>Execution Environment classified into two :</a:t>
            </a:r>
          </a:p>
          <a:p>
            <a:pPr>
              <a:buFont typeface="Arial" pitchFamily="34" charset="0"/>
              <a:buNone/>
            </a:pPr>
            <a:r>
              <a:rPr lang="en-US" altLang="en-US"/>
              <a:t>	– Process-level – implemented on top of an existing operating system. </a:t>
            </a:r>
          </a:p>
          <a:p>
            <a:pPr>
              <a:buFont typeface="Arial" pitchFamily="34" charset="0"/>
              <a:buNone/>
            </a:pPr>
            <a:r>
              <a:rPr lang="en-US" altLang="en-US"/>
              <a:t>	– System-level – implemented directly on hardware and do not or minimum requirement of existing operating system</a:t>
            </a:r>
          </a:p>
        </p:txBody>
      </p:sp>
      <p:sp>
        <p:nvSpPr>
          <p:cNvPr id="32773" name="AutoShape 4" descr="http://image.slidesharecdn.com/virtualizationfinal-140301120900-phpapp02/95/introduction-to-virtualization-19-638.jpg?cb=1393697478"/>
          <p:cNvSpPr>
            <a:spLocks noChangeAspect="1" noChangeArrowheads="1"/>
          </p:cNvSpPr>
          <p:nvPr/>
        </p:nvSpPr>
        <p:spPr bwMode="auto">
          <a:xfrm>
            <a:off x="5998633" y="-144463"/>
            <a:ext cx="406400" cy="304801"/>
          </a:xfrm>
          <a:prstGeom prst="rect">
            <a:avLst/>
          </a:prstGeom>
          <a:noFill/>
          <a:ln w="9525">
            <a:noFill/>
            <a:miter lim="800000"/>
            <a:headEnd/>
            <a:tailEnd/>
          </a:ln>
        </p:spPr>
        <p:txBody>
          <a:bodyPr/>
          <a:lstStyle/>
          <a:p>
            <a:pPr algn="ctr" eaLnBrk="1" hangingPunct="1"/>
            <a:endParaRPr lang="en-US"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r>
              <a:rPr lang="en-US" altLang="en-US"/>
              <a:t>.</a:t>
            </a:r>
          </a:p>
        </p:txBody>
      </p:sp>
      <p:sp>
        <p:nvSpPr>
          <p:cNvPr id="37891" name="Content Placeholder 2"/>
          <p:cNvSpPr>
            <a:spLocks noGrp="1"/>
          </p:cNvSpPr>
          <p:nvPr>
            <p:ph idx="1"/>
          </p:nvPr>
        </p:nvSpPr>
        <p:spPr>
          <a:xfrm>
            <a:off x="406400" y="1143000"/>
            <a:ext cx="10972800" cy="5410200"/>
          </a:xfrm>
        </p:spPr>
        <p:txBody>
          <a:bodyPr/>
          <a:lstStyle/>
          <a:p>
            <a:pPr>
              <a:buFont typeface="Arial" pitchFamily="34" charset="0"/>
              <a:buNone/>
            </a:pPr>
            <a:r>
              <a:rPr lang="en-US" altLang="en-US"/>
              <a:t>	It defines the </a:t>
            </a:r>
            <a:r>
              <a:rPr lang="en-US" altLang="en-US">
                <a:solidFill>
                  <a:srgbClr val="7030A0"/>
                </a:solidFill>
              </a:rPr>
              <a:t>interfaces between the levels of abstractions</a:t>
            </a:r>
            <a:r>
              <a:rPr lang="en-US" altLang="en-US"/>
              <a:t>, which </a:t>
            </a:r>
            <a:r>
              <a:rPr lang="en-US" altLang="en-US">
                <a:solidFill>
                  <a:srgbClr val="7030A0"/>
                </a:solidFill>
              </a:rPr>
              <a:t>hide implementation details.</a:t>
            </a:r>
          </a:p>
          <a:p>
            <a:pPr>
              <a:buFont typeface="Arial" pitchFamily="34" charset="0"/>
              <a:buNone/>
            </a:pPr>
            <a:r>
              <a:rPr lang="en-US" altLang="en-US"/>
              <a:t>	 Virtualization techniques actually </a:t>
            </a:r>
            <a:r>
              <a:rPr lang="en-US" altLang="en-US">
                <a:solidFill>
                  <a:srgbClr val="7030A0"/>
                </a:solidFill>
              </a:rPr>
              <a:t>replace one of the layers </a:t>
            </a:r>
            <a:r>
              <a:rPr lang="en-US" altLang="en-US"/>
              <a:t>and intercept the calls that are directed towards it.</a:t>
            </a:r>
          </a:p>
        </p:txBody>
      </p:sp>
      <p:sp>
        <p:nvSpPr>
          <p:cNvPr id="4" name="Rectangle 3"/>
          <p:cNvSpPr/>
          <p:nvPr/>
        </p:nvSpPr>
        <p:spPr>
          <a:xfrm>
            <a:off x="0" y="0"/>
            <a:ext cx="12192000" cy="914400"/>
          </a:xfrm>
          <a:prstGeom prst="rect">
            <a:avLst/>
          </a:prstGeom>
          <a:solidFill>
            <a:srgbClr val="E42452">
              <a:alpha val="9411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Times New Roman" pitchFamily="16" charset="0"/>
              <a:buNone/>
              <a:defRPr/>
            </a:pPr>
            <a:r>
              <a:rPr lang="en-US" sz="3600" dirty="0"/>
              <a:t>Machine Reference Model</a:t>
            </a:r>
            <a:endParaRPr lang="en-US" sz="3600" b="1" dirty="0">
              <a:solidFill>
                <a:schemeClr val="bg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a:lstStyle/>
          <a:p>
            <a:r>
              <a:rPr lang="en-US" altLang="en-US"/>
              <a:t>.</a:t>
            </a:r>
          </a:p>
        </p:txBody>
      </p:sp>
      <p:sp>
        <p:nvSpPr>
          <p:cNvPr id="38915" name="Content Placeholder 2"/>
          <p:cNvSpPr>
            <a:spLocks noGrp="1"/>
          </p:cNvSpPr>
          <p:nvPr>
            <p:ph idx="1"/>
          </p:nvPr>
        </p:nvSpPr>
        <p:spPr>
          <a:xfrm>
            <a:off x="406400" y="1143000"/>
            <a:ext cx="10972800" cy="5410200"/>
          </a:xfrm>
        </p:spPr>
        <p:txBody>
          <a:bodyPr/>
          <a:lstStyle/>
          <a:p>
            <a:pPr>
              <a:buFont typeface="Arial" pitchFamily="34" charset="0"/>
              <a:buNone/>
            </a:pPr>
            <a:r>
              <a:rPr lang="en-US" altLang="en-US"/>
              <a:t>	</a:t>
            </a:r>
          </a:p>
        </p:txBody>
      </p:sp>
      <p:sp>
        <p:nvSpPr>
          <p:cNvPr id="4" name="Rectangle 3"/>
          <p:cNvSpPr/>
          <p:nvPr/>
        </p:nvSpPr>
        <p:spPr>
          <a:xfrm>
            <a:off x="0" y="0"/>
            <a:ext cx="12192000" cy="914400"/>
          </a:xfrm>
          <a:prstGeom prst="rect">
            <a:avLst/>
          </a:prstGeom>
          <a:solidFill>
            <a:srgbClr val="E42452">
              <a:alpha val="9411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Times New Roman" pitchFamily="16" charset="0"/>
              <a:buNone/>
              <a:defRPr/>
            </a:pPr>
            <a:r>
              <a:rPr lang="en-US" sz="3600" dirty="0"/>
              <a:t>Machine Reference Model</a:t>
            </a:r>
            <a:endParaRPr lang="en-US" sz="3600" b="1" dirty="0">
              <a:solidFill>
                <a:schemeClr val="bg1"/>
              </a:solidFill>
            </a:endParaRPr>
          </a:p>
        </p:txBody>
      </p:sp>
      <p:grpSp>
        <p:nvGrpSpPr>
          <p:cNvPr id="2" name="Group 33"/>
          <p:cNvGrpSpPr>
            <a:grpSpLocks/>
          </p:cNvGrpSpPr>
          <p:nvPr/>
        </p:nvGrpSpPr>
        <p:grpSpPr bwMode="auto">
          <a:xfrm>
            <a:off x="508000" y="1143000"/>
            <a:ext cx="11074400" cy="5334000"/>
            <a:chOff x="733331" y="1421394"/>
            <a:chExt cx="5911913" cy="2489703"/>
          </a:xfrm>
        </p:grpSpPr>
        <p:sp>
          <p:nvSpPr>
            <p:cNvPr id="35" name="Rectangle 34"/>
            <p:cNvSpPr/>
            <p:nvPr/>
          </p:nvSpPr>
          <p:spPr>
            <a:xfrm>
              <a:off x="733331" y="1421394"/>
              <a:ext cx="5911913" cy="248970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600" b="1"/>
            </a:p>
          </p:txBody>
        </p:sp>
        <p:grpSp>
          <p:nvGrpSpPr>
            <p:cNvPr id="3" name="Group 39"/>
            <p:cNvGrpSpPr>
              <a:grpSpLocks/>
            </p:cNvGrpSpPr>
            <p:nvPr/>
          </p:nvGrpSpPr>
          <p:grpSpPr bwMode="auto">
            <a:xfrm>
              <a:off x="845197" y="1556994"/>
              <a:ext cx="2767254" cy="2256293"/>
              <a:chOff x="845197" y="1556994"/>
              <a:chExt cx="2767254" cy="2256293"/>
            </a:xfrm>
          </p:grpSpPr>
          <p:sp>
            <p:nvSpPr>
              <p:cNvPr id="52" name="L-Shape 3"/>
              <p:cNvSpPr/>
              <p:nvPr/>
            </p:nvSpPr>
            <p:spPr>
              <a:xfrm rot="10800000">
                <a:off x="1665543" y="1556994"/>
                <a:ext cx="1711878" cy="841757"/>
              </a:xfrm>
              <a:prstGeom prst="corner">
                <a:avLst>
                  <a:gd name="adj1" fmla="val 49702"/>
                  <a:gd name="adj2" fmla="val 44286"/>
                </a:avLst>
              </a:prstGeom>
              <a:solidFill>
                <a:srgbClr val="FFFFFF"/>
              </a:solidFill>
              <a:ln w="9525">
                <a:solidFill>
                  <a:srgbClr val="00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600" b="1" dirty="0"/>
              </a:p>
            </p:txBody>
          </p:sp>
          <p:sp>
            <p:nvSpPr>
              <p:cNvPr id="53" name="Rectangle 4"/>
              <p:cNvSpPr/>
              <p:nvPr/>
            </p:nvSpPr>
            <p:spPr>
              <a:xfrm>
                <a:off x="1665543" y="2109026"/>
                <a:ext cx="1186451" cy="280833"/>
              </a:xfrm>
              <a:prstGeom prst="rect">
                <a:avLst/>
              </a:prstGeom>
              <a:solidFill>
                <a:srgbClr val="FFFFFF"/>
              </a:solidFill>
              <a:ln w="12700">
                <a:solidFill>
                  <a:srgbClr val="00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600" b="1" dirty="0">
                    <a:solidFill>
                      <a:srgbClr val="172B1E"/>
                    </a:solidFill>
                  </a:rPr>
                  <a:t>Libraries</a:t>
                </a:r>
              </a:p>
            </p:txBody>
          </p:sp>
          <p:cxnSp>
            <p:nvCxnSpPr>
              <p:cNvPr id="54" name="Elbow Connector 53"/>
              <p:cNvCxnSpPr/>
              <p:nvPr/>
            </p:nvCxnSpPr>
            <p:spPr>
              <a:xfrm>
                <a:off x="1448592" y="2046043"/>
                <a:ext cx="2163859" cy="425324"/>
              </a:xfrm>
              <a:prstGeom prst="bentConnector3">
                <a:avLst>
                  <a:gd name="adj1" fmla="val 68410"/>
                </a:avLst>
              </a:prstGeom>
              <a:ln>
                <a:solidFill>
                  <a:srgbClr val="000000"/>
                </a:solidFill>
                <a:prstDash val="dash"/>
              </a:ln>
            </p:spPr>
            <p:style>
              <a:lnRef idx="1">
                <a:schemeClr val="accent1"/>
              </a:lnRef>
              <a:fillRef idx="0">
                <a:schemeClr val="accent1"/>
              </a:fillRef>
              <a:effectRef idx="0">
                <a:schemeClr val="accent1"/>
              </a:effectRef>
              <a:fontRef idx="minor">
                <a:schemeClr val="tx1"/>
              </a:fontRef>
            </p:style>
          </p:cxnSp>
          <p:sp>
            <p:nvSpPr>
              <p:cNvPr id="55" name="Rounded Rectangle 54"/>
              <p:cNvSpPr/>
              <p:nvPr/>
            </p:nvSpPr>
            <p:spPr>
              <a:xfrm>
                <a:off x="845197" y="1931932"/>
                <a:ext cx="531078" cy="228223"/>
              </a:xfrm>
              <a:prstGeom prst="roundRect">
                <a:avLst/>
              </a:prstGeom>
              <a:solidFill>
                <a:srgbClr val="FFFFFF"/>
              </a:solidFill>
              <a:ln w="12700">
                <a:solidFill>
                  <a:srgbClr val="00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eaLnBrk="1" hangingPunct="1">
                  <a:defRPr/>
                </a:pPr>
                <a:r>
                  <a:rPr lang="en-US" sz="1600" b="1" dirty="0">
                    <a:solidFill>
                      <a:srgbClr val="000000"/>
                    </a:solidFill>
                  </a:rPr>
                  <a:t>API</a:t>
                </a:r>
              </a:p>
            </p:txBody>
          </p:sp>
          <p:cxnSp>
            <p:nvCxnSpPr>
              <p:cNvPr id="56" name="Straight Connector 55"/>
              <p:cNvCxnSpPr/>
              <p:nvPr/>
            </p:nvCxnSpPr>
            <p:spPr>
              <a:xfrm flipH="1">
                <a:off x="1439552" y="2543984"/>
                <a:ext cx="2163859" cy="0"/>
              </a:xfrm>
              <a:prstGeom prst="line">
                <a:avLst/>
              </a:prstGeom>
              <a:ln>
                <a:solidFill>
                  <a:srgbClr val="000000"/>
                </a:solidFill>
                <a:prstDash val="dash"/>
              </a:ln>
            </p:spPr>
            <p:style>
              <a:lnRef idx="1">
                <a:schemeClr val="accent1"/>
              </a:lnRef>
              <a:fillRef idx="0">
                <a:schemeClr val="accent1"/>
              </a:fillRef>
              <a:effectRef idx="0">
                <a:schemeClr val="accent1"/>
              </a:effectRef>
              <a:fontRef idx="minor">
                <a:schemeClr val="tx1"/>
              </a:fontRef>
            </p:style>
          </p:cxnSp>
          <p:sp>
            <p:nvSpPr>
              <p:cNvPr id="57" name="Rounded Rectangle 56"/>
              <p:cNvSpPr/>
              <p:nvPr/>
            </p:nvSpPr>
            <p:spPr>
              <a:xfrm>
                <a:off x="845197" y="2429872"/>
                <a:ext cx="531078" cy="228223"/>
              </a:xfrm>
              <a:prstGeom prst="roundRect">
                <a:avLst/>
              </a:prstGeom>
              <a:solidFill>
                <a:srgbClr val="FFFFFF"/>
              </a:solidFill>
              <a:ln w="12700">
                <a:solidFill>
                  <a:srgbClr val="00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eaLnBrk="1" hangingPunct="1">
                  <a:defRPr/>
                </a:pPr>
                <a:r>
                  <a:rPr lang="en-US" sz="1600" b="1" dirty="0">
                    <a:solidFill>
                      <a:srgbClr val="000000"/>
                    </a:solidFill>
                  </a:rPr>
                  <a:t>ABI</a:t>
                </a:r>
              </a:p>
            </p:txBody>
          </p:sp>
          <p:sp>
            <p:nvSpPr>
              <p:cNvPr id="58" name="Rectangle 57"/>
              <p:cNvSpPr/>
              <p:nvPr/>
            </p:nvSpPr>
            <p:spPr>
              <a:xfrm>
                <a:off x="1665543" y="3341281"/>
                <a:ext cx="1711878" cy="472006"/>
              </a:xfrm>
              <a:prstGeom prst="rect">
                <a:avLst/>
              </a:prstGeom>
              <a:solidFill>
                <a:srgbClr val="FFFFFF"/>
              </a:solidFill>
              <a:ln w="12700">
                <a:solidFill>
                  <a:srgbClr val="00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440" anchor="ctr"/>
              <a:lstStyle/>
              <a:p>
                <a:pPr indent="-285750" algn="ctr" eaLnBrk="1" hangingPunct="1">
                  <a:spcBef>
                    <a:spcPct val="20000"/>
                  </a:spcBef>
                  <a:buClr>
                    <a:schemeClr val="accent2"/>
                  </a:buClr>
                  <a:buSzPct val="60000"/>
                  <a:buFont typeface="Wingdings" pitchFamily="2" charset="2"/>
                  <a:buNone/>
                  <a:defRPr/>
                </a:pPr>
                <a:r>
                  <a:rPr lang="en-US" sz="1600" b="1" dirty="0">
                    <a:solidFill>
                      <a:schemeClr val="tx1">
                        <a:lumMod val="95000"/>
                        <a:lumOff val="5000"/>
                      </a:schemeClr>
                    </a:solidFill>
                  </a:rPr>
                  <a:t>Hardware</a:t>
                </a:r>
              </a:p>
            </p:txBody>
          </p:sp>
          <p:sp>
            <p:nvSpPr>
              <p:cNvPr id="59" name="Rectangle 58"/>
              <p:cNvSpPr/>
              <p:nvPr/>
            </p:nvSpPr>
            <p:spPr>
              <a:xfrm>
                <a:off x="1665543" y="2658095"/>
                <a:ext cx="1711878" cy="472006"/>
              </a:xfrm>
              <a:prstGeom prst="rect">
                <a:avLst/>
              </a:prstGeom>
              <a:solidFill>
                <a:srgbClr val="FFFFFF"/>
              </a:solidFill>
              <a:ln w="12700">
                <a:solidFill>
                  <a:srgbClr val="00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600" b="1" dirty="0">
                    <a:solidFill>
                      <a:schemeClr val="accent2">
                        <a:lumMod val="50000"/>
                      </a:schemeClr>
                    </a:solidFill>
                  </a:rPr>
                  <a:t>Operative System</a:t>
                </a:r>
              </a:p>
            </p:txBody>
          </p:sp>
          <p:cxnSp>
            <p:nvCxnSpPr>
              <p:cNvPr id="60" name="Straight Connector 59"/>
              <p:cNvCxnSpPr/>
              <p:nvPr/>
            </p:nvCxnSpPr>
            <p:spPr>
              <a:xfrm flipH="1">
                <a:off x="1448592" y="3242730"/>
                <a:ext cx="2163859" cy="0"/>
              </a:xfrm>
              <a:prstGeom prst="line">
                <a:avLst/>
              </a:prstGeom>
              <a:ln>
                <a:solidFill>
                  <a:srgbClr val="000000"/>
                </a:solidFill>
                <a:prstDash val="dash"/>
              </a:ln>
            </p:spPr>
            <p:style>
              <a:lnRef idx="1">
                <a:schemeClr val="accent1"/>
              </a:lnRef>
              <a:fillRef idx="0">
                <a:schemeClr val="accent1"/>
              </a:fillRef>
              <a:effectRef idx="0">
                <a:schemeClr val="accent1"/>
              </a:effectRef>
              <a:fontRef idx="minor">
                <a:schemeClr val="tx1"/>
              </a:fontRef>
            </p:style>
          </p:cxnSp>
          <p:sp>
            <p:nvSpPr>
              <p:cNvPr id="61" name="Rounded Rectangle 60"/>
              <p:cNvSpPr/>
              <p:nvPr/>
            </p:nvSpPr>
            <p:spPr>
              <a:xfrm>
                <a:off x="854236" y="3128619"/>
                <a:ext cx="531078" cy="228223"/>
              </a:xfrm>
              <a:prstGeom prst="roundRect">
                <a:avLst/>
              </a:prstGeom>
              <a:solidFill>
                <a:srgbClr val="FFFFFF"/>
              </a:solidFill>
              <a:ln w="12700">
                <a:solidFill>
                  <a:srgbClr val="00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eaLnBrk="1" hangingPunct="1">
                  <a:defRPr/>
                </a:pPr>
                <a:r>
                  <a:rPr lang="en-US" sz="1600" b="1" dirty="0">
                    <a:solidFill>
                      <a:srgbClr val="000000"/>
                    </a:solidFill>
                  </a:rPr>
                  <a:t>ISA</a:t>
                </a:r>
              </a:p>
            </p:txBody>
          </p:sp>
          <p:sp>
            <p:nvSpPr>
              <p:cNvPr id="62" name="TextBox 61"/>
              <p:cNvSpPr txBox="1"/>
              <p:nvPr/>
            </p:nvSpPr>
            <p:spPr>
              <a:xfrm>
                <a:off x="2092665" y="1632575"/>
                <a:ext cx="660837" cy="158024"/>
              </a:xfrm>
              <a:prstGeom prst="rect">
                <a:avLst/>
              </a:prstGeom>
              <a:noFill/>
            </p:spPr>
            <p:txBody>
              <a:bodyPr wrap="none">
                <a:spAutoFit/>
              </a:bodyPr>
              <a:lstStyle/>
              <a:p>
                <a:pPr algn="ctr" eaLnBrk="1" hangingPunct="1">
                  <a:defRPr/>
                </a:pPr>
                <a:r>
                  <a:rPr lang="en-US" sz="1600" b="1" dirty="0">
                    <a:solidFill>
                      <a:schemeClr val="tx2">
                        <a:lumMod val="50000"/>
                      </a:schemeClr>
                    </a:solidFill>
                  </a:rPr>
                  <a:t>Applications</a:t>
                </a:r>
              </a:p>
            </p:txBody>
          </p:sp>
        </p:grpSp>
        <p:grpSp>
          <p:nvGrpSpPr>
            <p:cNvPr id="5" name="Group 40"/>
            <p:cNvGrpSpPr>
              <a:grpSpLocks/>
            </p:cNvGrpSpPr>
            <p:nvPr/>
          </p:nvGrpSpPr>
          <p:grpSpPr bwMode="auto">
            <a:xfrm>
              <a:off x="4036183" y="1556994"/>
              <a:ext cx="2355951" cy="2160707"/>
              <a:chOff x="4036183" y="1556994"/>
              <a:chExt cx="2355951" cy="2160707"/>
            </a:xfrm>
          </p:grpSpPr>
          <p:sp>
            <p:nvSpPr>
              <p:cNvPr id="38" name="Rectangle 37"/>
              <p:cNvSpPr/>
              <p:nvPr/>
            </p:nvSpPr>
            <p:spPr>
              <a:xfrm>
                <a:off x="4036183" y="2733676"/>
                <a:ext cx="1277976" cy="280832"/>
              </a:xfrm>
              <a:prstGeom prst="rect">
                <a:avLst/>
              </a:prstGeom>
              <a:solidFill>
                <a:srgbClr val="FFFFFF"/>
              </a:solidFill>
              <a:ln w="12700">
                <a:solidFill>
                  <a:srgbClr val="00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600" b="1" dirty="0">
                    <a:solidFill>
                      <a:schemeClr val="accent2">
                        <a:lumMod val="50000"/>
                      </a:schemeClr>
                    </a:solidFill>
                  </a:rPr>
                  <a:t>Operative System</a:t>
                </a:r>
              </a:p>
            </p:txBody>
          </p:sp>
          <p:sp>
            <p:nvSpPr>
              <p:cNvPr id="39" name="Rectangle 38"/>
              <p:cNvSpPr/>
              <p:nvPr/>
            </p:nvSpPr>
            <p:spPr>
              <a:xfrm>
                <a:off x="4036183" y="3436868"/>
                <a:ext cx="2355951" cy="280833"/>
              </a:xfrm>
              <a:prstGeom prst="rect">
                <a:avLst/>
              </a:prstGeom>
              <a:solidFill>
                <a:srgbClr val="FFFFFF"/>
              </a:solidFill>
              <a:ln w="12700">
                <a:solidFill>
                  <a:srgbClr val="00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indent="-285750" algn="ctr" eaLnBrk="1" hangingPunct="1">
                  <a:spcBef>
                    <a:spcPct val="20000"/>
                  </a:spcBef>
                  <a:buClr>
                    <a:schemeClr val="accent2"/>
                  </a:buClr>
                  <a:buSzPct val="60000"/>
                  <a:buFont typeface="Wingdings" pitchFamily="2" charset="2"/>
                  <a:buNone/>
                  <a:defRPr/>
                </a:pPr>
                <a:r>
                  <a:rPr lang="en-US" sz="1600" b="1" dirty="0">
                    <a:solidFill>
                      <a:schemeClr val="tx1">
                        <a:lumMod val="95000"/>
                        <a:lumOff val="5000"/>
                      </a:schemeClr>
                    </a:solidFill>
                  </a:rPr>
                  <a:t>Hardware</a:t>
                </a:r>
              </a:p>
            </p:txBody>
          </p:sp>
          <p:sp>
            <p:nvSpPr>
              <p:cNvPr id="40" name="Rectangle 39"/>
              <p:cNvSpPr/>
              <p:nvPr/>
            </p:nvSpPr>
            <p:spPr>
              <a:xfrm>
                <a:off x="4036183" y="2109027"/>
                <a:ext cx="1722048" cy="280833"/>
              </a:xfrm>
              <a:prstGeom prst="rect">
                <a:avLst/>
              </a:prstGeom>
              <a:solidFill>
                <a:srgbClr val="FFFFFF"/>
              </a:solidFill>
              <a:ln w="12700">
                <a:solidFill>
                  <a:srgbClr val="00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600" b="1" dirty="0">
                    <a:solidFill>
                      <a:srgbClr val="172B1E"/>
                    </a:solidFill>
                  </a:rPr>
                  <a:t>Libraries</a:t>
                </a:r>
              </a:p>
            </p:txBody>
          </p:sp>
          <p:sp>
            <p:nvSpPr>
              <p:cNvPr id="41" name="Rectangle 40"/>
              <p:cNvSpPr/>
              <p:nvPr/>
            </p:nvSpPr>
            <p:spPr>
              <a:xfrm>
                <a:off x="4036183" y="1556994"/>
                <a:ext cx="2355951" cy="280832"/>
              </a:xfrm>
              <a:prstGeom prst="rect">
                <a:avLst/>
              </a:prstGeom>
              <a:solidFill>
                <a:srgbClr val="FFFFFF"/>
              </a:solidFill>
              <a:ln w="9525">
                <a:solidFill>
                  <a:srgbClr val="00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600" b="1" dirty="0">
                    <a:solidFill>
                      <a:srgbClr val="002060"/>
                    </a:solidFill>
                  </a:rPr>
                  <a:t>Applications</a:t>
                </a:r>
              </a:p>
            </p:txBody>
          </p:sp>
          <p:sp>
            <p:nvSpPr>
              <p:cNvPr id="42" name="AutoShape 71"/>
              <p:cNvSpPr>
                <a:spLocks noChangeArrowheads="1"/>
              </p:cNvSpPr>
              <p:nvPr/>
            </p:nvSpPr>
            <p:spPr bwMode="auto">
              <a:xfrm>
                <a:off x="4490424" y="3050816"/>
                <a:ext cx="143504" cy="342334"/>
              </a:xfrm>
              <a:prstGeom prst="downArrow">
                <a:avLst>
                  <a:gd name="adj1" fmla="val 50000"/>
                  <a:gd name="adj2" fmla="val 58333"/>
                </a:avLst>
              </a:prstGeom>
              <a:gradFill flip="none" rotWithShape="1">
                <a:gsLst>
                  <a:gs pos="0">
                    <a:srgbClr val="FFFA8F"/>
                  </a:gs>
                  <a:gs pos="30000">
                    <a:srgbClr val="FAE75C"/>
                  </a:gs>
                  <a:gs pos="70000">
                    <a:srgbClr val="FFC000"/>
                  </a:gs>
                  <a:gs pos="100000">
                    <a:srgbClr val="F2B800"/>
                  </a:gs>
                </a:gsLst>
                <a:lin ang="5400000" scaled="1"/>
                <a:tileRect/>
              </a:gradFill>
              <a:ln w="12700">
                <a:solidFill>
                  <a:srgbClr val="D6A3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600" b="1"/>
              </a:p>
            </p:txBody>
          </p:sp>
          <p:sp>
            <p:nvSpPr>
              <p:cNvPr id="43" name="AutoShape 71"/>
              <p:cNvSpPr>
                <a:spLocks noChangeArrowheads="1"/>
              </p:cNvSpPr>
              <p:nvPr/>
            </p:nvSpPr>
            <p:spPr bwMode="auto">
              <a:xfrm>
                <a:off x="4480254" y="2435059"/>
                <a:ext cx="142374" cy="259344"/>
              </a:xfrm>
              <a:prstGeom prst="downArrow">
                <a:avLst>
                  <a:gd name="adj1" fmla="val 50000"/>
                  <a:gd name="adj2" fmla="val 58333"/>
                </a:avLst>
              </a:prstGeom>
              <a:gradFill flip="none" rotWithShape="1">
                <a:gsLst>
                  <a:gs pos="0">
                    <a:srgbClr val="FFFA8F"/>
                  </a:gs>
                  <a:gs pos="30000">
                    <a:srgbClr val="FAE75C"/>
                  </a:gs>
                  <a:gs pos="70000">
                    <a:srgbClr val="FFC000"/>
                  </a:gs>
                  <a:gs pos="100000">
                    <a:srgbClr val="F2B800"/>
                  </a:gs>
                </a:gsLst>
                <a:lin ang="5400000" scaled="1"/>
                <a:tileRect/>
              </a:gradFill>
              <a:ln w="12700">
                <a:solidFill>
                  <a:srgbClr val="D6A3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600" b="1"/>
              </a:p>
            </p:txBody>
          </p:sp>
          <p:sp>
            <p:nvSpPr>
              <p:cNvPr id="44" name="AutoShape 71"/>
              <p:cNvSpPr>
                <a:spLocks noChangeArrowheads="1"/>
              </p:cNvSpPr>
              <p:nvPr/>
            </p:nvSpPr>
            <p:spPr bwMode="auto">
              <a:xfrm>
                <a:off x="4480254" y="1877099"/>
                <a:ext cx="142374" cy="195620"/>
              </a:xfrm>
              <a:prstGeom prst="downArrow">
                <a:avLst>
                  <a:gd name="adj1" fmla="val 50000"/>
                  <a:gd name="adj2" fmla="val 58333"/>
                </a:avLst>
              </a:prstGeom>
              <a:gradFill flip="none" rotWithShape="1">
                <a:gsLst>
                  <a:gs pos="0">
                    <a:srgbClr val="FFFA8F"/>
                  </a:gs>
                  <a:gs pos="30000">
                    <a:srgbClr val="FAE75C"/>
                  </a:gs>
                  <a:gs pos="70000">
                    <a:srgbClr val="FFC000"/>
                  </a:gs>
                  <a:gs pos="100000">
                    <a:srgbClr val="F2B800"/>
                  </a:gs>
                </a:gsLst>
                <a:lin ang="5400000" scaled="1"/>
                <a:tileRect/>
              </a:gradFill>
              <a:ln w="12700">
                <a:solidFill>
                  <a:srgbClr val="D6A3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600" b="1"/>
              </a:p>
            </p:txBody>
          </p:sp>
          <p:sp>
            <p:nvSpPr>
              <p:cNvPr id="45" name="AutoShape 71"/>
              <p:cNvSpPr>
                <a:spLocks noChangeArrowheads="1"/>
              </p:cNvSpPr>
              <p:nvPr/>
            </p:nvSpPr>
            <p:spPr bwMode="auto">
              <a:xfrm>
                <a:off x="5494952" y="2435059"/>
                <a:ext cx="142374" cy="958091"/>
              </a:xfrm>
              <a:prstGeom prst="downArrow">
                <a:avLst>
                  <a:gd name="adj1" fmla="val 50000"/>
                  <a:gd name="adj2" fmla="val 58333"/>
                </a:avLst>
              </a:prstGeom>
              <a:gradFill flip="none" rotWithShape="1">
                <a:gsLst>
                  <a:gs pos="0">
                    <a:srgbClr val="FFFA8F"/>
                  </a:gs>
                  <a:gs pos="30000">
                    <a:srgbClr val="FAE75C"/>
                  </a:gs>
                  <a:gs pos="70000">
                    <a:srgbClr val="FFC000"/>
                  </a:gs>
                  <a:gs pos="100000">
                    <a:srgbClr val="F2B800"/>
                  </a:gs>
                </a:gsLst>
                <a:lin ang="5400000" scaled="1"/>
                <a:tileRect/>
              </a:gradFill>
              <a:ln w="12700">
                <a:solidFill>
                  <a:srgbClr val="D6A3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600" b="1"/>
              </a:p>
            </p:txBody>
          </p:sp>
          <p:sp>
            <p:nvSpPr>
              <p:cNvPr id="46" name="AutoShape 71"/>
              <p:cNvSpPr>
                <a:spLocks noChangeArrowheads="1"/>
              </p:cNvSpPr>
              <p:nvPr/>
            </p:nvSpPr>
            <p:spPr bwMode="auto">
              <a:xfrm>
                <a:off x="5945803" y="1886732"/>
                <a:ext cx="142374" cy="1506419"/>
              </a:xfrm>
              <a:prstGeom prst="downArrow">
                <a:avLst>
                  <a:gd name="adj1" fmla="val 50000"/>
                  <a:gd name="adj2" fmla="val 58333"/>
                </a:avLst>
              </a:prstGeom>
              <a:gradFill flip="none" rotWithShape="1">
                <a:gsLst>
                  <a:gs pos="0">
                    <a:srgbClr val="FFFA8F"/>
                  </a:gs>
                  <a:gs pos="30000">
                    <a:srgbClr val="FAE75C"/>
                  </a:gs>
                  <a:gs pos="70000">
                    <a:srgbClr val="FFC000"/>
                  </a:gs>
                  <a:gs pos="100000">
                    <a:srgbClr val="F2B800"/>
                  </a:gs>
                </a:gsLst>
                <a:lin ang="5400000" scaled="1"/>
                <a:tileRect/>
              </a:gradFill>
              <a:ln w="12700">
                <a:solidFill>
                  <a:srgbClr val="D6A3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600" b="1"/>
              </a:p>
            </p:txBody>
          </p:sp>
          <p:sp>
            <p:nvSpPr>
              <p:cNvPr id="38930" name="TextBox 46"/>
              <p:cNvSpPr txBox="1">
                <a:spLocks noChangeArrowheads="1"/>
              </p:cNvSpPr>
              <p:nvPr/>
            </p:nvSpPr>
            <p:spPr bwMode="auto">
              <a:xfrm>
                <a:off x="4597802" y="1846906"/>
                <a:ext cx="473601" cy="158024"/>
              </a:xfrm>
              <a:prstGeom prst="rect">
                <a:avLst/>
              </a:prstGeom>
              <a:noFill/>
              <a:ln w="9525">
                <a:noFill/>
                <a:miter lim="800000"/>
                <a:headEnd/>
                <a:tailEnd/>
              </a:ln>
            </p:spPr>
            <p:txBody>
              <a:bodyPr wrap="none">
                <a:spAutoFit/>
              </a:bodyPr>
              <a:lstStyle/>
              <a:p>
                <a:pPr algn="ctr" eaLnBrk="1" hangingPunct="1"/>
                <a:r>
                  <a:rPr lang="en-US" altLang="en-US" sz="1600" b="1"/>
                  <a:t>API calls</a:t>
                </a:r>
              </a:p>
            </p:txBody>
          </p:sp>
          <p:sp>
            <p:nvSpPr>
              <p:cNvPr id="38931" name="TextBox 47"/>
              <p:cNvSpPr txBox="1">
                <a:spLocks noChangeArrowheads="1"/>
              </p:cNvSpPr>
              <p:nvPr/>
            </p:nvSpPr>
            <p:spPr bwMode="auto">
              <a:xfrm>
                <a:off x="4569757" y="2435382"/>
                <a:ext cx="644235" cy="158024"/>
              </a:xfrm>
              <a:prstGeom prst="rect">
                <a:avLst/>
              </a:prstGeom>
              <a:noFill/>
              <a:ln w="9525">
                <a:noFill/>
                <a:miter lim="800000"/>
                <a:headEnd/>
                <a:tailEnd/>
              </a:ln>
            </p:spPr>
            <p:txBody>
              <a:bodyPr wrap="none">
                <a:spAutoFit/>
              </a:bodyPr>
              <a:lstStyle/>
              <a:p>
                <a:pPr algn="ctr" eaLnBrk="1" hangingPunct="1"/>
                <a:r>
                  <a:rPr lang="en-US" altLang="en-US" sz="1600" b="1"/>
                  <a:t>System calls</a:t>
                </a:r>
              </a:p>
            </p:txBody>
          </p:sp>
          <p:sp>
            <p:nvSpPr>
              <p:cNvPr id="38932" name="TextBox 48"/>
              <p:cNvSpPr txBox="1">
                <a:spLocks noChangeArrowheads="1"/>
              </p:cNvSpPr>
              <p:nvPr/>
            </p:nvSpPr>
            <p:spPr bwMode="auto">
              <a:xfrm>
                <a:off x="4588749" y="3067613"/>
                <a:ext cx="245290" cy="158024"/>
              </a:xfrm>
              <a:prstGeom prst="rect">
                <a:avLst/>
              </a:prstGeom>
              <a:noFill/>
              <a:ln w="9525">
                <a:noFill/>
                <a:miter lim="800000"/>
                <a:headEnd/>
                <a:tailEnd/>
              </a:ln>
            </p:spPr>
            <p:txBody>
              <a:bodyPr wrap="none">
                <a:spAutoFit/>
              </a:bodyPr>
              <a:lstStyle/>
              <a:p>
                <a:pPr algn="ctr" eaLnBrk="1" hangingPunct="1"/>
                <a:r>
                  <a:rPr lang="en-US" altLang="en-US" sz="1600" b="1"/>
                  <a:t>ISA</a:t>
                </a:r>
              </a:p>
            </p:txBody>
          </p:sp>
          <p:sp>
            <p:nvSpPr>
              <p:cNvPr id="38933" name="TextBox 49"/>
              <p:cNvSpPr txBox="1">
                <a:spLocks noChangeArrowheads="1"/>
              </p:cNvSpPr>
              <p:nvPr/>
            </p:nvSpPr>
            <p:spPr bwMode="auto">
              <a:xfrm>
                <a:off x="5556949" y="2570950"/>
                <a:ext cx="333054" cy="272950"/>
              </a:xfrm>
              <a:prstGeom prst="rect">
                <a:avLst/>
              </a:prstGeom>
              <a:noFill/>
              <a:ln w="9525">
                <a:noFill/>
                <a:miter lim="800000"/>
                <a:headEnd/>
                <a:tailEnd/>
              </a:ln>
            </p:spPr>
            <p:txBody>
              <a:bodyPr wrap="none">
                <a:spAutoFit/>
              </a:bodyPr>
              <a:lstStyle/>
              <a:p>
                <a:pPr algn="ctr" eaLnBrk="1" hangingPunct="1"/>
                <a:r>
                  <a:rPr lang="en-US" altLang="en-US" sz="1600" b="1"/>
                  <a:t>User </a:t>
                </a:r>
              </a:p>
              <a:p>
                <a:pPr algn="ctr" eaLnBrk="1" hangingPunct="1"/>
                <a:r>
                  <a:rPr lang="en-US" altLang="en-US" sz="1600" b="1"/>
                  <a:t>ISA</a:t>
                </a:r>
              </a:p>
            </p:txBody>
          </p:sp>
          <p:sp>
            <p:nvSpPr>
              <p:cNvPr id="38934" name="TextBox 50"/>
              <p:cNvSpPr txBox="1">
                <a:spLocks noChangeArrowheads="1"/>
              </p:cNvSpPr>
              <p:nvPr/>
            </p:nvSpPr>
            <p:spPr bwMode="auto">
              <a:xfrm>
                <a:off x="6027103" y="2382019"/>
                <a:ext cx="333054" cy="272950"/>
              </a:xfrm>
              <a:prstGeom prst="rect">
                <a:avLst/>
              </a:prstGeom>
              <a:noFill/>
              <a:ln w="9525">
                <a:noFill/>
                <a:miter lim="800000"/>
                <a:headEnd/>
                <a:tailEnd/>
              </a:ln>
            </p:spPr>
            <p:txBody>
              <a:bodyPr wrap="none">
                <a:spAutoFit/>
              </a:bodyPr>
              <a:lstStyle/>
              <a:p>
                <a:pPr algn="ctr" eaLnBrk="1" hangingPunct="1"/>
                <a:r>
                  <a:rPr lang="en-US" altLang="en-US" sz="1600" b="1"/>
                  <a:t>User </a:t>
                </a:r>
              </a:p>
              <a:p>
                <a:pPr algn="ctr" eaLnBrk="1" hangingPunct="1"/>
                <a:r>
                  <a:rPr lang="en-US" altLang="en-US" sz="1600" b="1"/>
                  <a:t>ISA</a:t>
                </a:r>
              </a:p>
            </p:txBody>
          </p:sp>
        </p:gr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019AD06-451C-413E-AF31-86503C137FDF}" type="slidenum">
              <a:rPr lang="en-US" smtClean="0"/>
              <a:pPr/>
              <a:t>15</a:t>
            </a:fld>
            <a:endParaRPr lang="en-US"/>
          </a:p>
        </p:txBody>
      </p:sp>
      <p:pic>
        <p:nvPicPr>
          <p:cNvPr id="3" name="Picture 2" descr="Untitled.png"/>
          <p:cNvPicPr>
            <a:picLocks noChangeAspect="1"/>
          </p:cNvPicPr>
          <p:nvPr/>
        </p:nvPicPr>
        <p:blipFill>
          <a:blip r:embed="rId2"/>
          <a:stretch>
            <a:fillRect/>
          </a:stretch>
        </p:blipFill>
        <p:spPr>
          <a:xfrm>
            <a:off x="788276" y="409904"/>
            <a:ext cx="10846676" cy="592783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p:txBody>
          <a:bodyPr/>
          <a:lstStyle/>
          <a:p>
            <a:r>
              <a:rPr lang="en-US" altLang="en-US"/>
              <a:t>.</a:t>
            </a:r>
          </a:p>
        </p:txBody>
      </p:sp>
      <p:sp>
        <p:nvSpPr>
          <p:cNvPr id="48131" name="Content Placeholder 2"/>
          <p:cNvSpPr>
            <a:spLocks noGrp="1"/>
          </p:cNvSpPr>
          <p:nvPr>
            <p:ph idx="1"/>
          </p:nvPr>
        </p:nvSpPr>
        <p:spPr>
          <a:xfrm>
            <a:off x="406400" y="1143000"/>
            <a:ext cx="10972800" cy="5410200"/>
          </a:xfrm>
        </p:spPr>
        <p:txBody>
          <a:bodyPr/>
          <a:lstStyle/>
          <a:p>
            <a:r>
              <a:rPr lang="en-US" altLang="en-US" sz="2800"/>
              <a:t>Hypervisor runs above the supervisor mode.</a:t>
            </a:r>
          </a:p>
          <a:p>
            <a:r>
              <a:rPr lang="en-US" altLang="en-US" sz="2800"/>
              <a:t>  It runs in supervisor mode.</a:t>
            </a:r>
          </a:p>
          <a:p>
            <a:r>
              <a:rPr lang="en-US" altLang="en-US" sz="2800"/>
              <a:t>  It recreates a h/w environment. </a:t>
            </a:r>
          </a:p>
          <a:p>
            <a:pPr lvl="1"/>
            <a:r>
              <a:rPr lang="en-US" altLang="en-US"/>
              <a:t>It is a piece of s/w that enables us to run one or more VMs on a physical server(host). </a:t>
            </a:r>
          </a:p>
          <a:p>
            <a:pPr lvl="1"/>
            <a:r>
              <a:rPr lang="en-US" altLang="en-US"/>
              <a:t>Two major types of hypervisor -</a:t>
            </a:r>
          </a:p>
          <a:p>
            <a:pPr lvl="1">
              <a:buFont typeface="Arial" pitchFamily="34" charset="0"/>
              <a:buNone/>
            </a:pPr>
            <a:r>
              <a:rPr lang="en-US" altLang="en-US" sz="2400"/>
              <a:t>– </a:t>
            </a:r>
            <a:r>
              <a:rPr lang="en-US" altLang="en-US" sz="2400" b="1">
                <a:solidFill>
                  <a:srgbClr val="0070C0"/>
                </a:solidFill>
              </a:rPr>
              <a:t>Type –I</a:t>
            </a:r>
          </a:p>
          <a:p>
            <a:pPr lvl="1">
              <a:buFont typeface="Arial" pitchFamily="34" charset="0"/>
              <a:buNone/>
            </a:pPr>
            <a:r>
              <a:rPr lang="en-US" altLang="en-US" sz="2400" b="1">
                <a:solidFill>
                  <a:srgbClr val="0070C0"/>
                </a:solidFill>
              </a:rPr>
              <a:t> – Type-II</a:t>
            </a:r>
            <a:endParaRPr lang="en-US" altLang="en-US" sz="2400" b="1" u="sng">
              <a:solidFill>
                <a:srgbClr val="0070C0"/>
              </a:solidFill>
            </a:endParaRPr>
          </a:p>
        </p:txBody>
      </p:sp>
      <p:sp>
        <p:nvSpPr>
          <p:cNvPr id="4" name="Rectangle 3"/>
          <p:cNvSpPr/>
          <p:nvPr/>
        </p:nvSpPr>
        <p:spPr>
          <a:xfrm>
            <a:off x="0" y="0"/>
            <a:ext cx="12192000" cy="914400"/>
          </a:xfrm>
          <a:prstGeom prst="rect">
            <a:avLst/>
          </a:prstGeom>
          <a:solidFill>
            <a:srgbClr val="E42452">
              <a:alpha val="9411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Times New Roman" pitchFamily="16" charset="0"/>
              <a:buNone/>
              <a:defRPr/>
            </a:pPr>
            <a:r>
              <a:rPr lang="en-US" sz="3600" dirty="0"/>
              <a:t> </a:t>
            </a:r>
            <a:r>
              <a:rPr lang="en-US" sz="3600" b="1" dirty="0"/>
              <a:t>Hypervisor </a:t>
            </a:r>
            <a:endParaRPr lang="en-US" sz="3600" b="1" dirty="0">
              <a:solidFill>
                <a:schemeClr val="bg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p:txBody>
          <a:bodyPr/>
          <a:lstStyle/>
          <a:p>
            <a:r>
              <a:rPr lang="en-US" altLang="en-US"/>
              <a:t>.</a:t>
            </a:r>
          </a:p>
        </p:txBody>
      </p:sp>
      <p:sp>
        <p:nvSpPr>
          <p:cNvPr id="49155" name="Content Placeholder 2"/>
          <p:cNvSpPr>
            <a:spLocks noGrp="1"/>
          </p:cNvSpPr>
          <p:nvPr>
            <p:ph idx="1"/>
          </p:nvPr>
        </p:nvSpPr>
        <p:spPr>
          <a:xfrm>
            <a:off x="406400" y="1143000"/>
            <a:ext cx="10972800" cy="5410200"/>
          </a:xfrm>
        </p:spPr>
        <p:txBody>
          <a:bodyPr/>
          <a:lstStyle/>
          <a:p>
            <a:r>
              <a:rPr lang="en-US" altLang="en-US" sz="2800" b="1" u="sng" dirty="0">
                <a:solidFill>
                  <a:srgbClr val="0070C0"/>
                </a:solidFill>
              </a:rPr>
              <a:t>Type-I Hypervisor </a:t>
            </a:r>
          </a:p>
          <a:p>
            <a:r>
              <a:rPr lang="en-US" altLang="en-US" sz="2800" dirty="0"/>
              <a:t>It runs directly on top of the hardware.  </a:t>
            </a:r>
          </a:p>
          <a:p>
            <a:r>
              <a:rPr lang="en-US" altLang="en-US" sz="2800" dirty="0"/>
              <a:t>Takes place of OS. </a:t>
            </a:r>
          </a:p>
          <a:p>
            <a:r>
              <a:rPr lang="en-US" altLang="en-US" sz="2800" dirty="0"/>
              <a:t>Directly interact with the ISA exposed by the underlying hardware. </a:t>
            </a:r>
          </a:p>
          <a:p>
            <a:r>
              <a:rPr lang="en-US" altLang="en-US" sz="2800" dirty="0"/>
              <a:t>Also known as </a:t>
            </a:r>
            <a:r>
              <a:rPr lang="en-US" altLang="en-US" sz="2800" dirty="0">
                <a:solidFill>
                  <a:srgbClr val="FF0000"/>
                </a:solidFill>
              </a:rPr>
              <a:t>native virtual machine</a:t>
            </a:r>
            <a:r>
              <a:rPr lang="en-US" altLang="en-US" dirty="0">
                <a:solidFill>
                  <a:srgbClr val="0070C0"/>
                </a:solidFill>
              </a:rPr>
              <a:t> or </a:t>
            </a:r>
            <a:r>
              <a:rPr lang="en-US" altLang="en-US" dirty="0">
                <a:solidFill>
                  <a:srgbClr val="FF0000"/>
                </a:solidFill>
              </a:rPr>
              <a:t>bare metal virtualization</a:t>
            </a:r>
            <a:r>
              <a:rPr lang="en-US" altLang="en-US" dirty="0"/>
              <a:t>.</a:t>
            </a:r>
            <a:r>
              <a:rPr lang="en-US" altLang="en-US" sz="2800" u="sng" dirty="0">
                <a:solidFill>
                  <a:srgbClr val="0070C0"/>
                </a:solidFill>
              </a:rPr>
              <a:t> </a:t>
            </a:r>
            <a:endParaRPr lang="en-US" altLang="en-US" sz="2400" b="1" u="sng" dirty="0">
              <a:solidFill>
                <a:srgbClr val="0070C0"/>
              </a:solidFill>
            </a:endParaRPr>
          </a:p>
        </p:txBody>
      </p:sp>
      <p:sp>
        <p:nvSpPr>
          <p:cNvPr id="4" name="Rectangle 3"/>
          <p:cNvSpPr/>
          <p:nvPr/>
        </p:nvSpPr>
        <p:spPr>
          <a:xfrm>
            <a:off x="0" y="0"/>
            <a:ext cx="12192000" cy="914400"/>
          </a:xfrm>
          <a:prstGeom prst="rect">
            <a:avLst/>
          </a:prstGeom>
          <a:solidFill>
            <a:srgbClr val="E42452">
              <a:alpha val="9411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Times New Roman" pitchFamily="16" charset="0"/>
              <a:buNone/>
              <a:defRPr/>
            </a:pPr>
            <a:r>
              <a:rPr lang="en-US" sz="3600" dirty="0"/>
              <a:t> </a:t>
            </a:r>
            <a:r>
              <a:rPr lang="en-US" sz="3600" b="1" dirty="0"/>
              <a:t>Type-I Hypervisor</a:t>
            </a:r>
            <a:endParaRPr lang="en-US" sz="3600" b="1" dirty="0">
              <a:solidFill>
                <a:schemeClr val="bg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p:txBody>
          <a:bodyPr/>
          <a:lstStyle/>
          <a:p>
            <a:r>
              <a:rPr lang="en-US" altLang="en-US"/>
              <a:t>.</a:t>
            </a:r>
          </a:p>
        </p:txBody>
      </p:sp>
      <p:sp>
        <p:nvSpPr>
          <p:cNvPr id="51203" name="Content Placeholder 2"/>
          <p:cNvSpPr>
            <a:spLocks noGrp="1"/>
          </p:cNvSpPr>
          <p:nvPr>
            <p:ph idx="1"/>
          </p:nvPr>
        </p:nvSpPr>
        <p:spPr>
          <a:xfrm>
            <a:off x="406400" y="1143000"/>
            <a:ext cx="10972800" cy="5410200"/>
          </a:xfrm>
        </p:spPr>
        <p:txBody>
          <a:bodyPr/>
          <a:lstStyle/>
          <a:p>
            <a:r>
              <a:rPr lang="en-US" altLang="en-US" sz="2800" b="1" u="sng" dirty="0">
                <a:solidFill>
                  <a:srgbClr val="0070C0"/>
                </a:solidFill>
              </a:rPr>
              <a:t>Type-II Hypervisor </a:t>
            </a:r>
          </a:p>
          <a:p>
            <a:r>
              <a:rPr lang="en-US" altLang="en-US" sz="2800" dirty="0"/>
              <a:t>It require the support of an operating system to provide virtualization services.</a:t>
            </a:r>
          </a:p>
          <a:p>
            <a:r>
              <a:rPr lang="en-US" altLang="en-US" sz="2800" dirty="0"/>
              <a:t> Programs managed by the OS.</a:t>
            </a:r>
          </a:p>
          <a:p>
            <a:r>
              <a:rPr lang="en-US" altLang="en-US" sz="2800" dirty="0"/>
              <a:t> Emulate the ISA of virtual h/w.</a:t>
            </a:r>
          </a:p>
          <a:p>
            <a:r>
              <a:rPr lang="en-US" altLang="en-US" sz="2800" dirty="0"/>
              <a:t> Also called </a:t>
            </a:r>
            <a:r>
              <a:rPr lang="en-US" altLang="en-US" sz="2800" dirty="0">
                <a:solidFill>
                  <a:srgbClr val="FF0000"/>
                </a:solidFill>
              </a:rPr>
              <a:t>hosted virtual machine</a:t>
            </a:r>
            <a:r>
              <a:rPr lang="en-US" altLang="en-US" sz="2800" dirty="0"/>
              <a:t>.</a:t>
            </a:r>
            <a:endParaRPr lang="en-US" altLang="en-US" sz="2400" b="1" u="sng" dirty="0">
              <a:solidFill>
                <a:srgbClr val="0070C0"/>
              </a:solidFill>
            </a:endParaRPr>
          </a:p>
        </p:txBody>
      </p:sp>
      <p:sp>
        <p:nvSpPr>
          <p:cNvPr id="4" name="Rectangle 3"/>
          <p:cNvSpPr/>
          <p:nvPr/>
        </p:nvSpPr>
        <p:spPr>
          <a:xfrm>
            <a:off x="0" y="0"/>
            <a:ext cx="12192000" cy="914400"/>
          </a:xfrm>
          <a:prstGeom prst="rect">
            <a:avLst/>
          </a:prstGeom>
          <a:solidFill>
            <a:srgbClr val="E42452">
              <a:alpha val="9411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Times New Roman" pitchFamily="16" charset="0"/>
              <a:buNone/>
              <a:defRPr/>
            </a:pPr>
            <a:r>
              <a:rPr lang="en-US" sz="3600" dirty="0"/>
              <a:t> </a:t>
            </a:r>
            <a:r>
              <a:rPr lang="en-US" sz="3600" b="1" dirty="0"/>
              <a:t>Type-II Hypervisor</a:t>
            </a:r>
            <a:endParaRPr lang="en-US" sz="3600" b="1" dirty="0">
              <a:solidFill>
                <a:schemeClr val="bg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p:txBody>
          <a:bodyPr/>
          <a:lstStyle/>
          <a:p>
            <a:r>
              <a:rPr lang="en-US" altLang="en-US"/>
              <a:t>.</a:t>
            </a:r>
          </a:p>
        </p:txBody>
      </p:sp>
      <p:sp>
        <p:nvSpPr>
          <p:cNvPr id="4" name="Rectangle 3"/>
          <p:cNvSpPr/>
          <p:nvPr/>
        </p:nvSpPr>
        <p:spPr>
          <a:xfrm>
            <a:off x="0" y="0"/>
            <a:ext cx="12192000" cy="914400"/>
          </a:xfrm>
          <a:prstGeom prst="rect">
            <a:avLst/>
          </a:prstGeom>
          <a:solidFill>
            <a:srgbClr val="E42452">
              <a:alpha val="9411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Times New Roman" pitchFamily="16" charset="0"/>
              <a:buNone/>
              <a:defRPr/>
            </a:pPr>
            <a:r>
              <a:rPr lang="en-US" sz="3600" dirty="0"/>
              <a:t> </a:t>
            </a:r>
            <a:r>
              <a:rPr lang="en-US" sz="3600" b="1" dirty="0"/>
              <a:t>Type-I &amp; Type-II Hypervisors</a:t>
            </a:r>
            <a:endParaRPr lang="en-US" sz="3600" b="1" dirty="0">
              <a:solidFill>
                <a:schemeClr val="bg1"/>
              </a:solidFill>
            </a:endParaRPr>
          </a:p>
        </p:txBody>
      </p:sp>
      <p:grpSp>
        <p:nvGrpSpPr>
          <p:cNvPr id="2" name="Content Placeholder 4"/>
          <p:cNvGrpSpPr>
            <a:grpSpLocks noGrp="1"/>
          </p:cNvGrpSpPr>
          <p:nvPr/>
        </p:nvGrpSpPr>
        <p:grpSpPr bwMode="auto">
          <a:xfrm>
            <a:off x="406400" y="1143000"/>
            <a:ext cx="10972800" cy="5410200"/>
            <a:chOff x="733331" y="1312752"/>
            <a:chExt cx="5911913" cy="2625505"/>
          </a:xfrm>
        </p:grpSpPr>
        <p:sp>
          <p:nvSpPr>
            <p:cNvPr id="6" name="Rectangle 5"/>
            <p:cNvSpPr/>
            <p:nvPr/>
          </p:nvSpPr>
          <p:spPr>
            <a:xfrm>
              <a:off x="733331" y="1312752"/>
              <a:ext cx="5911913" cy="26255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2000" b="1">
                <a:solidFill>
                  <a:srgbClr val="000000"/>
                </a:solidFill>
              </a:endParaRPr>
            </a:p>
          </p:txBody>
        </p:sp>
        <p:grpSp>
          <p:nvGrpSpPr>
            <p:cNvPr id="3" name="Group 40"/>
            <p:cNvGrpSpPr>
              <a:grpSpLocks/>
            </p:cNvGrpSpPr>
            <p:nvPr/>
          </p:nvGrpSpPr>
          <p:grpSpPr bwMode="auto">
            <a:xfrm>
              <a:off x="845510" y="1464989"/>
              <a:ext cx="2766882" cy="2348583"/>
              <a:chOff x="845510" y="1464989"/>
              <a:chExt cx="2766882" cy="2348583"/>
            </a:xfrm>
          </p:grpSpPr>
          <p:cxnSp>
            <p:nvCxnSpPr>
              <p:cNvPr id="19" name="Straight Connector 18"/>
              <p:cNvCxnSpPr/>
              <p:nvPr/>
            </p:nvCxnSpPr>
            <p:spPr>
              <a:xfrm flipH="1">
                <a:off x="1439249" y="2543843"/>
                <a:ext cx="2164508" cy="0"/>
              </a:xfrm>
              <a:prstGeom prst="line">
                <a:avLst/>
              </a:prstGeom>
              <a:ln>
                <a:solidFill>
                  <a:srgbClr val="000000"/>
                </a:solidFill>
                <a:prstDash val="dash"/>
              </a:ln>
            </p:spPr>
            <p:style>
              <a:lnRef idx="1">
                <a:schemeClr val="accent1"/>
              </a:lnRef>
              <a:fillRef idx="0">
                <a:schemeClr val="accent1"/>
              </a:fillRef>
              <a:effectRef idx="0">
                <a:schemeClr val="accent1"/>
              </a:effectRef>
              <a:fontRef idx="minor">
                <a:schemeClr val="tx1"/>
              </a:fontRef>
            </p:style>
          </p:cxnSp>
          <p:sp>
            <p:nvSpPr>
              <p:cNvPr id="20" name="Rounded Rectangle 19"/>
              <p:cNvSpPr/>
              <p:nvPr/>
            </p:nvSpPr>
            <p:spPr>
              <a:xfrm>
                <a:off x="845092" y="2429824"/>
                <a:ext cx="530294" cy="228807"/>
              </a:xfrm>
              <a:prstGeom prst="round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eaLnBrk="1" hangingPunct="1">
                  <a:defRPr/>
                </a:pPr>
                <a:r>
                  <a:rPr lang="en-US" sz="2000" b="1" dirty="0">
                    <a:solidFill>
                      <a:srgbClr val="000000"/>
                    </a:solidFill>
                  </a:rPr>
                  <a:t>ABI</a:t>
                </a:r>
              </a:p>
            </p:txBody>
          </p:sp>
          <p:sp>
            <p:nvSpPr>
              <p:cNvPr id="21" name="Rectangle 20"/>
              <p:cNvSpPr/>
              <p:nvPr/>
            </p:nvSpPr>
            <p:spPr>
              <a:xfrm>
                <a:off x="1666191" y="3341972"/>
                <a:ext cx="1711764" cy="471481"/>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440" anchor="ctr"/>
              <a:lstStyle/>
              <a:p>
                <a:pPr indent="-285750" algn="ctr" eaLnBrk="1" hangingPunct="1">
                  <a:spcBef>
                    <a:spcPct val="20000"/>
                  </a:spcBef>
                  <a:buClr>
                    <a:schemeClr val="accent2"/>
                  </a:buClr>
                  <a:buSzPct val="60000"/>
                  <a:buFont typeface="Wingdings" pitchFamily="2" charset="2"/>
                  <a:buNone/>
                  <a:defRPr/>
                </a:pPr>
                <a:r>
                  <a:rPr lang="en-US" sz="2000" b="1" dirty="0">
                    <a:solidFill>
                      <a:srgbClr val="000000"/>
                    </a:solidFill>
                  </a:rPr>
                  <a:t>Hardware</a:t>
                </a:r>
              </a:p>
            </p:txBody>
          </p:sp>
          <p:sp>
            <p:nvSpPr>
              <p:cNvPr id="22" name="Rectangle 21"/>
              <p:cNvSpPr/>
              <p:nvPr/>
            </p:nvSpPr>
            <p:spPr>
              <a:xfrm>
                <a:off x="1666191" y="2658632"/>
                <a:ext cx="1711764" cy="471481"/>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2000" b="1" dirty="0">
                    <a:solidFill>
                      <a:srgbClr val="000000"/>
                    </a:solidFill>
                  </a:rPr>
                  <a:t>Operative System</a:t>
                </a:r>
              </a:p>
            </p:txBody>
          </p:sp>
          <p:cxnSp>
            <p:nvCxnSpPr>
              <p:cNvPr id="23" name="Straight Connector 22"/>
              <p:cNvCxnSpPr/>
              <p:nvPr/>
            </p:nvCxnSpPr>
            <p:spPr>
              <a:xfrm flipH="1">
                <a:off x="1448372" y="3242591"/>
                <a:ext cx="2164508" cy="0"/>
              </a:xfrm>
              <a:prstGeom prst="line">
                <a:avLst/>
              </a:prstGeom>
              <a:ln>
                <a:solidFill>
                  <a:srgbClr val="000000"/>
                </a:solidFill>
                <a:prstDash val="dash"/>
              </a:ln>
            </p:spPr>
            <p:style>
              <a:lnRef idx="1">
                <a:schemeClr val="accent1"/>
              </a:lnRef>
              <a:fillRef idx="0">
                <a:schemeClr val="accent1"/>
              </a:fillRef>
              <a:effectRef idx="0">
                <a:schemeClr val="accent1"/>
              </a:effectRef>
              <a:fontRef idx="minor">
                <a:schemeClr val="tx1"/>
              </a:fontRef>
            </p:style>
          </p:cxnSp>
          <p:sp>
            <p:nvSpPr>
              <p:cNvPr id="24" name="Rounded Rectangle 23"/>
              <p:cNvSpPr/>
              <p:nvPr/>
            </p:nvSpPr>
            <p:spPr>
              <a:xfrm>
                <a:off x="854215" y="3128573"/>
                <a:ext cx="530294" cy="228807"/>
              </a:xfrm>
              <a:prstGeom prst="round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eaLnBrk="1" hangingPunct="1">
                  <a:defRPr/>
                </a:pPr>
                <a:r>
                  <a:rPr lang="en-US" sz="2000" b="1" dirty="0">
                    <a:solidFill>
                      <a:srgbClr val="000000"/>
                    </a:solidFill>
                  </a:rPr>
                  <a:t>ISA</a:t>
                </a:r>
              </a:p>
            </p:txBody>
          </p:sp>
          <p:sp>
            <p:nvSpPr>
              <p:cNvPr id="25" name="Rectangle 24"/>
              <p:cNvSpPr/>
              <p:nvPr/>
            </p:nvSpPr>
            <p:spPr>
              <a:xfrm>
                <a:off x="1675314" y="1952950"/>
                <a:ext cx="1710623" cy="472252"/>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2000" b="1" dirty="0">
                    <a:solidFill>
                      <a:srgbClr val="000000"/>
                    </a:solidFill>
                  </a:rPr>
                  <a:t>Virtual Machine Manager</a:t>
                </a:r>
              </a:p>
            </p:txBody>
          </p:sp>
          <p:cxnSp>
            <p:nvCxnSpPr>
              <p:cNvPr id="26" name="Straight Connector 25"/>
              <p:cNvCxnSpPr/>
              <p:nvPr/>
            </p:nvCxnSpPr>
            <p:spPr>
              <a:xfrm flipH="1">
                <a:off x="1448372" y="1859732"/>
                <a:ext cx="2164508" cy="0"/>
              </a:xfrm>
              <a:prstGeom prst="line">
                <a:avLst/>
              </a:prstGeom>
              <a:ln>
                <a:solidFill>
                  <a:srgbClr val="000000"/>
                </a:solidFill>
                <a:prstDash val="dash"/>
              </a:ln>
            </p:spPr>
            <p:style>
              <a:lnRef idx="1">
                <a:schemeClr val="accent1"/>
              </a:lnRef>
              <a:fillRef idx="0">
                <a:schemeClr val="accent1"/>
              </a:fillRef>
              <a:effectRef idx="0">
                <a:schemeClr val="accent1"/>
              </a:effectRef>
              <a:fontRef idx="minor">
                <a:schemeClr val="tx1"/>
              </a:fontRef>
            </p:style>
          </p:cxnSp>
          <p:sp>
            <p:nvSpPr>
              <p:cNvPr id="27" name="Rounded Rectangle 26"/>
              <p:cNvSpPr/>
              <p:nvPr/>
            </p:nvSpPr>
            <p:spPr>
              <a:xfrm>
                <a:off x="854215" y="1745714"/>
                <a:ext cx="530294" cy="228807"/>
              </a:xfrm>
              <a:prstGeom prst="round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eaLnBrk="1" hangingPunct="1">
                  <a:defRPr/>
                </a:pPr>
                <a:r>
                  <a:rPr lang="en-US" sz="2000" b="1" dirty="0">
                    <a:solidFill>
                      <a:srgbClr val="000000"/>
                    </a:solidFill>
                  </a:rPr>
                  <a:t>ISA</a:t>
                </a:r>
              </a:p>
            </p:txBody>
          </p:sp>
          <p:sp>
            <p:nvSpPr>
              <p:cNvPr id="28" name="Rectangle 27"/>
              <p:cNvSpPr/>
              <p:nvPr/>
            </p:nvSpPr>
            <p:spPr>
              <a:xfrm>
                <a:off x="1683298" y="1465290"/>
                <a:ext cx="399145" cy="280424"/>
              </a:xfrm>
              <a:prstGeom prst="rect">
                <a:avLst/>
              </a:prstGeom>
              <a:solidFill>
                <a:schemeClr val="bg1"/>
              </a:solidFill>
              <a:ln w="952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2000" b="1" dirty="0">
                    <a:solidFill>
                      <a:srgbClr val="000000"/>
                    </a:solidFill>
                  </a:rPr>
                  <a:t>VM</a:t>
                </a:r>
              </a:p>
            </p:txBody>
          </p:sp>
          <p:sp>
            <p:nvSpPr>
              <p:cNvPr id="29" name="Rectangle 28"/>
              <p:cNvSpPr/>
              <p:nvPr/>
            </p:nvSpPr>
            <p:spPr>
              <a:xfrm>
                <a:off x="2118936" y="1465290"/>
                <a:ext cx="398005" cy="280424"/>
              </a:xfrm>
              <a:prstGeom prst="rect">
                <a:avLst/>
              </a:prstGeom>
              <a:solidFill>
                <a:schemeClr val="bg1"/>
              </a:solidFill>
              <a:ln w="952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2000" b="1" dirty="0">
                    <a:solidFill>
                      <a:srgbClr val="000000"/>
                    </a:solidFill>
                  </a:rPr>
                  <a:t>VM</a:t>
                </a:r>
              </a:p>
            </p:txBody>
          </p:sp>
          <p:sp>
            <p:nvSpPr>
              <p:cNvPr id="30" name="Rectangle 29"/>
              <p:cNvSpPr/>
              <p:nvPr/>
            </p:nvSpPr>
            <p:spPr>
              <a:xfrm>
                <a:off x="2552294" y="1465290"/>
                <a:ext cx="398005" cy="280424"/>
              </a:xfrm>
              <a:prstGeom prst="rect">
                <a:avLst/>
              </a:prstGeom>
              <a:solidFill>
                <a:schemeClr val="bg1"/>
              </a:solidFill>
              <a:ln w="952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2000" b="1" dirty="0">
                    <a:solidFill>
                      <a:srgbClr val="000000"/>
                    </a:solidFill>
                  </a:rPr>
                  <a:t>VM</a:t>
                </a:r>
              </a:p>
            </p:txBody>
          </p:sp>
          <p:sp>
            <p:nvSpPr>
              <p:cNvPr id="31" name="Rectangle 30"/>
              <p:cNvSpPr/>
              <p:nvPr/>
            </p:nvSpPr>
            <p:spPr>
              <a:xfrm>
                <a:off x="2987933" y="1469143"/>
                <a:ext cx="398005" cy="280424"/>
              </a:xfrm>
              <a:prstGeom prst="rect">
                <a:avLst/>
              </a:prstGeom>
              <a:solidFill>
                <a:schemeClr val="bg1"/>
              </a:solidFill>
              <a:ln w="952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2000" b="1" dirty="0">
                    <a:solidFill>
                      <a:srgbClr val="000000"/>
                    </a:solidFill>
                  </a:rPr>
                  <a:t>VM</a:t>
                </a:r>
              </a:p>
            </p:txBody>
          </p:sp>
        </p:grpSp>
        <p:grpSp>
          <p:nvGrpSpPr>
            <p:cNvPr id="5" name="Group 55"/>
            <p:cNvGrpSpPr>
              <a:grpSpLocks/>
            </p:cNvGrpSpPr>
            <p:nvPr/>
          </p:nvGrpSpPr>
          <p:grpSpPr bwMode="auto">
            <a:xfrm>
              <a:off x="3726620" y="2148497"/>
              <a:ext cx="2770217" cy="1660555"/>
              <a:chOff x="3726620" y="2148497"/>
              <a:chExt cx="2770217" cy="1660555"/>
            </a:xfrm>
          </p:grpSpPr>
          <p:sp>
            <p:nvSpPr>
              <p:cNvPr id="9" name="Rectangle 8"/>
              <p:cNvSpPr/>
              <p:nvPr/>
            </p:nvSpPr>
            <p:spPr>
              <a:xfrm>
                <a:off x="4025711" y="3337349"/>
                <a:ext cx="1710623" cy="471482"/>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440" anchor="ctr"/>
              <a:lstStyle/>
              <a:p>
                <a:pPr indent="-285750" algn="ctr" eaLnBrk="1" hangingPunct="1">
                  <a:spcBef>
                    <a:spcPct val="20000"/>
                  </a:spcBef>
                  <a:buClr>
                    <a:schemeClr val="accent2"/>
                  </a:buClr>
                  <a:buSzPct val="60000"/>
                  <a:buFont typeface="Wingdings" pitchFamily="2" charset="2"/>
                  <a:buNone/>
                  <a:defRPr/>
                </a:pPr>
                <a:r>
                  <a:rPr lang="en-US" sz="2000" b="1" dirty="0">
                    <a:solidFill>
                      <a:srgbClr val="000000"/>
                    </a:solidFill>
                  </a:rPr>
                  <a:t>Hardware</a:t>
                </a:r>
              </a:p>
            </p:txBody>
          </p:sp>
          <p:cxnSp>
            <p:nvCxnSpPr>
              <p:cNvPr id="10" name="Straight Connector 9"/>
              <p:cNvCxnSpPr/>
              <p:nvPr/>
            </p:nvCxnSpPr>
            <p:spPr>
              <a:xfrm flipH="1">
                <a:off x="3726922" y="3237969"/>
                <a:ext cx="2163367" cy="0"/>
              </a:xfrm>
              <a:prstGeom prst="line">
                <a:avLst/>
              </a:prstGeom>
              <a:ln>
                <a:solidFill>
                  <a:srgbClr val="000000"/>
                </a:solidFill>
                <a:prstDash val="dash"/>
              </a:ln>
            </p:spPr>
            <p:style>
              <a:lnRef idx="1">
                <a:schemeClr val="accent1"/>
              </a:lnRef>
              <a:fillRef idx="0">
                <a:schemeClr val="accent1"/>
              </a:fillRef>
              <a:effectRef idx="0">
                <a:schemeClr val="accent1"/>
              </a:effectRef>
              <a:fontRef idx="minor">
                <a:schemeClr val="tx1"/>
              </a:fontRef>
            </p:style>
          </p:cxnSp>
          <p:sp>
            <p:nvSpPr>
              <p:cNvPr id="11" name="Rounded Rectangle 10"/>
              <p:cNvSpPr/>
              <p:nvPr/>
            </p:nvSpPr>
            <p:spPr>
              <a:xfrm>
                <a:off x="5966697" y="3123950"/>
                <a:ext cx="530293" cy="228807"/>
              </a:xfrm>
              <a:prstGeom prst="round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eaLnBrk="1" hangingPunct="1">
                  <a:defRPr/>
                </a:pPr>
                <a:r>
                  <a:rPr lang="en-US" sz="2000" b="1" dirty="0">
                    <a:solidFill>
                      <a:srgbClr val="000000"/>
                    </a:solidFill>
                  </a:rPr>
                  <a:t>ISA</a:t>
                </a:r>
              </a:p>
            </p:txBody>
          </p:sp>
          <p:sp>
            <p:nvSpPr>
              <p:cNvPr id="12" name="Rectangle 11"/>
              <p:cNvSpPr/>
              <p:nvPr/>
            </p:nvSpPr>
            <p:spPr>
              <a:xfrm>
                <a:off x="4034834" y="2645535"/>
                <a:ext cx="1710623" cy="471482"/>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2000" b="1" dirty="0">
                    <a:solidFill>
                      <a:srgbClr val="000000"/>
                    </a:solidFill>
                  </a:rPr>
                  <a:t>Virtual Machine Manager</a:t>
                </a:r>
              </a:p>
            </p:txBody>
          </p:sp>
          <p:cxnSp>
            <p:nvCxnSpPr>
              <p:cNvPr id="13" name="Straight Connector 12"/>
              <p:cNvCxnSpPr/>
              <p:nvPr/>
            </p:nvCxnSpPr>
            <p:spPr>
              <a:xfrm flipH="1">
                <a:off x="3726922" y="2543073"/>
                <a:ext cx="2163367" cy="0"/>
              </a:xfrm>
              <a:prstGeom prst="line">
                <a:avLst/>
              </a:prstGeom>
              <a:ln>
                <a:solidFill>
                  <a:srgbClr val="000000"/>
                </a:solidFill>
                <a:prstDash val="dash"/>
              </a:ln>
            </p:spPr>
            <p:style>
              <a:lnRef idx="1">
                <a:schemeClr val="accent1"/>
              </a:lnRef>
              <a:fillRef idx="0">
                <a:schemeClr val="accent1"/>
              </a:fillRef>
              <a:effectRef idx="0">
                <a:schemeClr val="accent1"/>
              </a:effectRef>
              <a:fontRef idx="minor">
                <a:schemeClr val="tx1"/>
              </a:fontRef>
            </p:style>
          </p:cxnSp>
          <p:sp>
            <p:nvSpPr>
              <p:cNvPr id="14" name="Rounded Rectangle 13"/>
              <p:cNvSpPr/>
              <p:nvPr/>
            </p:nvSpPr>
            <p:spPr>
              <a:xfrm>
                <a:off x="5966697" y="2429054"/>
                <a:ext cx="530293" cy="228807"/>
              </a:xfrm>
              <a:prstGeom prst="round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eaLnBrk="1" hangingPunct="1">
                  <a:defRPr/>
                </a:pPr>
                <a:r>
                  <a:rPr lang="en-US" sz="2000" b="1" dirty="0">
                    <a:solidFill>
                      <a:srgbClr val="000000"/>
                    </a:solidFill>
                  </a:rPr>
                  <a:t>ISA</a:t>
                </a:r>
              </a:p>
            </p:txBody>
          </p:sp>
          <p:sp>
            <p:nvSpPr>
              <p:cNvPr id="15" name="Rectangle 14"/>
              <p:cNvSpPr/>
              <p:nvPr/>
            </p:nvSpPr>
            <p:spPr>
              <a:xfrm>
                <a:off x="4043957" y="2148630"/>
                <a:ext cx="398005" cy="280424"/>
              </a:xfrm>
              <a:prstGeom prst="rect">
                <a:avLst/>
              </a:prstGeom>
              <a:solidFill>
                <a:schemeClr val="bg1"/>
              </a:solidFill>
              <a:ln w="952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2000" b="1" dirty="0">
                    <a:solidFill>
                      <a:srgbClr val="000000"/>
                    </a:solidFill>
                  </a:rPr>
                  <a:t>VM</a:t>
                </a:r>
              </a:p>
            </p:txBody>
          </p:sp>
          <p:sp>
            <p:nvSpPr>
              <p:cNvPr id="16" name="Rectangle 15"/>
              <p:cNvSpPr/>
              <p:nvPr/>
            </p:nvSpPr>
            <p:spPr>
              <a:xfrm>
                <a:off x="4478455" y="2148630"/>
                <a:ext cx="398005" cy="280424"/>
              </a:xfrm>
              <a:prstGeom prst="rect">
                <a:avLst/>
              </a:prstGeom>
              <a:solidFill>
                <a:schemeClr val="bg1"/>
              </a:solidFill>
              <a:ln w="952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2000" b="1" dirty="0">
                    <a:solidFill>
                      <a:srgbClr val="000000"/>
                    </a:solidFill>
                  </a:rPr>
                  <a:t>VM</a:t>
                </a:r>
              </a:p>
            </p:txBody>
          </p:sp>
          <p:sp>
            <p:nvSpPr>
              <p:cNvPr id="17" name="Rectangle 16"/>
              <p:cNvSpPr/>
              <p:nvPr/>
            </p:nvSpPr>
            <p:spPr>
              <a:xfrm>
                <a:off x="4911813" y="2148630"/>
                <a:ext cx="398005" cy="280424"/>
              </a:xfrm>
              <a:prstGeom prst="rect">
                <a:avLst/>
              </a:prstGeom>
              <a:solidFill>
                <a:schemeClr val="bg1"/>
              </a:solidFill>
              <a:ln w="952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2000" b="1" dirty="0">
                    <a:solidFill>
                      <a:srgbClr val="000000"/>
                    </a:solidFill>
                  </a:rPr>
                  <a:t>VM</a:t>
                </a:r>
              </a:p>
            </p:txBody>
          </p:sp>
          <p:sp>
            <p:nvSpPr>
              <p:cNvPr id="18" name="Rectangle 17"/>
              <p:cNvSpPr/>
              <p:nvPr/>
            </p:nvSpPr>
            <p:spPr>
              <a:xfrm>
                <a:off x="5347451" y="2152482"/>
                <a:ext cx="398005" cy="280424"/>
              </a:xfrm>
              <a:prstGeom prst="rect">
                <a:avLst/>
              </a:prstGeom>
              <a:solidFill>
                <a:schemeClr val="bg1"/>
              </a:solidFill>
              <a:ln w="952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2000" b="1" dirty="0">
                    <a:solidFill>
                      <a:srgbClr val="000000"/>
                    </a:solidFill>
                  </a:rPr>
                  <a:t>VM</a:t>
                </a:r>
              </a:p>
            </p:txBody>
          </p:sp>
        </p:gr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69689"/>
          </a:xfrm>
        </p:spPr>
        <p:style>
          <a:lnRef idx="0">
            <a:scrgbClr r="0" g="0" b="0"/>
          </a:lnRef>
          <a:fillRef idx="1003">
            <a:schemeClr val="lt2"/>
          </a:fillRef>
          <a:effectRef idx="0">
            <a:scrgbClr r="0" g="0" b="0"/>
          </a:effectRef>
          <a:fontRef idx="major"/>
        </p:style>
        <p:txBody>
          <a:bodyPr>
            <a:normAutofit/>
          </a:bodyPr>
          <a:lstStyle/>
          <a:p>
            <a:r>
              <a:rPr lang="en-IN" sz="3600" dirty="0"/>
              <a:t>Research Scope</a:t>
            </a:r>
            <a:endParaRPr lang="en-US" sz="3600" dirty="0"/>
          </a:p>
        </p:txBody>
      </p:sp>
      <p:pic>
        <p:nvPicPr>
          <p:cNvPr id="5" name="Content Placeholder 4" descr="Untitled1.png"/>
          <p:cNvPicPr>
            <a:picLocks noGrp="1" noChangeAspect="1"/>
          </p:cNvPicPr>
          <p:nvPr>
            <p:ph idx="1"/>
          </p:nvPr>
        </p:nvPicPr>
        <p:blipFill>
          <a:blip r:embed="rId2"/>
          <a:stretch>
            <a:fillRect/>
          </a:stretch>
        </p:blipFill>
        <p:spPr>
          <a:xfrm>
            <a:off x="1187670" y="1040524"/>
            <a:ext cx="10037378" cy="5817476"/>
          </a:xfrm>
        </p:spPr>
      </p:pic>
      <p:sp>
        <p:nvSpPr>
          <p:cNvPr id="4" name="Slide Number Placeholder 3"/>
          <p:cNvSpPr>
            <a:spLocks noGrp="1"/>
          </p:cNvSpPr>
          <p:nvPr>
            <p:ph type="sldNum" sz="quarter" idx="12"/>
          </p:nvPr>
        </p:nvSpPr>
        <p:spPr/>
        <p:txBody>
          <a:bodyPr/>
          <a:lstStyle/>
          <a:p>
            <a:fld id="{2019AD06-451C-413E-AF31-86503C137FDF}" type="slidenum">
              <a:rPr lang="en-US" smtClean="0"/>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96116"/>
          </a:xfrm>
        </p:spPr>
        <p:style>
          <a:lnRef idx="0">
            <a:scrgbClr r="0" g="0" b="0"/>
          </a:lnRef>
          <a:fillRef idx="1003">
            <a:schemeClr val="lt2"/>
          </a:fillRef>
          <a:effectRef idx="0">
            <a:scrgbClr r="0" g="0" b="0"/>
          </a:effectRef>
          <a:fontRef idx="major"/>
        </p:style>
        <p:txBody>
          <a:bodyPr>
            <a:normAutofit/>
          </a:bodyPr>
          <a:lstStyle/>
          <a:p>
            <a:r>
              <a:rPr lang="en-IN" sz="3600" dirty="0">
                <a:solidFill>
                  <a:srgbClr val="FF0000"/>
                </a:solidFill>
              </a:rPr>
              <a:t>Limitations</a:t>
            </a:r>
            <a:r>
              <a:rPr lang="en-IN" sz="3600" dirty="0"/>
              <a:t> and </a:t>
            </a:r>
            <a:r>
              <a:rPr lang="en-IN" sz="3600" dirty="0">
                <a:solidFill>
                  <a:srgbClr val="FF0000"/>
                </a:solidFill>
              </a:rPr>
              <a:t>Disadvantages</a:t>
            </a:r>
            <a:endParaRPr lang="en-US" sz="3600" dirty="0">
              <a:solidFill>
                <a:srgbClr val="FF0000"/>
              </a:solidFill>
            </a:endParaRPr>
          </a:p>
        </p:txBody>
      </p:sp>
      <p:sp>
        <p:nvSpPr>
          <p:cNvPr id="3" name="Content Placeholder 2"/>
          <p:cNvSpPr>
            <a:spLocks noGrp="1"/>
          </p:cNvSpPr>
          <p:nvPr>
            <p:ph idx="1"/>
          </p:nvPr>
        </p:nvSpPr>
        <p:spPr>
          <a:xfrm>
            <a:off x="838200" y="1460938"/>
            <a:ext cx="10515600" cy="5171090"/>
          </a:xfrm>
        </p:spPr>
        <p:txBody>
          <a:bodyPr>
            <a:normAutofit fontScale="70000" lnSpcReduction="20000"/>
          </a:bodyPr>
          <a:lstStyle/>
          <a:p>
            <a:pPr algn="just"/>
            <a:r>
              <a:rPr lang="en-US" dirty="0"/>
              <a:t>According to </a:t>
            </a:r>
            <a:r>
              <a:rPr lang="en-US" dirty="0">
                <a:hlinkClick r:id="rId2" tooltip="Bruce Schneier"/>
              </a:rPr>
              <a:t>Bruce </a:t>
            </a:r>
            <a:r>
              <a:rPr lang="en-US" dirty="0" err="1">
                <a:hlinkClick r:id="rId2" tooltip="Bruce Schneier"/>
              </a:rPr>
              <a:t>Schneier</a:t>
            </a:r>
            <a:r>
              <a:rPr lang="en-US" dirty="0"/>
              <a:t>, "The downside is that you will have limited customization options.</a:t>
            </a:r>
          </a:p>
          <a:p>
            <a:pPr algn="just"/>
            <a:r>
              <a:rPr lang="en-US" dirty="0"/>
              <a:t>Cloud computing is cheaper because of </a:t>
            </a:r>
            <a:r>
              <a:rPr lang="en-US" dirty="0">
                <a:hlinkClick r:id="rId3" tooltip="Economies of scale"/>
              </a:rPr>
              <a:t>economics of scale</a:t>
            </a:r>
            <a:r>
              <a:rPr lang="en-US" dirty="0"/>
              <a:t>, and—like any outsourced task—you tend to get what you want. A restaurant with a limited menu is cheaper than a personal chef who can cook anything you want. Fewer options at a much cheaper price: it's a feature, not a bug." </a:t>
            </a:r>
          </a:p>
          <a:p>
            <a:pPr algn="just"/>
            <a:r>
              <a:rPr lang="en-US" dirty="0"/>
              <a:t>He also suggests that "the cloud provider might not meet your legal needs" and that businesses need to weigh the benefits of cloud computing against the risks. In cloud computing, the control of the back end infrastructure is limited to the cloud vendor only. Cloud providers often decide on the management policies, which moderates what the cloud users are able to do with their deployment.</a:t>
            </a:r>
            <a:r>
              <a:rPr lang="en-US" baseline="30000" dirty="0"/>
              <a:t> </a:t>
            </a:r>
            <a:r>
              <a:rPr lang="en-US" dirty="0"/>
              <a:t>Cloud users are also limited to the control and management of their applications, data and services.</a:t>
            </a:r>
            <a:r>
              <a:rPr lang="en-US" baseline="30000" dirty="0"/>
              <a:t> </a:t>
            </a:r>
            <a:r>
              <a:rPr lang="en-US" dirty="0"/>
              <a:t>This includes </a:t>
            </a:r>
            <a:r>
              <a:rPr lang="en-US" dirty="0">
                <a:hlinkClick r:id="rId4" tooltip="Data cap"/>
              </a:rPr>
              <a:t>data caps</a:t>
            </a:r>
            <a:r>
              <a:rPr lang="en-US" dirty="0"/>
              <a:t>, which are placed on cloud users by the cloud vendor allocating certain amount of bandwidth for each customer and are often shared among other cloud users.</a:t>
            </a:r>
          </a:p>
          <a:p>
            <a:pPr algn="just"/>
            <a:r>
              <a:rPr lang="en-US" dirty="0"/>
              <a:t>Privacy and </a:t>
            </a:r>
            <a:r>
              <a:rPr lang="en-US" dirty="0">
                <a:hlinkClick r:id="rId5" tooltip="Confidentiality"/>
              </a:rPr>
              <a:t>confidentiality</a:t>
            </a:r>
            <a:r>
              <a:rPr lang="en-US" dirty="0"/>
              <a:t> are big concerns in some activities. </a:t>
            </a:r>
          </a:p>
          <a:p>
            <a:pPr algn="just"/>
            <a:r>
              <a:rPr lang="en-US" dirty="0"/>
              <a:t>Cloud computing is beneficial to many enterprises; it lowers costs and allows them to focus on competence instead of on matters of IT and infrastructure. Nevertheless, cloud computing has proven to have some limitations and disadvantages, especially for smaller business operations, particularly regarding security and downtime. </a:t>
            </a:r>
          </a:p>
          <a:p>
            <a:pPr algn="just"/>
            <a:r>
              <a:rPr lang="en-US" dirty="0"/>
              <a:t>Since this technology's systems rely on the internet, an individual cannot be able to access their applications, server or data from the cloud during an outage.</a:t>
            </a:r>
          </a:p>
          <a:p>
            <a:endParaRPr lang="en-US" dirty="0"/>
          </a:p>
        </p:txBody>
      </p:sp>
      <p:sp>
        <p:nvSpPr>
          <p:cNvPr id="4" name="Slide Number Placeholder 3"/>
          <p:cNvSpPr>
            <a:spLocks noGrp="1"/>
          </p:cNvSpPr>
          <p:nvPr>
            <p:ph type="sldNum" sz="quarter" idx="12"/>
          </p:nvPr>
        </p:nvSpPr>
        <p:spPr/>
        <p:txBody>
          <a:bodyPr/>
          <a:lstStyle/>
          <a:p>
            <a:fld id="{2019AD06-451C-413E-AF31-86503C137FDF}" type="slidenum">
              <a:rPr lang="en-US" smtClean="0"/>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32751"/>
          </a:xfrm>
        </p:spPr>
        <p:style>
          <a:lnRef idx="0">
            <a:scrgbClr r="0" g="0" b="0"/>
          </a:lnRef>
          <a:fillRef idx="1003">
            <a:schemeClr val="lt2"/>
          </a:fillRef>
          <a:effectRef idx="0">
            <a:scrgbClr r="0" g="0" b="0"/>
          </a:effectRef>
          <a:fontRef idx="major"/>
        </p:style>
        <p:txBody>
          <a:bodyPr>
            <a:normAutofit/>
          </a:bodyPr>
          <a:lstStyle/>
          <a:p>
            <a:r>
              <a:rPr lang="en-IN" sz="3600" dirty="0"/>
              <a:t>Simulation Tool</a:t>
            </a:r>
            <a:endParaRPr lang="en-US" sz="3600" dirty="0"/>
          </a:p>
        </p:txBody>
      </p:sp>
      <p:sp>
        <p:nvSpPr>
          <p:cNvPr id="3" name="Content Placeholder 2"/>
          <p:cNvSpPr>
            <a:spLocks noGrp="1"/>
          </p:cNvSpPr>
          <p:nvPr>
            <p:ph idx="1"/>
          </p:nvPr>
        </p:nvSpPr>
        <p:spPr>
          <a:xfrm>
            <a:off x="838200" y="1618592"/>
            <a:ext cx="10515600" cy="4771697"/>
          </a:xfrm>
        </p:spPr>
        <p:txBody>
          <a:bodyPr/>
          <a:lstStyle/>
          <a:p>
            <a:r>
              <a:rPr lang="en-IN" dirty="0">
                <a:solidFill>
                  <a:srgbClr val="FF0000"/>
                </a:solidFill>
              </a:rPr>
              <a:t>Cloud Sim</a:t>
            </a:r>
            <a:r>
              <a:rPr lang="en-IN" dirty="0"/>
              <a:t>ulator (</a:t>
            </a:r>
            <a:r>
              <a:rPr lang="en-IN" dirty="0" err="1"/>
              <a:t>CloudSim</a:t>
            </a:r>
            <a:r>
              <a:rPr lang="en-IN" dirty="0"/>
              <a:t>)</a:t>
            </a:r>
          </a:p>
          <a:p>
            <a:r>
              <a:rPr lang="en-IN" dirty="0">
                <a:solidFill>
                  <a:srgbClr val="FF0000"/>
                </a:solidFill>
              </a:rPr>
              <a:t>Prerequisites</a:t>
            </a:r>
          </a:p>
          <a:p>
            <a:pPr marL="971550" lvl="1" indent="-514350">
              <a:buFont typeface="+mj-lt"/>
              <a:buAutoNum type="arabicPeriod"/>
            </a:pPr>
            <a:r>
              <a:rPr lang="en-IN" dirty="0" err="1"/>
              <a:t>CloudSim</a:t>
            </a:r>
            <a:r>
              <a:rPr lang="en-IN" dirty="0"/>
              <a:t> 3.0.3 </a:t>
            </a:r>
            <a:r>
              <a:rPr lang="en-IN" dirty="0">
                <a:solidFill>
                  <a:schemeClr val="accent1">
                    <a:lumMod val="75000"/>
                  </a:schemeClr>
                </a:solidFill>
              </a:rPr>
              <a:t>(</a:t>
            </a:r>
            <a:r>
              <a:rPr lang="en-US" dirty="0">
                <a:hlinkClick r:id="rId2"/>
              </a:rPr>
              <a:t>https://github.com/Cloudslab/cloudsim/releases/tag/cloudsim-3.0.3</a:t>
            </a:r>
            <a:r>
              <a:rPr lang="en-IN" dirty="0">
                <a:solidFill>
                  <a:schemeClr val="accent1">
                    <a:lumMod val="75000"/>
                  </a:schemeClr>
                </a:solidFill>
              </a:rPr>
              <a:t>)</a:t>
            </a:r>
          </a:p>
          <a:p>
            <a:pPr marL="971550" lvl="1" indent="-514350">
              <a:buFont typeface="+mj-lt"/>
              <a:buAutoNum type="arabicPeriod"/>
            </a:pPr>
            <a:r>
              <a:rPr lang="en-IN" dirty="0"/>
              <a:t>JDK (Preferably latest version) </a:t>
            </a:r>
            <a:r>
              <a:rPr lang="en-IN" dirty="0">
                <a:solidFill>
                  <a:schemeClr val="accent1">
                    <a:lumMod val="75000"/>
                  </a:schemeClr>
                </a:solidFill>
              </a:rPr>
              <a:t>(</a:t>
            </a:r>
            <a:r>
              <a:rPr lang="en-US" dirty="0">
                <a:hlinkClick r:id="rId3"/>
              </a:rPr>
              <a:t>https://www.oracle.com/technetwork/java/javase/downloads/index.html</a:t>
            </a:r>
            <a:r>
              <a:rPr lang="en-IN" dirty="0">
                <a:solidFill>
                  <a:schemeClr val="accent1">
                    <a:lumMod val="75000"/>
                  </a:schemeClr>
                </a:solidFill>
              </a:rPr>
              <a:t>)</a:t>
            </a:r>
          </a:p>
          <a:p>
            <a:pPr marL="971550" lvl="1" indent="-514350">
              <a:buFont typeface="+mj-lt"/>
              <a:buAutoNum type="arabicPeriod"/>
            </a:pPr>
            <a:r>
              <a:rPr lang="en-IN" dirty="0"/>
              <a:t>Eclipse IDE or </a:t>
            </a:r>
            <a:r>
              <a:rPr lang="en-IN" dirty="0" err="1"/>
              <a:t>Netbeans</a:t>
            </a:r>
            <a:r>
              <a:rPr lang="en-IN" dirty="0"/>
              <a:t> </a:t>
            </a:r>
            <a:r>
              <a:rPr lang="en-IN" dirty="0">
                <a:solidFill>
                  <a:schemeClr val="accent1">
                    <a:lumMod val="75000"/>
                  </a:schemeClr>
                </a:solidFill>
              </a:rPr>
              <a:t>(</a:t>
            </a:r>
            <a:r>
              <a:rPr lang="en-US" dirty="0">
                <a:hlinkClick r:id="rId4"/>
              </a:rPr>
              <a:t>https://www.eclipse.org/downloads/packages/release/oxygen</a:t>
            </a:r>
            <a:r>
              <a:rPr lang="en-IN" dirty="0">
                <a:solidFill>
                  <a:schemeClr val="accent1">
                    <a:lumMod val="75000"/>
                  </a:schemeClr>
                </a:solidFill>
              </a:rPr>
              <a:t>)</a:t>
            </a:r>
          </a:p>
          <a:p>
            <a:pPr marL="971550" lvl="1" indent="-514350">
              <a:buFont typeface="+mj-lt"/>
              <a:buAutoNum type="arabicPeriod"/>
            </a:pPr>
            <a:r>
              <a:rPr lang="en-IN" dirty="0"/>
              <a:t>Commons Math3 3.6.1 (commons-math3-3.6.1.jar) </a:t>
            </a:r>
            <a:r>
              <a:rPr lang="en-IN" dirty="0">
                <a:solidFill>
                  <a:schemeClr val="accent1">
                    <a:lumMod val="75000"/>
                  </a:schemeClr>
                </a:solidFill>
              </a:rPr>
              <a:t>(</a:t>
            </a:r>
            <a:r>
              <a:rPr lang="en-US" dirty="0">
                <a:hlinkClick r:id="rId5"/>
              </a:rPr>
              <a:t>http://commons.apache.org/proper/commons-math/download_math.cgi</a:t>
            </a:r>
            <a:r>
              <a:rPr lang="en-IN" dirty="0">
                <a:solidFill>
                  <a:schemeClr val="accent1">
                    <a:lumMod val="75000"/>
                  </a:schemeClr>
                </a:solidFill>
              </a:rPr>
              <a:t>)</a:t>
            </a:r>
          </a:p>
          <a:p>
            <a:pPr>
              <a:buNone/>
            </a:pPr>
            <a:endParaRPr lang="en-US" dirty="0"/>
          </a:p>
        </p:txBody>
      </p:sp>
      <p:sp>
        <p:nvSpPr>
          <p:cNvPr id="4" name="Slide Number Placeholder 3"/>
          <p:cNvSpPr>
            <a:spLocks noGrp="1"/>
          </p:cNvSpPr>
          <p:nvPr>
            <p:ph type="sldNum" sz="quarter" idx="12"/>
          </p:nvPr>
        </p:nvSpPr>
        <p:spPr/>
        <p:txBody>
          <a:bodyPr/>
          <a:lstStyle/>
          <a:p>
            <a:fld id="{2019AD06-451C-413E-AF31-86503C137FDF}" type="slidenum">
              <a:rPr lang="en-US" smtClean="0"/>
              <a:pP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69689"/>
          </a:xfrm>
        </p:spPr>
        <p:style>
          <a:lnRef idx="0">
            <a:scrgbClr r="0" g="0" b="0"/>
          </a:lnRef>
          <a:fillRef idx="1003">
            <a:schemeClr val="lt2"/>
          </a:fillRef>
          <a:effectRef idx="0">
            <a:scrgbClr r="0" g="0" b="0"/>
          </a:effectRef>
          <a:fontRef idx="major"/>
        </p:style>
        <p:txBody>
          <a:bodyPr>
            <a:normAutofit/>
          </a:bodyPr>
          <a:lstStyle/>
          <a:p>
            <a:r>
              <a:rPr lang="en-IN" sz="3600" dirty="0">
                <a:solidFill>
                  <a:srgbClr val="FF0000"/>
                </a:solidFill>
              </a:rPr>
              <a:t>Why</a:t>
            </a:r>
            <a:r>
              <a:rPr lang="en-IN" sz="3600" dirty="0"/>
              <a:t> </a:t>
            </a:r>
            <a:r>
              <a:rPr lang="en-IN" sz="3600" dirty="0" err="1"/>
              <a:t>CloudSim</a:t>
            </a:r>
            <a:r>
              <a:rPr lang="en-IN" sz="3600" dirty="0"/>
              <a:t> ?</a:t>
            </a:r>
            <a:endParaRPr lang="en-US" sz="3600" dirty="0"/>
          </a:p>
        </p:txBody>
      </p:sp>
      <p:sp>
        <p:nvSpPr>
          <p:cNvPr id="3" name="Content Placeholder 2"/>
          <p:cNvSpPr>
            <a:spLocks noGrp="1"/>
          </p:cNvSpPr>
          <p:nvPr>
            <p:ph idx="1"/>
          </p:nvPr>
        </p:nvSpPr>
        <p:spPr>
          <a:xfrm>
            <a:off x="838200" y="1797269"/>
            <a:ext cx="10515600" cy="4582510"/>
          </a:xfrm>
        </p:spPr>
        <p:txBody>
          <a:bodyPr>
            <a:normAutofit/>
          </a:bodyPr>
          <a:lstStyle/>
          <a:p>
            <a:pPr algn="just"/>
            <a:r>
              <a:rPr lang="en-US" sz="2000" dirty="0"/>
              <a:t>Support for modeling and simulation of large-scale Cloud computing environments, including data centers, on a single physical computing node(could be a desktop, laptop, or server machine).</a:t>
            </a:r>
          </a:p>
          <a:p>
            <a:pPr algn="just"/>
            <a:r>
              <a:rPr lang="en-US" sz="2000" dirty="0"/>
              <a:t>A self-contained platform for modeling Clouds, service brokers, provisioning, and allocation policies.</a:t>
            </a:r>
          </a:p>
          <a:p>
            <a:pPr algn="just"/>
            <a:r>
              <a:rPr lang="en-US" sz="2000" dirty="0"/>
              <a:t>Facilitates the simulation of network connections across the simulated system elements.</a:t>
            </a:r>
          </a:p>
          <a:p>
            <a:pPr algn="just"/>
            <a:r>
              <a:rPr lang="en-US" sz="2000" dirty="0"/>
              <a:t>Facility for simulation of federated Cloud environment that inter-networks resources from both private and public domains, a feature critical for research studies related to Cloudbursts and automatic application scaling.</a:t>
            </a:r>
          </a:p>
          <a:p>
            <a:pPr algn="just"/>
            <a:r>
              <a:rPr lang="en-US" sz="2000" dirty="0"/>
              <a:t>Availability of a virtualization engine that facilitates the creation and management of multiple, independent, and co-hosted virtualized services on a data center node.</a:t>
            </a:r>
          </a:p>
          <a:p>
            <a:pPr algn="just"/>
            <a:r>
              <a:rPr lang="en-US" sz="2000" dirty="0"/>
              <a:t>Flexibility to switch between space-shared and time-shared allocation of processing cores to virtualized services.</a:t>
            </a:r>
          </a:p>
          <a:p>
            <a:endParaRPr lang="en-US" dirty="0"/>
          </a:p>
        </p:txBody>
      </p:sp>
      <p:sp>
        <p:nvSpPr>
          <p:cNvPr id="4" name="Slide Number Placeholder 3"/>
          <p:cNvSpPr>
            <a:spLocks noGrp="1"/>
          </p:cNvSpPr>
          <p:nvPr>
            <p:ph type="sldNum" sz="quarter" idx="12"/>
          </p:nvPr>
        </p:nvSpPr>
        <p:spPr/>
        <p:txBody>
          <a:bodyPr/>
          <a:lstStyle/>
          <a:p>
            <a:fld id="{2019AD06-451C-413E-AF31-86503C137FDF}" type="slidenum">
              <a:rPr lang="en-US" smtClean="0"/>
              <a:pPr/>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0">
            <a:scrgbClr r="0" g="0" b="0"/>
          </a:lnRef>
          <a:fillRef idx="1003">
            <a:schemeClr val="lt2"/>
          </a:fillRef>
          <a:effectRef idx="0">
            <a:scrgbClr r="0" g="0" b="0"/>
          </a:effectRef>
          <a:fontRef idx="major"/>
        </p:style>
        <p:txBody>
          <a:bodyPr>
            <a:normAutofit/>
          </a:bodyPr>
          <a:lstStyle/>
          <a:p>
            <a:r>
              <a:rPr lang="en-IN" sz="3600" dirty="0">
                <a:solidFill>
                  <a:srgbClr val="FF0000"/>
                </a:solidFill>
              </a:rPr>
              <a:t>What</a:t>
            </a:r>
            <a:r>
              <a:rPr lang="en-IN" sz="3600" dirty="0"/>
              <a:t> </a:t>
            </a:r>
            <a:r>
              <a:rPr lang="en-IN" sz="3600" dirty="0" err="1"/>
              <a:t>CloudSim</a:t>
            </a:r>
            <a:r>
              <a:rPr lang="en-IN" sz="3600" dirty="0"/>
              <a:t>?</a:t>
            </a:r>
            <a:endParaRPr lang="en-US" sz="3600" dirty="0"/>
          </a:p>
        </p:txBody>
      </p:sp>
      <p:sp>
        <p:nvSpPr>
          <p:cNvPr id="3" name="Content Placeholder 2"/>
          <p:cNvSpPr>
            <a:spLocks noGrp="1"/>
          </p:cNvSpPr>
          <p:nvPr>
            <p:ph idx="1"/>
          </p:nvPr>
        </p:nvSpPr>
        <p:spPr>
          <a:xfrm>
            <a:off x="838200" y="1986455"/>
            <a:ext cx="10515600" cy="4190508"/>
          </a:xfrm>
        </p:spPr>
        <p:txBody>
          <a:bodyPr>
            <a:normAutofit/>
          </a:bodyPr>
          <a:lstStyle/>
          <a:p>
            <a:pPr algn="just"/>
            <a:r>
              <a:rPr lang="en-US" sz="2000" dirty="0"/>
              <a:t>Several simulators can be used to simulate the working of new services, among them </a:t>
            </a:r>
            <a:r>
              <a:rPr lang="en-US" sz="2000" b="1" dirty="0" err="1"/>
              <a:t>CloudSim</a:t>
            </a:r>
            <a:r>
              <a:rPr lang="en-US" sz="2000" b="1" dirty="0"/>
              <a:t> Simulation Toolkit is the more generalized and effective simulator for testing Cloud computing-related hypothesis</a:t>
            </a:r>
            <a:r>
              <a:rPr lang="en-US" sz="2000" dirty="0"/>
              <a:t>. </a:t>
            </a:r>
          </a:p>
          <a:p>
            <a:pPr algn="just"/>
            <a:r>
              <a:rPr lang="en-US" sz="2000" dirty="0" err="1">
                <a:hlinkClick r:id="rId2"/>
              </a:rPr>
              <a:t>CloudSim</a:t>
            </a:r>
            <a:r>
              <a:rPr lang="en-US" sz="2000" dirty="0"/>
              <a:t> is an extensible simulation framework developed by a team of researchers(under the guidance of </a:t>
            </a:r>
            <a:r>
              <a:rPr lang="en-US" sz="2000" dirty="0">
                <a:hlinkClick r:id="rId3"/>
              </a:rPr>
              <a:t>Dr. Raj Kumar </a:t>
            </a:r>
            <a:r>
              <a:rPr lang="en-US" sz="2000" dirty="0" err="1">
                <a:hlinkClick r:id="rId3"/>
              </a:rPr>
              <a:t>Buyya</a:t>
            </a:r>
            <a:r>
              <a:rPr lang="en-US" sz="2000" dirty="0"/>
              <a:t>) at </a:t>
            </a:r>
            <a:r>
              <a:rPr lang="en-US" sz="2000" dirty="0">
                <a:hlinkClick r:id="rId4"/>
              </a:rPr>
              <a:t>Cloud Computing and Distributed Systems (CLOUDS) Laboratory, University of Melbourne</a:t>
            </a:r>
            <a:r>
              <a:rPr lang="en-US" sz="2000" dirty="0"/>
              <a:t>. </a:t>
            </a:r>
          </a:p>
          <a:p>
            <a:pPr algn="just"/>
            <a:r>
              <a:rPr lang="en-US" sz="2000" dirty="0"/>
              <a:t>This toolkit allows seamless modeling, simulation, and Experimentation related to cloud-based infrastructures and application services and its various released versions are published on </a:t>
            </a:r>
            <a:r>
              <a:rPr lang="en-US" sz="2000" dirty="0" err="1"/>
              <a:t>Cloudsim’s</a:t>
            </a:r>
            <a:r>
              <a:rPr lang="en-US" sz="2000" dirty="0"/>
              <a:t> </a:t>
            </a:r>
            <a:r>
              <a:rPr lang="en-US" sz="2000" dirty="0" err="1"/>
              <a:t>GitHub</a:t>
            </a:r>
            <a:r>
              <a:rPr lang="en-US" sz="2000" dirty="0"/>
              <a:t> project page.</a:t>
            </a:r>
          </a:p>
          <a:p>
            <a:pPr algn="just"/>
            <a:r>
              <a:rPr lang="en-US" sz="2000" dirty="0"/>
              <a:t>This simulation toolkit allows the researchers as well as cloud developers to test the performance of the potential cloud application for performance testing in a controlled and easy to setup environment.</a:t>
            </a:r>
          </a:p>
        </p:txBody>
      </p:sp>
      <p:sp>
        <p:nvSpPr>
          <p:cNvPr id="4" name="Slide Number Placeholder 3"/>
          <p:cNvSpPr>
            <a:spLocks noGrp="1"/>
          </p:cNvSpPr>
          <p:nvPr>
            <p:ph type="sldNum" sz="quarter" idx="12"/>
          </p:nvPr>
        </p:nvSpPr>
        <p:spPr/>
        <p:txBody>
          <a:bodyPr/>
          <a:lstStyle/>
          <a:p>
            <a:fld id="{2019AD06-451C-413E-AF31-86503C137FDF}" type="slidenum">
              <a:rPr lang="en-US" smtClean="0"/>
              <a:pPr/>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0">
            <a:scrgbClr r="0" g="0" b="0"/>
          </a:lnRef>
          <a:fillRef idx="1003">
            <a:schemeClr val="lt2"/>
          </a:fillRef>
          <a:effectRef idx="0">
            <a:scrgbClr r="0" g="0" b="0"/>
          </a:effectRef>
          <a:fontRef idx="major"/>
        </p:style>
        <p:txBody>
          <a:bodyPr>
            <a:normAutofit/>
          </a:bodyPr>
          <a:lstStyle/>
          <a:p>
            <a:r>
              <a:rPr lang="en-IN" sz="3600" dirty="0" err="1"/>
              <a:t>CloudSim</a:t>
            </a:r>
            <a:r>
              <a:rPr lang="en-IN" sz="3600" dirty="0"/>
              <a:t> Architecture</a:t>
            </a:r>
            <a:endParaRPr lang="en-US" sz="3600" dirty="0"/>
          </a:p>
        </p:txBody>
      </p:sp>
      <p:pic>
        <p:nvPicPr>
          <p:cNvPr id="5" name="Content Placeholder 4" descr="Architecture-of-CloudSim-18.png"/>
          <p:cNvPicPr>
            <a:picLocks noGrp="1" noChangeAspect="1"/>
          </p:cNvPicPr>
          <p:nvPr>
            <p:ph idx="1"/>
          </p:nvPr>
        </p:nvPicPr>
        <p:blipFill>
          <a:blip r:embed="rId2"/>
          <a:stretch>
            <a:fillRect/>
          </a:stretch>
        </p:blipFill>
        <p:spPr>
          <a:xfrm>
            <a:off x="1513491" y="1825625"/>
            <a:ext cx="9669516" cy="4774872"/>
          </a:xfrm>
        </p:spPr>
      </p:pic>
      <p:sp>
        <p:nvSpPr>
          <p:cNvPr id="4" name="Slide Number Placeholder 3"/>
          <p:cNvSpPr>
            <a:spLocks noGrp="1"/>
          </p:cNvSpPr>
          <p:nvPr>
            <p:ph type="sldNum" sz="quarter" idx="12"/>
          </p:nvPr>
        </p:nvSpPr>
        <p:spPr/>
        <p:txBody>
          <a:bodyPr/>
          <a:lstStyle/>
          <a:p>
            <a:fld id="{2019AD06-451C-413E-AF31-86503C137FDF}" type="slidenum">
              <a:rPr lang="en-US" smtClean="0"/>
              <a:pPr/>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90709"/>
          </a:xfrm>
        </p:spPr>
        <p:style>
          <a:lnRef idx="0">
            <a:scrgbClr r="0" g="0" b="0"/>
          </a:lnRef>
          <a:fillRef idx="1003">
            <a:schemeClr val="lt2"/>
          </a:fillRef>
          <a:effectRef idx="0">
            <a:scrgbClr r="0" g="0" b="0"/>
          </a:effectRef>
          <a:fontRef idx="major"/>
        </p:style>
        <p:txBody>
          <a:bodyPr>
            <a:normAutofit/>
          </a:bodyPr>
          <a:lstStyle/>
          <a:p>
            <a:r>
              <a:rPr lang="en-IN" sz="3600" dirty="0"/>
              <a:t>Contd… </a:t>
            </a:r>
            <a:endParaRPr lang="en-US" sz="3600" dirty="0"/>
          </a:p>
        </p:txBody>
      </p:sp>
      <p:sp>
        <p:nvSpPr>
          <p:cNvPr id="3" name="Content Placeholder 2"/>
          <p:cNvSpPr>
            <a:spLocks noGrp="1"/>
          </p:cNvSpPr>
          <p:nvPr>
            <p:ph idx="1"/>
          </p:nvPr>
        </p:nvSpPr>
        <p:spPr>
          <a:xfrm>
            <a:off x="838200" y="1597572"/>
            <a:ext cx="10515600" cy="4579391"/>
          </a:xfrm>
        </p:spPr>
        <p:txBody>
          <a:bodyPr>
            <a:normAutofit/>
          </a:bodyPr>
          <a:lstStyle/>
          <a:p>
            <a:pPr algn="just"/>
            <a:r>
              <a:rPr lang="en-US" sz="2000" dirty="0"/>
              <a:t>The above diagram demonstrates the layered architecture of </a:t>
            </a:r>
            <a:r>
              <a:rPr lang="en-US" sz="2000" dirty="0" err="1"/>
              <a:t>CloudSim</a:t>
            </a:r>
            <a:r>
              <a:rPr lang="en-US" sz="2000" dirty="0"/>
              <a:t> Simulation Toolkit. The </a:t>
            </a:r>
            <a:r>
              <a:rPr lang="en-US" sz="2000" b="1" dirty="0" err="1"/>
              <a:t>CloudSim</a:t>
            </a:r>
            <a:r>
              <a:rPr lang="en-US" sz="2000" b="1" dirty="0"/>
              <a:t> Core simulation engine</a:t>
            </a:r>
            <a:r>
              <a:rPr lang="en-US" sz="2000" dirty="0"/>
              <a:t> provides support for modeling and simulation of virtualized Cloud-based data center environments including queuing and processing of events, creation of cloud system entities (like data center, host, virtual machines, brokers, services, etc.) communication between components and management of the simulation clock.</a:t>
            </a:r>
          </a:p>
          <a:p>
            <a:pPr algn="just">
              <a:buNone/>
            </a:pPr>
            <a:endParaRPr lang="en-US" sz="2000" dirty="0"/>
          </a:p>
          <a:p>
            <a:pPr algn="just"/>
            <a:r>
              <a:rPr lang="en-US" sz="2000" dirty="0"/>
              <a:t>The </a:t>
            </a:r>
            <a:r>
              <a:rPr lang="en-US" sz="2000" b="1" dirty="0" err="1"/>
              <a:t>CloudSim</a:t>
            </a:r>
            <a:r>
              <a:rPr lang="en-US" sz="2000" b="1" dirty="0"/>
              <a:t> layer</a:t>
            </a:r>
            <a:r>
              <a:rPr lang="en-US" sz="2000" dirty="0"/>
              <a:t> provides dedicated management interfaces for Virtual Machines, memory, storage, and bandwidth. Also, it manages the other fundamental issues, such as provisioning of hosts to Virtual Machines, managing application execution, and monitoring dynamic system state(e.g. Network topology, sensors, storage characteristics, etc), etc.</a:t>
            </a:r>
          </a:p>
          <a:p>
            <a:pPr algn="just">
              <a:buNone/>
            </a:pPr>
            <a:endParaRPr lang="en-US" sz="2000" dirty="0"/>
          </a:p>
          <a:p>
            <a:pPr algn="just"/>
            <a:r>
              <a:rPr lang="en-US" sz="2000" dirty="0"/>
              <a:t>The </a:t>
            </a:r>
            <a:r>
              <a:rPr lang="en-US" sz="2000" b="1" dirty="0"/>
              <a:t>User Code layer</a:t>
            </a:r>
            <a:r>
              <a:rPr lang="en-US" sz="2000" dirty="0"/>
              <a:t> is a custom layer where the user writes their own code to redefine the characteristics of the stimulating environment as per their new research findings.</a:t>
            </a:r>
          </a:p>
          <a:p>
            <a:endParaRPr lang="en-US" dirty="0"/>
          </a:p>
        </p:txBody>
      </p:sp>
      <p:sp>
        <p:nvSpPr>
          <p:cNvPr id="4" name="Slide Number Placeholder 3"/>
          <p:cNvSpPr>
            <a:spLocks noGrp="1"/>
          </p:cNvSpPr>
          <p:nvPr>
            <p:ph type="sldNum" sz="quarter" idx="12"/>
          </p:nvPr>
        </p:nvSpPr>
        <p:spPr/>
        <p:txBody>
          <a:bodyPr/>
          <a:lstStyle/>
          <a:p>
            <a:fld id="{2019AD06-451C-413E-AF31-86503C137FDF}" type="slidenum">
              <a:rPr lang="en-US" smtClean="0"/>
              <a:pPr/>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33054"/>
          </a:xfrm>
        </p:spPr>
        <p:style>
          <a:lnRef idx="0">
            <a:scrgbClr r="0" g="0" b="0"/>
          </a:lnRef>
          <a:fillRef idx="1003">
            <a:schemeClr val="lt2"/>
          </a:fillRef>
          <a:effectRef idx="0">
            <a:scrgbClr r="0" g="0" b="0"/>
          </a:effectRef>
          <a:fontRef idx="major"/>
        </p:style>
        <p:txBody>
          <a:bodyPr>
            <a:normAutofit/>
          </a:bodyPr>
          <a:lstStyle/>
          <a:p>
            <a:r>
              <a:rPr lang="en-IN" sz="3600" dirty="0"/>
              <a:t>Classes Of </a:t>
            </a:r>
            <a:r>
              <a:rPr lang="en-IN" sz="3600" dirty="0" err="1"/>
              <a:t>CloudSim</a:t>
            </a:r>
            <a:endParaRPr lang="en-US" sz="3600" dirty="0"/>
          </a:p>
        </p:txBody>
      </p:sp>
      <p:sp>
        <p:nvSpPr>
          <p:cNvPr id="3" name="Content Placeholder 2"/>
          <p:cNvSpPr>
            <a:spLocks noGrp="1"/>
          </p:cNvSpPr>
          <p:nvPr>
            <p:ph idx="1"/>
          </p:nvPr>
        </p:nvSpPr>
        <p:spPr>
          <a:xfrm>
            <a:off x="838200" y="1292772"/>
            <a:ext cx="10515600" cy="5360276"/>
          </a:xfrm>
        </p:spPr>
        <p:txBody>
          <a:bodyPr>
            <a:normAutofit lnSpcReduction="10000"/>
          </a:bodyPr>
          <a:lstStyle/>
          <a:p>
            <a:pPr algn="just"/>
            <a:r>
              <a:rPr lang="en-US" sz="2000" u="sng" dirty="0">
                <a:solidFill>
                  <a:srgbClr val="FF0000"/>
                </a:solidFill>
              </a:rPr>
              <a:t>Cloudlet</a:t>
            </a:r>
            <a:r>
              <a:rPr lang="en-US" sz="2000" dirty="0">
                <a:solidFill>
                  <a:srgbClr val="FF0000"/>
                </a:solidFill>
              </a:rPr>
              <a:t>:</a:t>
            </a:r>
            <a:r>
              <a:rPr lang="en-US" sz="2000" dirty="0"/>
              <a:t> This class model(define specific attributes such as length of instruction, input/output </a:t>
            </a:r>
            <a:r>
              <a:rPr lang="en-US" sz="2000" dirty="0" err="1"/>
              <a:t>filesize</a:t>
            </a:r>
            <a:r>
              <a:rPr lang="en-US" sz="2000" dirty="0"/>
              <a:t>, no of processor required, etc).</a:t>
            </a:r>
          </a:p>
          <a:p>
            <a:pPr algn="just"/>
            <a:r>
              <a:rPr lang="en-US" sz="2000" u="sng" dirty="0" err="1">
                <a:solidFill>
                  <a:srgbClr val="FF0000"/>
                </a:solidFill>
              </a:rPr>
              <a:t>CloudletScheduler</a:t>
            </a:r>
            <a:r>
              <a:rPr lang="en-US" sz="2000" dirty="0">
                <a:solidFill>
                  <a:srgbClr val="FF0000"/>
                </a:solidFill>
              </a:rPr>
              <a:t>:</a:t>
            </a:r>
            <a:r>
              <a:rPr lang="en-US" sz="2000" dirty="0"/>
              <a:t> This is responsible for the implementation of different policies that determine the share of processing power among Cloudlets in a VM. </a:t>
            </a:r>
            <a:r>
              <a:rPr lang="en-US" sz="2000" i="1" dirty="0"/>
              <a:t>There are two types of provisioning policies offered: space-shared (using </a:t>
            </a:r>
            <a:r>
              <a:rPr lang="en-US" sz="2000" i="1" dirty="0" err="1"/>
              <a:t>CloudetSchedulerSpaceShared</a:t>
            </a:r>
            <a:r>
              <a:rPr lang="en-US" sz="2000" i="1" dirty="0"/>
              <a:t> class) and time-shared (using </a:t>
            </a:r>
            <a:r>
              <a:rPr lang="en-US" sz="2000" i="1" dirty="0" err="1"/>
              <a:t>CloudletSchedulerTimeShared</a:t>
            </a:r>
            <a:r>
              <a:rPr lang="en-US" sz="2000" i="1" dirty="0"/>
              <a:t> class</a:t>
            </a:r>
            <a:r>
              <a:rPr lang="en-US" sz="2000" dirty="0"/>
              <a:t>).</a:t>
            </a:r>
          </a:p>
          <a:p>
            <a:pPr algn="just"/>
            <a:r>
              <a:rPr lang="en-US" sz="2000" u="sng" dirty="0">
                <a:solidFill>
                  <a:srgbClr val="FF0000"/>
                </a:solidFill>
              </a:rPr>
              <a:t>Datacenter</a:t>
            </a:r>
            <a:r>
              <a:rPr lang="en-US" sz="2000" dirty="0">
                <a:solidFill>
                  <a:srgbClr val="FF0000"/>
                </a:solidFill>
              </a:rPr>
              <a:t>:</a:t>
            </a:r>
            <a:r>
              <a:rPr lang="en-US" sz="2000" dirty="0"/>
              <a:t> This class model the core infrastructure-level services (i.e. hardware) that are offered by Cloud providers (Amazon, Azure, and App Engine). </a:t>
            </a:r>
            <a:r>
              <a:rPr lang="en-US" sz="2000" i="1" dirty="0"/>
              <a:t>It encapsulates a set of hosts(resembling server machine model) instances that can either be homogeneous or heterogeneous concerning their hardware configurations (memory, cores, capacity, and storage).</a:t>
            </a:r>
            <a:r>
              <a:rPr lang="en-US" sz="2000" dirty="0"/>
              <a:t> </a:t>
            </a:r>
          </a:p>
          <a:p>
            <a:pPr algn="just"/>
            <a:r>
              <a:rPr lang="en-US" sz="2000" u="sng" dirty="0" err="1">
                <a:solidFill>
                  <a:srgbClr val="FF0000"/>
                </a:solidFill>
              </a:rPr>
              <a:t>DatacenterBroker</a:t>
            </a:r>
            <a:r>
              <a:rPr lang="en-US" sz="2000" u="sng" dirty="0">
                <a:solidFill>
                  <a:srgbClr val="FF0000"/>
                </a:solidFill>
              </a:rPr>
              <a:t> or Cloud Broker:</a:t>
            </a:r>
            <a:r>
              <a:rPr lang="en-US" sz="2000" dirty="0"/>
              <a:t> This class model a broker, which is responsible for mediating negotiations between </a:t>
            </a:r>
            <a:r>
              <a:rPr lang="en-US" sz="2000" dirty="0" err="1"/>
              <a:t>SaaS</a:t>
            </a:r>
            <a:r>
              <a:rPr lang="en-US" sz="2000" dirty="0"/>
              <a:t> and Cloud providers and such negotiations are driven by QoS requirements. The broker class acts on behalf of applications. Its prime role is to query the CIS to discover suitable resources/services and undertakes negotiations for the allocation of resources/services that can fulfill the application’s QoS needs. This class must be extended for evaluating and testing custom brokering policies.</a:t>
            </a:r>
          </a:p>
          <a:p>
            <a:pPr algn="just"/>
            <a:r>
              <a:rPr lang="en-US" sz="2000" u="sng" dirty="0" err="1">
                <a:solidFill>
                  <a:srgbClr val="FF0000"/>
                </a:solidFill>
              </a:rPr>
              <a:t>DatacenterCharacteristics</a:t>
            </a:r>
            <a:r>
              <a:rPr lang="en-US" sz="2000" dirty="0">
                <a:solidFill>
                  <a:srgbClr val="FF0000"/>
                </a:solidFill>
              </a:rPr>
              <a:t>:</a:t>
            </a:r>
            <a:r>
              <a:rPr lang="en-US" sz="2000" dirty="0"/>
              <a:t> This class contains configuration information of data center resources like the available host list, the fine-grained cost for each resource type, etc.</a:t>
            </a:r>
          </a:p>
          <a:p>
            <a:pPr algn="just">
              <a:buNone/>
            </a:pPr>
            <a:endParaRPr lang="en-US" sz="2000" dirty="0"/>
          </a:p>
        </p:txBody>
      </p:sp>
      <p:sp>
        <p:nvSpPr>
          <p:cNvPr id="4" name="Slide Number Placeholder 3"/>
          <p:cNvSpPr>
            <a:spLocks noGrp="1"/>
          </p:cNvSpPr>
          <p:nvPr>
            <p:ph type="sldNum" sz="quarter" idx="12"/>
          </p:nvPr>
        </p:nvSpPr>
        <p:spPr/>
        <p:txBody>
          <a:bodyPr/>
          <a:lstStyle/>
          <a:p>
            <a:fld id="{2019AD06-451C-413E-AF31-86503C137FDF}" type="slidenum">
              <a:rPr lang="en-US" smtClean="0"/>
              <a:pPr/>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22544"/>
          </a:xfrm>
        </p:spPr>
        <p:style>
          <a:lnRef idx="0">
            <a:scrgbClr r="0" g="0" b="0"/>
          </a:lnRef>
          <a:fillRef idx="1003">
            <a:schemeClr val="lt2"/>
          </a:fillRef>
          <a:effectRef idx="0">
            <a:scrgbClr r="0" g="0" b="0"/>
          </a:effectRef>
          <a:fontRef idx="major"/>
        </p:style>
        <p:txBody>
          <a:bodyPr>
            <a:normAutofit/>
          </a:bodyPr>
          <a:lstStyle/>
          <a:p>
            <a:r>
              <a:rPr lang="en-IN" sz="3600" dirty="0"/>
              <a:t>Contd…</a:t>
            </a:r>
            <a:endParaRPr lang="en-US" sz="3600" dirty="0"/>
          </a:p>
        </p:txBody>
      </p:sp>
      <p:sp>
        <p:nvSpPr>
          <p:cNvPr id="3" name="Content Placeholder 2"/>
          <p:cNvSpPr>
            <a:spLocks noGrp="1"/>
          </p:cNvSpPr>
          <p:nvPr>
            <p:ph idx="1"/>
          </p:nvPr>
        </p:nvSpPr>
        <p:spPr>
          <a:xfrm>
            <a:off x="838200" y="1292772"/>
            <a:ext cx="10515600" cy="5391807"/>
          </a:xfrm>
        </p:spPr>
        <p:txBody>
          <a:bodyPr>
            <a:normAutofit fontScale="92500" lnSpcReduction="20000"/>
          </a:bodyPr>
          <a:lstStyle/>
          <a:p>
            <a:pPr algn="just"/>
            <a:r>
              <a:rPr lang="en-US" sz="2200" u="sng" dirty="0">
                <a:solidFill>
                  <a:srgbClr val="FF0000"/>
                </a:solidFill>
              </a:rPr>
              <a:t>Host</a:t>
            </a:r>
            <a:r>
              <a:rPr lang="en-US" sz="2200" dirty="0">
                <a:solidFill>
                  <a:srgbClr val="FF0000"/>
                </a:solidFill>
              </a:rPr>
              <a:t>:</a:t>
            </a:r>
            <a:r>
              <a:rPr lang="en-US" sz="2200" dirty="0"/>
              <a:t> This class model a physical resource such as a computer or storage server. It encapsulates important information such as the amount of memory and storage, a list and type of processing cores (if it is a multi-core machine), an allocation of policy for provisioning the compute, memory and bandwidth to the VMs.</a:t>
            </a:r>
          </a:p>
          <a:p>
            <a:pPr algn="just"/>
            <a:r>
              <a:rPr lang="en-US" sz="2200" u="sng" dirty="0" err="1">
                <a:solidFill>
                  <a:srgbClr val="FF0000"/>
                </a:solidFill>
              </a:rPr>
              <a:t>RamProvisioner</a:t>
            </a:r>
            <a:r>
              <a:rPr lang="en-US" sz="2200" dirty="0">
                <a:solidFill>
                  <a:srgbClr val="FF0000"/>
                </a:solidFill>
              </a:rPr>
              <a:t>:</a:t>
            </a:r>
            <a:r>
              <a:rPr lang="en-US" sz="2200" dirty="0"/>
              <a:t> This is an abstract class that represents the provisioning policy for allocating primary memory (RAM) to Virtual Machines. The execution and deployment of VM on a host are feasible only if the </a:t>
            </a:r>
            <a:r>
              <a:rPr lang="en-US" sz="2200" dirty="0" err="1"/>
              <a:t>RamProvisioner</a:t>
            </a:r>
            <a:r>
              <a:rPr lang="en-US" sz="2200" dirty="0"/>
              <a:t> component approves that the host has the required amount of free memory. The </a:t>
            </a:r>
            <a:r>
              <a:rPr lang="en-US" sz="2200" dirty="0" err="1"/>
              <a:t>RamProvisionerSimple</a:t>
            </a:r>
            <a:r>
              <a:rPr lang="en-US" sz="2200" dirty="0"/>
              <a:t> does not enforce any limitation on the amount of memory that a VM may request. The RAM resource request will be rejected if it is beyond the available capacity.</a:t>
            </a:r>
          </a:p>
          <a:p>
            <a:pPr algn="just"/>
            <a:r>
              <a:rPr lang="en-US" sz="2200" u="sng" dirty="0" err="1">
                <a:solidFill>
                  <a:srgbClr val="FF0000"/>
                </a:solidFill>
              </a:rPr>
              <a:t>BwProvisioner</a:t>
            </a:r>
            <a:r>
              <a:rPr lang="en-US" sz="2200" dirty="0">
                <a:solidFill>
                  <a:srgbClr val="FF0000"/>
                </a:solidFill>
              </a:rPr>
              <a:t>:</a:t>
            </a:r>
            <a:r>
              <a:rPr lang="en-US" sz="2200" dirty="0"/>
              <a:t> The main role of this component is to undertake the allocation of network bandwidths to a set of competing VMs that are deployed across the data center.</a:t>
            </a:r>
          </a:p>
          <a:p>
            <a:pPr algn="just"/>
            <a:r>
              <a:rPr lang="en-US" sz="2200" u="sng" dirty="0" err="1">
                <a:solidFill>
                  <a:srgbClr val="FF0000"/>
                </a:solidFill>
              </a:rPr>
              <a:t>Vm</a:t>
            </a:r>
            <a:r>
              <a:rPr lang="en-US" sz="2200" dirty="0">
                <a:solidFill>
                  <a:srgbClr val="FF0000"/>
                </a:solidFill>
              </a:rPr>
              <a:t>:</a:t>
            </a:r>
            <a:r>
              <a:rPr lang="en-US" sz="2200" dirty="0"/>
              <a:t> This class model a Virtual Machine (VM), which is managed and hosted by a Cloud host component. Every VM component has access to a component that stores the following characteristics related to a VM (i.e.) accessible memory, processor, storage size, and the VM’s internal provisioning policy that is extended from an abstract class called the </a:t>
            </a:r>
            <a:r>
              <a:rPr lang="en-US" sz="2200" dirty="0" err="1"/>
              <a:t>CloudletScheduler</a:t>
            </a:r>
            <a:r>
              <a:rPr lang="en-US" sz="2200" dirty="0"/>
              <a:t>.</a:t>
            </a:r>
          </a:p>
          <a:p>
            <a:pPr algn="just"/>
            <a:r>
              <a:rPr lang="en-US" sz="2200" u="sng" dirty="0" err="1">
                <a:solidFill>
                  <a:srgbClr val="FF0000"/>
                </a:solidFill>
              </a:rPr>
              <a:t>VmAllocationPolicy</a:t>
            </a:r>
            <a:r>
              <a:rPr lang="en-US" sz="2200" dirty="0">
                <a:solidFill>
                  <a:srgbClr val="FF0000"/>
                </a:solidFill>
              </a:rPr>
              <a:t>:</a:t>
            </a:r>
            <a:r>
              <a:rPr lang="en-US" sz="2200" dirty="0"/>
              <a:t> This is an abstract class that represents a provisioning policy to be utilized by VM Monitor for mapping VMs to hosts. </a:t>
            </a:r>
          </a:p>
          <a:p>
            <a:pPr algn="just"/>
            <a:r>
              <a:rPr lang="en-US" sz="2200" u="sng" dirty="0" err="1">
                <a:solidFill>
                  <a:srgbClr val="FF0000"/>
                </a:solidFill>
              </a:rPr>
              <a:t>VmScheduler</a:t>
            </a:r>
            <a:r>
              <a:rPr lang="en-US" sz="2200" dirty="0">
                <a:solidFill>
                  <a:srgbClr val="FF0000"/>
                </a:solidFill>
              </a:rPr>
              <a:t>:</a:t>
            </a:r>
            <a:r>
              <a:rPr lang="en-US" sz="2200" dirty="0"/>
              <a:t> This is an abstract class implemented by a Host component that models the allocation policies (space-shared, time-shared) defining the rules for processor cores allocations to VMs.</a:t>
            </a:r>
          </a:p>
          <a:p>
            <a:endParaRPr lang="en-US" dirty="0"/>
          </a:p>
        </p:txBody>
      </p:sp>
      <p:sp>
        <p:nvSpPr>
          <p:cNvPr id="4" name="Slide Number Placeholder 3"/>
          <p:cNvSpPr>
            <a:spLocks noGrp="1"/>
          </p:cNvSpPr>
          <p:nvPr>
            <p:ph type="sldNum" sz="quarter" idx="12"/>
          </p:nvPr>
        </p:nvSpPr>
        <p:spPr/>
        <p:txBody>
          <a:bodyPr/>
          <a:lstStyle/>
          <a:p>
            <a:fld id="{2019AD06-451C-413E-AF31-86503C137FDF}" type="slidenum">
              <a:rPr lang="en-US" smtClean="0"/>
              <a:pPr/>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06627"/>
          </a:xfrm>
        </p:spPr>
        <p:style>
          <a:lnRef idx="0">
            <a:scrgbClr r="0" g="0" b="0"/>
          </a:lnRef>
          <a:fillRef idx="1003">
            <a:schemeClr val="lt2"/>
          </a:fillRef>
          <a:effectRef idx="0">
            <a:scrgbClr r="0" g="0" b="0"/>
          </a:effectRef>
          <a:fontRef idx="major"/>
        </p:style>
        <p:txBody>
          <a:bodyPr>
            <a:normAutofit/>
          </a:bodyPr>
          <a:lstStyle/>
          <a:p>
            <a:r>
              <a:rPr lang="en-IN" sz="3600" dirty="0"/>
              <a:t>Contd…</a:t>
            </a:r>
            <a:endParaRPr lang="en-US" sz="3600" dirty="0"/>
          </a:p>
        </p:txBody>
      </p:sp>
      <p:sp>
        <p:nvSpPr>
          <p:cNvPr id="3" name="Content Placeholder 2"/>
          <p:cNvSpPr>
            <a:spLocks noGrp="1"/>
          </p:cNvSpPr>
          <p:nvPr>
            <p:ph idx="1"/>
          </p:nvPr>
        </p:nvSpPr>
        <p:spPr>
          <a:xfrm>
            <a:off x="838200" y="1208690"/>
            <a:ext cx="10515600" cy="5507420"/>
          </a:xfrm>
        </p:spPr>
        <p:txBody>
          <a:bodyPr>
            <a:normAutofit fontScale="92500"/>
          </a:bodyPr>
          <a:lstStyle/>
          <a:p>
            <a:pPr algn="just"/>
            <a:r>
              <a:rPr lang="en-US" sz="2200" u="sng" dirty="0" err="1">
                <a:solidFill>
                  <a:srgbClr val="FF0000"/>
                </a:solidFill>
              </a:rPr>
              <a:t>CloudSim</a:t>
            </a:r>
            <a:r>
              <a:rPr lang="en-US" sz="2200" dirty="0">
                <a:solidFill>
                  <a:srgbClr val="FF0000"/>
                </a:solidFill>
              </a:rPr>
              <a:t>:</a:t>
            </a:r>
            <a:r>
              <a:rPr lang="en-US" sz="2200" dirty="0"/>
              <a:t> This is the prime class, with the role of managing entity event queues and controlling the sequential execution of simulation events.</a:t>
            </a:r>
          </a:p>
          <a:p>
            <a:pPr algn="just"/>
            <a:r>
              <a:rPr lang="en-US" sz="2200" u="sng" dirty="0" err="1">
                <a:solidFill>
                  <a:srgbClr val="FF0000"/>
                </a:solidFill>
              </a:rPr>
              <a:t>SimEntity</a:t>
            </a:r>
            <a:r>
              <a:rPr lang="en-US" sz="2200" dirty="0">
                <a:solidFill>
                  <a:srgbClr val="FF0000"/>
                </a:solidFill>
              </a:rPr>
              <a:t>:</a:t>
            </a:r>
            <a:r>
              <a:rPr lang="en-US" sz="2200" dirty="0"/>
              <a:t> This is an abstract class, which represents a simulation entity (such as </a:t>
            </a:r>
            <a:r>
              <a:rPr lang="en-US" sz="2200" dirty="0" err="1"/>
              <a:t>DataCenter</a:t>
            </a:r>
            <a:r>
              <a:rPr lang="en-US" sz="2200" dirty="0"/>
              <a:t>, </a:t>
            </a:r>
            <a:r>
              <a:rPr lang="en-US" sz="2200" dirty="0" err="1"/>
              <a:t>DatacenterBroker</a:t>
            </a:r>
            <a:r>
              <a:rPr lang="en-US" sz="2200" dirty="0"/>
              <a:t>, etc) ) that is able to send messages to other entities and processes received messages as well as fire and handle events. </a:t>
            </a:r>
            <a:r>
              <a:rPr lang="en-US" sz="2200" i="1" dirty="0" err="1">
                <a:solidFill>
                  <a:schemeClr val="accent1">
                    <a:lumMod val="75000"/>
                  </a:schemeClr>
                </a:solidFill>
              </a:rPr>
              <a:t>SimEntity</a:t>
            </a:r>
            <a:r>
              <a:rPr lang="en-US" sz="2200" i="1" dirty="0">
                <a:solidFill>
                  <a:schemeClr val="accent1">
                    <a:lumMod val="75000"/>
                  </a:schemeClr>
                </a:solidFill>
              </a:rPr>
              <a:t> class provides the ability to schedule new events and send messages to other entities, where network delay is calculated according to the BRITE model. Once created, entities automatically register with CIS.</a:t>
            </a:r>
            <a:r>
              <a:rPr lang="en-US" sz="2200" dirty="0"/>
              <a:t> All entities must extend this class and override its three core methods: </a:t>
            </a:r>
            <a:r>
              <a:rPr lang="en-US" sz="2200" dirty="0" err="1">
                <a:solidFill>
                  <a:srgbClr val="FF0000"/>
                </a:solidFill>
              </a:rPr>
              <a:t>startEntity</a:t>
            </a:r>
            <a:r>
              <a:rPr lang="en-US" sz="2200" dirty="0">
                <a:solidFill>
                  <a:srgbClr val="FF0000"/>
                </a:solidFill>
              </a:rPr>
              <a:t>()</a:t>
            </a:r>
            <a:r>
              <a:rPr lang="en-US" sz="2200" dirty="0"/>
              <a:t>, which define actions for entity initialization, </a:t>
            </a:r>
            <a:r>
              <a:rPr lang="en-US" sz="2200" dirty="0" err="1">
                <a:solidFill>
                  <a:srgbClr val="FF0000"/>
                </a:solidFill>
              </a:rPr>
              <a:t>processEvent</a:t>
            </a:r>
            <a:r>
              <a:rPr lang="en-US" sz="2200" dirty="0">
                <a:solidFill>
                  <a:srgbClr val="FF0000"/>
                </a:solidFill>
              </a:rPr>
              <a:t>()</a:t>
            </a:r>
            <a:r>
              <a:rPr lang="en-US" sz="2200" dirty="0"/>
              <a:t>, which defines actions processing of each called event(s) with respect to the entity, </a:t>
            </a:r>
            <a:r>
              <a:rPr lang="en-US" sz="2200" dirty="0" err="1">
                <a:solidFill>
                  <a:srgbClr val="FF0000"/>
                </a:solidFill>
              </a:rPr>
              <a:t>shutdownEntity</a:t>
            </a:r>
            <a:r>
              <a:rPr lang="en-US" sz="2200" dirty="0">
                <a:solidFill>
                  <a:srgbClr val="FF0000"/>
                </a:solidFill>
              </a:rPr>
              <a:t>()</a:t>
            </a:r>
            <a:r>
              <a:rPr lang="en-US" sz="2200" dirty="0"/>
              <a:t>,which define actions for entity destruction.</a:t>
            </a:r>
          </a:p>
          <a:p>
            <a:pPr algn="just"/>
            <a:r>
              <a:rPr lang="en-US" sz="2200" u="sng" dirty="0" err="1">
                <a:solidFill>
                  <a:srgbClr val="FF0000"/>
                </a:solidFill>
              </a:rPr>
              <a:t>SimEvent</a:t>
            </a:r>
            <a:r>
              <a:rPr lang="en-US" sz="2200" dirty="0">
                <a:solidFill>
                  <a:srgbClr val="FF0000"/>
                </a:solidFill>
              </a:rPr>
              <a:t>:</a:t>
            </a:r>
            <a:r>
              <a:rPr lang="en-US" sz="2200" dirty="0"/>
              <a:t> This entity represents a simulation event that is passed between two or more entities. </a:t>
            </a:r>
            <a:r>
              <a:rPr lang="en-US" sz="2200" dirty="0" err="1"/>
              <a:t>SimEvent</a:t>
            </a:r>
            <a:r>
              <a:rPr lang="en-US" sz="2200" dirty="0"/>
              <a:t> stores the following information about an event: type, init time, time at which the event should occur, finish time, time at which the event should be delivered to its destination entity, IDs of the source and destination entities, the tag of the event, and Data that have to be passed to the destination entity.</a:t>
            </a:r>
          </a:p>
          <a:p>
            <a:pPr algn="just"/>
            <a:r>
              <a:rPr lang="en-US" sz="2200" u="sng" dirty="0" err="1">
                <a:solidFill>
                  <a:srgbClr val="FF0000"/>
                </a:solidFill>
              </a:rPr>
              <a:t>CloudSimShutdown</a:t>
            </a:r>
            <a:r>
              <a:rPr lang="en-US" sz="2200" dirty="0">
                <a:solidFill>
                  <a:srgbClr val="FF0000"/>
                </a:solidFill>
              </a:rPr>
              <a:t>:</a:t>
            </a:r>
            <a:r>
              <a:rPr lang="en-US" sz="2200" dirty="0"/>
              <a:t> This is an entity class that waits for the termination of all end-user submitted cloudlets(tasks) and broker entities events, and once detected, then signals the end of simulation to CIS.</a:t>
            </a:r>
          </a:p>
          <a:p>
            <a:endParaRPr lang="en-US" dirty="0"/>
          </a:p>
          <a:p>
            <a:endParaRPr lang="en-US" dirty="0"/>
          </a:p>
        </p:txBody>
      </p:sp>
      <p:sp>
        <p:nvSpPr>
          <p:cNvPr id="4" name="Slide Number Placeholder 3"/>
          <p:cNvSpPr>
            <a:spLocks noGrp="1"/>
          </p:cNvSpPr>
          <p:nvPr>
            <p:ph type="sldNum" sz="quarter" idx="12"/>
          </p:nvPr>
        </p:nvSpPr>
        <p:spPr/>
        <p:txBody>
          <a:bodyPr/>
          <a:lstStyle/>
          <a:p>
            <a:fld id="{2019AD06-451C-413E-AF31-86503C137FDF}" type="slidenum">
              <a:rPr lang="en-US" smtClean="0"/>
              <a:pPr/>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74792"/>
          </a:xfrm>
        </p:spPr>
        <p:style>
          <a:lnRef idx="0">
            <a:scrgbClr r="0" g="0" b="0"/>
          </a:lnRef>
          <a:fillRef idx="1003">
            <a:schemeClr val="lt2"/>
          </a:fillRef>
          <a:effectRef idx="0">
            <a:scrgbClr r="0" g="0" b="0"/>
          </a:effectRef>
          <a:fontRef idx="major"/>
        </p:style>
        <p:txBody>
          <a:bodyPr>
            <a:normAutofit/>
          </a:bodyPr>
          <a:lstStyle/>
          <a:p>
            <a:r>
              <a:rPr lang="en-IN" sz="3600" dirty="0"/>
              <a:t>Steps to Implement </a:t>
            </a:r>
            <a:endParaRPr lang="en-US" sz="3600" dirty="0"/>
          </a:p>
        </p:txBody>
      </p:sp>
      <p:sp>
        <p:nvSpPr>
          <p:cNvPr id="3" name="Content Placeholder 2"/>
          <p:cNvSpPr>
            <a:spLocks noGrp="1"/>
          </p:cNvSpPr>
          <p:nvPr>
            <p:ph idx="1"/>
          </p:nvPr>
        </p:nvSpPr>
        <p:spPr>
          <a:xfrm>
            <a:off x="838200" y="1702676"/>
            <a:ext cx="10515600" cy="4474287"/>
          </a:xfrm>
        </p:spPr>
        <p:txBody>
          <a:bodyPr>
            <a:normAutofit/>
          </a:bodyPr>
          <a:lstStyle/>
          <a:p>
            <a:pPr marL="514350" indent="-514350" algn="just">
              <a:buFont typeface="+mj-lt"/>
              <a:buAutoNum type="arabicPeriod"/>
            </a:pPr>
            <a:r>
              <a:rPr lang="en-IN" sz="2000" dirty="0"/>
              <a:t>Initialize the </a:t>
            </a:r>
            <a:r>
              <a:rPr lang="en-IN" sz="2000" dirty="0" err="1"/>
              <a:t>CloudSim</a:t>
            </a:r>
            <a:r>
              <a:rPr lang="en-IN" sz="2000" dirty="0"/>
              <a:t> package. It should be called before creating any entities.</a:t>
            </a:r>
          </a:p>
          <a:p>
            <a:pPr marL="514350" indent="-514350" algn="just">
              <a:buFont typeface="+mj-lt"/>
              <a:buAutoNum type="arabicPeriod"/>
            </a:pPr>
            <a:r>
              <a:rPr lang="en-IN" sz="2000" dirty="0"/>
              <a:t>Create </a:t>
            </a:r>
            <a:r>
              <a:rPr lang="en-IN" sz="2000" dirty="0" err="1"/>
              <a:t>Datacenter</a:t>
            </a:r>
            <a:r>
              <a:rPr lang="en-IN" sz="2000" dirty="0"/>
              <a:t>(s) (</a:t>
            </a:r>
            <a:r>
              <a:rPr lang="en-IN" sz="2000" dirty="0" err="1"/>
              <a:t>Datacenter</a:t>
            </a:r>
            <a:r>
              <a:rPr lang="en-IN" sz="2000" dirty="0"/>
              <a:t> </a:t>
            </a:r>
            <a:r>
              <a:rPr lang="en-IN" sz="2000" dirty="0">
                <a:sym typeface="Wingdings" pitchFamily="2" charset="2"/>
              </a:rPr>
              <a:t> </a:t>
            </a:r>
            <a:r>
              <a:rPr lang="en-IN" sz="2000" dirty="0" err="1">
                <a:sym typeface="Wingdings" pitchFamily="2" charset="2"/>
              </a:rPr>
              <a:t>DatacenterCharacteristics</a:t>
            </a:r>
            <a:r>
              <a:rPr lang="en-IN" sz="2000" dirty="0">
                <a:sym typeface="Wingdings" pitchFamily="2" charset="2"/>
              </a:rPr>
              <a:t>  </a:t>
            </a:r>
            <a:r>
              <a:rPr lang="en-IN" sz="2000" dirty="0" err="1">
                <a:sym typeface="Wingdings" pitchFamily="2" charset="2"/>
              </a:rPr>
              <a:t>HostList</a:t>
            </a:r>
            <a:r>
              <a:rPr lang="en-IN" sz="2000" dirty="0">
                <a:sym typeface="Wingdings" pitchFamily="2" charset="2"/>
              </a:rPr>
              <a:t>  </a:t>
            </a:r>
            <a:r>
              <a:rPr lang="en-IN" sz="2000" dirty="0" err="1">
                <a:sym typeface="Wingdings" pitchFamily="2" charset="2"/>
              </a:rPr>
              <a:t>ProcessingElementList</a:t>
            </a:r>
            <a:r>
              <a:rPr lang="en-IN" sz="2000" dirty="0"/>
              <a:t>) </a:t>
            </a:r>
          </a:p>
          <a:p>
            <a:pPr marL="514350" indent="-514350" algn="just">
              <a:buNone/>
            </a:pPr>
            <a:r>
              <a:rPr lang="en-IN" sz="2000" dirty="0"/>
              <a:t>	(Define policy for VM allocation and scheduling)</a:t>
            </a:r>
          </a:p>
          <a:p>
            <a:pPr marL="514350" indent="-514350" algn="just">
              <a:buAutoNum type="arabicPeriod" startAt="3"/>
            </a:pPr>
            <a:r>
              <a:rPr lang="en-IN" sz="2000" dirty="0"/>
              <a:t>Create Broker</a:t>
            </a:r>
          </a:p>
          <a:p>
            <a:pPr marL="514350" indent="-514350" algn="just">
              <a:buAutoNum type="arabicPeriod" startAt="3"/>
            </a:pPr>
            <a:r>
              <a:rPr lang="en-IN" sz="2000" dirty="0"/>
              <a:t>Create Cloudlet(s) (Define workload)</a:t>
            </a:r>
          </a:p>
          <a:p>
            <a:pPr marL="514350" indent="-514350" algn="just">
              <a:buAutoNum type="arabicPeriod" startAt="3"/>
            </a:pPr>
            <a:r>
              <a:rPr lang="en-IN" sz="2000" dirty="0"/>
              <a:t>Create VMs (Define the procedure for Task Scheduling Algorithm)</a:t>
            </a:r>
          </a:p>
          <a:p>
            <a:pPr marL="514350" indent="-514350" algn="just">
              <a:buAutoNum type="arabicPeriod" startAt="3"/>
            </a:pPr>
            <a:r>
              <a:rPr lang="en-IN" sz="2000" dirty="0"/>
              <a:t>Starts the simulation (automated process, handled through created event simulation engine)</a:t>
            </a:r>
          </a:p>
          <a:p>
            <a:pPr marL="514350" indent="-514350" algn="just">
              <a:buAutoNum type="arabicPeriod" startAt="3"/>
            </a:pPr>
            <a:r>
              <a:rPr lang="en-IN" sz="2000" dirty="0"/>
              <a:t>Print results when simulation is over (outputs)</a:t>
            </a:r>
            <a:endParaRPr lang="en-US" sz="2000" dirty="0"/>
          </a:p>
        </p:txBody>
      </p:sp>
      <p:sp>
        <p:nvSpPr>
          <p:cNvPr id="4" name="Slide Number Placeholder 3"/>
          <p:cNvSpPr>
            <a:spLocks noGrp="1"/>
          </p:cNvSpPr>
          <p:nvPr>
            <p:ph type="sldNum" sz="quarter" idx="12"/>
          </p:nvPr>
        </p:nvSpPr>
        <p:spPr/>
        <p:txBody>
          <a:bodyPr/>
          <a:lstStyle/>
          <a:p>
            <a:fld id="{2019AD06-451C-413E-AF31-86503C137FDF}" type="slidenum">
              <a:rPr lang="en-US" smtClean="0"/>
              <a:pPr/>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59178"/>
          </a:xfrm>
        </p:spPr>
        <p:style>
          <a:lnRef idx="0">
            <a:scrgbClr r="0" g="0" b="0"/>
          </a:lnRef>
          <a:fillRef idx="1003">
            <a:schemeClr val="lt2"/>
          </a:fillRef>
          <a:effectRef idx="0">
            <a:scrgbClr r="0" g="0" b="0"/>
          </a:effectRef>
          <a:fontRef idx="major"/>
        </p:style>
        <p:txBody>
          <a:bodyPr>
            <a:normAutofit/>
          </a:bodyPr>
          <a:lstStyle/>
          <a:p>
            <a:r>
              <a:rPr lang="en-IN" sz="3600" dirty="0"/>
              <a:t>Narration of </a:t>
            </a:r>
            <a:r>
              <a:rPr lang="en-IN" sz="3600" dirty="0" err="1"/>
              <a:t>CloudSim</a:t>
            </a:r>
            <a:r>
              <a:rPr lang="en-IN" sz="3600" dirty="0"/>
              <a:t> Example 1</a:t>
            </a:r>
            <a:endParaRPr lang="en-US" sz="3600" dirty="0"/>
          </a:p>
        </p:txBody>
      </p:sp>
      <p:sp>
        <p:nvSpPr>
          <p:cNvPr id="3" name="Content Placeholder 2"/>
          <p:cNvSpPr>
            <a:spLocks noGrp="1"/>
          </p:cNvSpPr>
          <p:nvPr>
            <p:ph idx="1"/>
          </p:nvPr>
        </p:nvSpPr>
        <p:spPr>
          <a:xfrm>
            <a:off x="838200" y="2144109"/>
            <a:ext cx="10515600" cy="4032853"/>
          </a:xfrm>
        </p:spPr>
        <p:txBody>
          <a:bodyPr/>
          <a:lstStyle/>
          <a:p>
            <a:r>
              <a:rPr lang="en-IN" dirty="0">
                <a:hlinkClick r:id="rId2" action="ppaction://hlinkfile"/>
              </a:rPr>
              <a:t>Guide to CloudSimExample-1 workflow simulation (MS-Word)</a:t>
            </a:r>
            <a:endParaRPr lang="en-US" dirty="0"/>
          </a:p>
        </p:txBody>
      </p:sp>
      <p:sp>
        <p:nvSpPr>
          <p:cNvPr id="4" name="Slide Number Placeholder 3"/>
          <p:cNvSpPr>
            <a:spLocks noGrp="1"/>
          </p:cNvSpPr>
          <p:nvPr>
            <p:ph type="sldNum" sz="quarter" idx="12"/>
          </p:nvPr>
        </p:nvSpPr>
        <p:spPr/>
        <p:txBody>
          <a:bodyPr/>
          <a:lstStyle/>
          <a:p>
            <a:fld id="{2019AD06-451C-413E-AF31-86503C137FDF}" type="slidenum">
              <a:rPr lang="en-US" smtClean="0"/>
              <a:pPr/>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90709"/>
          </a:xfrm>
        </p:spPr>
        <p:style>
          <a:lnRef idx="0">
            <a:scrgbClr r="0" g="0" b="0"/>
          </a:lnRef>
          <a:fillRef idx="1003">
            <a:schemeClr val="lt2"/>
          </a:fillRef>
          <a:effectRef idx="0">
            <a:scrgbClr r="0" g="0" b="0"/>
          </a:effectRef>
          <a:fontRef idx="major"/>
        </p:style>
        <p:txBody>
          <a:bodyPr>
            <a:normAutofit/>
          </a:bodyPr>
          <a:lstStyle/>
          <a:p>
            <a:r>
              <a:rPr lang="en-IN" sz="3600" dirty="0"/>
              <a:t>can Experiment</a:t>
            </a:r>
            <a:endParaRPr lang="en-US" sz="3600" dirty="0"/>
          </a:p>
        </p:txBody>
      </p:sp>
      <p:sp>
        <p:nvSpPr>
          <p:cNvPr id="3" name="Content Placeholder 2"/>
          <p:cNvSpPr>
            <a:spLocks noGrp="1"/>
          </p:cNvSpPr>
          <p:nvPr>
            <p:ph idx="1"/>
          </p:nvPr>
        </p:nvSpPr>
        <p:spPr>
          <a:xfrm>
            <a:off x="838200" y="1366346"/>
            <a:ext cx="10515600" cy="5349764"/>
          </a:xfrm>
        </p:spPr>
        <p:txBody>
          <a:bodyPr>
            <a:noAutofit/>
          </a:bodyPr>
          <a:lstStyle/>
          <a:p>
            <a:pPr algn="just">
              <a:lnSpc>
                <a:spcPct val="120000"/>
              </a:lnSpc>
            </a:pPr>
            <a:r>
              <a:rPr lang="en-IN" sz="2000" dirty="0"/>
              <a:t>By taking number of Cloudlets with varying length of instructions</a:t>
            </a:r>
          </a:p>
          <a:p>
            <a:pPr algn="just">
              <a:lnSpc>
                <a:spcPct val="120000"/>
              </a:lnSpc>
            </a:pPr>
            <a:r>
              <a:rPr lang="en-IN" sz="2000" dirty="0"/>
              <a:t>By taking varying number of VMs (homogeneous or heterogeneous)</a:t>
            </a:r>
          </a:p>
          <a:p>
            <a:pPr algn="just">
              <a:lnSpc>
                <a:spcPct val="120000"/>
              </a:lnSpc>
            </a:pPr>
            <a:r>
              <a:rPr lang="en-IN" sz="2000" dirty="0"/>
              <a:t>Also, can work on by taking some real world workloads</a:t>
            </a:r>
          </a:p>
          <a:p>
            <a:pPr algn="just">
              <a:lnSpc>
                <a:spcPct val="120000"/>
              </a:lnSpc>
            </a:pPr>
            <a:r>
              <a:rPr lang="en-IN" sz="2000" dirty="0"/>
              <a:t>By taking number of hosts with different number of processing core(s)</a:t>
            </a:r>
          </a:p>
          <a:p>
            <a:pPr algn="just">
              <a:lnSpc>
                <a:spcPct val="120000"/>
              </a:lnSpc>
            </a:pPr>
            <a:r>
              <a:rPr lang="en-IN" sz="2000" dirty="0"/>
              <a:t>By defining your own scheduling algorithm by modifying the code in </a:t>
            </a:r>
            <a:r>
              <a:rPr lang="en-IN" sz="2000" dirty="0" err="1"/>
              <a:t>bindtocloudlet</a:t>
            </a:r>
            <a:r>
              <a:rPr lang="en-IN" sz="2000" dirty="0"/>
              <a:t>() method of datacenterbroker.java class.</a:t>
            </a:r>
          </a:p>
          <a:p>
            <a:pPr algn="just">
              <a:lnSpc>
                <a:spcPct val="120000"/>
              </a:lnSpc>
            </a:pPr>
            <a:r>
              <a:rPr lang="en-IN" sz="2000" dirty="0"/>
              <a:t>You can analyse and compare your own algorithm against other load balancing and scheduling algorithms by taking different performance metrics (such as, throughput, response time, resource utilization, makespan, degree of imbalance (DOI) etc.) </a:t>
            </a:r>
          </a:p>
          <a:p>
            <a:pPr algn="just">
              <a:lnSpc>
                <a:spcPct val="120000"/>
              </a:lnSpc>
            </a:pPr>
            <a:r>
              <a:rPr lang="en-IN" sz="2000" dirty="0"/>
              <a:t>Can work on reduction of energy consumption by modifying in power package in </a:t>
            </a:r>
            <a:r>
              <a:rPr lang="en-IN" sz="2000" dirty="0" err="1"/>
              <a:t>CloudSim</a:t>
            </a:r>
            <a:r>
              <a:rPr lang="en-IN" sz="2000" dirty="0"/>
              <a:t> and so on… </a:t>
            </a:r>
          </a:p>
          <a:p>
            <a:pPr algn="just">
              <a:lnSpc>
                <a:spcPct val="120000"/>
              </a:lnSpc>
            </a:pPr>
            <a:r>
              <a:rPr lang="en-IN" sz="2000" dirty="0"/>
              <a:t>It concludes, there are endless opportunity that you can work upon using </a:t>
            </a:r>
            <a:r>
              <a:rPr lang="en-IN" sz="2000" dirty="0" err="1"/>
              <a:t>CloudSim</a:t>
            </a:r>
            <a:r>
              <a:rPr lang="en-IN" sz="2000" dirty="0"/>
              <a:t>.</a:t>
            </a:r>
            <a:endParaRPr lang="en-US" sz="2000" dirty="0"/>
          </a:p>
        </p:txBody>
      </p:sp>
      <p:sp>
        <p:nvSpPr>
          <p:cNvPr id="4" name="Slide Number Placeholder 3"/>
          <p:cNvSpPr>
            <a:spLocks noGrp="1"/>
          </p:cNvSpPr>
          <p:nvPr>
            <p:ph type="sldNum" sz="quarter" idx="12"/>
          </p:nvPr>
        </p:nvSpPr>
        <p:spPr/>
        <p:txBody>
          <a:bodyPr/>
          <a:lstStyle/>
          <a:p>
            <a:fld id="{2019AD06-451C-413E-AF31-86503C137FDF}" type="slidenum">
              <a:rPr lang="en-US" smtClean="0"/>
              <a:pPr/>
              <a:t>32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414</TotalTime>
  <Words>2884</Words>
  <Application>Microsoft Office PowerPoint</Application>
  <PresentationFormat>Widescreen</PresentationFormat>
  <Paragraphs>306</Paragraphs>
  <Slides>32</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32</vt:i4>
      </vt:variant>
    </vt:vector>
  </HeadingPairs>
  <TitlesOfParts>
    <vt:vector size="40" baseType="lpstr">
      <vt:lpstr>Arial</vt:lpstr>
      <vt:lpstr>Calibri</vt:lpstr>
      <vt:lpstr>Calibri Light</vt:lpstr>
      <vt:lpstr>Tahoma</vt:lpstr>
      <vt:lpstr>Times New Roman</vt:lpstr>
      <vt:lpstr>Verdana</vt:lpstr>
      <vt:lpstr>Wingdings</vt:lpstr>
      <vt:lpstr>Office Theme</vt:lpstr>
      <vt:lpstr>Introduction to Cloud Computing, Virtualization and CloudSim</vt:lpstr>
      <vt:lpstr>The Next Revolution in IT                                The Big Switch in IT</vt:lpstr>
      <vt:lpstr>.</vt:lpstr>
      <vt:lpstr>.</vt:lpstr>
      <vt:lpstr>.</vt:lpstr>
      <vt:lpstr>.</vt:lpstr>
      <vt:lpstr>                 Rentable Cloud Services</vt:lpstr>
      <vt:lpstr>                 </vt:lpstr>
      <vt:lpstr>                 </vt:lpstr>
      <vt:lpstr>.</vt:lpstr>
      <vt:lpstr>.</vt:lpstr>
      <vt:lpstr>.</vt:lpstr>
      <vt:lpstr>.</vt:lpstr>
      <vt:lpstr>.</vt:lpstr>
      <vt:lpstr>PowerPoint Presentation</vt:lpstr>
      <vt:lpstr>.</vt:lpstr>
      <vt:lpstr>.</vt:lpstr>
      <vt:lpstr>.</vt:lpstr>
      <vt:lpstr>.</vt:lpstr>
      <vt:lpstr>Research Scope</vt:lpstr>
      <vt:lpstr>Limitations and Disadvantages</vt:lpstr>
      <vt:lpstr>Simulation Tool</vt:lpstr>
      <vt:lpstr>Why CloudSim ?</vt:lpstr>
      <vt:lpstr>What CloudSim?</vt:lpstr>
      <vt:lpstr>CloudSim Architecture</vt:lpstr>
      <vt:lpstr>Contd… </vt:lpstr>
      <vt:lpstr>Classes Of CloudSim</vt:lpstr>
      <vt:lpstr>Contd…</vt:lpstr>
      <vt:lpstr>Contd…</vt:lpstr>
      <vt:lpstr>Steps to Implement </vt:lpstr>
      <vt:lpstr>Narration of CloudSim Example 1</vt:lpstr>
      <vt:lpstr>can Experiment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tiranga</dc:creator>
  <cp:lastModifiedBy>MURALI KRISHNA</cp:lastModifiedBy>
  <cp:revision>53</cp:revision>
  <dcterms:created xsi:type="dcterms:W3CDTF">2017-12-27T08:07:54Z</dcterms:created>
  <dcterms:modified xsi:type="dcterms:W3CDTF">2020-10-08T08:56:26Z</dcterms:modified>
</cp:coreProperties>
</file>