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60" r:id="rId4"/>
    <p:sldId id="257" r:id="rId5"/>
    <p:sldId id="258" r:id="rId6"/>
    <p:sldId id="317" r:id="rId7"/>
    <p:sldId id="318" r:id="rId8"/>
    <p:sldId id="341" r:id="rId9"/>
    <p:sldId id="321" r:id="rId10"/>
    <p:sldId id="322" r:id="rId12"/>
    <p:sldId id="323" r:id="rId13"/>
    <p:sldId id="326" r:id="rId14"/>
    <p:sldId id="325" r:id="rId15"/>
    <p:sldId id="327" r:id="rId16"/>
    <p:sldId id="328" r:id="rId17"/>
    <p:sldId id="329" r:id="rId18"/>
    <p:sldId id="331" r:id="rId19"/>
    <p:sldId id="330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E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1" autoAdjust="0"/>
    <p:restoredTop sz="94660"/>
  </p:normalViewPr>
  <p:slideViewPr>
    <p:cSldViewPr snapToGrid="0">
      <p:cViewPr varScale="1">
        <p:scale>
          <a:sx n="77" d="100"/>
          <a:sy n="77" d="100"/>
        </p:scale>
        <p:origin x="-114" y="-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A5E15-EA7C-4AE6-A7FE-6EE8949B26F4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3C74D-DBCC-462F-80C9-23B653553D81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2229" y="365125"/>
            <a:ext cx="11684000" cy="1071789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dirty="0" smtClean="0"/>
              <a:t>Topic: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9"/>
            <a:ext cx="11684000" cy="462393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aseline="0"/>
            </a:lvl1pPr>
          </a:lstStyle>
          <a:p>
            <a:r>
              <a:rPr lang="en-US" dirty="0" smtClean="0"/>
              <a:t>Chapter name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Chapter no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97" y="890117"/>
            <a:ext cx="3604203" cy="4801691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 userDrawn="1"/>
        </p:nvSpPr>
        <p:spPr>
          <a:xfrm>
            <a:off x="1524000" y="2191658"/>
            <a:ext cx="56025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CLOUD COMPUTING</a:t>
            </a:r>
            <a:endParaRPr lang="en-US" sz="7200" b="1" dirty="0" smtClean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endParaRPr lang="en-US" dirty="0" smtClean="0"/>
          </a:p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Shailendra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Singh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Department of Computer Science &amp; Engineering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NITTTR, Bhopal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046514" y="4455887"/>
            <a:ext cx="544285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850" y="352793"/>
            <a:ext cx="2054530" cy="10729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95271-EAF6-4654-82A8-BE1747C448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F581-6023-4562-B0C8-C7FA9B9410A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libri" panose="020F0502020204030204" pitchFamily="34" charset="0"/>
              </a:rPr>
              <a:t>Chapter 5</a:t>
            </a:r>
            <a:endParaRPr lang="en-US" b="1" dirty="0"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Cloud Data Center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Learning Outcomes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At the end of the session you will be able to: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Comprehend </a:t>
            </a:r>
            <a:r>
              <a:rPr lang="en-US" dirty="0">
                <a:latin typeface="+mn-lt"/>
              </a:rPr>
              <a:t>the core elements of cloud data center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the different storage options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RAID technology and its advantages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Understand </a:t>
            </a:r>
            <a:r>
              <a:rPr lang="en-US" dirty="0">
                <a:latin typeface="+mn-lt"/>
              </a:rPr>
              <a:t>database and its management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Understand </a:t>
            </a:r>
            <a:r>
              <a:rPr lang="en-US" dirty="0">
                <a:latin typeface="+mn-lt"/>
              </a:rPr>
              <a:t>the various technologies of backup </a:t>
            </a:r>
            <a:r>
              <a:rPr lang="en-US" dirty="0" smtClean="0">
                <a:latin typeface="+mn-lt"/>
              </a:rPr>
              <a:t>and recovery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Discuss </a:t>
            </a:r>
            <a:r>
              <a:rPr lang="en-US" dirty="0">
                <a:latin typeface="+mn-lt"/>
              </a:rPr>
              <a:t>replication technologies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life cycle management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cloud analytics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Understand </a:t>
            </a:r>
            <a:r>
              <a:rPr lang="en-US" dirty="0">
                <a:latin typeface="+mn-lt"/>
              </a:rPr>
              <a:t>traditional data center management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important cloud elements are as follows: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1. Clients (i.e., mobile, thin, or thick)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2. Data center (i.e., collection of servers, IT, and non-IT equipment)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3. Distributed servers (geographically distributed)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4. Storage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Cloud Data Center Core Elements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principal components of a cloud data center (CDC) comprise:</a:t>
            </a:r>
            <a:endParaRPr lang="en-US" dirty="0">
              <a:latin typeface="+mn-lt"/>
            </a:endParaRPr>
          </a:p>
          <a:p>
            <a:pPr marL="514350" indent="-514350">
              <a:buAutoNum type="arabicPeriod"/>
            </a:pPr>
            <a:r>
              <a:rPr lang="en-US" b="1" dirty="0" smtClean="0">
                <a:solidFill>
                  <a:srgbClr val="FFFF00"/>
                </a:solidFill>
                <a:latin typeface="+mn-lt"/>
              </a:rPr>
              <a:t>Application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:</a:t>
            </a:r>
            <a:r>
              <a:rPr lang="en-US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It is a computer program which has the ability of computing operations. </a:t>
            </a:r>
            <a:r>
              <a:rPr lang="en-US" dirty="0" smtClean="0">
                <a:latin typeface="+mn-lt"/>
              </a:rPr>
              <a:t>Applications can </a:t>
            </a:r>
            <a:r>
              <a:rPr lang="en-US" dirty="0">
                <a:latin typeface="+mn-lt"/>
              </a:rPr>
              <a:t>use a DBMS that uses operating system services in order to work on, retrieve, and </a:t>
            </a:r>
            <a:r>
              <a:rPr lang="en-US" dirty="0" smtClean="0">
                <a:latin typeface="+mn-lt"/>
              </a:rPr>
              <a:t>store functions </a:t>
            </a:r>
            <a:r>
              <a:rPr lang="en-US" dirty="0">
                <a:latin typeface="+mn-lt"/>
              </a:rPr>
              <a:t>on </a:t>
            </a:r>
            <a:r>
              <a:rPr lang="en-US" dirty="0" smtClean="0">
                <a:latin typeface="+mn-lt"/>
              </a:rPr>
              <a:t>storage </a:t>
            </a:r>
            <a:r>
              <a:rPr lang="en-US" dirty="0">
                <a:latin typeface="+mn-lt"/>
              </a:rPr>
              <a:t>tools</a:t>
            </a:r>
            <a:r>
              <a:rPr lang="en-US" dirty="0" smtClean="0">
                <a:latin typeface="+mn-lt"/>
              </a:rPr>
              <a:t>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  <a:latin typeface="+mn-lt"/>
              </a:rPr>
              <a:t>2</a:t>
            </a:r>
            <a:r>
              <a:rPr lang="en-US" dirty="0">
                <a:solidFill>
                  <a:srgbClr val="FFFF00"/>
                </a:solidFill>
                <a:latin typeface="+mn-lt"/>
              </a:rPr>
              <a:t>.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DBMS:</a:t>
            </a:r>
            <a:r>
              <a:rPr lang="en-US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It offers planned means to save data in rationally prepared tables which are </a:t>
            </a:r>
            <a:r>
              <a:rPr lang="en-US" dirty="0" smtClean="0">
                <a:latin typeface="+mn-lt"/>
              </a:rPr>
              <a:t>unified. DBMS optimizes </a:t>
            </a:r>
            <a:r>
              <a:rPr lang="en-US" dirty="0">
                <a:latin typeface="+mn-lt"/>
              </a:rPr>
              <a:t>the retrieval and storage of data.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+mn-lt"/>
              </a:rPr>
              <a:t>3.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Compute:</a:t>
            </a:r>
            <a:r>
              <a:rPr lang="en-US" dirty="0">
                <a:latin typeface="+mn-lt"/>
              </a:rPr>
              <a:t> It is a physical computing machine which controls applications, databases, and </a:t>
            </a:r>
            <a:r>
              <a:rPr lang="en-US" dirty="0" smtClean="0">
                <a:latin typeface="+mn-lt"/>
              </a:rPr>
              <a:t>operating systems.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Cloud Data Center Core Elements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FF00"/>
                </a:solidFill>
                <a:latin typeface="+mn-lt"/>
              </a:rPr>
              <a:t>4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.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Storage:</a:t>
            </a:r>
            <a:r>
              <a:rPr lang="en-US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It refers to a tool which constantly saves data for subsequent use. The distinct </a:t>
            </a:r>
            <a:r>
              <a:rPr lang="en-US" dirty="0" smtClean="0">
                <a:latin typeface="+mn-lt"/>
              </a:rPr>
              <a:t>necessities of storage </a:t>
            </a:r>
            <a:r>
              <a:rPr lang="en-US" dirty="0">
                <a:latin typeface="+mn-lt"/>
              </a:rPr>
              <a:t>are dependent on the sum of data to be saved and for the period it is to be saved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 smtClean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 smtClean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5.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Network:</a:t>
            </a:r>
            <a:r>
              <a:rPr lang="en-US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It is a connecting path which allows communication among compute systems </a:t>
            </a:r>
            <a:r>
              <a:rPr lang="en-US" dirty="0" smtClean="0">
                <a:latin typeface="+mn-lt"/>
              </a:rPr>
              <a:t>and customers </a:t>
            </a:r>
            <a:r>
              <a:rPr lang="en-US" dirty="0">
                <a:latin typeface="+mn-lt"/>
              </a:rPr>
              <a:t>or among storage and compute systems.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Cloud Data Center Core Elements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131" y="2840446"/>
            <a:ext cx="6168209" cy="25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Types of RAID and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Definition of various RAID levels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355" y="1579419"/>
            <a:ext cx="5676900" cy="2569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06" y="4148509"/>
            <a:ext cx="751522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232410" y="2146935"/>
            <a:ext cx="391985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(Redundant Arrays of Independent Disks)</a:t>
            </a:r>
            <a:endParaRPr 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following are the components of a Fibre Channel SAN</a:t>
            </a:r>
            <a:r>
              <a:rPr lang="en-US" dirty="0" smtClean="0">
                <a:latin typeface="+mn-lt"/>
              </a:rPr>
              <a:t>: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• </a:t>
            </a:r>
            <a:r>
              <a:rPr lang="en-US" dirty="0">
                <a:latin typeface="+mn-lt"/>
              </a:rPr>
              <a:t>Node ports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• Cables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• Connectors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• Interconnecting devices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• Storage arrays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• SAN management software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</a:rPr>
              <a:t>Components of Fibre Channel SAN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+mn-lt"/>
              </a:rPr>
              <a:t>Object-based storage merges data with rich metadata in order to create an ‘object</a:t>
            </a:r>
            <a:r>
              <a:rPr lang="en-US" sz="2500" dirty="0" smtClean="0">
                <a:latin typeface="+mn-lt"/>
              </a:rPr>
              <a:t>’.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+mn-lt"/>
              </a:rPr>
              <a:t>Object-based </a:t>
            </a:r>
            <a:r>
              <a:rPr lang="en-US" sz="2500" dirty="0" smtClean="0">
                <a:latin typeface="+mn-lt"/>
              </a:rPr>
              <a:t>storage saves </a:t>
            </a:r>
            <a:r>
              <a:rPr lang="en-US" sz="2500" dirty="0">
                <a:latin typeface="+mn-lt"/>
              </a:rPr>
              <a:t>data in a flat address space. 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+mn-lt"/>
              </a:rPr>
              <a:t>Every object in object storage is recognized through a distinctive </a:t>
            </a:r>
            <a:r>
              <a:rPr lang="en-US" sz="2500" dirty="0" smtClean="0">
                <a:latin typeface="+mn-lt"/>
              </a:rPr>
              <a:t>ID known </a:t>
            </a:r>
            <a:r>
              <a:rPr lang="en-US" sz="2500" dirty="0">
                <a:latin typeface="+mn-lt"/>
              </a:rPr>
              <a:t>as object ID</a:t>
            </a:r>
            <a:r>
              <a:rPr lang="en-US" sz="2500" dirty="0" smtClean="0">
                <a:latin typeface="+mn-lt"/>
              </a:rPr>
              <a:t>.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+mn-lt"/>
              </a:rPr>
              <a:t>Simple object access protocol (SOAP) is a means of switching messages between associates on </a:t>
            </a:r>
            <a:r>
              <a:rPr lang="en-US" sz="2500" dirty="0" smtClean="0">
                <a:latin typeface="+mn-lt"/>
              </a:rPr>
              <a:t>a disseminated </a:t>
            </a:r>
            <a:r>
              <a:rPr lang="en-US" sz="2500" dirty="0">
                <a:latin typeface="+mn-lt"/>
              </a:rPr>
              <a:t>network, like the Internet</a:t>
            </a:r>
            <a:r>
              <a:rPr lang="en-US" sz="2500" dirty="0" smtClean="0">
                <a:latin typeface="+mn-lt"/>
              </a:rPr>
              <a:t>.</a:t>
            </a:r>
            <a:r>
              <a:rPr lang="en-US" sz="2500" dirty="0">
                <a:latin typeface="+mn-lt"/>
              </a:rPr>
              <a:t> SOAP offers an array of XML aspects and components </a:t>
            </a:r>
            <a:r>
              <a:rPr lang="en-US" sz="2500" dirty="0" smtClean="0">
                <a:latin typeface="+mn-lt"/>
              </a:rPr>
              <a:t>that are </a:t>
            </a:r>
            <a:r>
              <a:rPr lang="en-US" sz="2500" dirty="0">
                <a:latin typeface="+mn-lt"/>
              </a:rPr>
              <a:t>utilized to build a ‘SOAP’ message</a:t>
            </a:r>
            <a:r>
              <a:rPr lang="en-US" sz="2500" dirty="0" smtClean="0">
                <a:latin typeface="+mn-lt"/>
              </a:rPr>
              <a:t>.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+mn-lt"/>
              </a:rPr>
              <a:t>Object-based storage has an even address space that fulfils the want for controlling RAID and </a:t>
            </a:r>
            <a:r>
              <a:rPr lang="en-US" sz="2500" dirty="0" smtClean="0">
                <a:latin typeface="+mn-lt"/>
              </a:rPr>
              <a:t>LUN groups.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+mn-lt"/>
              </a:rPr>
              <a:t>Rather than RAID systems used for backup strengthening, storage managers can force </a:t>
            </a:r>
            <a:r>
              <a:rPr lang="en-US" sz="2500" dirty="0" smtClean="0">
                <a:latin typeface="+mn-lt"/>
              </a:rPr>
              <a:t>object-based storage </a:t>
            </a:r>
            <a:r>
              <a:rPr lang="en-US" sz="2500" dirty="0">
                <a:latin typeface="+mn-lt"/>
              </a:rPr>
              <a:t>to simply generate multiple copies, as required, with every copy recognized with a </a:t>
            </a:r>
            <a:r>
              <a:rPr lang="en-US" sz="2500" dirty="0" smtClean="0">
                <a:latin typeface="+mn-lt"/>
              </a:rPr>
              <a:t>similar object </a:t>
            </a:r>
            <a:r>
              <a:rPr lang="en-US" sz="2500" dirty="0">
                <a:latin typeface="+mn-lt"/>
              </a:rPr>
              <a:t>storage ID.</a:t>
            </a:r>
            <a:endParaRPr lang="en-US" sz="25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Object-based Storage Technologies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Unified storage merges SAN-based, object-based, and NAS-based access inside a single </a:t>
            </a:r>
            <a:r>
              <a:rPr lang="en-US" dirty="0" smtClean="0">
                <a:latin typeface="+mn-lt"/>
              </a:rPr>
              <a:t>amalgamated platform.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It supports NAS protocols (i.e., NFS for UNIX or Linux and CIFS for Windows) fibre </a:t>
            </a:r>
            <a:r>
              <a:rPr lang="en-US" dirty="0" smtClean="0">
                <a:latin typeface="+mn-lt"/>
              </a:rPr>
              <a:t>channel, iSCSI</a:t>
            </a:r>
            <a:r>
              <a:rPr lang="en-US" dirty="0">
                <a:latin typeface="+mn-lt"/>
              </a:rPr>
              <a:t>, REST, SOAP, and FCoE protocols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capability to assist multiple protocols from a </a:t>
            </a:r>
            <a:r>
              <a:rPr lang="en-US" dirty="0" smtClean="0">
                <a:latin typeface="+mn-lt"/>
              </a:rPr>
              <a:t>similar storage </a:t>
            </a:r>
            <a:r>
              <a:rPr lang="en-US" dirty="0">
                <a:latin typeface="+mn-lt"/>
              </a:rPr>
              <a:t>system aids to liberally merge and counterpart workloads to really enhance consumption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Possessing a one-data model and toolset for amalgamated storage facilitates a reliable </a:t>
            </a:r>
            <a:r>
              <a:rPr lang="en-US" dirty="0" smtClean="0">
                <a:latin typeface="+mn-lt"/>
              </a:rPr>
              <a:t>administration structure </a:t>
            </a:r>
            <a:r>
              <a:rPr lang="en-US" dirty="0">
                <a:latin typeface="+mn-lt"/>
              </a:rPr>
              <a:t>athwart various workloads and applications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Amalgamated storage has been offered by storage consolidation.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Unified Storage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Business </a:t>
            </a:r>
            <a:r>
              <a:rPr lang="en-US" sz="2400" dirty="0">
                <a:latin typeface="+mn-lt"/>
              </a:rPr>
              <a:t>continuity (BC) is a significant procedure for classifying and </a:t>
            </a:r>
            <a:r>
              <a:rPr lang="en-US" sz="2400" dirty="0" smtClean="0">
                <a:latin typeface="+mn-lt"/>
              </a:rPr>
              <a:t>executin</a:t>
            </a:r>
            <a:r>
              <a:rPr lang="en-US" sz="2400" dirty="0">
                <a:latin typeface="+mn-lt"/>
              </a:rPr>
              <a:t>g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BC involves </a:t>
            </a:r>
            <a:r>
              <a:rPr lang="en-US" sz="2400" dirty="0">
                <a:latin typeface="+mn-lt"/>
              </a:rPr>
              <a:t>arranging for, responding to, and improving from a system outage which unfavorably </a:t>
            </a:r>
            <a:r>
              <a:rPr lang="en-US" sz="2400" dirty="0" smtClean="0">
                <a:latin typeface="+mn-lt"/>
              </a:rPr>
              <a:t>influences corporation </a:t>
            </a:r>
            <a:r>
              <a:rPr lang="en-US" sz="2400" dirty="0">
                <a:latin typeface="+mn-lt"/>
              </a:rPr>
              <a:t>functions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It is a procedure of reinstating or recommencing corporation operations from a </a:t>
            </a:r>
            <a:r>
              <a:rPr lang="en-US" sz="2400" dirty="0" smtClean="0">
                <a:latin typeface="+mn-lt"/>
              </a:rPr>
              <a:t>reliable replica </a:t>
            </a:r>
            <a:r>
              <a:rPr lang="en-US" sz="2400" dirty="0">
                <a:latin typeface="+mn-lt"/>
              </a:rPr>
              <a:t>of the data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Hot </a:t>
            </a:r>
            <a:r>
              <a:rPr lang="en-US" sz="2400" b="1" dirty="0" smtClean="0">
                <a:latin typeface="+mn-lt"/>
              </a:rPr>
              <a:t>site: </a:t>
            </a:r>
            <a:r>
              <a:rPr lang="en-US" sz="2400" dirty="0">
                <a:latin typeface="+mn-lt"/>
              </a:rPr>
              <a:t>It is a site where functions of businesses may be stimulated, in the event of a catastrophe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Cold site </a:t>
            </a:r>
            <a:r>
              <a:rPr lang="en-US" sz="2400" dirty="0">
                <a:latin typeface="+mn-lt"/>
              </a:rPr>
              <a:t>It is a site where functions of businesses may be stimulated, in the event of a catastrophe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Cluster </a:t>
            </a:r>
            <a:r>
              <a:rPr lang="en-US" sz="2400" dirty="0">
                <a:latin typeface="+mn-lt"/>
              </a:rPr>
              <a:t>A set of servers and other essential resources are united to function as a solo system.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</a:rPr>
              <a:t>Business Continuity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+mn-lt"/>
              </a:rPr>
              <a:t>Backup </a:t>
            </a:r>
            <a:r>
              <a:rPr lang="en-US" sz="2600" dirty="0">
                <a:latin typeface="+mn-lt"/>
              </a:rPr>
              <a:t>is a replica of the manufactured data, generated and maintained for the only intention of </a:t>
            </a:r>
            <a:r>
              <a:rPr lang="en-US" sz="2600" dirty="0" smtClean="0">
                <a:latin typeface="+mn-lt"/>
              </a:rPr>
              <a:t>improving corrupted </a:t>
            </a:r>
            <a:r>
              <a:rPr lang="en-US" sz="2600" dirty="0">
                <a:latin typeface="+mn-lt"/>
              </a:rPr>
              <a:t>or deleted data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Backup </a:t>
            </a:r>
            <a:r>
              <a:rPr lang="en-US" sz="2600" dirty="0" smtClean="0">
                <a:latin typeface="+mn-lt"/>
              </a:rPr>
              <a:t>technologies, maintenance</a:t>
            </a:r>
            <a:r>
              <a:rPr lang="en-US" sz="2600" dirty="0">
                <a:latin typeface="+mn-lt"/>
              </a:rPr>
              <a:t>, and revival necessities for applications and data are a vital step to guarantee </a:t>
            </a:r>
            <a:r>
              <a:rPr lang="en-US" sz="2600" dirty="0" smtClean="0">
                <a:latin typeface="+mn-lt"/>
              </a:rPr>
              <a:t>successful execution </a:t>
            </a:r>
            <a:r>
              <a:rPr lang="en-US" sz="2600" dirty="0">
                <a:latin typeface="+mn-lt"/>
              </a:rPr>
              <a:t>of the revival and backup solution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Backups are carried out for three key reasons—documentation, operational restores, and </a:t>
            </a:r>
            <a:r>
              <a:rPr lang="en-US" sz="2600" dirty="0" smtClean="0">
                <a:latin typeface="+mn-lt"/>
              </a:rPr>
              <a:t>disaster recovery.</a:t>
            </a: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Based on necessities, corporations use diverse backup approaches for catastrophe recovery. Data </a:t>
            </a:r>
            <a:r>
              <a:rPr lang="en-US" sz="2600" dirty="0" smtClean="0">
                <a:latin typeface="+mn-lt"/>
              </a:rPr>
              <a:t>in the </a:t>
            </a:r>
            <a:r>
              <a:rPr lang="en-US" sz="2600" dirty="0">
                <a:latin typeface="+mn-lt"/>
              </a:rPr>
              <a:t>construction situation alters with each industry deal and function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The backup replicas are used for reinstating data at </a:t>
            </a:r>
            <a:r>
              <a:rPr lang="en-US" sz="2600" dirty="0" smtClean="0">
                <a:latin typeface="+mn-lt"/>
              </a:rPr>
              <a:t>an alternating </a:t>
            </a:r>
            <a:r>
              <a:rPr lang="en-US" sz="2600" dirty="0">
                <a:latin typeface="+mn-lt"/>
              </a:rPr>
              <a:t>location when the primary location is harmed because of a catastrophe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Backup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majority of corporations use an amalgamation of these three kinds of backup to meet the backup and recovery necessities.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backup metadata has been obtained by the backup server from the backup consumers to carry out its actions.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metadata is saved either locally inside the backup server or outwardly in a </a:t>
            </a:r>
            <a:r>
              <a:rPr lang="en-US" dirty="0" smtClean="0">
                <a:latin typeface="+mn-lt"/>
              </a:rPr>
              <a:t>storage range</a:t>
            </a:r>
            <a:r>
              <a:rPr lang="en-US" dirty="0">
                <a:latin typeface="+mn-lt"/>
              </a:rPr>
              <a:t>. 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storage joint is accountable for writing data to the backup tool. Characteristically, the </a:t>
            </a:r>
            <a:r>
              <a:rPr lang="en-US" dirty="0" smtClean="0">
                <a:latin typeface="+mn-lt"/>
              </a:rPr>
              <a:t>storage joint </a:t>
            </a:r>
            <a:r>
              <a:rPr lang="en-US" dirty="0">
                <a:latin typeface="+mn-lt"/>
              </a:rPr>
              <a:t>is incorporated through the backup server and both are hosted on a similar physical platform.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Backup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smtClean="0">
                <a:latin typeface="+mn-lt"/>
              </a:rPr>
              <a:t>The </a:t>
            </a:r>
            <a:r>
              <a:rPr lang="en-US" sz="2600" dirty="0">
                <a:latin typeface="+mn-lt"/>
              </a:rPr>
              <a:t>backup server synchronizes the backup procedure with all the </a:t>
            </a:r>
            <a:r>
              <a:rPr lang="en-US" sz="2600" dirty="0" smtClean="0">
                <a:latin typeface="+mn-lt"/>
              </a:rPr>
              <a:t>constituents in </a:t>
            </a:r>
            <a:r>
              <a:rPr lang="en-US" sz="2600" dirty="0">
                <a:latin typeface="+mn-lt"/>
              </a:rPr>
              <a:t>a backup arrangement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The backup </a:t>
            </a:r>
            <a:r>
              <a:rPr lang="en-US" sz="2600" dirty="0" smtClean="0">
                <a:latin typeface="+mn-lt"/>
              </a:rPr>
              <a:t>server recovers </a:t>
            </a:r>
            <a:r>
              <a:rPr lang="en-US" sz="2600" dirty="0">
                <a:latin typeface="+mn-lt"/>
              </a:rPr>
              <a:t>the backup-concerned information from the backup list and, on the basis of this </a:t>
            </a:r>
            <a:r>
              <a:rPr lang="en-US" sz="2600" dirty="0" smtClean="0">
                <a:latin typeface="+mn-lt"/>
              </a:rPr>
              <a:t>information, initiates </a:t>
            </a:r>
            <a:r>
              <a:rPr lang="en-US" sz="2600" dirty="0">
                <a:latin typeface="+mn-lt"/>
              </a:rPr>
              <a:t>a suitable storage joint to put in the backup media into the backup tools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The backup consumer transmits the data to the storage joint, and the storage joint inscribes the data </a:t>
            </a:r>
            <a:r>
              <a:rPr lang="en-US" sz="2600" dirty="0" smtClean="0">
                <a:latin typeface="+mn-lt"/>
              </a:rPr>
              <a:t>to the </a:t>
            </a:r>
            <a:r>
              <a:rPr lang="en-US" sz="2600" dirty="0">
                <a:latin typeface="+mn-lt"/>
              </a:rPr>
              <a:t>storage tool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+mn-lt"/>
              </a:rPr>
              <a:t>The backup server recognizes the backup media </a:t>
            </a:r>
            <a:r>
              <a:rPr lang="en-US" sz="2600" dirty="0" smtClean="0">
                <a:latin typeface="+mn-lt"/>
              </a:rPr>
              <a:t>needed for </a:t>
            </a:r>
            <a:r>
              <a:rPr lang="en-US" sz="2600" dirty="0">
                <a:latin typeface="+mn-lt"/>
              </a:rPr>
              <a:t>the reinstate and informs the storage joint to put in the backup media</a:t>
            </a:r>
            <a:r>
              <a:rPr lang="en-US" sz="2600" dirty="0" smtClean="0">
                <a:latin typeface="+mn-lt"/>
              </a:rPr>
              <a:t>. </a:t>
            </a:r>
            <a:r>
              <a:rPr lang="en-US" sz="2600" dirty="0">
                <a:latin typeface="+mn-lt"/>
              </a:rPr>
              <a:t>Then, the data is </a:t>
            </a:r>
            <a:r>
              <a:rPr lang="en-US" sz="2600" dirty="0" smtClean="0">
                <a:latin typeface="+mn-lt"/>
              </a:rPr>
              <a:t>interpreted and </a:t>
            </a:r>
            <a:r>
              <a:rPr lang="en-US" sz="2600" dirty="0">
                <a:latin typeface="+mn-lt"/>
              </a:rPr>
              <a:t>transmitted to the consumer which has been recognized to obtain the reinstated data.</a:t>
            </a:r>
            <a:endParaRPr lang="en-US" sz="26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nd Disaster Recovery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Backing </a:t>
            </a:r>
            <a:r>
              <a:rPr lang="en-US" dirty="0">
                <a:latin typeface="+mn-lt"/>
              </a:rPr>
              <a:t>up disk storage systems proposes lucid benefits, owing to their </a:t>
            </a:r>
            <a:r>
              <a:rPr lang="en-US" dirty="0" smtClean="0">
                <a:latin typeface="+mn-lt"/>
              </a:rPr>
              <a:t>essential random </a:t>
            </a:r>
            <a:r>
              <a:rPr lang="en-US" dirty="0">
                <a:latin typeface="+mn-lt"/>
              </a:rPr>
              <a:t>access and RAID security facilities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Several types of backup permit for backup descriptions </a:t>
            </a:r>
            <a:r>
              <a:rPr lang="en-US" dirty="0" smtClean="0">
                <a:latin typeface="+mn-lt"/>
              </a:rPr>
              <a:t>to remain </a:t>
            </a:r>
            <a:r>
              <a:rPr lang="en-US" dirty="0">
                <a:latin typeface="+mn-lt"/>
              </a:rPr>
              <a:t>on the disk for a period of time even after they have been staged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As </a:t>
            </a:r>
            <a:r>
              <a:rPr lang="en-US" dirty="0" smtClean="0">
                <a:latin typeface="+mn-lt"/>
              </a:rPr>
              <a:t>for backup </a:t>
            </a:r>
            <a:r>
              <a:rPr lang="en-US" dirty="0">
                <a:latin typeface="+mn-lt"/>
              </a:rPr>
              <a:t>software, both physical tape library and virtual tape library are the same. Virtual tape uses </a:t>
            </a:r>
            <a:r>
              <a:rPr lang="en-US" dirty="0" smtClean="0">
                <a:latin typeface="+mn-lt"/>
              </a:rPr>
              <a:t>disks for </a:t>
            </a:r>
            <a:r>
              <a:rPr lang="en-US" dirty="0">
                <a:latin typeface="+mn-lt"/>
              </a:rPr>
              <a:t>backup</a:t>
            </a:r>
            <a:r>
              <a:rPr lang="en-US" dirty="0" smtClean="0">
                <a:latin typeface="+mn-lt"/>
              </a:rPr>
              <a:t>. </a:t>
            </a:r>
            <a:r>
              <a:rPr lang="en-US" dirty="0">
                <a:latin typeface="+mn-lt"/>
              </a:rPr>
              <a:t>A virtual tape can span multiple LUNs, if required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Virtual tape </a:t>
            </a:r>
            <a:r>
              <a:rPr lang="en-US" dirty="0" smtClean="0">
                <a:latin typeface="+mn-lt"/>
              </a:rPr>
              <a:t>supports instantaneous </a:t>
            </a:r>
            <a:r>
              <a:rPr lang="en-US" dirty="0">
                <a:latin typeface="+mn-lt"/>
              </a:rPr>
              <a:t>support, which is distinct from physical tape library, and has mechanical delays.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nd Disaster Recovery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procedure of generating an accurate/similar replica of data is known as replication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main aim of replication is to allow users to have the </a:t>
            </a:r>
            <a:r>
              <a:rPr lang="en-US" dirty="0" smtClean="0">
                <a:latin typeface="+mn-lt"/>
              </a:rPr>
              <a:t>chosen data at the correct place, in a condition suitable to the needs of revival.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Replicas may be used to address a number of business permanence </a:t>
            </a:r>
            <a:r>
              <a:rPr lang="en-US" dirty="0" smtClean="0">
                <a:latin typeface="+mn-lt"/>
              </a:rPr>
              <a:t>performances, such </a:t>
            </a:r>
            <a:r>
              <a:rPr lang="en-US" dirty="0">
                <a:latin typeface="+mn-lt"/>
              </a:rPr>
              <a:t>as those given here</a:t>
            </a:r>
            <a:r>
              <a:rPr lang="en-US" dirty="0" smtClean="0">
                <a:latin typeface="+mn-lt"/>
              </a:rPr>
              <a:t>: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1</a:t>
            </a:r>
            <a:r>
              <a:rPr lang="en-US" dirty="0">
                <a:latin typeface="+mn-lt"/>
              </a:rPr>
              <a:t>. Offering an alternating source for backup to enhance the effect on </a:t>
            </a:r>
            <a:r>
              <a:rPr lang="en-US" dirty="0" smtClean="0">
                <a:latin typeface="+mn-lt"/>
              </a:rPr>
              <a:t>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   construction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2</a:t>
            </a:r>
            <a:r>
              <a:rPr lang="en-US" dirty="0">
                <a:latin typeface="+mn-lt"/>
              </a:rPr>
              <a:t>. Offering a source for rapid revival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sz="2400" dirty="0" smtClean="0">
                <a:latin typeface="+mn-lt"/>
              </a:rPr>
              <a:t>   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Replication Technologies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>
                <a:latin typeface="+mn-lt"/>
              </a:rPr>
              <a:t>3</a:t>
            </a:r>
            <a:r>
              <a:rPr lang="en-US" dirty="0">
                <a:latin typeface="+mn-lt"/>
              </a:rPr>
              <a:t>. Facilitating judgment support actions, like reporting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4</a:t>
            </a:r>
            <a:r>
              <a:rPr lang="en-US" dirty="0">
                <a:latin typeface="+mn-lt"/>
              </a:rPr>
              <a:t>. Mounting and analysing projected modification to an application or an operating </a:t>
            </a:r>
            <a:r>
              <a:rPr lang="en-US" dirty="0" smtClean="0">
                <a:latin typeface="+mn-lt"/>
              </a:rPr>
              <a:t>situation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5</a:t>
            </a:r>
            <a:r>
              <a:rPr lang="en-US" dirty="0">
                <a:latin typeface="+mn-lt"/>
              </a:rPr>
              <a:t>. Reviving an application from the copy in the occurrence of a malfunction in the source </a:t>
            </a:r>
            <a:r>
              <a:rPr lang="en-US" dirty="0" smtClean="0">
                <a:latin typeface="+mn-lt"/>
              </a:rPr>
              <a:t>level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Replicas may be continuous or point-in-time (PIT).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• </a:t>
            </a:r>
            <a:r>
              <a:rPr lang="en-US" dirty="0">
                <a:latin typeface="+mn-lt"/>
              </a:rPr>
              <a:t>Continuous replica: The data on the replica is matched with the manufacture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 data </a:t>
            </a:r>
            <a:r>
              <a:rPr lang="en-US" dirty="0">
                <a:latin typeface="+mn-lt"/>
              </a:rPr>
              <a:t>during the </a:t>
            </a:r>
            <a:r>
              <a:rPr lang="en-US" dirty="0" smtClean="0">
                <a:latin typeface="+mn-lt"/>
              </a:rPr>
              <a:t>entire period.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• </a:t>
            </a:r>
            <a:r>
              <a:rPr lang="en-US" dirty="0">
                <a:latin typeface="+mn-lt"/>
              </a:rPr>
              <a:t>PIT: The data on the replica is a copied picture of the manufacture at a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 certain </a:t>
            </a:r>
            <a:r>
              <a:rPr lang="en-US" dirty="0">
                <a:latin typeface="+mn-lt"/>
              </a:rPr>
              <a:t>timestamp.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Replication Technologies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For every business function, the replica may be accessed by an alternating  </a:t>
            </a:r>
            <a:r>
              <a:rPr lang="en-US" dirty="0" smtClean="0">
                <a:latin typeface="+mn-lt"/>
              </a:rPr>
              <a:t>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server.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Storage group-based regional replication may be classified </a:t>
            </a:r>
            <a:r>
              <a:rPr lang="en-US" dirty="0" smtClean="0">
                <a:latin typeface="+mn-lt"/>
              </a:rPr>
              <a:t>as follows:</a:t>
            </a:r>
            <a:endParaRPr lang="en-US" dirty="0" smtClean="0">
              <a:latin typeface="+mn-lt"/>
            </a:endParaRPr>
          </a:p>
          <a:p>
            <a:pPr lvl="2"/>
            <a:r>
              <a:rPr lang="en-US" sz="2400" dirty="0" smtClean="0">
                <a:latin typeface="+mn-lt"/>
              </a:rPr>
              <a:t>Pointer-based virtual replication</a:t>
            </a:r>
            <a:endParaRPr lang="en-US" sz="2400" dirty="0" smtClean="0">
              <a:latin typeface="+mn-lt"/>
            </a:endParaRPr>
          </a:p>
          <a:p>
            <a:pPr lvl="2"/>
            <a:r>
              <a:rPr lang="en-US" sz="2400" dirty="0" smtClean="0">
                <a:latin typeface="+mn-lt"/>
              </a:rPr>
              <a:t>Pointer-based </a:t>
            </a:r>
            <a:r>
              <a:rPr lang="en-US" sz="2400" dirty="0">
                <a:latin typeface="+mn-lt"/>
              </a:rPr>
              <a:t>complete degree replication</a:t>
            </a:r>
            <a:endParaRPr lang="en-US" sz="2400" dirty="0">
              <a:latin typeface="+mn-lt"/>
            </a:endParaRPr>
          </a:p>
          <a:p>
            <a:pPr lvl="2"/>
            <a:r>
              <a:rPr lang="en-US" sz="2400" dirty="0" smtClean="0">
                <a:latin typeface="+mn-lt"/>
              </a:rPr>
              <a:t>Complete </a:t>
            </a:r>
            <a:r>
              <a:rPr lang="en-US" sz="2400" dirty="0">
                <a:latin typeface="+mn-lt"/>
              </a:rPr>
              <a:t>degree </a:t>
            </a:r>
            <a:r>
              <a:rPr lang="en-US" sz="2400" dirty="0" smtClean="0">
                <a:latin typeface="+mn-lt"/>
              </a:rPr>
              <a:t>mirroring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Replication might </a:t>
            </a:r>
            <a:r>
              <a:rPr lang="en-US" dirty="0">
                <a:latin typeface="+mn-lt"/>
              </a:rPr>
              <a:t>be synchronous or asynchronous. SAN-based isolated replication </a:t>
            </a:r>
            <a:r>
              <a:rPr lang="en-US" dirty="0" smtClean="0">
                <a:latin typeface="+mn-lt"/>
              </a:rPr>
              <a:t>permits the data replication among assorted dealer storage groups.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There is no effect on the manufacturer servers or the LAN as replication is made by the group and the data is moved over the SAN.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Replication Technologies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  <a:latin typeface="+mn-lt"/>
              </a:rPr>
              <a:t>The </a:t>
            </a:r>
            <a:r>
              <a:rPr lang="en-US" dirty="0" smtClean="0">
                <a:solidFill>
                  <a:srgbClr val="FFFF00"/>
                </a:solidFill>
                <a:latin typeface="+mn-lt"/>
              </a:rPr>
              <a:t>chief administration </a:t>
            </a:r>
            <a:r>
              <a:rPr lang="en-US" dirty="0">
                <a:solidFill>
                  <a:srgbClr val="FFFF00"/>
                </a:solidFill>
                <a:latin typeface="+mn-lt"/>
              </a:rPr>
              <a:t>actions in a conventional or traditional data center are as follows:</a:t>
            </a:r>
            <a:endParaRPr lang="en-US" dirty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1. Vigilance and scrutinizing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2. Reporting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3. Accessibility administration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4. Capability administration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5. Functioning administration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6. Safety administration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Traditional Data Center Management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768" y="2285727"/>
            <a:ext cx="47625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Services provided by Cloud Data Center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442" y="1757548"/>
            <a:ext cx="7160820" cy="429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Information </a:t>
            </a:r>
            <a:r>
              <a:rPr lang="en-US" dirty="0">
                <a:latin typeface="+mn-lt"/>
              </a:rPr>
              <a:t>life cycle management (ILM) is a procedure for organizing information via its life </a:t>
            </a:r>
            <a:r>
              <a:rPr lang="en-US" dirty="0" smtClean="0">
                <a:latin typeface="+mn-lt"/>
              </a:rPr>
              <a:t>cycle, from </a:t>
            </a:r>
            <a:r>
              <a:rPr lang="en-US" dirty="0">
                <a:latin typeface="+mn-lt"/>
              </a:rPr>
              <a:t>beginning to its clearance. The key assessments required to be made as division of the ILM </a:t>
            </a:r>
            <a:r>
              <a:rPr lang="en-US" dirty="0" smtClean="0">
                <a:latin typeface="+mn-lt"/>
              </a:rPr>
              <a:t>strategy for </a:t>
            </a:r>
            <a:r>
              <a:rPr lang="en-US" dirty="0">
                <a:latin typeface="+mn-lt"/>
              </a:rPr>
              <a:t>the business are as follows</a:t>
            </a:r>
            <a:r>
              <a:rPr lang="en-US" dirty="0" smtClean="0">
                <a:latin typeface="+mn-lt"/>
              </a:rPr>
              <a:t>:</a:t>
            </a:r>
            <a:endParaRPr lang="en-US" dirty="0" smtClean="0">
              <a:latin typeface="+mn-lt"/>
            </a:endParaRPr>
          </a:p>
          <a:p>
            <a:r>
              <a:rPr lang="en-US" dirty="0">
                <a:latin typeface="+mn-lt"/>
              </a:rPr>
              <a:t>When is it important to record the business data from live or transactional databases to archived databases?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Up to what phase will the data be saved in the operational databases before they may be set out forever?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Information Life Cycle Management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FFFF00"/>
                </a:solidFill>
                <a:latin typeface="+mn-lt"/>
              </a:rPr>
              <a:t>The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vital features are as follows:</a:t>
            </a:r>
            <a:endParaRPr lang="en-US" b="1" dirty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1. Insignificant or surplus information slows application functioning and augments the time </a:t>
            </a:r>
            <a:r>
              <a:rPr lang="en-US" dirty="0" smtClean="0">
                <a:latin typeface="+mn-lt"/>
              </a:rPr>
              <a:t>needed to </a:t>
            </a:r>
            <a:r>
              <a:rPr lang="en-US" dirty="0">
                <a:latin typeface="+mn-lt"/>
              </a:rPr>
              <a:t>advance applications and backup databases.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2. In-house features will principally be determined during negotiations, which refers to how </a:t>
            </a:r>
            <a:r>
              <a:rPr lang="en-US" dirty="0" smtClean="0">
                <a:latin typeface="+mn-lt"/>
              </a:rPr>
              <a:t>valuable the </a:t>
            </a:r>
            <a:r>
              <a:rPr lang="en-US" dirty="0">
                <a:latin typeface="+mn-lt"/>
              </a:rPr>
              <a:t>information will be to the corporation in its business dealings.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3. Peripheral aspects will be principally directed by authorized and inflexible necessities; </a:t>
            </a:r>
            <a:r>
              <a:rPr lang="en-US" dirty="0" smtClean="0">
                <a:latin typeface="+mn-lt"/>
              </a:rPr>
              <a:t>inparticular</a:t>
            </a:r>
            <a:r>
              <a:rPr lang="en-US" dirty="0">
                <a:latin typeface="+mn-lt"/>
              </a:rPr>
              <a:t>, the least sum of time information enclosed by that legislation must be reserved.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Information Life Cycle Management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FFFF00"/>
                </a:solidFill>
                <a:latin typeface="+mn-lt"/>
              </a:rPr>
              <a:t>An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ILM policy 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must comprise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the following features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:</a:t>
            </a:r>
            <a:endParaRPr lang="en-US" b="1" dirty="0" smtClean="0">
              <a:solidFill>
                <a:srgbClr val="FFFF00"/>
              </a:solidFill>
              <a:latin typeface="+mn-lt"/>
            </a:endParaRPr>
          </a:p>
          <a:p>
            <a:r>
              <a:rPr lang="en-US" dirty="0" smtClean="0">
                <a:latin typeface="+mn-lt"/>
              </a:rPr>
              <a:t>Business-centric</a:t>
            </a:r>
            <a:endParaRPr lang="en-US" dirty="0" smtClean="0">
              <a:latin typeface="+mn-lt"/>
            </a:endParaRPr>
          </a:p>
          <a:p>
            <a:r>
              <a:rPr lang="en-US" dirty="0">
                <a:latin typeface="+mn-lt"/>
              </a:rPr>
              <a:t>Centrally </a:t>
            </a:r>
            <a:r>
              <a:rPr lang="en-US" dirty="0" smtClean="0">
                <a:latin typeface="+mn-lt"/>
              </a:rPr>
              <a:t>managed</a:t>
            </a:r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Policy-based</a:t>
            </a:r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Heterogeneous</a:t>
            </a:r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Optimized</a:t>
            </a:r>
            <a:endParaRPr lang="en-US" dirty="0" smtClean="0">
              <a:latin typeface="+mn-lt"/>
            </a:endParaRPr>
          </a:p>
          <a:p>
            <a:r>
              <a:rPr lang="en-US" dirty="0">
                <a:latin typeface="+mn-lt"/>
              </a:rPr>
              <a:t>Tiered storage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Information Life Cycle Management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Cloud </a:t>
            </a:r>
            <a:r>
              <a:rPr lang="en-US" dirty="0">
                <a:latin typeface="+mn-lt"/>
              </a:rPr>
              <a:t>analytics is a sort of cloud service module where exploration of data and associated </a:t>
            </a:r>
            <a:r>
              <a:rPr lang="en-US" dirty="0" smtClean="0">
                <a:latin typeface="+mn-lt"/>
              </a:rPr>
              <a:t>services are </a:t>
            </a:r>
            <a:r>
              <a:rPr lang="en-US" dirty="0">
                <a:latin typeface="+mn-lt"/>
              </a:rPr>
              <a:t>carried out on a private or public cloud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Cloud analytics is chiefly a cloud-facilitated resolution which permits a corporation or person </a:t>
            </a:r>
            <a:r>
              <a:rPr lang="en-US" dirty="0" smtClean="0">
                <a:latin typeface="+mn-lt"/>
              </a:rPr>
              <a:t>to work </a:t>
            </a:r>
            <a:r>
              <a:rPr lang="en-US" dirty="0">
                <a:latin typeface="+mn-lt"/>
              </a:rPr>
              <a:t>intelligence </a:t>
            </a:r>
            <a:r>
              <a:rPr lang="en-US" dirty="0" smtClean="0">
                <a:latin typeface="+mn-lt"/>
              </a:rPr>
              <a:t>measures or business studies.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Cloud analytics is a service module wherein constituents of the data investigative procedure are </a:t>
            </a:r>
            <a:r>
              <a:rPr lang="en-US" dirty="0" smtClean="0">
                <a:latin typeface="+mn-lt"/>
              </a:rPr>
              <a:t>offered via </a:t>
            </a:r>
            <a:r>
              <a:rPr lang="en-US" dirty="0">
                <a:latin typeface="+mn-lt"/>
              </a:rPr>
              <a:t>a private or public cloud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Cloud analytics services and applications are characteristically proposed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underneath a contribution-based or utility (pay per use) costing model.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Analytics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Cloud-based </a:t>
            </a:r>
            <a:r>
              <a:rPr lang="en-US" dirty="0">
                <a:latin typeface="+mn-lt"/>
              </a:rPr>
              <a:t>social media analytics involves the isolated provisioning of devices which </a:t>
            </a:r>
            <a:r>
              <a:rPr lang="en-US" dirty="0" smtClean="0">
                <a:latin typeface="+mn-lt"/>
              </a:rPr>
              <a:t>comprise applications </a:t>
            </a:r>
            <a:r>
              <a:rPr lang="en-US" dirty="0">
                <a:latin typeface="+mn-lt"/>
              </a:rPr>
              <a:t>for choosing social media sites which serve your intentions, divide applications for </a:t>
            </a:r>
            <a:r>
              <a:rPr lang="en-US" dirty="0" smtClean="0">
                <a:latin typeface="+mn-lt"/>
              </a:rPr>
              <a:t>gathering data</a:t>
            </a:r>
            <a:r>
              <a:rPr lang="en-US" dirty="0">
                <a:latin typeface="+mn-lt"/>
              </a:rPr>
              <a:t>, data investigative software, and storage services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Spending on cloud analytics may be rewarding for a corporation but appropriate preparation is necessary to make sure that all six investigative components are concealed.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Analytics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624281"/>
            <a:ext cx="11833101" cy="4669641"/>
          </a:xfrm>
        </p:spPr>
        <p:txBody>
          <a:bodyPr>
            <a:noAutofit/>
          </a:bodyPr>
          <a:lstStyle/>
          <a:p>
            <a:endParaRPr lang="en-US" sz="2600" dirty="0" smtClean="0">
              <a:latin typeface="+mn-lt"/>
            </a:endParaRPr>
          </a:p>
          <a:p>
            <a:r>
              <a:rPr lang="en-US" sz="2600" dirty="0" smtClean="0">
                <a:latin typeface="+mn-lt"/>
              </a:rPr>
              <a:t>On-demand </a:t>
            </a:r>
            <a:r>
              <a:rPr lang="en-US" sz="2600" dirty="0">
                <a:latin typeface="+mn-lt"/>
              </a:rPr>
              <a:t>computing (ODC) is a model of computing at enterprise level. In this technology, </a:t>
            </a:r>
            <a:r>
              <a:rPr lang="en-US" sz="2600" dirty="0" smtClean="0">
                <a:latin typeface="+mn-lt"/>
              </a:rPr>
              <a:t>resources are </a:t>
            </a:r>
            <a:r>
              <a:rPr lang="en-US" sz="2600" dirty="0">
                <a:latin typeface="+mn-lt"/>
              </a:rPr>
              <a:t>offered on a pay-per-use basis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r>
              <a:rPr lang="en-US" sz="2600" dirty="0">
                <a:latin typeface="+mn-lt"/>
              </a:rPr>
              <a:t>ODC is recognized as utility computing or on-demand computing too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r>
              <a:rPr lang="en-US" sz="2600" dirty="0">
                <a:latin typeface="+mn-lt"/>
              </a:rPr>
              <a:t>The main benefit of ODC </a:t>
            </a:r>
            <a:r>
              <a:rPr lang="en-US" sz="2600" dirty="0" smtClean="0">
                <a:latin typeface="+mn-lt"/>
              </a:rPr>
              <a:t>is its </a:t>
            </a:r>
            <a:r>
              <a:rPr lang="en-US" sz="2600" dirty="0">
                <a:latin typeface="+mn-lt"/>
              </a:rPr>
              <a:t>low basic price, since computational resources are substantially hired when they are needed</a:t>
            </a:r>
            <a:r>
              <a:rPr lang="en-US" sz="2600" dirty="0" smtClean="0">
                <a:latin typeface="+mn-lt"/>
              </a:rPr>
              <a:t>.</a:t>
            </a:r>
            <a:endParaRPr lang="en-US" sz="2600" dirty="0" smtClean="0">
              <a:latin typeface="+mn-lt"/>
            </a:endParaRPr>
          </a:p>
          <a:p>
            <a:r>
              <a:rPr lang="en-US" sz="2600" dirty="0">
                <a:latin typeface="+mn-lt"/>
              </a:rPr>
              <a:t>On-request computing goods are swiftly becoming common in the market. HP, Microsoft, </a:t>
            </a:r>
            <a:r>
              <a:rPr lang="en-US" sz="2600" dirty="0" smtClean="0">
                <a:latin typeface="+mn-lt"/>
              </a:rPr>
              <a:t>Computer Associates</a:t>
            </a:r>
            <a:r>
              <a:rPr lang="en-US" sz="2600" dirty="0">
                <a:latin typeface="+mn-lt"/>
              </a:rPr>
              <a:t>, Sun Microsystems, and IBM are among the more famous on-request </a:t>
            </a:r>
            <a:r>
              <a:rPr lang="en-US" sz="2600" dirty="0" smtClean="0">
                <a:latin typeface="+mn-lt"/>
              </a:rPr>
              <a:t>sellers. These companies </a:t>
            </a:r>
            <a:r>
              <a:rPr lang="en-US" sz="2600" dirty="0">
                <a:latin typeface="+mn-lt"/>
              </a:rPr>
              <a:t>mention to their on-request services and goods by various names. IBM names it as ‘</a:t>
            </a:r>
            <a:r>
              <a:rPr lang="en-US" sz="2600" dirty="0" smtClean="0">
                <a:latin typeface="+mn-lt"/>
              </a:rPr>
              <a:t>OnDemand </a:t>
            </a:r>
            <a:r>
              <a:rPr lang="en-US" sz="2600" dirty="0">
                <a:latin typeface="+mn-lt"/>
              </a:rPr>
              <a:t>Computing</a:t>
            </a:r>
            <a:r>
              <a:rPr lang="en-US" sz="2600" dirty="0" smtClean="0">
                <a:latin typeface="+mn-lt"/>
              </a:rPr>
              <a:t>’.</a:t>
            </a:r>
            <a:endParaRPr lang="en-US" sz="26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omputing on Demand 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8478" y="3179577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Thank You!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12717</Words>
  <Application>WPS Presentation</Application>
  <PresentationFormat>Custom</PresentationFormat>
  <Paragraphs>254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SimSun</vt:lpstr>
      <vt:lpstr>Wingdings</vt:lpstr>
      <vt:lpstr>Candara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Chapter 5</vt:lpstr>
      <vt:lpstr>Learning Outcomes</vt:lpstr>
      <vt:lpstr>Cloud Data Center Core Elements</vt:lpstr>
      <vt:lpstr>Cloud Data Center Core Elements</vt:lpstr>
      <vt:lpstr>Cloud Data Center Core Elements</vt:lpstr>
      <vt:lpstr>Types of RAID and Definition of various RAID levels</vt:lpstr>
      <vt:lpstr>Components of Fibre Channel SAN</vt:lpstr>
      <vt:lpstr>Object-based Storage Technologies</vt:lpstr>
      <vt:lpstr>Unified Storage</vt:lpstr>
      <vt:lpstr>Business Continuity</vt:lpstr>
      <vt:lpstr>Cloud Backup</vt:lpstr>
      <vt:lpstr>Cloud Backup</vt:lpstr>
      <vt:lpstr>Cloud and Disaster Recovery</vt:lpstr>
      <vt:lpstr>Cloud and Disaster Recovery</vt:lpstr>
      <vt:lpstr>Replication Technologies</vt:lpstr>
      <vt:lpstr>Replication Technologies</vt:lpstr>
      <vt:lpstr>Replication Technologies</vt:lpstr>
      <vt:lpstr>Traditional Data Center Management</vt:lpstr>
      <vt:lpstr>Services provided by Cloud Data Center</vt:lpstr>
      <vt:lpstr>Information Life Cycle Management</vt:lpstr>
      <vt:lpstr>Information Life Cycle Management</vt:lpstr>
      <vt:lpstr>Information Life Cycle Management</vt:lpstr>
      <vt:lpstr>Cloud Analytics</vt:lpstr>
      <vt:lpstr>Cloud Analytics</vt:lpstr>
      <vt:lpstr>Computing on Demand 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Chowdhury, Sayantan</dc:creator>
  <cp:lastModifiedBy>KIIT01</cp:lastModifiedBy>
  <cp:revision>106</cp:revision>
  <dcterms:created xsi:type="dcterms:W3CDTF">2018-06-14T06:27:00Z</dcterms:created>
  <dcterms:modified xsi:type="dcterms:W3CDTF">2023-02-06T02:32:57Z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83E1294B0B0C463E8C0C92B767E6ED4F</vt:lpwstr>
  </property>
  <property fmtid="{D5CDD505-2E9C-101B-9397-08002B2CF9AE}" pid="3" name="KSOProductBuildVer">
    <vt:lpwstr>1033-11.2.0.11440</vt:lpwstr>
  </property>
</Properties>
</file>