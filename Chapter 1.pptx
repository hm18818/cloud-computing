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0" r:id="rId3"/>
    <p:sldId id="257" r:id="rId4"/>
    <p:sldId id="258" r:id="rId5"/>
    <p:sldId id="275" r:id="rId6"/>
    <p:sldId id="259" r:id="rId7"/>
    <p:sldId id="261" r:id="rId8"/>
    <p:sldId id="28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-90" y="-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7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7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8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8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</a:p>
          <a:p>
            <a:endParaRPr lang="en-US" dirty="0" smtClean="0"/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</a:t>
            </a:r>
            <a:r>
              <a:rPr lang="en-US" b="1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Bhopal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19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9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1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  <a:t>8/13/2018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1258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1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Overview of Cloud Computing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263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	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3000" b="1" dirty="0" smtClean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0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At the end of the session you will be able to:</a:t>
            </a:r>
            <a:r>
              <a:rPr lang="en-US" sz="3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 Define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Describe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need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Describe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history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Explain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historical evolution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D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escribe benefits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Understand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limitations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Explain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elastic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Differentiate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various vendors of cloud computing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Distinguish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traditional data center and cloud 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data center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083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Cloud </a:t>
            </a:r>
            <a:r>
              <a:rPr lang="en-US" dirty="0">
                <a:latin typeface="Calibri" panose="020F0502020204030204" pitchFamily="34" charset="0"/>
              </a:rPr>
              <a:t>computing is a technology which utilizes the Internet and central isolated servers in </a:t>
            </a:r>
            <a:r>
              <a:rPr lang="en-US" dirty="0" smtClean="0">
                <a:latin typeface="Calibri" panose="020F0502020204030204" pitchFamily="34" charset="0"/>
              </a:rPr>
              <a:t>order to </a:t>
            </a:r>
            <a:r>
              <a:rPr lang="en-US" dirty="0">
                <a:latin typeface="Calibri" panose="020F0502020204030204" pitchFamily="34" charset="0"/>
              </a:rPr>
              <a:t>sustain applications and data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This </a:t>
            </a:r>
            <a:r>
              <a:rPr lang="en-US" dirty="0">
                <a:latin typeface="Calibri" panose="020F0502020204030204" pitchFamily="34" charset="0"/>
              </a:rPr>
              <a:t>technology permits much more proficient computing by consolidating </a:t>
            </a:r>
            <a:r>
              <a:rPr lang="en-US" dirty="0" smtClean="0">
                <a:latin typeface="Calibri" panose="020F0502020204030204" pitchFamily="34" charset="0"/>
              </a:rPr>
              <a:t>bandwidth, processing</a:t>
            </a:r>
            <a:r>
              <a:rPr lang="en-US" dirty="0">
                <a:latin typeface="Calibri" panose="020F0502020204030204" pitchFamily="34" charset="0"/>
              </a:rPr>
              <a:t>, and storage memory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Cloud </a:t>
            </a:r>
            <a:r>
              <a:rPr lang="en-US" dirty="0">
                <a:latin typeface="Calibri" panose="020F0502020204030204" pitchFamily="34" charset="0"/>
              </a:rPr>
              <a:t>offers robust memory administration, thus there is no </a:t>
            </a:r>
            <a:r>
              <a:rPr lang="en-US" dirty="0" smtClean="0">
                <a:latin typeface="Calibri" panose="020F0502020204030204" pitchFamily="34" charset="0"/>
              </a:rPr>
              <a:t>necessity to </a:t>
            </a:r>
            <a:r>
              <a:rPr lang="en-US" dirty="0">
                <a:latin typeface="Calibri" panose="020F0502020204030204" pitchFamily="34" charset="0"/>
              </a:rPr>
              <a:t>sustain memory on a personal system.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Introduction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2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  <a:latin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FF00"/>
                </a:solidFill>
                <a:latin typeface="Calibri" panose="020F0502020204030204" pitchFamily="34" charset="0"/>
              </a:rPr>
              <a:t>term ‘cloud’ is defined by NIST [10] as follows</a:t>
            </a:r>
            <a:r>
              <a:rPr lang="en-US" dirty="0" smtClean="0">
                <a:solidFill>
                  <a:srgbClr val="FFFF00"/>
                </a:solidFill>
                <a:latin typeface="Calibri" panose="020F0502020204030204" pitchFamily="34" charset="0"/>
              </a:rPr>
              <a:t>: </a:t>
            </a:r>
          </a:p>
          <a:p>
            <a:r>
              <a:rPr lang="en-US" i="1" dirty="0">
                <a:latin typeface="Calibri" panose="020F0502020204030204" pitchFamily="34" charset="0"/>
              </a:rPr>
              <a:t>“Cloud computing is a model for enabling ubiquitous, convenient, on-demand network access to a </a:t>
            </a:r>
            <a:r>
              <a:rPr lang="en-US" i="1" dirty="0" smtClean="0">
                <a:latin typeface="Calibri" panose="020F0502020204030204" pitchFamily="34" charset="0"/>
              </a:rPr>
              <a:t>shared pool </a:t>
            </a:r>
            <a:r>
              <a:rPr lang="en-US" i="1" dirty="0">
                <a:latin typeface="Calibri" panose="020F0502020204030204" pitchFamily="34" charset="0"/>
              </a:rPr>
              <a:t>of configurable computing resources (e.g., networks, servers, storage, applications, and services</a:t>
            </a:r>
            <a:r>
              <a:rPr lang="en-US" i="1" dirty="0" smtClean="0">
                <a:latin typeface="Calibri" panose="020F0502020204030204" pitchFamily="34" charset="0"/>
              </a:rPr>
              <a:t>) </a:t>
            </a:r>
            <a:r>
              <a:rPr lang="en-US" i="1" dirty="0">
                <a:latin typeface="Calibri" panose="020F0502020204030204" pitchFamily="34" charset="0"/>
              </a:rPr>
              <a:t>that can be rapidly provisioned and released with minimal management effort or service provider </a:t>
            </a:r>
            <a:r>
              <a:rPr lang="en-US" i="1" dirty="0" smtClean="0">
                <a:latin typeface="Calibri" panose="020F0502020204030204" pitchFamily="34" charset="0"/>
              </a:rPr>
              <a:t>interaction. This </a:t>
            </a:r>
            <a:r>
              <a:rPr lang="en-US" i="1" dirty="0">
                <a:latin typeface="Calibri" panose="020F0502020204030204" pitchFamily="34" charset="0"/>
              </a:rPr>
              <a:t>cloud model is composed of five essential characteristics, three service models, and </a:t>
            </a:r>
            <a:r>
              <a:rPr lang="en-US" i="1" dirty="0" smtClean="0">
                <a:latin typeface="Calibri" panose="020F0502020204030204" pitchFamily="34" charset="0"/>
              </a:rPr>
              <a:t>four deployment </a:t>
            </a:r>
            <a:r>
              <a:rPr lang="en-US" i="1" dirty="0">
                <a:latin typeface="Calibri" panose="020F0502020204030204" pitchFamily="34" charset="0"/>
              </a:rPr>
              <a:t>models</a:t>
            </a:r>
            <a:r>
              <a:rPr lang="en-US" i="1" dirty="0" smtClean="0">
                <a:latin typeface="Calibri" panose="020F0502020204030204" pitchFamily="34" charset="0"/>
              </a:rPr>
              <a:t>.”</a:t>
            </a:r>
            <a:endParaRPr lang="en-US" dirty="0" smtClean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Definition of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2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The basic structure </a:t>
            </a:r>
            <a:r>
              <a:rPr lang="en-US" dirty="0">
                <a:latin typeface="Calibri" panose="020F0502020204030204" pitchFamily="34" charset="0"/>
              </a:rPr>
              <a:t>of cloud computing </a:t>
            </a:r>
            <a:r>
              <a:rPr lang="en-US" dirty="0" smtClean="0">
                <a:latin typeface="Calibri" panose="020F0502020204030204" pitchFamily="34" charset="0"/>
              </a:rPr>
              <a:t>is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shown </a:t>
            </a:r>
            <a:r>
              <a:rPr lang="en-US" dirty="0">
                <a:latin typeface="Calibri" panose="020F0502020204030204" pitchFamily="34" charset="0"/>
              </a:rPr>
              <a:t>in Fig. 1.1. As given in the figure,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facilities </a:t>
            </a:r>
            <a:r>
              <a:rPr lang="en-US" dirty="0">
                <a:latin typeface="Calibri" panose="020F0502020204030204" pitchFamily="34" charset="0"/>
              </a:rPr>
              <a:t>and services </a:t>
            </a:r>
            <a:r>
              <a:rPr lang="en-US" dirty="0" smtClean="0">
                <a:latin typeface="Calibri" panose="020F0502020204030204" pitchFamily="34" charset="0"/>
              </a:rPr>
              <a:t>are offered </a:t>
            </a:r>
            <a:r>
              <a:rPr lang="en-US" dirty="0">
                <a:latin typeface="Calibri" panose="020F0502020204030204" pitchFamily="34" charset="0"/>
              </a:rPr>
              <a:t>by cloud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providers </a:t>
            </a:r>
            <a:r>
              <a:rPr lang="en-US" dirty="0">
                <a:latin typeface="Calibri" panose="020F0502020204030204" pitchFamily="34" charset="0"/>
              </a:rPr>
              <a:t>in a cloud computing environment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and </a:t>
            </a:r>
            <a:r>
              <a:rPr lang="en-US" dirty="0">
                <a:latin typeface="Calibri" panose="020F0502020204030204" pitchFamily="34" charset="0"/>
              </a:rPr>
              <a:t>different users from various </a:t>
            </a:r>
            <a:r>
              <a:rPr lang="en-US" dirty="0" smtClean="0">
                <a:latin typeface="Calibri" panose="020F0502020204030204" pitchFamily="34" charset="0"/>
              </a:rPr>
              <a:t>locations 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and </a:t>
            </a:r>
            <a:r>
              <a:rPr lang="en-US" dirty="0">
                <a:latin typeface="Calibri" panose="020F0502020204030204" pitchFamily="34" charset="0"/>
              </a:rPr>
              <a:t>devices can request for specific services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that </a:t>
            </a:r>
            <a:r>
              <a:rPr lang="en-US" dirty="0">
                <a:latin typeface="Calibri" panose="020F0502020204030204" pitchFamily="34" charset="0"/>
              </a:rPr>
              <a:t>are offered.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Basic Structure of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42" y="2190896"/>
            <a:ext cx="4686300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94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Some of the benefits of cloud computing are given here</a:t>
            </a:r>
            <a:r>
              <a:rPr lang="en-US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:</a:t>
            </a:r>
            <a:endParaRPr lang="en-US" b="1" dirty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It </a:t>
            </a:r>
            <a:r>
              <a:rPr lang="en-US" dirty="0">
                <a:latin typeface="Calibri" panose="020F0502020204030204" pitchFamily="34" charset="0"/>
              </a:rPr>
              <a:t>improves parallelism and allocation of resources for fast accessing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One may acquire software services, networked storage space, computer resources, and </a:t>
            </a:r>
            <a:r>
              <a:rPr lang="en-US" dirty="0" smtClean="0">
                <a:latin typeface="Calibri" panose="020F0502020204030204" pitchFamily="34" charset="0"/>
              </a:rPr>
              <a:t>various other </a:t>
            </a:r>
            <a:r>
              <a:rPr lang="en-US" dirty="0">
                <a:latin typeface="Calibri" panose="020F0502020204030204" pitchFamily="34" charset="0"/>
              </a:rPr>
              <a:t>services at a single place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An additional company hosts a set of applications, get software renewals (with no charge), </a:t>
            </a:r>
            <a:r>
              <a:rPr lang="en-US" dirty="0" smtClean="0">
                <a:latin typeface="Calibri" panose="020F0502020204030204" pitchFamily="34" charset="0"/>
              </a:rPr>
              <a:t>and so </a:t>
            </a:r>
            <a:r>
              <a:rPr lang="en-US" dirty="0">
                <a:latin typeface="Calibri" panose="020F0502020204030204" pitchFamily="34" charset="0"/>
              </a:rPr>
              <a:t>on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It improves monetary burden such as operational expenses, renewing charge, and capital </a:t>
            </a:r>
            <a:r>
              <a:rPr lang="en-US" dirty="0" smtClean="0">
                <a:latin typeface="Calibri" panose="020F0502020204030204" pitchFamily="34" charset="0"/>
              </a:rPr>
              <a:t>expenses.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Basic Structure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4271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Cloud Resource Management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537" y="1514926"/>
            <a:ext cx="8449055" cy="470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16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Terminology used in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58" y="2390446"/>
            <a:ext cx="10428889" cy="370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71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8002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33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3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Cloud </a:t>
            </a:r>
            <a:r>
              <a:rPr lang="en-US" sz="3300" b="1" dirty="0">
                <a:solidFill>
                  <a:srgbClr val="FFFF00"/>
                </a:solidFill>
                <a:latin typeface="Calibri" panose="020F0502020204030204" pitchFamily="34" charset="0"/>
              </a:rPr>
              <a:t>computing is a new trend in computing due to its many benefits</a:t>
            </a:r>
            <a:r>
              <a:rPr lang="en-US" sz="33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Reduced </a:t>
            </a:r>
            <a:r>
              <a:rPr lang="en-US" dirty="0">
                <a:latin typeface="Calibri" panose="020F0502020204030204" pitchFamily="34" charset="0"/>
              </a:rPr>
              <a:t>Costs</a:t>
            </a:r>
          </a:p>
          <a:p>
            <a:r>
              <a:rPr lang="en-US" dirty="0">
                <a:latin typeface="Calibri" panose="020F0502020204030204" pitchFamily="34" charset="0"/>
              </a:rPr>
              <a:t>Scalability</a:t>
            </a:r>
          </a:p>
          <a:p>
            <a:r>
              <a:rPr lang="en-US" dirty="0">
                <a:latin typeface="Calibri" panose="020F0502020204030204" pitchFamily="34" charset="0"/>
              </a:rPr>
              <a:t>Remote Access</a:t>
            </a:r>
          </a:p>
          <a:p>
            <a:r>
              <a:rPr lang="en-US" dirty="0">
                <a:latin typeface="Calibri" panose="020F0502020204030204" pitchFamily="34" charset="0"/>
              </a:rPr>
              <a:t>Disaster Relief</a:t>
            </a:r>
          </a:p>
          <a:p>
            <a:r>
              <a:rPr lang="en-US" dirty="0">
                <a:latin typeface="Calibri" panose="020F0502020204030204" pitchFamily="34" charset="0"/>
              </a:rPr>
              <a:t>Ease of Implementation</a:t>
            </a:r>
          </a:p>
          <a:p>
            <a:r>
              <a:rPr lang="en-US" dirty="0">
                <a:latin typeface="Calibri" panose="020F0502020204030204" pitchFamily="34" charset="0"/>
              </a:rPr>
              <a:t>Skilled Vendors</a:t>
            </a:r>
          </a:p>
          <a:p>
            <a:r>
              <a:rPr lang="en-US" dirty="0">
                <a:latin typeface="Calibri" panose="020F0502020204030204" pitchFamily="34" charset="0"/>
              </a:rPr>
              <a:t>Response Time</a:t>
            </a:r>
          </a:p>
          <a:p>
            <a:r>
              <a:rPr lang="en-US" dirty="0">
                <a:latin typeface="Calibri" panose="020F0502020204030204" pitchFamily="34" charset="0"/>
              </a:rPr>
              <a:t>Easy to Customize</a:t>
            </a:r>
          </a:p>
          <a:p>
            <a:r>
              <a:rPr lang="en-US" dirty="0">
                <a:latin typeface="Calibri" panose="020F0502020204030204" pitchFamily="34" charset="0"/>
              </a:rPr>
              <a:t>Virtual Provisioning</a:t>
            </a:r>
          </a:p>
          <a:p>
            <a:r>
              <a:rPr lang="en-US" dirty="0">
                <a:latin typeface="Calibri" panose="020F0502020204030204" pitchFamily="34" charset="0"/>
              </a:rPr>
              <a:t>Fully Automated Storage </a:t>
            </a:r>
            <a:r>
              <a:rPr lang="en-US" dirty="0" err="1">
                <a:latin typeface="Calibri" panose="020F0502020204030204" pitchFamily="34" charset="0"/>
              </a:rPr>
              <a:t>Tiering</a:t>
            </a:r>
            <a:r>
              <a:rPr lang="en-US" dirty="0">
                <a:latin typeface="Calibri" panose="020F0502020204030204" pitchFamily="34" charset="0"/>
              </a:rPr>
              <a:t>—FAST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Need of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6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Scaling Management in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582" y="1674421"/>
            <a:ext cx="4895850" cy="454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536" y="2206752"/>
            <a:ext cx="5873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One of the biggest advantages of cloud computing is that </a:t>
            </a:r>
          </a:p>
          <a:p>
            <a:r>
              <a:rPr lang="en-US" dirty="0" smtClean="0"/>
              <a:t>     a business pays only for the services it avails.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3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8"/>
            <a:ext cx="11684000" cy="51684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6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The historical evolution of Cloud Computing is as follows: </a:t>
            </a:r>
          </a:p>
          <a:p>
            <a:r>
              <a:rPr lang="en-US" sz="3400" dirty="0" smtClean="0">
                <a:latin typeface="Calibri" panose="020F0502020204030204" pitchFamily="34" charset="0"/>
              </a:rPr>
              <a:t>Client-Server </a:t>
            </a:r>
            <a:r>
              <a:rPr lang="en-US" sz="3400" dirty="0">
                <a:latin typeface="Calibri" panose="020F0502020204030204" pitchFamily="34" charset="0"/>
              </a:rPr>
              <a:t>Technology</a:t>
            </a:r>
          </a:p>
          <a:p>
            <a:r>
              <a:rPr lang="en-US" sz="3400" dirty="0">
                <a:latin typeface="Calibri" panose="020F0502020204030204" pitchFamily="34" charset="0"/>
              </a:rPr>
              <a:t>Peer-to-Peer Approach</a:t>
            </a:r>
          </a:p>
          <a:p>
            <a:r>
              <a:rPr lang="en-US" sz="3400" dirty="0">
                <a:latin typeface="Calibri" panose="020F0502020204030204" pitchFamily="34" charset="0"/>
              </a:rPr>
              <a:t>Distributed Computing</a:t>
            </a:r>
          </a:p>
          <a:p>
            <a:r>
              <a:rPr lang="en-US" sz="3400" dirty="0">
                <a:latin typeface="Calibri" panose="020F0502020204030204" pitchFamily="34" charset="0"/>
              </a:rPr>
              <a:t>Evolution of Cloud Computing from Grid Computing</a:t>
            </a:r>
          </a:p>
          <a:p>
            <a:r>
              <a:rPr lang="en-US" sz="3400" dirty="0">
                <a:latin typeface="Calibri" panose="020F0502020204030204" pitchFamily="34" charset="0"/>
              </a:rPr>
              <a:t>Autonomic Computing</a:t>
            </a:r>
          </a:p>
          <a:p>
            <a:r>
              <a:rPr lang="en-US" sz="3400" dirty="0">
                <a:latin typeface="Calibri" panose="020F0502020204030204" pitchFamily="34" charset="0"/>
              </a:rPr>
              <a:t>Platform Virtualization</a:t>
            </a:r>
          </a:p>
          <a:p>
            <a:r>
              <a:rPr lang="en-US" sz="3400" dirty="0">
                <a:latin typeface="Calibri" panose="020F0502020204030204" pitchFamily="34" charset="0"/>
              </a:rPr>
              <a:t>Service Oriented Architecture—SOA</a:t>
            </a:r>
          </a:p>
          <a:p>
            <a:r>
              <a:rPr lang="en-US" sz="3400" dirty="0">
                <a:latin typeface="Calibri" panose="020F0502020204030204" pitchFamily="34" charset="0"/>
              </a:rPr>
              <a:t>Utility Computing</a:t>
            </a:r>
          </a:p>
          <a:p>
            <a:r>
              <a:rPr lang="en-US" sz="3400" dirty="0">
                <a:latin typeface="Calibri" panose="020F0502020204030204" pitchFamily="34" charset="0"/>
              </a:rPr>
              <a:t>Web 2.0</a:t>
            </a:r>
          </a:p>
          <a:p>
            <a:r>
              <a:rPr lang="en-US" sz="3400" dirty="0">
                <a:latin typeface="Calibri" panose="020F0502020204030204" pitchFamily="34" charset="0"/>
              </a:rPr>
              <a:t>Parallel Computing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History of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04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8"/>
            <a:ext cx="11868728" cy="516840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Client-Server is the technology behind cloud computing. </a:t>
            </a:r>
            <a:r>
              <a:rPr lang="en-US" dirty="0" smtClean="0">
                <a:latin typeface="Calibri" panose="020F0502020204030204" pitchFamily="34" charset="0"/>
              </a:rPr>
              <a:t>It is </a:t>
            </a:r>
            <a:r>
              <a:rPr lang="en-US" dirty="0">
                <a:latin typeface="Calibri" panose="020F0502020204030204" pitchFamily="34" charset="0"/>
              </a:rPr>
              <a:t>shown in Fig. </a:t>
            </a:r>
            <a:r>
              <a:rPr lang="en-US" dirty="0" smtClean="0">
                <a:latin typeface="Calibri" panose="020F0502020204030204" pitchFamily="34" charset="0"/>
              </a:rPr>
              <a:t>1.4. In </a:t>
            </a:r>
            <a:r>
              <a:rPr lang="en-US" dirty="0">
                <a:latin typeface="Calibri" panose="020F0502020204030204" pitchFamily="34" charset="0"/>
              </a:rPr>
              <a:t>this, multiple computers perform collectively to augment computing power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The server is the prime regulator wherein </a:t>
            </a:r>
            <a:r>
              <a:rPr lang="en-US" dirty="0" smtClean="0">
                <a:latin typeface="Calibri" panose="020F0502020204030204" pitchFamily="34" charset="0"/>
              </a:rPr>
              <a:t>software </a:t>
            </a:r>
            <a:r>
              <a:rPr lang="en-US" dirty="0">
                <a:latin typeface="Calibri" panose="020F0502020204030204" pitchFamily="34" charset="0"/>
              </a:rPr>
              <a:t>applications and data are kept </a:t>
            </a:r>
            <a:r>
              <a:rPr lang="en-US" dirty="0" smtClean="0">
                <a:latin typeface="Calibri" panose="020F0502020204030204" pitchFamily="34" charset="0"/>
              </a:rPr>
              <a:t>for </a:t>
            </a:r>
            <a:r>
              <a:rPr lang="en-US" dirty="0">
                <a:latin typeface="Calibri" panose="020F0502020204030204" pitchFamily="34" charset="0"/>
              </a:rPr>
              <a:t>access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The client is simply a tool which is </a:t>
            </a:r>
            <a:r>
              <a:rPr lang="en-US" dirty="0" smtClean="0">
                <a:latin typeface="Calibri" panose="020F0502020204030204" pitchFamily="34" charset="0"/>
              </a:rPr>
              <a:t>associated with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the </a:t>
            </a:r>
            <a:r>
              <a:rPr lang="en-US" dirty="0">
                <a:latin typeface="Calibri" panose="020F0502020204030204" pitchFamily="34" charset="0"/>
              </a:rPr>
              <a:t>user for facilitation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Due to inadequate processing power, </a:t>
            </a:r>
            <a:r>
              <a:rPr lang="en-US" dirty="0" smtClean="0">
                <a:latin typeface="Calibri" panose="020F0502020204030204" pitchFamily="34" charset="0"/>
              </a:rPr>
              <a:t>IT employees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</a:t>
            </a:r>
            <a:r>
              <a:rPr lang="en-US" dirty="0">
                <a:latin typeface="Calibri" panose="020F0502020204030204" pitchFamily="34" charset="0"/>
              </a:rPr>
              <a:t>neither acquire instant access nor </a:t>
            </a:r>
            <a:r>
              <a:rPr lang="en-US" dirty="0" smtClean="0">
                <a:latin typeface="Calibri" panose="020F0502020204030204" pitchFamily="34" charset="0"/>
              </a:rPr>
              <a:t>can </a:t>
            </a:r>
            <a:r>
              <a:rPr lang="en-US" dirty="0">
                <a:latin typeface="Calibri" panose="020F0502020204030204" pitchFamily="34" charset="0"/>
              </a:rPr>
              <a:t>two users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access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similar </a:t>
            </a:r>
            <a:r>
              <a:rPr lang="en-US" dirty="0">
                <a:latin typeface="Calibri" panose="020F0502020204030204" pitchFamily="34" charset="0"/>
              </a:rPr>
              <a:t>data concurrently in client–server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technology</a:t>
            </a:r>
            <a:r>
              <a:rPr lang="en-US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Client-Server Technology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931" y="2557154"/>
            <a:ext cx="4038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11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9"/>
            <a:ext cx="11910951" cy="3470234"/>
          </a:xfrm>
        </p:spPr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Peer-to-Peer </a:t>
            </a:r>
            <a:r>
              <a:rPr lang="en-US" dirty="0">
                <a:latin typeface="Calibri" panose="020F0502020204030204" pitchFamily="34" charset="0"/>
              </a:rPr>
              <a:t>(P2P) is a decentralized approach and it encompasses no principal server. It is a design </a:t>
            </a:r>
            <a:r>
              <a:rPr lang="en-US" dirty="0" smtClean="0">
                <a:latin typeface="Calibri" panose="020F0502020204030204" pitchFamily="34" charset="0"/>
              </a:rPr>
              <a:t>in which </a:t>
            </a:r>
            <a:r>
              <a:rPr lang="en-US" dirty="0">
                <a:latin typeface="Calibri" panose="020F0502020204030204" pitchFamily="34" charset="0"/>
              </a:rPr>
              <a:t>every computer has equal responsibilities </a:t>
            </a:r>
            <a:r>
              <a:rPr lang="en-US" dirty="0" smtClean="0">
                <a:latin typeface="Calibri" panose="020F0502020204030204" pitchFamily="34" charset="0"/>
              </a:rPr>
              <a:t>and </a:t>
            </a:r>
            <a:r>
              <a:rPr lang="en-US" dirty="0">
                <a:latin typeface="Calibri" panose="020F0502020204030204" pitchFamily="34" charset="0"/>
              </a:rPr>
              <a:t>facilities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P2P facilitates straight swap of services and resources.</a:t>
            </a:r>
          </a:p>
          <a:p>
            <a:r>
              <a:rPr lang="en-US" dirty="0">
                <a:latin typeface="Calibri" panose="020F0502020204030204" pitchFamily="34" charset="0"/>
              </a:rPr>
              <a:t>This kind of network is not simple to manage.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Peer to Peer Approach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84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9"/>
            <a:ext cx="11910951" cy="3470234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anose="020F0502020204030204" pitchFamily="34" charset="0"/>
              </a:rPr>
              <a:t>Distributed computing </a:t>
            </a:r>
            <a:r>
              <a:rPr lang="en-US" dirty="0">
                <a:latin typeface="Calibri" panose="020F0502020204030204" pitchFamily="34" charset="0"/>
              </a:rPr>
              <a:t>utilizes those idle resources that are not utilized for some reason or the other. Figure </a:t>
            </a:r>
            <a:r>
              <a:rPr lang="en-US" dirty="0" smtClean="0">
                <a:latin typeface="Calibri" panose="020F0502020204030204" pitchFamily="34" charset="0"/>
              </a:rPr>
              <a:t>1.5 shows </a:t>
            </a:r>
            <a:r>
              <a:rPr lang="en-US" dirty="0">
                <a:latin typeface="Calibri" panose="020F0502020204030204" pitchFamily="34" charset="0"/>
              </a:rPr>
              <a:t>distributed computing.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Distributed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196" y="2517569"/>
            <a:ext cx="5191125" cy="3681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73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4200" dirty="0">
                <a:solidFill>
                  <a:schemeClr val="tx1"/>
                </a:solidFill>
                <a:latin typeface="Calibri" panose="020F0502020204030204" pitchFamily="34" charset="0"/>
              </a:rPr>
              <a:t>Evolution of Cloud Computing from Grid Computing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45" y="2481263"/>
            <a:ext cx="9506443" cy="299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10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5304971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latin typeface="Calibri" panose="020F0502020204030204" pitchFamily="34" charset="0"/>
              </a:rPr>
              <a:t>Web 2.0 represents a change in technology in the world of the World Wide Web. It is usually designed to increase data security and customization of application as per the requirement with improved functionality. </a:t>
            </a:r>
            <a:endParaRPr lang="en-US" sz="26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The </a:t>
            </a:r>
            <a:r>
              <a:rPr lang="en-US" sz="2600" b="1" dirty="0">
                <a:solidFill>
                  <a:srgbClr val="FFFF00"/>
                </a:solidFill>
                <a:latin typeface="Calibri" panose="020F0502020204030204" pitchFamily="34" charset="0"/>
              </a:rPr>
              <a:t>important features of Web 2.0 are as follows: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Easy </a:t>
            </a:r>
            <a:r>
              <a:rPr lang="en-US" sz="2600" dirty="0">
                <a:latin typeface="Calibri" panose="020F0502020204030204" pitchFamily="34" charset="0"/>
              </a:rPr>
              <a:t>to access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User </a:t>
            </a:r>
            <a:r>
              <a:rPr lang="en-US" sz="2600" dirty="0">
                <a:latin typeface="Calibri" panose="020F0502020204030204" pitchFamily="34" charset="0"/>
              </a:rPr>
              <a:t>interaction and participation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Rich </a:t>
            </a:r>
            <a:r>
              <a:rPr lang="en-US" sz="2600" dirty="0">
                <a:latin typeface="Calibri" panose="020F0502020204030204" pitchFamily="34" charset="0"/>
              </a:rPr>
              <a:t>customization features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Easy </a:t>
            </a:r>
            <a:r>
              <a:rPr lang="en-US" sz="2600" dirty="0">
                <a:latin typeface="Calibri" panose="020F0502020204030204" pitchFamily="34" charset="0"/>
              </a:rPr>
              <a:t>communication through video chatting, instant messaging facilities, etc.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User-friendly </a:t>
            </a:r>
            <a:r>
              <a:rPr lang="en-US" sz="2600" dirty="0">
                <a:latin typeface="Calibri" panose="020F0502020204030204" pitchFamily="34" charset="0"/>
              </a:rPr>
              <a:t>writing tools and applications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Data </a:t>
            </a:r>
            <a:r>
              <a:rPr lang="en-US" sz="2600" dirty="0">
                <a:latin typeface="Calibri" panose="020F0502020204030204" pitchFamily="34" charset="0"/>
              </a:rPr>
              <a:t>management and analysis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Multimedia </a:t>
            </a:r>
            <a:r>
              <a:rPr lang="en-US" sz="2600" dirty="0">
                <a:latin typeface="Calibri" panose="020F0502020204030204" pitchFamily="34" charset="0"/>
              </a:rPr>
              <a:t>supporting tools</a:t>
            </a:r>
          </a:p>
          <a:p>
            <a:r>
              <a:rPr lang="en-US" sz="2600" dirty="0" smtClean="0">
                <a:latin typeface="Calibri" panose="020F0502020204030204" pitchFamily="34" charset="0"/>
              </a:rPr>
              <a:t>Web </a:t>
            </a:r>
            <a:r>
              <a:rPr lang="en-US" sz="2600" dirty="0">
                <a:latin typeface="Calibri" panose="020F0502020204030204" pitchFamily="34" charset="0"/>
              </a:rPr>
              <a:t>application and hosting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Web 2.0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16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latin typeface="Calibri" panose="020F0502020204030204" pitchFamily="34" charset="0"/>
              </a:rPr>
              <a:t>Parallel </a:t>
            </a:r>
            <a:r>
              <a:rPr lang="en-US" dirty="0">
                <a:latin typeface="Calibri" panose="020F0502020204030204" pitchFamily="34" charset="0"/>
              </a:rPr>
              <a:t>computing simultaneously uses various computing resources for solving a computational problem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</a:rPr>
              <a:t>It is based on the principle that a single large problem is divided into small parts and </a:t>
            </a:r>
            <a:r>
              <a:rPr lang="en-US" dirty="0" err="1" smtClean="0">
                <a:latin typeface="Calibri" panose="020F0502020204030204" pitchFamily="34" charset="0"/>
              </a:rPr>
              <a:t>parallely</a:t>
            </a:r>
            <a:r>
              <a:rPr lang="en-US" dirty="0" smtClean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runs different parts on different machines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</a:rPr>
              <a:t>Parallel computing supports applications that require processing of a large problem in a sophisticated way. Some of the examples are Big data problem, Data mining, Search engines, Medical diagnosis, Virtual reality, </a:t>
            </a:r>
            <a:r>
              <a:rPr lang="en-US" dirty="0" smtClean="0">
                <a:latin typeface="Calibri" panose="020F0502020204030204" pitchFamily="34" charset="0"/>
              </a:rPr>
              <a:t>Multimedia.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Parallel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6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Electronic Faxing</a:t>
            </a:r>
          </a:p>
          <a:p>
            <a:r>
              <a:rPr lang="en-US" dirty="0">
                <a:latin typeface="Calibri" panose="020F0502020204030204" pitchFamily="34" charset="0"/>
              </a:rPr>
              <a:t>Voice on </a:t>
            </a:r>
            <a:r>
              <a:rPr lang="en-US" dirty="0" smtClean="0">
                <a:latin typeface="Calibri" panose="020F0502020204030204" pitchFamily="34" charset="0"/>
              </a:rPr>
              <a:t>Clouds</a:t>
            </a:r>
          </a:p>
          <a:p>
            <a:r>
              <a:rPr lang="en-US" dirty="0">
                <a:latin typeface="Calibri" panose="020F0502020204030204" pitchFamily="34" charset="0"/>
              </a:rPr>
              <a:t>Commerce on </a:t>
            </a:r>
            <a:r>
              <a:rPr lang="en-US" dirty="0" smtClean="0">
                <a:latin typeface="Calibri" panose="020F0502020204030204" pitchFamily="34" charset="0"/>
              </a:rPr>
              <a:t>Clouds</a:t>
            </a:r>
          </a:p>
          <a:p>
            <a:r>
              <a:rPr lang="en-US" dirty="0">
                <a:latin typeface="Calibri" panose="020F0502020204030204" pitchFamily="34" charset="0"/>
              </a:rPr>
              <a:t>Distributed Hosting on </a:t>
            </a:r>
            <a:r>
              <a:rPr lang="en-US" dirty="0" smtClean="0">
                <a:latin typeface="Calibri" panose="020F0502020204030204" pitchFamily="34" charset="0"/>
              </a:rPr>
              <a:t>Clouds</a:t>
            </a:r>
          </a:p>
          <a:p>
            <a:r>
              <a:rPr lang="en-US" dirty="0">
                <a:latin typeface="Calibri" panose="020F0502020204030204" pitchFamily="34" charset="0"/>
              </a:rPr>
              <a:t>Accounting and Online </a:t>
            </a:r>
            <a:r>
              <a:rPr lang="en-US" dirty="0" smtClean="0">
                <a:latin typeface="Calibri" panose="020F0502020204030204" pitchFamily="34" charset="0"/>
              </a:rPr>
              <a:t>Banking</a:t>
            </a:r>
          </a:p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Services Provided by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0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Calibri" panose="020F0502020204030204" pitchFamily="34" charset="0"/>
              </a:rPr>
              <a:t>A </a:t>
            </a:r>
            <a:r>
              <a:rPr lang="en-US" dirty="0">
                <a:latin typeface="Calibri" panose="020F0502020204030204" pitchFamily="34" charset="0"/>
              </a:rPr>
              <a:t>mobile phone can be used to access services related to news.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Google </a:t>
            </a:r>
            <a:r>
              <a:rPr lang="en-US" dirty="0">
                <a:latin typeface="Calibri" panose="020F0502020204030204" pitchFamily="34" charset="0"/>
              </a:rPr>
              <a:t>Apps or Gmail is capable of seeking information via e-mail, rapidly from any tool. We </a:t>
            </a:r>
            <a:r>
              <a:rPr lang="en-US" dirty="0" smtClean="0">
                <a:latin typeface="Calibri" panose="020F0502020204030204" pitchFamily="34" charset="0"/>
              </a:rPr>
              <a:t>can talk </a:t>
            </a:r>
            <a:r>
              <a:rPr lang="en-US" dirty="0">
                <a:latin typeface="Calibri" panose="020F0502020204030204" pitchFamily="34" charset="0"/>
              </a:rPr>
              <a:t>and work with partners or consumers without any language barrier.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Distribution </a:t>
            </a:r>
            <a:r>
              <a:rPr lang="en-US" dirty="0">
                <a:latin typeface="Calibri" panose="020F0502020204030204" pitchFamily="34" charset="0"/>
              </a:rPr>
              <a:t>and editing of data with trouble-free collaboration using Google items Docs </a:t>
            </a:r>
            <a:r>
              <a:rPr lang="en-US" dirty="0" smtClean="0">
                <a:latin typeface="Calibri" panose="020F0502020204030204" pitchFamily="34" charset="0"/>
              </a:rPr>
              <a:t>and Sites</a:t>
            </a:r>
            <a:r>
              <a:rPr lang="en-US" dirty="0">
                <a:latin typeface="Calibri" panose="020F0502020204030204" pitchFamily="34" charset="0"/>
              </a:rPr>
              <a:t>. TripIt is a private travel that assists in arranging tours. Data is gathered from consumers </a:t>
            </a:r>
            <a:r>
              <a:rPr lang="en-US" dirty="0" smtClean="0">
                <a:latin typeface="Calibri" panose="020F0502020204030204" pitchFamily="34" charset="0"/>
              </a:rPr>
              <a:t>and colleagues </a:t>
            </a:r>
            <a:r>
              <a:rPr lang="en-US" dirty="0">
                <a:latin typeface="Calibri" panose="020F0502020204030204" pitchFamily="34" charset="0"/>
              </a:rPr>
              <a:t>by using Google types. There is joint work on a general venture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Through </a:t>
            </a:r>
            <a:r>
              <a:rPr lang="en-US" dirty="0">
                <a:latin typeface="Calibri" panose="020F0502020204030204" pitchFamily="34" charset="0"/>
              </a:rPr>
              <a:t>Force.com, you may construct a scalable business application on the cloud platform.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    Both </a:t>
            </a:r>
            <a:r>
              <a:rPr lang="en-US" dirty="0">
                <a:latin typeface="Calibri" panose="020F0502020204030204" pitchFamily="34" charset="0"/>
              </a:rPr>
              <a:t>Google’s cloud and salesforce.com computing platforms are employed to generate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 business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and </a:t>
            </a:r>
            <a:r>
              <a:rPr lang="en-US" dirty="0">
                <a:latin typeface="Calibri" panose="020F0502020204030204" pitchFamily="34" charset="0"/>
              </a:rPr>
              <a:t>web applications.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Using </a:t>
            </a:r>
            <a:r>
              <a:rPr lang="en-US" dirty="0">
                <a:latin typeface="Calibri" panose="020F0502020204030204" pitchFamily="34" charset="0"/>
              </a:rPr>
              <a:t>online patterns for presentations, spreadsheets, and </a:t>
            </a:r>
            <a:r>
              <a:rPr lang="en-US" dirty="0" smtClean="0">
                <a:latin typeface="Calibri" panose="020F0502020204030204" pitchFamily="34" charset="0"/>
              </a:rPr>
              <a:t>records.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Functioning </a:t>
            </a:r>
            <a:r>
              <a:rPr lang="en-US" dirty="0">
                <a:latin typeface="Calibri" panose="020F0502020204030204" pitchFamily="34" charset="0"/>
              </a:rPr>
              <a:t>steady, safe, and quick Web </a:t>
            </a:r>
            <a:r>
              <a:rPr lang="en-US" dirty="0" smtClean="0">
                <a:latin typeface="Calibri" panose="020F0502020204030204" pitchFamily="34" charset="0"/>
              </a:rPr>
              <a:t>apps.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Easily </a:t>
            </a:r>
            <a:r>
              <a:rPr lang="en-US" dirty="0">
                <a:latin typeface="Calibri" panose="020F0502020204030204" pitchFamily="34" charset="0"/>
              </a:rPr>
              <a:t>and firmly distributing video in apps through Youtube for Google </a:t>
            </a:r>
            <a:r>
              <a:rPr lang="en-US" dirty="0" smtClean="0">
                <a:latin typeface="Calibri" panose="020F0502020204030204" pitchFamily="34" charset="0"/>
              </a:rPr>
              <a:t>apps.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News on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51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Cloud </a:t>
            </a: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computing offers the following benefits</a:t>
            </a:r>
            <a:r>
              <a:rPr lang="en-US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Pay </a:t>
            </a:r>
            <a:r>
              <a:rPr lang="en-US" dirty="0">
                <a:latin typeface="Calibri" panose="020F0502020204030204" pitchFamily="34" charset="0"/>
              </a:rPr>
              <a:t>as per </a:t>
            </a:r>
            <a:r>
              <a:rPr lang="en-US" dirty="0" smtClean="0">
                <a:latin typeface="Calibri" panose="020F0502020204030204" pitchFamily="34" charset="0"/>
              </a:rPr>
              <a:t>use</a:t>
            </a:r>
          </a:p>
          <a:p>
            <a:r>
              <a:rPr lang="en-US" dirty="0">
                <a:latin typeface="Calibri" panose="020F0502020204030204" pitchFamily="34" charset="0"/>
              </a:rPr>
              <a:t>Reduced investment and proportional </a:t>
            </a:r>
            <a:r>
              <a:rPr lang="en-US" dirty="0" smtClean="0">
                <a:latin typeface="Calibri" panose="020F0502020204030204" pitchFamily="34" charset="0"/>
              </a:rPr>
              <a:t>costs</a:t>
            </a:r>
          </a:p>
          <a:p>
            <a:r>
              <a:rPr lang="en-US" dirty="0">
                <a:latin typeface="Calibri" panose="020F0502020204030204" pitchFamily="34" charset="0"/>
              </a:rPr>
              <a:t>Accessibility from </a:t>
            </a:r>
            <a:r>
              <a:rPr lang="en-US" dirty="0" smtClean="0">
                <a:latin typeface="Calibri" panose="020F0502020204030204" pitchFamily="34" charset="0"/>
              </a:rPr>
              <a:t>anywhere</a:t>
            </a:r>
          </a:p>
          <a:p>
            <a:r>
              <a:rPr lang="en-US" dirty="0">
                <a:latin typeface="Calibri" panose="020F0502020204030204" pitchFamily="34" charset="0"/>
              </a:rPr>
              <a:t>Increased </a:t>
            </a:r>
            <a:r>
              <a:rPr lang="en-US" dirty="0" smtClean="0">
                <a:latin typeface="Calibri" panose="020F0502020204030204" pitchFamily="34" charset="0"/>
              </a:rPr>
              <a:t>scalability</a:t>
            </a:r>
          </a:p>
          <a:p>
            <a:r>
              <a:rPr lang="en-US" dirty="0">
                <a:latin typeface="Calibri" panose="020F0502020204030204" pitchFamily="34" charset="0"/>
              </a:rPr>
              <a:t>Increased availability and </a:t>
            </a:r>
            <a:r>
              <a:rPr lang="en-US" dirty="0" smtClean="0">
                <a:latin typeface="Calibri" panose="020F0502020204030204" pitchFamily="34" charset="0"/>
              </a:rPr>
              <a:t>reliability</a:t>
            </a:r>
          </a:p>
          <a:p>
            <a:r>
              <a:rPr lang="en-US" dirty="0">
                <a:latin typeface="Calibri" panose="020F0502020204030204" pitchFamily="34" charset="0"/>
              </a:rPr>
              <a:t>Dynamic provisioning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Benefits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56408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33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300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Some </a:t>
            </a:r>
            <a:r>
              <a:rPr lang="en-US" sz="3300" b="1" dirty="0">
                <a:solidFill>
                  <a:srgbClr val="FFFF00"/>
                </a:solidFill>
                <a:latin typeface="Calibri" panose="020F0502020204030204" pitchFamily="34" charset="0"/>
              </a:rPr>
              <a:t>of the limitations of Cloud computing are: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Availability </a:t>
            </a:r>
            <a:r>
              <a:rPr lang="en-US" dirty="0">
                <a:latin typeface="Calibri" panose="020F0502020204030204" pitchFamily="34" charset="0"/>
              </a:rPr>
              <a:t>of </a:t>
            </a:r>
            <a:r>
              <a:rPr lang="en-US" dirty="0" smtClean="0">
                <a:latin typeface="Calibri" panose="020F0502020204030204" pitchFamily="34" charset="0"/>
              </a:rPr>
              <a:t>Services</a:t>
            </a:r>
          </a:p>
          <a:p>
            <a:r>
              <a:rPr lang="en-US" dirty="0">
                <a:latin typeface="Calibri" panose="020F0502020204030204" pitchFamily="34" charset="0"/>
              </a:rPr>
              <a:t>Data </a:t>
            </a:r>
            <a:r>
              <a:rPr lang="en-US" dirty="0" smtClean="0">
                <a:latin typeface="Calibri" panose="020F0502020204030204" pitchFamily="34" charset="0"/>
              </a:rPr>
              <a:t>Lock-in</a:t>
            </a:r>
          </a:p>
          <a:p>
            <a:r>
              <a:rPr lang="en-US" dirty="0">
                <a:latin typeface="Calibri" panose="020F0502020204030204" pitchFamily="34" charset="0"/>
              </a:rPr>
              <a:t>Data </a:t>
            </a:r>
            <a:r>
              <a:rPr lang="en-US" dirty="0" smtClean="0">
                <a:latin typeface="Calibri" panose="020F0502020204030204" pitchFamily="34" charset="0"/>
              </a:rPr>
              <a:t>Segregation</a:t>
            </a:r>
          </a:p>
          <a:p>
            <a:r>
              <a:rPr lang="en-US" dirty="0">
                <a:latin typeface="Calibri" panose="020F0502020204030204" pitchFamily="34" charset="0"/>
              </a:rPr>
              <a:t>Privilege </a:t>
            </a:r>
            <a:r>
              <a:rPr lang="en-US" dirty="0" smtClean="0">
                <a:latin typeface="Calibri" panose="020F0502020204030204" pitchFamily="34" charset="0"/>
              </a:rPr>
              <a:t>Neglect</a:t>
            </a:r>
          </a:p>
          <a:p>
            <a:r>
              <a:rPr lang="en-US" dirty="0">
                <a:latin typeface="Calibri" panose="020F0502020204030204" pitchFamily="34" charset="0"/>
              </a:rPr>
              <a:t>Scaling </a:t>
            </a:r>
            <a:r>
              <a:rPr lang="en-US" dirty="0" smtClean="0">
                <a:latin typeface="Calibri" panose="020F0502020204030204" pitchFamily="34" charset="0"/>
              </a:rPr>
              <a:t>Resources</a:t>
            </a:r>
          </a:p>
          <a:p>
            <a:r>
              <a:rPr lang="en-US" dirty="0">
                <a:latin typeface="Calibri" panose="020F0502020204030204" pitchFamily="34" charset="0"/>
              </a:rPr>
              <a:t>Data </a:t>
            </a:r>
            <a:r>
              <a:rPr lang="en-US" dirty="0" smtClean="0">
                <a:latin typeface="Calibri" panose="020F0502020204030204" pitchFamily="34" charset="0"/>
              </a:rPr>
              <a:t>Location</a:t>
            </a:r>
          </a:p>
          <a:p>
            <a:r>
              <a:rPr lang="en-US" dirty="0">
                <a:latin typeface="Calibri" panose="020F0502020204030204" pitchFamily="34" charset="0"/>
              </a:rPr>
              <a:t>Deletion of </a:t>
            </a:r>
            <a:r>
              <a:rPr lang="en-US" dirty="0" smtClean="0">
                <a:latin typeface="Calibri" panose="020F0502020204030204" pitchFamily="34" charset="0"/>
              </a:rPr>
              <a:t>Data</a:t>
            </a:r>
          </a:p>
          <a:p>
            <a:r>
              <a:rPr lang="en-US" dirty="0">
                <a:latin typeface="Calibri" panose="020F0502020204030204" pitchFamily="34" charset="0"/>
              </a:rPr>
              <a:t>Recovery and </a:t>
            </a:r>
            <a:r>
              <a:rPr lang="en-US" dirty="0" smtClean="0">
                <a:latin typeface="Calibri" panose="020F0502020204030204" pitchFamily="34" charset="0"/>
              </a:rPr>
              <a:t>Backup</a:t>
            </a:r>
          </a:p>
          <a:p>
            <a:r>
              <a:rPr lang="en-US" dirty="0">
                <a:latin typeface="Calibri" panose="020F0502020204030204" pitchFamily="34" charset="0"/>
              </a:rPr>
              <a:t>Offline </a:t>
            </a:r>
            <a:r>
              <a:rPr lang="en-US" dirty="0" smtClean="0">
                <a:latin typeface="Calibri" panose="020F0502020204030204" pitchFamily="34" charset="0"/>
              </a:rPr>
              <a:t>Clouds</a:t>
            </a:r>
          </a:p>
          <a:p>
            <a:r>
              <a:rPr lang="en-US" dirty="0">
                <a:latin typeface="Calibri" panose="020F0502020204030204" pitchFamily="34" charset="0"/>
              </a:rPr>
              <a:t>Unpredictable Performance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Limitations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98337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8" y="1553028"/>
            <a:ext cx="11910951" cy="47408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For </a:t>
            </a: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the development of cloud infrastructure, the following are needed: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Understanding </a:t>
            </a:r>
            <a:r>
              <a:rPr lang="en-US" dirty="0">
                <a:latin typeface="Calibri" panose="020F0502020204030204" pitchFamily="34" charset="0"/>
              </a:rPr>
              <a:t>the prevailing conventional data center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Computing </a:t>
            </a:r>
            <a:r>
              <a:rPr lang="en-US" dirty="0">
                <a:latin typeface="Calibri" panose="020F0502020204030204" pitchFamily="34" charset="0"/>
              </a:rPr>
              <a:t>resources that will be virtualized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Installing </a:t>
            </a:r>
            <a:r>
              <a:rPr lang="en-US" dirty="0">
                <a:latin typeface="Calibri" panose="020F0502020204030204" pitchFamily="34" charset="0"/>
              </a:rPr>
              <a:t>service administration devices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How to develop Cloud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Computing</a:t>
            </a:r>
          </a:p>
        </p:txBody>
      </p:sp>
    </p:spTree>
    <p:extLst>
      <p:ext uri="{BB962C8B-B14F-4D97-AF65-F5344CB8AC3E}">
        <p14:creationId xmlns:p14="http://schemas.microsoft.com/office/powerpoint/2010/main" val="82146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endParaRPr lang="en-US" b="1" dirty="0" smtClean="0">
              <a:latin typeface="Calibri" panose="020F0502020204030204" pitchFamily="34" charset="0"/>
            </a:endParaRPr>
          </a:p>
          <a:p>
            <a:r>
              <a:rPr lang="en-US" b="1" dirty="0" smtClean="0">
                <a:solidFill>
                  <a:srgbClr val="FFFF00"/>
                </a:solidFill>
                <a:latin typeface="Calibri" panose="020F0502020204030204" pitchFamily="34" charset="0"/>
              </a:rPr>
              <a:t>Application</a:t>
            </a:r>
            <a:r>
              <a:rPr lang="en-US" b="1" dirty="0" smtClean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Program employed to carry out numerous computing functions. It may be an </a:t>
            </a:r>
            <a:r>
              <a:rPr lang="en-US" dirty="0" smtClean="0">
                <a:latin typeface="Calibri" panose="020F0502020204030204" pitchFamily="34" charset="0"/>
              </a:rPr>
              <a:t>operating system</a:t>
            </a:r>
            <a:r>
              <a:rPr lang="en-US" dirty="0">
                <a:latin typeface="Calibri" panose="020F0502020204030204" pitchFamily="34" charset="0"/>
              </a:rPr>
              <a:t>, DBMS, and many more.</a:t>
            </a:r>
          </a:p>
          <a:p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DBMS</a:t>
            </a:r>
            <a:r>
              <a:rPr lang="en-US" b="1" dirty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It is an administration system which offers the ability to save or get data from rationally </a:t>
            </a:r>
            <a:r>
              <a:rPr lang="en-US" dirty="0" smtClean="0">
                <a:latin typeface="Calibri" panose="020F0502020204030204" pitchFamily="34" charset="0"/>
              </a:rPr>
              <a:t>prepared tables</a:t>
            </a:r>
            <a:r>
              <a:rPr lang="en-US" dirty="0">
                <a:latin typeface="Calibri" panose="020F0502020204030204" pitchFamily="34" charset="0"/>
              </a:rPr>
              <a:t>.</a:t>
            </a:r>
          </a:p>
          <a:p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Compute </a:t>
            </a:r>
            <a:r>
              <a:rPr lang="en-US" dirty="0">
                <a:latin typeface="Calibri" panose="020F0502020204030204" pitchFamily="34" charset="0"/>
              </a:rPr>
              <a:t>Resources which work numerous applications using various </a:t>
            </a:r>
            <a:r>
              <a:rPr lang="en-US" dirty="0" smtClean="0">
                <a:latin typeface="Calibri" panose="020F0502020204030204" pitchFamily="34" charset="0"/>
              </a:rPr>
              <a:t>elements.</a:t>
            </a:r>
          </a:p>
          <a:p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Storage </a:t>
            </a:r>
            <a:r>
              <a:rPr lang="en-US" dirty="0">
                <a:latin typeface="Calibri" panose="020F0502020204030204" pitchFamily="34" charset="0"/>
              </a:rPr>
              <a:t>This is used to save data for often </a:t>
            </a:r>
            <a:r>
              <a:rPr lang="en-US" dirty="0" smtClean="0">
                <a:latin typeface="Calibri" panose="020F0502020204030204" pitchFamily="34" charset="0"/>
              </a:rPr>
              <a:t>use.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Network</a:t>
            </a:r>
            <a:r>
              <a:rPr lang="en-US" b="1" dirty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It is the ability to communicate among systems. It assists us to share data and resources.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Core Components of Traditional Data Centers</a:t>
            </a:r>
          </a:p>
        </p:txBody>
      </p:sp>
    </p:spTree>
    <p:extLst>
      <p:ext uri="{BB962C8B-B14F-4D97-AF65-F5344CB8AC3E}">
        <p14:creationId xmlns:p14="http://schemas.microsoft.com/office/powerpoint/2010/main" val="344200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Amazon </a:t>
            </a:r>
            <a:r>
              <a:rPr lang="en-US" dirty="0">
                <a:latin typeface="Calibri" panose="020F0502020204030204" pitchFamily="34" charset="0"/>
              </a:rPr>
              <a:t>Web </a:t>
            </a:r>
            <a:r>
              <a:rPr lang="en-US" dirty="0" smtClean="0">
                <a:latin typeface="Calibri" panose="020F0502020204030204" pitchFamily="34" charset="0"/>
              </a:rPr>
              <a:t>Services—IaaS</a:t>
            </a:r>
          </a:p>
          <a:p>
            <a:r>
              <a:rPr lang="en-US" dirty="0">
                <a:latin typeface="Calibri" panose="020F0502020204030204" pitchFamily="34" charset="0"/>
              </a:rPr>
              <a:t>Google—SaaS, </a:t>
            </a:r>
            <a:r>
              <a:rPr lang="en-US" dirty="0" smtClean="0">
                <a:latin typeface="Calibri" panose="020F0502020204030204" pitchFamily="34" charset="0"/>
              </a:rPr>
              <a:t>PaaS</a:t>
            </a:r>
          </a:p>
          <a:p>
            <a:r>
              <a:rPr lang="en-US" dirty="0">
                <a:latin typeface="Calibri" panose="020F0502020204030204" pitchFamily="34" charset="0"/>
              </a:rPr>
              <a:t>Microsoft Azure Service </a:t>
            </a:r>
            <a:r>
              <a:rPr lang="en-US" dirty="0" smtClean="0">
                <a:latin typeface="Calibri" panose="020F0502020204030204" pitchFamily="34" charset="0"/>
              </a:rPr>
              <a:t>Platform—PaaS</a:t>
            </a:r>
          </a:p>
          <a:p>
            <a:r>
              <a:rPr lang="en-US" dirty="0">
                <a:latin typeface="Calibri" panose="020F0502020204030204" pitchFamily="34" charset="0"/>
              </a:rPr>
              <a:t>Rackspace—Cloud </a:t>
            </a:r>
            <a:r>
              <a:rPr lang="en-US" dirty="0" smtClean="0">
                <a:latin typeface="Calibri" panose="020F0502020204030204" pitchFamily="34" charset="0"/>
              </a:rPr>
              <a:t>Hosting</a:t>
            </a:r>
          </a:p>
          <a:p>
            <a:r>
              <a:rPr lang="en-US" dirty="0">
                <a:latin typeface="Calibri" panose="020F0502020204030204" pitchFamily="34" charset="0"/>
              </a:rPr>
              <a:t>Salesforce.com—SaaS, PaaS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Vendors of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96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Elastic </a:t>
            </a:r>
            <a:r>
              <a:rPr lang="en-US" dirty="0">
                <a:latin typeface="Calibri" panose="020F0502020204030204" pitchFamily="34" charset="0"/>
              </a:rPr>
              <a:t>computing is the capability of a cloud service supplier to </a:t>
            </a:r>
            <a:r>
              <a:rPr lang="en-US" dirty="0" smtClean="0">
                <a:latin typeface="Calibri" panose="020F0502020204030204" pitchFamily="34" charset="0"/>
              </a:rPr>
              <a:t>provision flexible </a:t>
            </a:r>
            <a:r>
              <a:rPr lang="en-US" dirty="0">
                <a:latin typeface="Calibri" panose="020F0502020204030204" pitchFamily="34" charset="0"/>
              </a:rPr>
              <a:t>computing strength when and where required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In cloud computing, elasticity is described as the level to which a system is capable of adapting to workload variation by offering and taking back resources the autonomic way; at every point in time the accessible resources meet the present need.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Elastic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74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</a:rPr>
              <a:t>Social </a:t>
            </a:r>
            <a:r>
              <a:rPr lang="en-US" dirty="0">
                <a:latin typeface="Calibri" panose="020F0502020204030204" pitchFamily="34" charset="0"/>
              </a:rPr>
              <a:t>networking may be done for business purposes, social purposes, or both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</a:rPr>
              <a:t>Examples of </a:t>
            </a:r>
            <a:r>
              <a:rPr lang="en-US" dirty="0" smtClean="0">
                <a:latin typeface="Calibri" panose="020F0502020204030204" pitchFamily="34" charset="0"/>
              </a:rPr>
              <a:t>social networking </a:t>
            </a:r>
            <a:r>
              <a:rPr lang="en-US" dirty="0">
                <a:latin typeface="Calibri" panose="020F0502020204030204" pitchFamily="34" charset="0"/>
              </a:rPr>
              <a:t>include LinkedIn, Facebook, etc</a:t>
            </a:r>
            <a:r>
              <a:rPr lang="en-US" dirty="0" smtClean="0">
                <a:latin typeface="Calibri" panose="020F0502020204030204" pitchFamily="34" charset="0"/>
              </a:rPr>
              <a:t>..</a:t>
            </a:r>
          </a:p>
          <a:p>
            <a:r>
              <a:rPr lang="en-US" dirty="0">
                <a:latin typeface="Calibri" panose="020F0502020204030204" pitchFamily="34" charset="0"/>
              </a:rPr>
              <a:t>A social networking website is an online podium </a:t>
            </a:r>
            <a:r>
              <a:rPr lang="en-US" dirty="0" smtClean="0">
                <a:latin typeface="Calibri" panose="020F0502020204030204" pitchFamily="34" charset="0"/>
              </a:rPr>
              <a:t>which permits </a:t>
            </a:r>
            <a:r>
              <a:rPr lang="en-US" dirty="0">
                <a:latin typeface="Calibri" panose="020F0502020204030204" pitchFamily="34" charset="0"/>
              </a:rPr>
              <a:t>customers to build a public profile and interact with other users on the </a:t>
            </a:r>
            <a:r>
              <a:rPr lang="en-US" dirty="0" smtClean="0">
                <a:latin typeface="Calibri" panose="020F0502020204030204" pitchFamily="34" charset="0"/>
              </a:rPr>
              <a:t>website.</a:t>
            </a:r>
          </a:p>
          <a:p>
            <a:r>
              <a:rPr lang="en-US" dirty="0">
                <a:latin typeface="Calibri" panose="020F0502020204030204" pitchFamily="34" charset="0"/>
              </a:rPr>
              <a:t>Some social networking websites like LinkedIn are used for creating </a:t>
            </a:r>
            <a:r>
              <a:rPr lang="en-US" dirty="0" smtClean="0">
                <a:latin typeface="Calibri" panose="020F0502020204030204" pitchFamily="34" charset="0"/>
              </a:rPr>
              <a:t>professional links</a:t>
            </a:r>
            <a:r>
              <a:rPr lang="en-US" dirty="0">
                <a:latin typeface="Calibri" panose="020F0502020204030204" pitchFamily="34" charset="0"/>
              </a:rPr>
              <a:t>, whereas sites such as Facebook are on both sides of the line (i.e., professional and private).</a:t>
            </a:r>
            <a:endParaRPr lang="en-US" dirty="0" smtClean="0">
              <a:latin typeface="Calibri" panose="020F0502020204030204" pitchFamily="34" charset="0"/>
            </a:endParaRP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Social Networking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5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</a:rPr>
              <a:t>Enterprise </a:t>
            </a:r>
            <a:r>
              <a:rPr lang="en-US" dirty="0">
                <a:latin typeface="Calibri" panose="020F0502020204030204" pitchFamily="34" charset="0"/>
              </a:rPr>
              <a:t>cloud computing is the process of using cloud computing for saving cost and for </a:t>
            </a:r>
            <a:r>
              <a:rPr lang="en-US" dirty="0" smtClean="0">
                <a:latin typeface="Calibri" panose="020F0502020204030204" pitchFamily="34" charset="0"/>
              </a:rPr>
              <a:t>business innovation </a:t>
            </a:r>
            <a:r>
              <a:rPr lang="en-US" dirty="0">
                <a:latin typeface="Calibri" panose="020F0502020204030204" pitchFamily="34" charset="0"/>
              </a:rPr>
              <a:t>by getting extraordinary speed and agility, and improved </a:t>
            </a:r>
            <a:r>
              <a:rPr lang="en-US" dirty="0" smtClean="0">
                <a:latin typeface="Calibri" panose="020F0502020204030204" pitchFamily="34" charset="0"/>
              </a:rPr>
              <a:t>collaboration </a:t>
            </a:r>
            <a:r>
              <a:rPr lang="en-US" dirty="0">
                <a:latin typeface="Calibri" panose="020F0502020204030204" pitchFamily="34" charset="0"/>
              </a:rPr>
              <a:t>among customers </a:t>
            </a:r>
            <a:r>
              <a:rPr lang="en-US" dirty="0" smtClean="0">
                <a:latin typeface="Calibri" panose="020F0502020204030204" pitchFamily="34" charset="0"/>
              </a:rPr>
              <a:t>and business </a:t>
            </a:r>
            <a:r>
              <a:rPr lang="en-US" dirty="0">
                <a:latin typeface="Calibri" panose="020F0502020204030204" pitchFamily="34" charset="0"/>
              </a:rPr>
              <a:t>partners</a:t>
            </a:r>
            <a:r>
              <a:rPr lang="en-US" dirty="0" smtClean="0">
                <a:latin typeface="Calibri" panose="020F0502020204030204" pitchFamily="34" charset="0"/>
              </a:rPr>
              <a:t>. </a:t>
            </a:r>
            <a:r>
              <a:rPr lang="en-US" dirty="0">
                <a:latin typeface="Calibri" panose="020F0502020204030204" pitchFamily="34" charset="0"/>
              </a:rPr>
              <a:t>Enterprise cloud computing is important because</a:t>
            </a:r>
            <a:r>
              <a:rPr lang="en-US" dirty="0" smtClean="0">
                <a:latin typeface="Calibri" panose="020F0502020204030204" pitchFamily="34" charset="0"/>
              </a:rPr>
              <a:t>: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Cost </a:t>
            </a:r>
            <a:r>
              <a:rPr lang="en-US" dirty="0">
                <a:latin typeface="Calibri" panose="020F0502020204030204" pitchFamily="34" charset="0"/>
              </a:rPr>
              <a:t>of accessing data can be reduced to a great extent by linking it directly with the </a:t>
            </a:r>
            <a:r>
              <a:rPr lang="en-US" dirty="0" smtClean="0">
                <a:latin typeface="Calibri" panose="020F0502020204030204" pitchFamily="34" charset="0"/>
              </a:rPr>
              <a:t>usage. Customers </a:t>
            </a:r>
            <a:r>
              <a:rPr lang="en-US" dirty="0">
                <a:latin typeface="Calibri" panose="020F0502020204030204" pitchFamily="34" charset="0"/>
              </a:rPr>
              <a:t>are charged on a pay-per-use basis.</a:t>
            </a:r>
          </a:p>
          <a:p>
            <a:r>
              <a:rPr lang="en-US" dirty="0" smtClean="0">
                <a:latin typeface="Calibri" panose="020F0502020204030204" pitchFamily="34" charset="0"/>
              </a:rPr>
              <a:t>Start-ups </a:t>
            </a:r>
            <a:r>
              <a:rPr lang="en-US" dirty="0">
                <a:latin typeface="Calibri" panose="020F0502020204030204" pitchFamily="34" charset="0"/>
              </a:rPr>
              <a:t>can test out new business ideas risk-free and at low cost, due to enormous </a:t>
            </a:r>
            <a:r>
              <a:rPr lang="en-US" dirty="0" smtClean="0">
                <a:latin typeface="Calibri" panose="020F0502020204030204" pitchFamily="34" charset="0"/>
              </a:rPr>
              <a:t>scalability. Since </a:t>
            </a:r>
            <a:r>
              <a:rPr lang="en-US" dirty="0">
                <a:latin typeface="Calibri" panose="020F0502020204030204" pitchFamily="34" charset="0"/>
              </a:rPr>
              <a:t>there is no upfront capital expense involved, in case a new project takes off, it can be </a:t>
            </a:r>
            <a:r>
              <a:rPr lang="en-US" dirty="0" smtClean="0">
                <a:latin typeface="Calibri" panose="020F0502020204030204" pitchFamily="34" charset="0"/>
              </a:rPr>
              <a:t>scaled up </a:t>
            </a:r>
            <a:r>
              <a:rPr lang="en-US" dirty="0">
                <a:latin typeface="Calibri" panose="020F0502020204030204" pitchFamily="34" charset="0"/>
              </a:rPr>
              <a:t>instantly, and vice versa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Enterprise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2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02" y="1671781"/>
            <a:ext cx="11910951" cy="474089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anose="020F0502020204030204" pitchFamily="34" charset="0"/>
              </a:rPr>
              <a:t>Enterprise </a:t>
            </a:r>
            <a:r>
              <a:rPr lang="en-US" dirty="0">
                <a:latin typeface="Calibri" panose="020F0502020204030204" pitchFamily="34" charset="0"/>
              </a:rPr>
              <a:t>cloud computing allows a company to create a shared workspace in order to </a:t>
            </a:r>
            <a:r>
              <a:rPr lang="en-US" dirty="0" smtClean="0">
                <a:latin typeface="Calibri" panose="020F0502020204030204" pitchFamily="34" charset="0"/>
              </a:rPr>
              <a:t>collaborate with </a:t>
            </a:r>
            <a:r>
              <a:rPr lang="en-US" dirty="0">
                <a:latin typeface="Calibri" panose="020F0502020204030204" pitchFamily="34" charset="0"/>
              </a:rPr>
              <a:t>its trading partners and work together as a ‘virtual enterprise network’. In this way, they </a:t>
            </a:r>
            <a:r>
              <a:rPr lang="en-US" dirty="0" smtClean="0">
                <a:latin typeface="Calibri" panose="020F0502020204030204" pitchFamily="34" charset="0"/>
              </a:rPr>
              <a:t>can share </a:t>
            </a:r>
            <a:r>
              <a:rPr lang="en-US" dirty="0">
                <a:latin typeface="Calibri" panose="020F0502020204030204" pitchFamily="34" charset="0"/>
              </a:rPr>
              <a:t>the information and communication resources, without actually owning it all. This </a:t>
            </a:r>
            <a:r>
              <a:rPr lang="en-US" dirty="0" smtClean="0">
                <a:latin typeface="Calibri" panose="020F0502020204030204" pitchFamily="34" charset="0"/>
              </a:rPr>
              <a:t>also helps </a:t>
            </a:r>
            <a:r>
              <a:rPr lang="en-US" dirty="0">
                <a:latin typeface="Calibri" panose="020F0502020204030204" pitchFamily="34" charset="0"/>
              </a:rPr>
              <a:t>in lowering costs</a:t>
            </a:r>
            <a:r>
              <a:rPr lang="en-US" dirty="0" smtClean="0">
                <a:latin typeface="Calibri" panose="020F0502020204030204" pitchFamily="34" charset="0"/>
              </a:rPr>
              <a:t>.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</a:rPr>
              <a:t>As shown in Fig. 1.9, </a:t>
            </a:r>
            <a:r>
              <a:rPr lang="en-US" dirty="0" smtClean="0">
                <a:latin typeface="Calibri" panose="020F0502020204030204" pitchFamily="34" charset="0"/>
              </a:rPr>
              <a:t>an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enterprise </a:t>
            </a:r>
            <a:r>
              <a:rPr lang="en-US" dirty="0">
                <a:latin typeface="Calibri" panose="020F0502020204030204" pitchFamily="34" charset="0"/>
              </a:rPr>
              <a:t>with </a:t>
            </a:r>
            <a:r>
              <a:rPr lang="en-US" i="1" dirty="0">
                <a:latin typeface="Calibri" panose="020F0502020204030204" pitchFamily="34" charset="0"/>
              </a:rPr>
              <a:t>n </a:t>
            </a:r>
            <a:r>
              <a:rPr lang="en-US" dirty="0">
                <a:latin typeface="Calibri" panose="020F0502020204030204" pitchFamily="34" charset="0"/>
              </a:rPr>
              <a:t>numbers of </a:t>
            </a:r>
            <a:r>
              <a:rPr lang="en-US" dirty="0" smtClean="0">
                <a:latin typeface="Calibri" panose="020F0502020204030204" pitchFamily="34" charset="0"/>
              </a:rPr>
              <a:t>hosts can </a:t>
            </a:r>
            <a:r>
              <a:rPr lang="en-US" dirty="0">
                <a:latin typeface="Calibri" panose="020F0502020204030204" pitchFamily="34" charset="0"/>
              </a:rPr>
              <a:t>connect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through </a:t>
            </a:r>
            <a:r>
              <a:rPr lang="en-US" dirty="0">
                <a:latin typeface="Calibri" panose="020F0502020204030204" pitchFamily="34" charset="0"/>
              </a:rPr>
              <a:t>cloud </a:t>
            </a:r>
            <a:r>
              <a:rPr lang="en-US" dirty="0" smtClean="0">
                <a:latin typeface="Calibri" panose="020F0502020204030204" pitchFamily="34" charset="0"/>
              </a:rPr>
              <a:t>services and </a:t>
            </a:r>
            <a:r>
              <a:rPr lang="en-US" dirty="0">
                <a:latin typeface="Calibri" panose="020F0502020204030204" pitchFamily="34" charset="0"/>
              </a:rPr>
              <a:t>different types of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services supported by </a:t>
            </a:r>
            <a:r>
              <a:rPr lang="en-US" dirty="0">
                <a:latin typeface="Calibri" panose="020F0502020204030204" pitchFamily="34" charset="0"/>
              </a:rPr>
              <a:t>cloud network such as </a:t>
            </a:r>
            <a:endParaRPr lang="en-US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</a:rPr>
              <a:t>  database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dirty="0" smtClean="0">
                <a:latin typeface="Calibri" panose="020F0502020204030204" pitchFamily="34" charset="0"/>
              </a:rPr>
              <a:t>servers, and various applications</a:t>
            </a:r>
            <a:r>
              <a:rPr lang="en-US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Enterprise Cloud Computing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328" y="3332514"/>
            <a:ext cx="433449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90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1856</Words>
  <Application>Microsoft Office PowerPoint</Application>
  <PresentationFormat>Custom</PresentationFormat>
  <Paragraphs>223</Paragraphs>
  <Slides>30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Chapter 1</vt:lpstr>
      <vt:lpstr> Learning Outcomes</vt:lpstr>
      <vt:lpstr>Introduction</vt:lpstr>
      <vt:lpstr>Definition of Cloud Computing</vt:lpstr>
      <vt:lpstr>Basic Structure of Cloud Computing</vt:lpstr>
      <vt:lpstr>Basic Structure of Cloud Computing</vt:lpstr>
      <vt:lpstr>Cloud Resource Management</vt:lpstr>
      <vt:lpstr>Terminology used in Cloud Computing</vt:lpstr>
      <vt:lpstr>Need of Cloud Computing</vt:lpstr>
      <vt:lpstr>Scaling Management in Cloud Computing</vt:lpstr>
      <vt:lpstr>History of Cloud Computing</vt:lpstr>
      <vt:lpstr>Client-Server Technology</vt:lpstr>
      <vt:lpstr>Peer to Peer Approach</vt:lpstr>
      <vt:lpstr>Distributed Computing</vt:lpstr>
      <vt:lpstr>Evolution of Cloud Computing from Grid Computing</vt:lpstr>
      <vt:lpstr>Web 2.0</vt:lpstr>
      <vt:lpstr>Parallel Computing</vt:lpstr>
      <vt:lpstr>Services Provided by Cloud Computing</vt:lpstr>
      <vt:lpstr>News on Cloud Computing</vt:lpstr>
      <vt:lpstr>Benefits of Cloud Computing</vt:lpstr>
      <vt:lpstr>Limitations of Cloud Computing</vt:lpstr>
      <vt:lpstr>How to develop Cloud Computing</vt:lpstr>
      <vt:lpstr>Core Components of Traditional Data Centers</vt:lpstr>
      <vt:lpstr>Vendors of Cloud Computing</vt:lpstr>
      <vt:lpstr>Elastic Computing</vt:lpstr>
      <vt:lpstr>Social Networking</vt:lpstr>
      <vt:lpstr>Enterprise Cloud Computing</vt:lpstr>
      <vt:lpstr>Enterprise Cloud Computing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Dhawan, Neha</cp:lastModifiedBy>
  <cp:revision>46</cp:revision>
  <dcterms:created xsi:type="dcterms:W3CDTF">2018-06-14T06:27:15Z</dcterms:created>
  <dcterms:modified xsi:type="dcterms:W3CDTF">2018-08-13T07:00:09Z</dcterms:modified>
</cp:coreProperties>
</file>