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0" r:id="rId4"/>
    <p:sldId id="257" r:id="rId6"/>
    <p:sldId id="258" r:id="rId7"/>
    <p:sldId id="275" r:id="rId8"/>
    <p:sldId id="294" r:id="rId9"/>
    <p:sldId id="295" r:id="rId10"/>
    <p:sldId id="296" r:id="rId11"/>
    <p:sldId id="259" r:id="rId12"/>
    <p:sldId id="297" r:id="rId13"/>
    <p:sldId id="305" r:id="rId14"/>
    <p:sldId id="281" r:id="rId15"/>
    <p:sldId id="306" r:id="rId16"/>
    <p:sldId id="307" r:id="rId17"/>
    <p:sldId id="308" r:id="rId18"/>
    <p:sldId id="313" r:id="rId19"/>
    <p:sldId id="314" r:id="rId20"/>
    <p:sldId id="315" r:id="rId21"/>
    <p:sldId id="316" r:id="rId22"/>
    <p:sldId id="309" r:id="rId23"/>
    <p:sldId id="312" r:id="rId24"/>
    <p:sldId id="322" r:id="rId25"/>
    <p:sldId id="310" r:id="rId26"/>
    <p:sldId id="311" r:id="rId27"/>
    <p:sldId id="28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6EA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1" autoAdjust="0"/>
    <p:restoredTop sz="94660"/>
  </p:normalViewPr>
  <p:slideViewPr>
    <p:cSldViewPr snapToGrid="0">
      <p:cViewPr varScale="1">
        <p:scale>
          <a:sx n="77" d="100"/>
          <a:sy n="77" d="100"/>
        </p:scale>
        <p:origin x="-114" y="-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A5E15-EA7C-4AE6-A7FE-6EE8949B26F4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3C74D-DBCC-462F-80C9-23B653553D8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3C74D-DBCC-462F-80C9-23B653553D8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2229" y="365125"/>
            <a:ext cx="11684000" cy="1071789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dirty="0" smtClean="0"/>
              <a:t>Topic: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553029"/>
            <a:ext cx="11684000" cy="462393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aseline="0"/>
            </a:lvl1pPr>
          </a:lstStyle>
          <a:p>
            <a:r>
              <a:rPr lang="en-US" dirty="0" smtClean="0"/>
              <a:t>Chapter name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 baseline="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Chapter no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97" y="890117"/>
            <a:ext cx="3604203" cy="4801691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 userDrawn="1"/>
        </p:nvSpPr>
        <p:spPr>
          <a:xfrm>
            <a:off x="1524000" y="2191658"/>
            <a:ext cx="56025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1" dirty="0" smtClean="0">
                <a:solidFill>
                  <a:schemeClr val="bg1"/>
                </a:solidFill>
                <a:latin typeface="Candara" panose="020E0502030303020204" pitchFamily="34" charset="0"/>
              </a:rPr>
              <a:t>CLOUD COMPUTING</a:t>
            </a:r>
            <a:endParaRPr lang="en-US" sz="7200" b="1" dirty="0" smtClean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endParaRPr lang="en-US" dirty="0" smtClean="0"/>
          </a:p>
          <a:p>
            <a:pPr algn="ctr"/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Shailendra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Singh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Professor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Department of Computer Science &amp; Engineering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NITTTR, Bhopal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046514" y="4455887"/>
            <a:ext cx="544285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850" y="352793"/>
            <a:ext cx="2054530" cy="10729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95271-EAF6-4654-82A8-BE1747C4483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 smtClean="0"/>
              <a:t>© Oxford University Press India.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F581-6023-4562-B0C8-C7FA9B9410A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alibri" panose="020F0502020204030204" pitchFamily="34" charset="0"/>
              </a:rPr>
              <a:t>Chapter 4</a:t>
            </a:r>
            <a:endParaRPr lang="en-US" b="1" dirty="0"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Calibri" panose="020F0502020204030204" pitchFamily="34" charset="0"/>
              </a:rPr>
              <a:t>Models of Cloud Computing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8000">
              <a:srgbClr val="A1AED2"/>
            </a:gs>
            <a:gs pos="0">
              <a:srgbClr val="566EAE"/>
            </a:gs>
            <a:gs pos="100000">
              <a:srgbClr val="FFFFFF"/>
            </a:gs>
          </a:gsLst>
          <a:lin ang="7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Learning Outcomes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At the end of the session you will be able to: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Comprehend </a:t>
            </a:r>
            <a:r>
              <a:rPr lang="en-US" dirty="0">
                <a:latin typeface="+mn-lt"/>
              </a:rPr>
              <a:t>service models of cloud computing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cloud services provided by SaaS, IaaS, </a:t>
            </a:r>
            <a:r>
              <a:rPr lang="en-US" dirty="0" smtClean="0">
                <a:latin typeface="+mn-lt"/>
              </a:rPr>
              <a:t>and PaaS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Describe </a:t>
            </a:r>
            <a:r>
              <a:rPr lang="en-US" dirty="0">
                <a:latin typeface="+mn-lt"/>
              </a:rPr>
              <a:t>cloud stack and cloud storage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Differentiate </a:t>
            </a:r>
            <a:r>
              <a:rPr lang="en-US" dirty="0">
                <a:latin typeface="+mn-lt"/>
              </a:rPr>
              <a:t>various deployment models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L</a:t>
            </a:r>
            <a:r>
              <a:rPr lang="en-US" dirty="0" smtClean="0">
                <a:latin typeface="+mn-lt"/>
              </a:rPr>
              <a:t>ist </a:t>
            </a:r>
            <a:r>
              <a:rPr lang="en-US" dirty="0">
                <a:latin typeface="+mn-lt"/>
              </a:rPr>
              <a:t>the benefits of service models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9" y="1624281"/>
            <a:ext cx="11684000" cy="466964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cloud computing system is composed of a set of layers upon </a:t>
            </a:r>
            <a:r>
              <a:rPr lang="en-US" dirty="0" smtClean="0">
                <a:latin typeface="+mn-lt"/>
              </a:rPr>
              <a:t>which distributed </a:t>
            </a:r>
            <a:r>
              <a:rPr lang="en-US" dirty="0">
                <a:latin typeface="+mn-lt"/>
              </a:rPr>
              <a:t>applications are built. These layers include </a:t>
            </a:r>
            <a:r>
              <a:rPr lang="en-US" i="1" dirty="0">
                <a:latin typeface="+mn-lt"/>
              </a:rPr>
              <a:t>infrastructure, platform, </a:t>
            </a:r>
            <a:r>
              <a:rPr lang="en-US" dirty="0">
                <a:latin typeface="+mn-lt"/>
              </a:rPr>
              <a:t>and </a:t>
            </a:r>
            <a:r>
              <a:rPr lang="en-US" i="1" dirty="0">
                <a:latin typeface="+mn-lt"/>
              </a:rPr>
              <a:t>software</a:t>
            </a:r>
            <a:r>
              <a:rPr lang="en-US" dirty="0">
                <a:latin typeface="+mn-lt"/>
              </a:rPr>
              <a:t>. Based </a:t>
            </a:r>
            <a:r>
              <a:rPr lang="en-US" dirty="0" smtClean="0">
                <a:latin typeface="+mn-lt"/>
              </a:rPr>
              <a:t>on these </a:t>
            </a:r>
            <a:r>
              <a:rPr lang="en-US" dirty="0">
                <a:latin typeface="+mn-lt"/>
              </a:rPr>
              <a:t>three layers, we can devise three cloud </a:t>
            </a:r>
            <a:r>
              <a:rPr lang="en-US" dirty="0" smtClean="0">
                <a:latin typeface="+mn-lt"/>
              </a:rPr>
              <a:t>com</a:t>
            </a:r>
            <a:r>
              <a:rPr lang="en-US" dirty="0">
                <a:latin typeface="+mn-lt"/>
              </a:rPr>
              <a:t>puting models are devised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r>
              <a:rPr lang="en-US" b="1" dirty="0" smtClean="0">
                <a:solidFill>
                  <a:srgbClr val="FFFF00"/>
                </a:solidFill>
                <a:latin typeface="+mn-lt"/>
              </a:rPr>
              <a:t>Infrastructure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as a Service (IaaS)</a:t>
            </a:r>
            <a:r>
              <a:rPr lang="en-US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model provides infrastructure-related services and is </a:t>
            </a:r>
            <a:r>
              <a:rPr lang="en-US" dirty="0" smtClean="0">
                <a:latin typeface="+mn-lt"/>
              </a:rPr>
              <a:t>responsible for </a:t>
            </a:r>
            <a:r>
              <a:rPr lang="en-US" dirty="0">
                <a:latin typeface="+mn-lt"/>
              </a:rPr>
              <a:t>handling hardware-related issues, power, and cool management in data centers.</a:t>
            </a:r>
            <a:endParaRPr lang="en-US" dirty="0">
              <a:latin typeface="+mn-lt"/>
            </a:endParaRPr>
          </a:p>
          <a:p>
            <a:r>
              <a:rPr lang="en-US" b="1" dirty="0" smtClean="0">
                <a:solidFill>
                  <a:srgbClr val="FFFF00"/>
                </a:solidFill>
                <a:latin typeface="+mn-lt"/>
              </a:rPr>
              <a:t>Platform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as a Service (PaaS) </a:t>
            </a:r>
            <a:r>
              <a:rPr lang="en-US" dirty="0">
                <a:latin typeface="+mn-lt"/>
              </a:rPr>
              <a:t>model takes the responsibilities of operating system, </a:t>
            </a:r>
            <a:r>
              <a:rPr lang="en-US" dirty="0" smtClean="0">
                <a:latin typeface="+mn-lt"/>
              </a:rPr>
              <a:t>database management</a:t>
            </a:r>
            <a:r>
              <a:rPr lang="en-US" dirty="0">
                <a:latin typeface="+mn-lt"/>
              </a:rPr>
              <a:t>, server, and programming language.</a:t>
            </a:r>
            <a:endParaRPr lang="en-US" dirty="0">
              <a:latin typeface="+mn-lt"/>
            </a:endParaRPr>
          </a:p>
          <a:p>
            <a:r>
              <a:rPr lang="en-US" b="1" dirty="0" smtClean="0">
                <a:solidFill>
                  <a:srgbClr val="FFFF00"/>
                </a:solidFill>
                <a:latin typeface="+mn-lt"/>
              </a:rPr>
              <a:t>Software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as a Service (SaaS) </a:t>
            </a:r>
            <a:r>
              <a:rPr lang="en-US" dirty="0">
                <a:latin typeface="+mn-lt"/>
              </a:rPr>
              <a:t>model handles software-related issues and provides amenities to </a:t>
            </a:r>
            <a:r>
              <a:rPr lang="en-US" dirty="0" smtClean="0">
                <a:latin typeface="+mn-lt"/>
              </a:rPr>
              <a:t>the cloud </a:t>
            </a:r>
            <a:r>
              <a:rPr lang="en-US" dirty="0">
                <a:latin typeface="+mn-lt"/>
              </a:rPr>
              <a:t>users</a:t>
            </a:r>
            <a:r>
              <a:rPr lang="en-US" dirty="0" smtClean="0">
                <a:latin typeface="+mn-lt"/>
              </a:rPr>
              <a:t>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Introduction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On the basis of allocation of resources, cloud </a:t>
            </a:r>
            <a:r>
              <a:rPr lang="en-US" dirty="0" smtClean="0">
                <a:latin typeface="+mn-lt"/>
              </a:rPr>
              <a:t>computing offers </a:t>
            </a:r>
            <a:r>
              <a:rPr lang="en-US" dirty="0">
                <a:latin typeface="+mn-lt"/>
              </a:rPr>
              <a:t>their services.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1.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Bottom layer (layer-1)—</a:t>
            </a:r>
            <a:r>
              <a:rPr lang="en-US" dirty="0">
                <a:latin typeface="+mn-lt"/>
              </a:rPr>
              <a:t>IaaS—accommodates memory, CPU, and additional hardware resources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+mn-lt"/>
              </a:rPr>
              <a:t>2.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Middle layer (layer-2)—</a:t>
            </a:r>
            <a:r>
              <a:rPr lang="en-US" dirty="0">
                <a:latin typeface="+mn-lt"/>
              </a:rPr>
              <a:t>PaaS—accommodates diverse settings for consumer-particular services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  <a:latin typeface="+mn-lt"/>
              </a:rPr>
              <a:t>3.</a:t>
            </a:r>
            <a:r>
              <a:rPr lang="en-US" dirty="0">
                <a:latin typeface="+mn-lt"/>
              </a:rPr>
              <a:t>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Top layer (layer-3)—</a:t>
            </a:r>
            <a:r>
              <a:rPr lang="en-US" dirty="0">
                <a:latin typeface="+mn-lt"/>
              </a:rPr>
              <a:t>SaaS—cloud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service </a:t>
            </a:r>
            <a:r>
              <a:rPr lang="en-US" dirty="0">
                <a:latin typeface="+mn-lt"/>
              </a:rPr>
              <a:t>accessing occurs via web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browsers </a:t>
            </a:r>
            <a:r>
              <a:rPr lang="en-US" dirty="0">
                <a:latin typeface="+mn-lt"/>
              </a:rPr>
              <a:t>and web services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Service Models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402" y="3523593"/>
            <a:ext cx="6038850" cy="2722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228" y="1553029"/>
            <a:ext cx="11868727" cy="462393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Software as a Service (SaaS) </a:t>
            </a:r>
            <a:r>
              <a:rPr lang="en-US" dirty="0">
                <a:latin typeface="+mn-lt"/>
              </a:rPr>
              <a:t>is a software distribution model in which </a:t>
            </a:r>
            <a:r>
              <a:rPr lang="en-US" dirty="0" smtClean="0">
                <a:latin typeface="+mn-lt"/>
              </a:rPr>
              <a:t>applications  are </a:t>
            </a:r>
            <a:r>
              <a:rPr lang="en-US" dirty="0">
                <a:latin typeface="+mn-lt"/>
              </a:rPr>
              <a:t>hosted by a vendor </a:t>
            </a:r>
            <a:r>
              <a:rPr lang="en-US" dirty="0" smtClean="0">
                <a:latin typeface="+mn-lt"/>
              </a:rPr>
              <a:t>or service </a:t>
            </a:r>
            <a:r>
              <a:rPr lang="en-US" dirty="0">
                <a:latin typeface="+mn-lt"/>
              </a:rPr>
              <a:t>provider and made available to customers over the Internet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National Institute of Standards and Technologies (NIST) defines cloud SaaS as </a:t>
            </a:r>
            <a:endParaRPr lang="en-US" b="1" dirty="0" smtClean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  follows:</a:t>
            </a:r>
            <a:endParaRPr lang="en-US" b="1" dirty="0" smtClean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“</a:t>
            </a:r>
            <a:r>
              <a:rPr lang="en-US" i="1" dirty="0">
                <a:latin typeface="+mn-lt"/>
              </a:rPr>
              <a:t>The capability provided to the consumer is to use the provider’s applications running on a </a:t>
            </a:r>
            <a:r>
              <a:rPr lang="en-US" i="1" dirty="0" smtClean="0">
                <a:latin typeface="+mn-lt"/>
              </a:rPr>
              <a:t>cloud infrastructure</a:t>
            </a:r>
            <a:r>
              <a:rPr lang="en-US" i="1" dirty="0">
                <a:latin typeface="+mn-lt"/>
              </a:rPr>
              <a:t>. The applications are accessible from various client devices through either a </a:t>
            </a:r>
            <a:r>
              <a:rPr lang="en-US" i="1" dirty="0" smtClean="0">
                <a:latin typeface="+mn-lt"/>
              </a:rPr>
              <a:t>thin client </a:t>
            </a:r>
            <a:r>
              <a:rPr lang="en-US" i="1" dirty="0">
                <a:latin typeface="+mn-lt"/>
              </a:rPr>
              <a:t>interface, such as a web browser (e.g., web-based email), or a program interface. </a:t>
            </a:r>
            <a:r>
              <a:rPr lang="en-US" i="1" dirty="0" smtClean="0">
                <a:latin typeface="+mn-lt"/>
              </a:rPr>
              <a:t>The consumer </a:t>
            </a:r>
            <a:r>
              <a:rPr lang="en-US" i="1" dirty="0">
                <a:latin typeface="+mn-lt"/>
              </a:rPr>
              <a:t>does not manage or control the underlying cloud infrastructure including </a:t>
            </a:r>
            <a:r>
              <a:rPr lang="en-US" i="1" dirty="0" smtClean="0">
                <a:latin typeface="+mn-lt"/>
              </a:rPr>
              <a:t>network, servers</a:t>
            </a:r>
            <a:r>
              <a:rPr lang="en-US" i="1" dirty="0">
                <a:latin typeface="+mn-lt"/>
              </a:rPr>
              <a:t>, operating systems, storage, or even individual application capabilities, with the </a:t>
            </a:r>
            <a:r>
              <a:rPr lang="en-US" i="1" dirty="0" smtClean="0">
                <a:latin typeface="+mn-lt"/>
              </a:rPr>
              <a:t>possible exception </a:t>
            </a:r>
            <a:r>
              <a:rPr lang="en-US" i="1" dirty="0">
                <a:latin typeface="+mn-lt"/>
              </a:rPr>
              <a:t>of limited user-specific application configuration </a:t>
            </a:r>
            <a:r>
              <a:rPr lang="en-US" i="1" dirty="0" smtClean="0">
                <a:latin typeface="+mn-lt"/>
              </a:rPr>
              <a:t>settings”.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Software as a Service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Some of </a:t>
            </a:r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applications of SaaS are: </a:t>
            </a:r>
            <a:endParaRPr lang="en-US" dirty="0" smtClean="0">
              <a:latin typeface="+mn-lt"/>
            </a:endParaRPr>
          </a:p>
          <a:p>
            <a:r>
              <a:rPr lang="en-US" dirty="0" smtClean="0">
                <a:latin typeface="+mn-lt"/>
              </a:rPr>
              <a:t>Complaint </a:t>
            </a:r>
            <a:r>
              <a:rPr lang="en-US" dirty="0">
                <a:latin typeface="+mn-lt"/>
              </a:rPr>
              <a:t>resolution system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Employee </a:t>
            </a:r>
            <a:r>
              <a:rPr lang="en-US" dirty="0">
                <a:latin typeface="+mn-lt"/>
              </a:rPr>
              <a:t>management system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Attendance </a:t>
            </a:r>
            <a:r>
              <a:rPr lang="en-US" dirty="0">
                <a:latin typeface="+mn-lt"/>
              </a:rPr>
              <a:t>resolutions system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E-police</a:t>
            </a:r>
            <a:r>
              <a:rPr lang="en-US" dirty="0">
                <a:latin typeface="+mn-lt"/>
              </a:rPr>
              <a:t>, E-court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Municipal </a:t>
            </a:r>
            <a:r>
              <a:rPr lang="en-US" dirty="0">
                <a:latin typeface="+mn-lt"/>
              </a:rPr>
              <a:t>maintenance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Water </a:t>
            </a:r>
            <a:r>
              <a:rPr lang="en-US" dirty="0">
                <a:latin typeface="+mn-lt"/>
              </a:rPr>
              <a:t>board, billing, payment systems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District </a:t>
            </a:r>
            <a:r>
              <a:rPr lang="en-US" dirty="0">
                <a:latin typeface="+mn-lt"/>
              </a:rPr>
              <a:t>management </a:t>
            </a:r>
            <a:r>
              <a:rPr lang="en-US" dirty="0" smtClean="0">
                <a:latin typeface="+mn-lt"/>
              </a:rPr>
              <a:t>solutions</a:t>
            </a:r>
            <a:endParaRPr lang="en-US" dirty="0" smtClean="0">
              <a:latin typeface="+mn-lt"/>
            </a:endParaRPr>
          </a:p>
          <a:p>
            <a:r>
              <a:rPr lang="en-US" dirty="0">
                <a:latin typeface="+mn-lt"/>
              </a:rPr>
              <a:t>Service desk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</a:rPr>
              <a:t>Software as a Service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179" y="2339440"/>
            <a:ext cx="4560496" cy="2992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+mn-lt"/>
              </a:rPr>
              <a:t>The following are some of the reasons SaaS </a:t>
            </a:r>
            <a:r>
              <a:rPr lang="en-US" sz="2300" dirty="0" smtClean="0">
                <a:latin typeface="+mn-lt"/>
              </a:rPr>
              <a:t>services are </a:t>
            </a:r>
            <a:r>
              <a:rPr lang="en-US" sz="2300" dirty="0">
                <a:latin typeface="+mn-lt"/>
              </a:rPr>
              <a:t>required:</a:t>
            </a:r>
            <a:endParaRPr lang="en-US" sz="2300" dirty="0">
              <a:latin typeface="+mn-lt"/>
            </a:endParaRPr>
          </a:p>
          <a:p>
            <a:pPr marL="0" indent="0">
              <a:buNone/>
            </a:pPr>
            <a:r>
              <a:rPr lang="en-US" sz="2300" dirty="0">
                <a:latin typeface="+mn-lt"/>
              </a:rPr>
              <a:t>1. Straightforward expenses are nil.</a:t>
            </a:r>
            <a:endParaRPr lang="en-US" sz="2300" dirty="0">
              <a:latin typeface="+mn-lt"/>
            </a:endParaRPr>
          </a:p>
          <a:p>
            <a:pPr marL="0" indent="0">
              <a:buNone/>
            </a:pPr>
            <a:r>
              <a:rPr lang="en-US" sz="2300" dirty="0">
                <a:latin typeface="+mn-lt"/>
              </a:rPr>
              <a:t>2. You only need a web browser to access the application. It doesn’t require other hardware </a:t>
            </a:r>
            <a:r>
              <a:rPr lang="en-US" sz="2300" dirty="0" smtClean="0">
                <a:latin typeface="+mn-lt"/>
              </a:rPr>
              <a:t>purchase or </a:t>
            </a:r>
            <a:r>
              <a:rPr lang="en-US" sz="2300" dirty="0">
                <a:latin typeface="+mn-lt"/>
              </a:rPr>
              <a:t>software installation.</a:t>
            </a:r>
            <a:endParaRPr lang="en-US" sz="2300" dirty="0">
              <a:latin typeface="+mn-lt"/>
            </a:endParaRPr>
          </a:p>
          <a:p>
            <a:pPr marL="0" indent="0">
              <a:buNone/>
            </a:pPr>
            <a:r>
              <a:rPr lang="en-US" sz="2300" dirty="0">
                <a:latin typeface="+mn-lt"/>
              </a:rPr>
              <a:t>3. It provides quick operation service.</a:t>
            </a:r>
            <a:endParaRPr lang="en-US" sz="2300" dirty="0">
              <a:latin typeface="+mn-lt"/>
            </a:endParaRPr>
          </a:p>
          <a:p>
            <a:pPr marL="0" indent="0">
              <a:buNone/>
            </a:pPr>
            <a:r>
              <a:rPr lang="en-US" sz="2300" dirty="0">
                <a:latin typeface="+mn-lt"/>
              </a:rPr>
              <a:t>4. SaaS is extremely scalable.</a:t>
            </a:r>
            <a:endParaRPr lang="en-US" sz="2300" dirty="0">
              <a:latin typeface="+mn-lt"/>
            </a:endParaRPr>
          </a:p>
          <a:p>
            <a:pPr marL="0" indent="0">
              <a:buNone/>
            </a:pPr>
            <a:r>
              <a:rPr lang="en-US" sz="2300" dirty="0">
                <a:latin typeface="+mn-lt"/>
              </a:rPr>
              <a:t>5. Since the source code is the same for each customer, it is a multi-tenant design that makes </a:t>
            </a:r>
            <a:r>
              <a:rPr lang="en-US" sz="2300" dirty="0" smtClean="0">
                <a:latin typeface="+mn-lt"/>
              </a:rPr>
              <a:t>it extremely </a:t>
            </a:r>
            <a:r>
              <a:rPr lang="en-US" sz="2300" dirty="0">
                <a:latin typeface="+mn-lt"/>
              </a:rPr>
              <a:t>proficient.</a:t>
            </a:r>
            <a:endParaRPr lang="en-US" sz="2300" dirty="0">
              <a:latin typeface="+mn-lt"/>
            </a:endParaRPr>
          </a:p>
          <a:p>
            <a:pPr marL="0" indent="0">
              <a:buNone/>
            </a:pPr>
            <a:r>
              <a:rPr lang="en-US" sz="2300" dirty="0">
                <a:latin typeface="+mn-lt"/>
              </a:rPr>
              <a:t>6. SaaS can endure every demand, because of easy arrangement; this is usually not simple </a:t>
            </a:r>
            <a:r>
              <a:rPr lang="en-US" sz="2300" dirty="0" smtClean="0">
                <a:latin typeface="+mn-lt"/>
              </a:rPr>
              <a:t>with conventional </a:t>
            </a:r>
            <a:r>
              <a:rPr lang="en-US" sz="2300" dirty="0">
                <a:latin typeface="+mn-lt"/>
              </a:rPr>
              <a:t>applications.</a:t>
            </a:r>
            <a:endParaRPr lang="en-US" sz="2300" dirty="0">
              <a:latin typeface="+mn-lt"/>
            </a:endParaRPr>
          </a:p>
          <a:p>
            <a:pPr marL="0" indent="0">
              <a:buNone/>
            </a:pPr>
            <a:r>
              <a:rPr lang="en-US" sz="2300" dirty="0">
                <a:latin typeface="+mn-lt"/>
              </a:rPr>
              <a:t>7. Any noble technical modernization is effortlessly incorporated by the supplier that is accessible </a:t>
            </a:r>
            <a:r>
              <a:rPr lang="en-US" sz="2300" dirty="0" smtClean="0">
                <a:latin typeface="+mn-lt"/>
              </a:rPr>
              <a:t>to all </a:t>
            </a:r>
            <a:r>
              <a:rPr lang="en-US" sz="2300" dirty="0">
                <a:latin typeface="+mn-lt"/>
              </a:rPr>
              <a:t>subscribers because, usually, all the consumers use a similar code base.</a:t>
            </a:r>
            <a:endParaRPr lang="en-US" sz="2300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</a:rPr>
              <a:t>Importance of SaaS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The Platform as a Service (PaaS) </a:t>
            </a:r>
            <a:r>
              <a:rPr lang="en-US" dirty="0" smtClean="0">
                <a:latin typeface="+mn-lt"/>
              </a:rPr>
              <a:t>model makes </a:t>
            </a:r>
            <a:r>
              <a:rPr lang="en-US" dirty="0">
                <a:latin typeface="+mn-lt"/>
              </a:rPr>
              <a:t>all of the facilities required to support the complete life cycle of building and delivering </a:t>
            </a:r>
            <a:r>
              <a:rPr lang="en-US" dirty="0" smtClean="0">
                <a:latin typeface="+mn-lt"/>
              </a:rPr>
              <a:t>web applications </a:t>
            </a:r>
            <a:r>
              <a:rPr lang="en-US" dirty="0">
                <a:latin typeface="+mn-lt"/>
              </a:rPr>
              <a:t>and services available from the Internet</a:t>
            </a:r>
            <a:r>
              <a:rPr lang="en-US" dirty="0" smtClean="0">
                <a:latin typeface="+mn-lt"/>
              </a:rPr>
              <a:t>. 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National Institute of Standards and Technologies (NIST) defines cloud PaaS as follows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:</a:t>
            </a:r>
            <a:endParaRPr lang="en-US" b="1" dirty="0" smtClean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i="1" dirty="0" smtClean="0">
                <a:latin typeface="+mn-lt"/>
              </a:rPr>
              <a:t>“The </a:t>
            </a:r>
            <a:r>
              <a:rPr lang="en-US" i="1" dirty="0">
                <a:latin typeface="+mn-lt"/>
              </a:rPr>
              <a:t>capability provided to the consumer is to deploy onto the cloud infrastructure </a:t>
            </a:r>
            <a:r>
              <a:rPr lang="en-US" i="1" dirty="0" smtClean="0">
                <a:latin typeface="+mn-lt"/>
              </a:rPr>
              <a:t>consumer created or </a:t>
            </a:r>
            <a:r>
              <a:rPr lang="en-US" i="1" dirty="0">
                <a:latin typeface="+mn-lt"/>
              </a:rPr>
              <a:t>acquired applications created using programming languages, libraries, services, </a:t>
            </a:r>
            <a:r>
              <a:rPr lang="en-US" i="1" dirty="0" smtClean="0">
                <a:latin typeface="+mn-lt"/>
              </a:rPr>
              <a:t>and tools </a:t>
            </a:r>
            <a:r>
              <a:rPr lang="en-US" i="1" dirty="0">
                <a:latin typeface="+mn-lt"/>
              </a:rPr>
              <a:t>supported by the provider. The consumer does not manage or control the underlying </a:t>
            </a:r>
            <a:r>
              <a:rPr lang="en-US" i="1" dirty="0" smtClean="0">
                <a:latin typeface="+mn-lt"/>
              </a:rPr>
              <a:t>cloud infrastructure </a:t>
            </a:r>
            <a:r>
              <a:rPr lang="en-US" i="1" dirty="0">
                <a:latin typeface="+mn-lt"/>
              </a:rPr>
              <a:t>including network, servers, operating systems, or storage, but has control over </a:t>
            </a:r>
            <a:r>
              <a:rPr lang="en-US" i="1" dirty="0" smtClean="0">
                <a:latin typeface="+mn-lt"/>
              </a:rPr>
              <a:t>the deployed </a:t>
            </a:r>
            <a:r>
              <a:rPr lang="en-US" i="1" dirty="0">
                <a:latin typeface="+mn-lt"/>
              </a:rPr>
              <a:t>applications and possibly configuration settings for the application-hosting </a:t>
            </a:r>
            <a:r>
              <a:rPr lang="en-US" i="1" dirty="0" smtClean="0">
                <a:latin typeface="+mn-lt"/>
              </a:rPr>
              <a:t>environment”.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Platform as a Service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The following has 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to be </a:t>
            </a:r>
            <a:r>
              <a:rPr lang="en-US" b="1" dirty="0">
                <a:solidFill>
                  <a:srgbClr val="FFFF00"/>
                </a:solidFill>
                <a:latin typeface="+mn-lt"/>
              </a:rPr>
              <a:t>performed in the PaaS:</a:t>
            </a:r>
            <a:endParaRPr lang="en-US" b="1" dirty="0">
              <a:solidFill>
                <a:srgbClr val="FFFF00"/>
              </a:solidFill>
              <a:latin typeface="+mn-lt"/>
            </a:endParaRPr>
          </a:p>
          <a:p>
            <a:r>
              <a:rPr lang="en-US" dirty="0" smtClean="0">
                <a:latin typeface="+mn-lt"/>
              </a:rPr>
              <a:t>Attain </a:t>
            </a:r>
            <a:r>
              <a:rPr lang="en-US" dirty="0">
                <a:latin typeface="+mn-lt"/>
              </a:rPr>
              <a:t>and install the server.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Organize </a:t>
            </a:r>
            <a:r>
              <a:rPr lang="en-US" dirty="0">
                <a:latin typeface="+mn-lt"/>
              </a:rPr>
              <a:t>the operating system, operate time settings, and source manage depository and </a:t>
            </a:r>
            <a:r>
              <a:rPr lang="en-US" dirty="0" smtClean="0">
                <a:latin typeface="+mn-lt"/>
              </a:rPr>
              <a:t>other middleware </a:t>
            </a:r>
            <a:r>
              <a:rPr lang="en-US" dirty="0">
                <a:latin typeface="+mn-lt"/>
              </a:rPr>
              <a:t>to work efficiently.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Organize </a:t>
            </a:r>
            <a:r>
              <a:rPr lang="en-US" dirty="0">
                <a:latin typeface="+mn-lt"/>
              </a:rPr>
              <a:t>the operating system, operating time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settings</a:t>
            </a:r>
            <a:r>
              <a:rPr lang="en-US" dirty="0">
                <a:latin typeface="+mn-lt"/>
              </a:rPr>
              <a:t>, warehouse, and supplementary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middleware.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Copy data for further reference.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The </a:t>
            </a:r>
            <a:r>
              <a:rPr lang="en-US" dirty="0">
                <a:latin typeface="+mn-lt"/>
              </a:rPr>
              <a:t>best way to comprehend PaaS is </a:t>
            </a:r>
            <a:r>
              <a:rPr lang="en-US" dirty="0" smtClean="0">
                <a:latin typeface="+mn-lt"/>
              </a:rPr>
              <a:t>to </a:t>
            </a:r>
            <a:r>
              <a:rPr lang="en-US" dirty="0">
                <a:latin typeface="+mn-lt"/>
              </a:rPr>
              <a:t>split it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separately </a:t>
            </a:r>
            <a:r>
              <a:rPr lang="en-US" dirty="0">
                <a:latin typeface="+mn-lt"/>
              </a:rPr>
              <a:t>into its major </a:t>
            </a:r>
            <a:r>
              <a:rPr lang="en-US" dirty="0" smtClean="0">
                <a:latin typeface="+mn-lt"/>
              </a:rPr>
              <a:t>constituents—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service and </a:t>
            </a:r>
            <a:r>
              <a:rPr lang="en-US" dirty="0">
                <a:latin typeface="+mn-lt"/>
              </a:rPr>
              <a:t>platform.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Platform as a Service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841" y="3518436"/>
            <a:ext cx="5537614" cy="2632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Various Service Providers of PaaS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Terremark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Engine </a:t>
            </a:r>
            <a:r>
              <a:rPr lang="en-US" dirty="0">
                <a:latin typeface="+mn-lt"/>
              </a:rPr>
              <a:t>Yard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AT </a:t>
            </a:r>
            <a:r>
              <a:rPr lang="en-US" dirty="0">
                <a:latin typeface="+mn-lt"/>
              </a:rPr>
              <a:t>&amp; T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Atlassian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PivotalLab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AppScale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Engine </a:t>
            </a:r>
            <a:r>
              <a:rPr lang="en-US" dirty="0">
                <a:latin typeface="+mn-lt"/>
              </a:rPr>
              <a:t>Yard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Flexiscale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Platform as a Service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rgbClr val="FFFF00"/>
                </a:solidFill>
                <a:latin typeface="+mn-lt"/>
              </a:rPr>
              <a:t>Infrastructure as a Service (IaaS) </a:t>
            </a:r>
            <a:r>
              <a:rPr lang="en-US" sz="2500" dirty="0">
                <a:latin typeface="+mn-lt"/>
              </a:rPr>
              <a:t>is the delivery of computer infrastructure as a service</a:t>
            </a:r>
            <a:r>
              <a:rPr lang="en-US" sz="2500" dirty="0" smtClean="0">
                <a:latin typeface="+mn-lt"/>
              </a:rPr>
              <a:t>.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rgbClr val="FFFF00"/>
                </a:solidFill>
                <a:latin typeface="+mn-lt"/>
              </a:rPr>
              <a:t>National Institute of Standards and Technologies (NIST) defines cloud IaaS as follows</a:t>
            </a:r>
            <a:r>
              <a:rPr lang="en-US" sz="2500" b="1" dirty="0" smtClean="0">
                <a:solidFill>
                  <a:srgbClr val="FFFF00"/>
                </a:solidFill>
                <a:latin typeface="+mn-lt"/>
              </a:rPr>
              <a:t>:</a:t>
            </a:r>
            <a:endParaRPr lang="en-US" sz="2500" b="1" dirty="0" smtClean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2500" dirty="0" smtClean="0">
                <a:latin typeface="+mn-lt"/>
              </a:rPr>
              <a:t>“</a:t>
            </a:r>
            <a:r>
              <a:rPr lang="en-US" sz="2500" i="1" dirty="0">
                <a:latin typeface="+mn-lt"/>
              </a:rPr>
              <a:t>The capability provided to the consumer is to provision processing, storage, networks, and </a:t>
            </a:r>
            <a:r>
              <a:rPr lang="en-US" sz="2500" i="1" dirty="0" smtClean="0">
                <a:latin typeface="+mn-lt"/>
              </a:rPr>
              <a:t>other fundamental </a:t>
            </a:r>
            <a:r>
              <a:rPr lang="en-US" sz="2500" i="1" dirty="0">
                <a:latin typeface="+mn-lt"/>
              </a:rPr>
              <a:t>computing resources where the consumer is able to deploy and run </a:t>
            </a:r>
            <a:r>
              <a:rPr lang="en-US" sz="2500" i="1" dirty="0" smtClean="0">
                <a:latin typeface="+mn-lt"/>
              </a:rPr>
              <a:t> arbitrary </a:t>
            </a:r>
            <a:r>
              <a:rPr lang="en-US" sz="2500" i="1" dirty="0">
                <a:latin typeface="+mn-lt"/>
              </a:rPr>
              <a:t>software</a:t>
            </a:r>
            <a:r>
              <a:rPr lang="en-US" sz="2500" i="1" dirty="0" smtClean="0">
                <a:latin typeface="+mn-lt"/>
              </a:rPr>
              <a:t>,</a:t>
            </a:r>
            <a:r>
              <a:rPr lang="en-US" sz="2500" i="1" dirty="0">
                <a:latin typeface="+mn-lt"/>
              </a:rPr>
              <a:t> which can include operating systems </a:t>
            </a:r>
            <a:endParaRPr lang="en-US" sz="2500" i="1" dirty="0" smtClean="0">
              <a:latin typeface="+mn-lt"/>
            </a:endParaRPr>
          </a:p>
          <a:p>
            <a:pPr marL="0" indent="0">
              <a:buNone/>
            </a:pPr>
            <a:r>
              <a:rPr lang="en-US" sz="2500" i="1" dirty="0">
                <a:latin typeface="+mn-lt"/>
              </a:rPr>
              <a:t> </a:t>
            </a:r>
            <a:r>
              <a:rPr lang="en-US" sz="2500" i="1" dirty="0" smtClean="0">
                <a:latin typeface="+mn-lt"/>
              </a:rPr>
              <a:t>  and </a:t>
            </a:r>
            <a:r>
              <a:rPr lang="en-US" sz="2500" i="1" dirty="0">
                <a:latin typeface="+mn-lt"/>
              </a:rPr>
              <a:t>applications. The consumer does not manage or </a:t>
            </a:r>
            <a:endParaRPr lang="en-US" sz="2500" i="1" dirty="0" smtClean="0">
              <a:latin typeface="+mn-lt"/>
            </a:endParaRPr>
          </a:p>
          <a:p>
            <a:pPr marL="0" indent="0">
              <a:buNone/>
            </a:pPr>
            <a:r>
              <a:rPr lang="en-US" sz="2500" i="1" dirty="0">
                <a:latin typeface="+mn-lt"/>
              </a:rPr>
              <a:t> </a:t>
            </a:r>
            <a:r>
              <a:rPr lang="en-US" sz="2500" i="1" dirty="0" smtClean="0">
                <a:latin typeface="+mn-lt"/>
              </a:rPr>
              <a:t>  control the </a:t>
            </a:r>
            <a:r>
              <a:rPr lang="en-US" sz="2500" i="1" dirty="0">
                <a:latin typeface="+mn-lt"/>
              </a:rPr>
              <a:t>underlying cloud infrastructure but has </a:t>
            </a:r>
            <a:endParaRPr lang="en-US" sz="2500" i="1" dirty="0" smtClean="0">
              <a:latin typeface="+mn-lt"/>
            </a:endParaRPr>
          </a:p>
          <a:p>
            <a:pPr marL="0" indent="0">
              <a:buNone/>
            </a:pPr>
            <a:r>
              <a:rPr lang="en-US" sz="2500" i="1" dirty="0">
                <a:latin typeface="+mn-lt"/>
              </a:rPr>
              <a:t> </a:t>
            </a:r>
            <a:r>
              <a:rPr lang="en-US" sz="2500" i="1" dirty="0" smtClean="0">
                <a:latin typeface="+mn-lt"/>
              </a:rPr>
              <a:t>  control </a:t>
            </a:r>
            <a:r>
              <a:rPr lang="en-US" sz="2500" i="1" dirty="0">
                <a:latin typeface="+mn-lt"/>
              </a:rPr>
              <a:t>over operating systems, storage, and </a:t>
            </a:r>
            <a:endParaRPr lang="en-US" sz="2500" i="1" dirty="0" smtClean="0">
              <a:latin typeface="+mn-lt"/>
            </a:endParaRPr>
          </a:p>
          <a:p>
            <a:pPr marL="0" indent="0">
              <a:buNone/>
            </a:pPr>
            <a:r>
              <a:rPr lang="en-US" sz="2500" i="1" dirty="0">
                <a:latin typeface="+mn-lt"/>
              </a:rPr>
              <a:t> </a:t>
            </a:r>
            <a:r>
              <a:rPr lang="en-US" sz="2500" i="1" dirty="0" smtClean="0">
                <a:latin typeface="+mn-lt"/>
              </a:rPr>
              <a:t>  deployed applications</a:t>
            </a:r>
            <a:r>
              <a:rPr lang="en-US" sz="2500" i="1" dirty="0">
                <a:latin typeface="+mn-lt"/>
              </a:rPr>
              <a:t>; and possibly limited control </a:t>
            </a:r>
            <a:endParaRPr lang="en-US" sz="2500" i="1" dirty="0" smtClean="0">
              <a:latin typeface="+mn-lt"/>
            </a:endParaRPr>
          </a:p>
          <a:p>
            <a:pPr marL="0" indent="0">
              <a:buNone/>
            </a:pPr>
            <a:r>
              <a:rPr lang="en-US" sz="2500" i="1" dirty="0">
                <a:latin typeface="+mn-lt"/>
              </a:rPr>
              <a:t> </a:t>
            </a:r>
            <a:r>
              <a:rPr lang="en-US" sz="2500" i="1" dirty="0" smtClean="0">
                <a:latin typeface="+mn-lt"/>
              </a:rPr>
              <a:t>  of </a:t>
            </a:r>
            <a:r>
              <a:rPr lang="en-US" sz="2500" i="1" dirty="0">
                <a:latin typeface="+mn-lt"/>
              </a:rPr>
              <a:t>select networking </a:t>
            </a:r>
            <a:r>
              <a:rPr lang="en-US" sz="2500" i="1" dirty="0" smtClean="0">
                <a:latin typeface="+mn-lt"/>
              </a:rPr>
              <a:t>components</a:t>
            </a:r>
            <a:endParaRPr lang="en-US" sz="2500" i="1" dirty="0" smtClean="0">
              <a:latin typeface="+mn-lt"/>
            </a:endParaRPr>
          </a:p>
          <a:p>
            <a:pPr marL="0" indent="0">
              <a:buNone/>
            </a:pPr>
            <a:r>
              <a:rPr lang="en-US" sz="2500" i="1" dirty="0">
                <a:latin typeface="+mn-lt"/>
              </a:rPr>
              <a:t> </a:t>
            </a:r>
            <a:r>
              <a:rPr lang="en-US" sz="2500" i="1" dirty="0" smtClean="0">
                <a:latin typeface="+mn-lt"/>
              </a:rPr>
              <a:t>  (</a:t>
            </a:r>
            <a:r>
              <a:rPr lang="en-US" sz="2500" i="1" dirty="0">
                <a:latin typeface="+mn-lt"/>
              </a:rPr>
              <a:t>e.g., host firewalls</a:t>
            </a:r>
            <a:r>
              <a:rPr lang="en-US" sz="2500" i="1" dirty="0" smtClean="0">
                <a:latin typeface="+mn-lt"/>
              </a:rPr>
              <a:t>)”.</a:t>
            </a:r>
            <a:endParaRPr lang="en-US" sz="25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</a:rPr>
              <a:t>Infrastructure as a Service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199" y="3621974"/>
            <a:ext cx="4684321" cy="2517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Amazon is the pioneer of IaaS. In India, IaaS providers include </a:t>
            </a:r>
            <a:r>
              <a:rPr lang="en-US" dirty="0" err="1">
                <a:latin typeface="+mn-lt"/>
              </a:rPr>
              <a:t>NetMagicSolutions</a:t>
            </a:r>
            <a:r>
              <a:rPr lang="en-US" dirty="0">
                <a:latin typeface="+mn-lt"/>
              </a:rPr>
              <a:t> and </a:t>
            </a:r>
            <a:r>
              <a:rPr lang="en-US" dirty="0" err="1" smtClean="0">
                <a:latin typeface="+mn-lt"/>
              </a:rPr>
              <a:t>InstaCompute</a:t>
            </a: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(from </a:t>
            </a:r>
            <a:r>
              <a:rPr lang="en-US" dirty="0">
                <a:latin typeface="+mn-lt"/>
              </a:rPr>
              <a:t>Tata Communications). The other leading providers are: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Rackspace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Joyent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Rightscale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Terremark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GoGrid</a:t>
            </a:r>
            <a:endParaRPr lang="en-US" dirty="0">
              <a:latin typeface="+mn-lt"/>
            </a:endParaRPr>
          </a:p>
          <a:p>
            <a:r>
              <a:rPr lang="en-US" dirty="0" smtClean="0">
                <a:latin typeface="+mn-lt"/>
              </a:rPr>
              <a:t>Elastic </a:t>
            </a:r>
            <a:r>
              <a:rPr lang="en-US" dirty="0">
                <a:latin typeface="+mn-lt"/>
              </a:rPr>
              <a:t>Hosts</a:t>
            </a:r>
            <a:endParaRPr lang="en-US" dirty="0">
              <a:latin typeface="+mn-lt"/>
            </a:endParaRPr>
          </a:p>
          <a:p>
            <a:r>
              <a:rPr lang="en-US" dirty="0" err="1" smtClean="0">
                <a:latin typeface="+mn-lt"/>
              </a:rPr>
              <a:t>Symetriq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+mn-lt"/>
              </a:rPr>
              <a:t>Infrastructure as a Service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Everything </a:t>
            </a:r>
            <a:r>
              <a:rPr lang="en-US" sz="2500" dirty="0">
                <a:latin typeface="+mn-lt"/>
              </a:rPr>
              <a:t>as a </a:t>
            </a:r>
            <a:r>
              <a:rPr lang="en-US" sz="2500" dirty="0" smtClean="0">
                <a:latin typeface="+mn-lt"/>
              </a:rPr>
              <a:t>Service (</a:t>
            </a:r>
            <a:r>
              <a:rPr lang="en-US" sz="2500" dirty="0" err="1">
                <a:latin typeface="+mn-lt"/>
              </a:rPr>
              <a:t>XaaS</a:t>
            </a:r>
            <a:r>
              <a:rPr lang="en-US" sz="2500" dirty="0">
                <a:latin typeface="+mn-lt"/>
              </a:rPr>
              <a:t>)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Compliance </a:t>
            </a:r>
            <a:r>
              <a:rPr lang="en-US" sz="2500" dirty="0">
                <a:latin typeface="+mn-lt"/>
              </a:rPr>
              <a:t>as a </a:t>
            </a:r>
            <a:r>
              <a:rPr lang="en-US" sz="2500" dirty="0" smtClean="0">
                <a:latin typeface="+mn-lt"/>
              </a:rPr>
              <a:t>Service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Identity </a:t>
            </a:r>
            <a:r>
              <a:rPr lang="en-US" sz="2500" dirty="0">
                <a:latin typeface="+mn-lt"/>
              </a:rPr>
              <a:t>as a </a:t>
            </a:r>
            <a:r>
              <a:rPr lang="en-US" sz="2500" dirty="0" smtClean="0">
                <a:latin typeface="+mn-lt"/>
              </a:rPr>
              <a:t>Service (</a:t>
            </a:r>
            <a:r>
              <a:rPr lang="en-US" sz="2500" dirty="0" err="1" smtClean="0">
                <a:latin typeface="+mn-lt"/>
              </a:rPr>
              <a:t>IdaaS</a:t>
            </a:r>
            <a:r>
              <a:rPr lang="en-US" sz="2500" dirty="0" smtClean="0">
                <a:latin typeface="+mn-lt"/>
              </a:rPr>
              <a:t>)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t-BR" sz="2500" dirty="0" smtClean="0">
                <a:latin typeface="+mn-lt"/>
              </a:rPr>
              <a:t> IaaS</a:t>
            </a:r>
            <a:r>
              <a:rPr lang="pt-BR" sz="2500" dirty="0">
                <a:latin typeface="+mn-lt"/>
              </a:rPr>
              <a:t>: DataBase as a Service (DBaaS</a:t>
            </a:r>
            <a:r>
              <a:rPr lang="pt-BR" sz="2500" dirty="0" smtClean="0">
                <a:latin typeface="+mn-lt"/>
              </a:rPr>
              <a:t>)</a:t>
            </a:r>
            <a:endParaRPr lang="pt-BR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</a:t>
            </a:r>
            <a:r>
              <a:rPr lang="en-US" sz="2500" dirty="0" err="1" smtClean="0">
                <a:latin typeface="+mn-lt"/>
              </a:rPr>
              <a:t>Paas</a:t>
            </a:r>
            <a:r>
              <a:rPr lang="en-US" sz="2500" dirty="0">
                <a:latin typeface="+mn-lt"/>
              </a:rPr>
              <a:t>: Storage as a Service (</a:t>
            </a:r>
            <a:r>
              <a:rPr lang="en-US" sz="2500" dirty="0" err="1">
                <a:latin typeface="+mn-lt"/>
              </a:rPr>
              <a:t>STaaS</a:t>
            </a:r>
            <a:r>
              <a:rPr lang="en-US" sz="2500" dirty="0" smtClean="0">
                <a:latin typeface="+mn-lt"/>
              </a:rPr>
              <a:t>)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Communications </a:t>
            </a:r>
            <a:r>
              <a:rPr lang="en-US" sz="2500" dirty="0">
                <a:latin typeface="+mn-lt"/>
              </a:rPr>
              <a:t>as a Service (</a:t>
            </a:r>
            <a:r>
              <a:rPr lang="en-US" sz="2500" dirty="0" err="1">
                <a:latin typeface="+mn-lt"/>
              </a:rPr>
              <a:t>CaaS</a:t>
            </a:r>
            <a:r>
              <a:rPr lang="en-US" sz="2500" dirty="0" smtClean="0">
                <a:latin typeface="+mn-lt"/>
              </a:rPr>
              <a:t>)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SaaS</a:t>
            </a:r>
            <a:r>
              <a:rPr lang="en-US" sz="2500" dirty="0">
                <a:latin typeface="+mn-lt"/>
              </a:rPr>
              <a:t>: Security as a Service (</a:t>
            </a:r>
            <a:r>
              <a:rPr lang="en-US" sz="2500" dirty="0" err="1">
                <a:latin typeface="+mn-lt"/>
              </a:rPr>
              <a:t>SECaaS</a:t>
            </a:r>
            <a:r>
              <a:rPr lang="en-US" sz="2500" dirty="0" smtClean="0">
                <a:latin typeface="+mn-lt"/>
              </a:rPr>
              <a:t>)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SaaS</a:t>
            </a:r>
            <a:r>
              <a:rPr lang="en-US" sz="2500" dirty="0">
                <a:latin typeface="+mn-lt"/>
              </a:rPr>
              <a:t>: Monitoring as a Service (</a:t>
            </a:r>
            <a:r>
              <a:rPr lang="en-US" sz="2500" dirty="0" err="1">
                <a:latin typeface="+mn-lt"/>
              </a:rPr>
              <a:t>MaaS</a:t>
            </a:r>
            <a:r>
              <a:rPr lang="en-US" sz="2500" dirty="0" smtClean="0">
                <a:latin typeface="+mn-lt"/>
              </a:rPr>
              <a:t>)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PaaS</a:t>
            </a:r>
            <a:r>
              <a:rPr lang="en-US" sz="2500" dirty="0">
                <a:latin typeface="+mn-lt"/>
              </a:rPr>
              <a:t>: Desktop as a Service (</a:t>
            </a:r>
            <a:r>
              <a:rPr lang="en-US" sz="2500" dirty="0" err="1">
                <a:latin typeface="+mn-lt"/>
              </a:rPr>
              <a:t>DTaaS</a:t>
            </a:r>
            <a:r>
              <a:rPr lang="en-US" sz="2500" dirty="0" smtClean="0">
                <a:latin typeface="+mn-lt"/>
              </a:rPr>
              <a:t>)</a:t>
            </a:r>
            <a:endParaRPr lang="en-US" sz="25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500" dirty="0" smtClean="0">
                <a:latin typeface="+mn-lt"/>
              </a:rPr>
              <a:t> IaaS</a:t>
            </a:r>
            <a:r>
              <a:rPr lang="en-US" sz="2500" dirty="0">
                <a:latin typeface="+mn-lt"/>
              </a:rPr>
              <a:t>: Compute Capacity as a Service (</a:t>
            </a:r>
            <a:r>
              <a:rPr lang="en-US" sz="2500" dirty="0" err="1">
                <a:latin typeface="+mn-lt"/>
              </a:rPr>
              <a:t>CCaaS</a:t>
            </a:r>
            <a:r>
              <a:rPr lang="en-US" sz="2500" dirty="0">
                <a:latin typeface="+mn-lt"/>
              </a:rPr>
              <a:t>)</a:t>
            </a:r>
            <a:endParaRPr lang="en-US" sz="25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Computing Sub Service Models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cloud model is invented with four deployment models—public cloud, private cloud, hybrid </a:t>
            </a:r>
            <a:r>
              <a:rPr lang="en-US" dirty="0" smtClean="0">
                <a:latin typeface="+mn-lt"/>
              </a:rPr>
              <a:t>cloud, and </a:t>
            </a:r>
            <a:r>
              <a:rPr lang="en-US" dirty="0">
                <a:latin typeface="+mn-lt"/>
              </a:rPr>
              <a:t>community cloud.</a:t>
            </a:r>
            <a:r>
              <a:rPr lang="en-US" dirty="0" smtClean="0">
                <a:latin typeface="+mn-lt"/>
              </a:rPr>
              <a:t>)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Deployment Models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420" y="2933206"/>
            <a:ext cx="7391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public cloud is the first deployment </a:t>
            </a:r>
            <a:r>
              <a:rPr lang="en-US" dirty="0" smtClean="0">
                <a:latin typeface="+mn-lt"/>
              </a:rPr>
              <a:t>model. </a:t>
            </a:r>
            <a:r>
              <a:rPr lang="en-US" dirty="0">
                <a:latin typeface="+mn-lt"/>
              </a:rPr>
              <a:t>In this model, users have many options </a:t>
            </a:r>
            <a:r>
              <a:rPr lang="en-US" dirty="0" smtClean="0">
                <a:latin typeface="+mn-lt"/>
              </a:rPr>
              <a:t>to opt </a:t>
            </a:r>
            <a:r>
              <a:rPr lang="en-US" dirty="0">
                <a:latin typeface="+mn-lt"/>
              </a:rPr>
              <a:t>for and decide on any service provider as per requirement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Examples of public cloud vendors include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Google</a:t>
            </a:r>
            <a:r>
              <a:rPr lang="en-US" dirty="0">
                <a:latin typeface="+mn-lt"/>
              </a:rPr>
              <a:t>, Amazon </a:t>
            </a:r>
            <a:r>
              <a:rPr lang="en-US" dirty="0" smtClean="0">
                <a:latin typeface="+mn-lt"/>
              </a:rPr>
              <a:t>Elastic Compute </a:t>
            </a:r>
            <a:r>
              <a:rPr lang="en-US" dirty="0">
                <a:latin typeface="+mn-lt"/>
              </a:rPr>
              <a:t>Cloud,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Windows </a:t>
            </a:r>
            <a:r>
              <a:rPr lang="en-US" dirty="0">
                <a:latin typeface="+mn-lt"/>
              </a:rPr>
              <a:t>Azure Services Platform,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Microsoft</a:t>
            </a:r>
            <a:r>
              <a:rPr lang="en-US" dirty="0">
                <a:latin typeface="+mn-lt"/>
              </a:rPr>
              <a:t>, etc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This model assists in the reduction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of </a:t>
            </a:r>
            <a:r>
              <a:rPr lang="en-US" dirty="0">
                <a:latin typeface="+mn-lt"/>
              </a:rPr>
              <a:t>capital expenses </a:t>
            </a:r>
            <a:r>
              <a:rPr lang="en-US" dirty="0" smtClean="0">
                <a:latin typeface="+mn-lt"/>
              </a:rPr>
              <a:t>and removes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equipped </a:t>
            </a:r>
            <a:r>
              <a:rPr lang="en-US" dirty="0">
                <a:latin typeface="+mn-lt"/>
              </a:rPr>
              <a:t>IT expenses.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Public Clouds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304" y="2458192"/>
            <a:ext cx="5413107" cy="3882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private cloud offers several advantages </a:t>
            </a:r>
            <a:r>
              <a:rPr lang="en-US" dirty="0" smtClean="0">
                <a:latin typeface="+mn-lt"/>
              </a:rPr>
              <a:t>of an </a:t>
            </a:r>
            <a:r>
              <a:rPr lang="en-US" dirty="0">
                <a:latin typeface="+mn-lt"/>
              </a:rPr>
              <a:t>open cloud computing setting that comprises its service support and flexibility</a:t>
            </a:r>
            <a:r>
              <a:rPr lang="en-US" dirty="0" smtClean="0">
                <a:latin typeface="+mn-lt"/>
              </a:rPr>
              <a:t>. 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Private clouds allow infrastructure to be accessed only by the members of the organization and </a:t>
            </a:r>
            <a:r>
              <a:rPr lang="en-US" dirty="0" smtClean="0">
                <a:latin typeface="+mn-lt"/>
              </a:rPr>
              <a:t>granted by </a:t>
            </a:r>
            <a:r>
              <a:rPr lang="en-US" dirty="0">
                <a:latin typeface="+mn-lt"/>
              </a:rPr>
              <a:t>third parties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Examples of private cloud include Eucalyptus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cloud </a:t>
            </a:r>
            <a:r>
              <a:rPr lang="en-US" dirty="0">
                <a:latin typeface="+mn-lt"/>
              </a:rPr>
              <a:t>computing infrastructure with Ubuntu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Server</a:t>
            </a:r>
            <a:r>
              <a:rPr lang="en-US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Elastra</a:t>
            </a:r>
            <a:r>
              <a:rPr lang="en-US" dirty="0">
                <a:latin typeface="+mn-lt"/>
              </a:rPr>
              <a:t> private-cloud, </a:t>
            </a:r>
            <a:r>
              <a:rPr lang="en-US" dirty="0" err="1">
                <a:latin typeface="+mn-lt"/>
              </a:rPr>
              <a:t>Vmware</a:t>
            </a:r>
            <a:r>
              <a:rPr lang="en-US" dirty="0">
                <a:latin typeface="+mn-lt"/>
              </a:rPr>
              <a:t>,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Microsoft</a:t>
            </a:r>
            <a:r>
              <a:rPr lang="en-US" dirty="0">
                <a:latin typeface="+mn-lt"/>
              </a:rPr>
              <a:t>, etc.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Private Clouds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8347" y="3206339"/>
            <a:ext cx="4723396" cy="2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A community cloud falls between public and private clouds category</a:t>
            </a:r>
            <a:r>
              <a:rPr lang="en-US" dirty="0" smtClean="0">
                <a:latin typeface="+mn-lt"/>
              </a:rPr>
              <a:t>.</a:t>
            </a:r>
            <a:endParaRPr lang="en-US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drawback related to </a:t>
            </a:r>
            <a:r>
              <a:rPr lang="en-US" dirty="0" smtClean="0">
                <a:latin typeface="+mn-lt"/>
              </a:rPr>
              <a:t>a community </a:t>
            </a:r>
            <a:r>
              <a:rPr lang="en-US" dirty="0">
                <a:latin typeface="+mn-lt"/>
              </a:rPr>
              <a:t>cloud is that of having costs higher than a public cloud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Examples of community </a:t>
            </a:r>
            <a:r>
              <a:rPr lang="en-US" dirty="0" smtClean="0">
                <a:latin typeface="+mn-lt"/>
              </a:rPr>
              <a:t>cloud include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 smtClean="0">
                <a:latin typeface="+mn-lt"/>
              </a:rPr>
              <a:t>    Google’s </a:t>
            </a:r>
            <a:r>
              <a:rPr lang="en-US" dirty="0">
                <a:latin typeface="+mn-lt"/>
              </a:rPr>
              <a:t>‘</a:t>
            </a:r>
            <a:r>
              <a:rPr lang="en-US" dirty="0" err="1">
                <a:latin typeface="+mn-lt"/>
              </a:rPr>
              <a:t>Gov</a:t>
            </a:r>
            <a:r>
              <a:rPr lang="en-US" dirty="0">
                <a:latin typeface="+mn-lt"/>
              </a:rPr>
              <a:t> Cloud’, NASA Nebula cloud,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etc</a:t>
            </a:r>
            <a:r>
              <a:rPr lang="en-US" dirty="0">
                <a:latin typeface="+mn-lt"/>
              </a:rPr>
              <a:t>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Community Clouds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821" y="2640156"/>
            <a:ext cx="4726441" cy="3725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hybrid cloud is a combination of a private and public </a:t>
            </a:r>
            <a:r>
              <a:rPr lang="en-US" dirty="0" smtClean="0">
                <a:latin typeface="+mn-lt"/>
              </a:rPr>
              <a:t>cloud which </a:t>
            </a:r>
            <a:r>
              <a:rPr lang="en-US" dirty="0">
                <a:latin typeface="+mn-lt"/>
              </a:rPr>
              <a:t>is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 mutually </a:t>
            </a:r>
            <a:r>
              <a:rPr lang="en-US" dirty="0">
                <a:latin typeface="+mn-lt"/>
              </a:rPr>
              <a:t>dependent on one another</a:t>
            </a:r>
            <a:r>
              <a:rPr lang="en-US" dirty="0" smtClean="0">
                <a:latin typeface="+mn-lt"/>
              </a:rPr>
              <a:t>.</a:t>
            </a:r>
            <a:endParaRPr lang="en-US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In this model, cloud users are supplied with </a:t>
            </a:r>
            <a:r>
              <a:rPr lang="en-US" dirty="0" smtClean="0">
                <a:latin typeface="+mn-lt"/>
              </a:rPr>
              <a:t>information </a:t>
            </a:r>
            <a:r>
              <a:rPr lang="en-US" dirty="0">
                <a:latin typeface="+mn-lt"/>
              </a:rPr>
              <a:t>on the public cloud, in spite of the reality that the cloud supplier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has </a:t>
            </a:r>
            <a:r>
              <a:rPr lang="en-US" dirty="0">
                <a:latin typeface="+mn-lt"/>
              </a:rPr>
              <a:t>to maintain the </a:t>
            </a:r>
            <a:r>
              <a:rPr lang="en-US" dirty="0" smtClean="0">
                <a:latin typeface="+mn-lt"/>
              </a:rPr>
              <a:t>company-significant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services </a:t>
            </a:r>
            <a:r>
              <a:rPr lang="en-US" dirty="0">
                <a:latin typeface="+mn-lt"/>
              </a:rPr>
              <a:t>and information in a few </a:t>
            </a:r>
            <a:endParaRPr lang="en-US" dirty="0" smtClean="0">
              <a:latin typeface="+mn-lt"/>
            </a:endParaRPr>
          </a:p>
          <a:p>
            <a:pPr marL="0" indent="0">
              <a:buNone/>
            </a:pPr>
            <a:r>
              <a:rPr lang="en-US" dirty="0">
                <a:latin typeface="+mn-lt"/>
              </a:rPr>
              <a:t> </a:t>
            </a:r>
            <a:r>
              <a:rPr lang="en-US" dirty="0" smtClean="0">
                <a:latin typeface="+mn-lt"/>
              </a:rPr>
              <a:t>  instructions</a:t>
            </a:r>
            <a:r>
              <a:rPr lang="en-US" dirty="0">
                <a:latin typeface="+mn-lt"/>
              </a:rPr>
              <a:t>.</a:t>
            </a:r>
            <a:endParaRPr lang="en-US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Hybrid Clouds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815" y="3213574"/>
            <a:ext cx="5046828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8"/>
            <a:ext cx="4025735" cy="515653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Linthicum 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Model</a:t>
            </a:r>
            <a:endParaRPr lang="en-US" b="1" dirty="0" smtClean="0">
              <a:solidFill>
                <a:srgbClr val="FFFF00"/>
              </a:solidFill>
              <a:latin typeface="+mn-lt"/>
            </a:endParaRPr>
          </a:p>
          <a:p>
            <a:r>
              <a:rPr lang="en-US" sz="2400" dirty="0" smtClean="0">
                <a:latin typeface="+mn-lt"/>
              </a:rPr>
              <a:t>Storage </a:t>
            </a:r>
            <a:r>
              <a:rPr lang="en-US" sz="2400" dirty="0">
                <a:latin typeface="+mn-lt"/>
              </a:rPr>
              <a:t>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Database 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Information 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 smtClean="0">
                <a:latin typeface="+mn-lt"/>
              </a:rPr>
              <a:t>Process </a:t>
            </a:r>
            <a:r>
              <a:rPr lang="en-US" sz="2400" dirty="0">
                <a:latin typeface="+mn-lt"/>
              </a:rPr>
              <a:t>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Application 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Platform 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Integration 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Security 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Management as a </a:t>
            </a:r>
            <a:r>
              <a:rPr lang="en-US" sz="2400" dirty="0" smtClean="0">
                <a:latin typeface="+mn-lt"/>
              </a:rPr>
              <a:t>Service</a:t>
            </a:r>
            <a:endParaRPr lang="en-US" sz="2400" dirty="0" smtClean="0">
              <a:latin typeface="+mn-lt"/>
            </a:endParaRPr>
          </a:p>
          <a:p>
            <a:r>
              <a:rPr lang="en-US" sz="2400" dirty="0">
                <a:latin typeface="+mn-lt"/>
              </a:rPr>
              <a:t>Testing as a Service</a:t>
            </a:r>
            <a:endParaRPr lang="en-US" sz="24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Alternative Deployment Models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4760026" y="1567543"/>
            <a:ext cx="6842166" cy="52904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FF00"/>
                </a:solidFill>
                <a:latin typeface="+mn-lt"/>
              </a:rPr>
              <a:t>Jericho Cloud Cube </a:t>
            </a:r>
            <a:r>
              <a:rPr lang="en-US" b="1" dirty="0" smtClean="0">
                <a:solidFill>
                  <a:srgbClr val="FFFF00"/>
                </a:solidFill>
                <a:latin typeface="+mn-lt"/>
              </a:rPr>
              <a:t>Model</a:t>
            </a:r>
            <a:endParaRPr lang="en-US" b="1" dirty="0" smtClean="0">
              <a:solidFill>
                <a:srgbClr val="FFFF00"/>
              </a:solidFill>
              <a:latin typeface="+mn-lt"/>
            </a:endParaRPr>
          </a:p>
          <a:p>
            <a:r>
              <a:rPr lang="en-US" sz="2600" dirty="0">
                <a:latin typeface="+mn-lt"/>
              </a:rPr>
              <a:t>Internal or external</a:t>
            </a:r>
            <a:endParaRPr lang="en-US" sz="2600" dirty="0">
              <a:latin typeface="+mn-lt"/>
            </a:endParaRPr>
          </a:p>
          <a:p>
            <a:r>
              <a:rPr lang="en-US" sz="2600" dirty="0">
                <a:latin typeface="+mn-lt"/>
              </a:rPr>
              <a:t>Proprietary or open</a:t>
            </a:r>
            <a:endParaRPr lang="en-US" sz="2600" dirty="0">
              <a:latin typeface="+mn-lt"/>
            </a:endParaRPr>
          </a:p>
          <a:p>
            <a:r>
              <a:rPr lang="en-US" sz="2600" dirty="0">
                <a:latin typeface="+mn-lt"/>
              </a:rPr>
              <a:t>Perimeterized or de-</a:t>
            </a:r>
            <a:r>
              <a:rPr lang="en-US" sz="2600" dirty="0" err="1">
                <a:latin typeface="+mn-lt"/>
              </a:rPr>
              <a:t>perimeterized</a:t>
            </a:r>
            <a:r>
              <a:rPr lang="en-US" sz="2600" dirty="0">
                <a:latin typeface="+mn-lt"/>
              </a:rPr>
              <a:t> architectures</a:t>
            </a:r>
            <a:endParaRPr lang="en-US" sz="2600" dirty="0">
              <a:latin typeface="+mn-lt"/>
            </a:endParaRPr>
          </a:p>
          <a:p>
            <a:r>
              <a:rPr lang="en-US" sz="2600" dirty="0">
                <a:latin typeface="+mn-lt"/>
              </a:rPr>
              <a:t>Outsourced or insourced</a:t>
            </a:r>
            <a:endParaRPr lang="en-US" sz="26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CloudStack is cloud software which assists users to alter the cloud according to their requirements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It controls and supports the network, storage, and compute joints in a cloud infrastructure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It </a:t>
            </a:r>
            <a:r>
              <a:rPr lang="en-US" sz="2400" dirty="0">
                <a:latin typeface="+mn-lt"/>
              </a:rPr>
              <a:t>is used </a:t>
            </a:r>
            <a:r>
              <a:rPr lang="en-US" sz="2400" dirty="0" smtClean="0">
                <a:latin typeface="+mn-lt"/>
              </a:rPr>
              <a:t>to arrange</a:t>
            </a:r>
            <a:r>
              <a:rPr lang="en-US" sz="2400" dirty="0">
                <a:latin typeface="+mn-lt"/>
              </a:rPr>
              <a:t>, control, and systematize situations in cloud computing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With </a:t>
            </a:r>
            <a:r>
              <a:rPr lang="en-US" sz="2400" dirty="0" smtClean="0">
                <a:latin typeface="+mn-lt"/>
              </a:rPr>
              <a:t>CloudS</a:t>
            </a:r>
            <a:r>
              <a:rPr lang="en-US" sz="2400" dirty="0">
                <a:latin typeface="+mn-lt"/>
              </a:rPr>
              <a:t>tack, you are capable of the following</a:t>
            </a:r>
            <a:r>
              <a:rPr lang="en-US" sz="2400" dirty="0" smtClean="0">
                <a:latin typeface="+mn-lt"/>
              </a:rPr>
              <a:t>:</a:t>
            </a: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1. Establishing an on-command, flexible cloud computing service. Service suppliers may offer </a:t>
            </a:r>
            <a:r>
              <a:rPr lang="en-US" sz="2400" dirty="0" smtClean="0">
                <a:latin typeface="+mn-lt"/>
              </a:rPr>
              <a:t>self service virtual </a:t>
            </a:r>
            <a:r>
              <a:rPr lang="en-US" sz="2400" dirty="0">
                <a:latin typeface="+mn-lt"/>
              </a:rPr>
              <a:t>machines, networking arrangements, and storage sizes over the Internet.</a:t>
            </a:r>
            <a:endParaRPr lang="en-US" sz="2400" dirty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2. CloudStack may be used to construct an on-command cloud computing service along </a:t>
            </a:r>
            <a:r>
              <a:rPr lang="en-US" sz="2400" dirty="0" smtClean="0">
                <a:latin typeface="+mn-lt"/>
              </a:rPr>
              <a:t>with flexibility</a:t>
            </a:r>
            <a:r>
              <a:rPr lang="en-US" sz="2400" dirty="0">
                <a:latin typeface="+mn-lt"/>
              </a:rPr>
              <a:t>. Service supplier provides storage and virtual machines, and much more on the Internet.</a:t>
            </a:r>
            <a:endParaRPr lang="en-US" sz="2400" dirty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3. An organization or worker could establish an on-premise private cloud along with CloudStack</a:t>
            </a:r>
            <a:r>
              <a:rPr lang="en-US" sz="2400" dirty="0" smtClean="0">
                <a:latin typeface="+mn-lt"/>
              </a:rPr>
              <a:t>.</a:t>
            </a:r>
            <a:endParaRPr lang="en-US" sz="25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CloudStack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Cloud Computing Stack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6400" y="1320165"/>
            <a:ext cx="9602470" cy="55378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Cloud </a:t>
            </a:r>
            <a:r>
              <a:rPr lang="en-US" sz="2400" dirty="0">
                <a:latin typeface="+mn-lt"/>
              </a:rPr>
              <a:t>storage is a service model wherein data is maintained, controlled, and backed up distantly </a:t>
            </a:r>
            <a:r>
              <a:rPr lang="en-US" sz="2400" dirty="0" smtClean="0">
                <a:latin typeface="+mn-lt"/>
              </a:rPr>
              <a:t>and made accessible </a:t>
            </a:r>
            <a:r>
              <a:rPr lang="en-US" sz="2400" dirty="0">
                <a:latin typeface="+mn-lt"/>
              </a:rPr>
              <a:t>to users over a network (characteristically the Internet</a:t>
            </a:r>
            <a:r>
              <a:rPr lang="en-US" sz="2400" dirty="0" smtClean="0">
                <a:latin typeface="+mn-lt"/>
              </a:rPr>
              <a:t>).</a:t>
            </a: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+mn-lt"/>
              </a:rPr>
              <a:t>There are three major cloud storage models which are as follows:</a:t>
            </a:r>
            <a:endParaRPr lang="en-US" sz="2400" b="1" dirty="0">
              <a:solidFill>
                <a:srgbClr val="FFFF00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1. Public cloud storage services, like Amazon’s Simple Storage Service (S3), offers a </a:t>
            </a:r>
            <a:r>
              <a:rPr lang="en-US" sz="2400" dirty="0" smtClean="0">
                <a:latin typeface="+mn-lt"/>
              </a:rPr>
              <a:t>multi-occupant storage </a:t>
            </a:r>
            <a:r>
              <a:rPr lang="en-US" sz="2400" dirty="0">
                <a:latin typeface="+mn-lt"/>
              </a:rPr>
              <a:t>appropriate for data.</a:t>
            </a:r>
            <a:endParaRPr lang="en-US" sz="2400" dirty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2. Private cloud storage services offer a dedicated storage restricted behind the firewall of </a:t>
            </a:r>
            <a:r>
              <a:rPr lang="en-US" sz="2400" dirty="0" smtClean="0">
                <a:latin typeface="+mn-lt"/>
              </a:rPr>
              <a:t>a corporation</a:t>
            </a:r>
            <a:r>
              <a:rPr lang="en-US" sz="2400" dirty="0">
                <a:latin typeface="+mn-lt"/>
              </a:rPr>
              <a:t>. Private clouds are suitable for users who require customization and more power </a:t>
            </a:r>
            <a:r>
              <a:rPr lang="en-US" sz="2400" dirty="0" smtClean="0">
                <a:latin typeface="+mn-lt"/>
              </a:rPr>
              <a:t>on their </a:t>
            </a:r>
            <a:r>
              <a:rPr lang="en-US" sz="2400" dirty="0">
                <a:latin typeface="+mn-lt"/>
              </a:rPr>
              <a:t>data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 marL="0" indent="0">
              <a:buNone/>
            </a:pPr>
            <a:r>
              <a:rPr lang="en-US" sz="2400" dirty="0">
                <a:latin typeface="+mn-lt"/>
              </a:rPr>
              <a:t>3. Hybrid cloud storage is an amalgamation of the other two models, which comprise no less </a:t>
            </a:r>
            <a:r>
              <a:rPr lang="en-US" sz="2400" dirty="0" smtClean="0">
                <a:latin typeface="+mn-lt"/>
              </a:rPr>
              <a:t>than a </a:t>
            </a:r>
            <a:r>
              <a:rPr lang="en-US" sz="2400" dirty="0">
                <a:latin typeface="+mn-lt"/>
              </a:rPr>
              <a:t>single public cloud and a single private cloud infrastructure. A corporation could, for </a:t>
            </a:r>
            <a:r>
              <a:rPr lang="en-US" sz="2400" dirty="0" smtClean="0">
                <a:latin typeface="+mn-lt"/>
              </a:rPr>
              <a:t>instance, collect </a:t>
            </a:r>
            <a:r>
              <a:rPr lang="en-US" sz="2400" dirty="0">
                <a:latin typeface="+mn-lt"/>
              </a:rPr>
              <a:t>forcefully used and prepared data on a private cloud and sharable data on a public cloud.</a:t>
            </a:r>
            <a:endParaRPr lang="en-US" sz="25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Storage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379" y="1553029"/>
            <a:ext cx="11863450" cy="462393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+mn-lt"/>
              </a:rPr>
              <a:t>Cloud </a:t>
            </a:r>
            <a:r>
              <a:rPr lang="en-US" sz="2400" dirty="0">
                <a:latin typeface="+mn-lt"/>
              </a:rPr>
              <a:t>storage is a module of networked online storage in which data is saved in virtualized groups </a:t>
            </a:r>
            <a:r>
              <a:rPr lang="en-US" sz="2400" dirty="0" smtClean="0">
                <a:latin typeface="+mn-lt"/>
              </a:rPr>
              <a:t>of storage </a:t>
            </a:r>
            <a:r>
              <a:rPr lang="en-US" sz="2400" dirty="0">
                <a:latin typeface="+mn-lt"/>
              </a:rPr>
              <a:t>that are normally hosted by third parties</a:t>
            </a:r>
            <a:r>
              <a:rPr lang="en-US" sz="2400" dirty="0" smtClean="0">
                <a:latin typeface="+mn-lt"/>
              </a:rPr>
              <a:t>.</a:t>
            </a:r>
            <a:endParaRPr lang="en-US" sz="24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+mn-lt"/>
              </a:rPr>
              <a:t>Cloud storage services can be accessed via a web service application programming interface (API</a:t>
            </a:r>
            <a:r>
              <a:rPr lang="en-US" sz="2400" dirty="0" smtClean="0">
                <a:latin typeface="+mn-lt"/>
              </a:rPr>
              <a:t>), or </a:t>
            </a:r>
            <a:r>
              <a:rPr lang="en-US" sz="2400" dirty="0">
                <a:latin typeface="+mn-lt"/>
              </a:rPr>
              <a:t>via a web-based user interface.</a:t>
            </a:r>
            <a:endParaRPr lang="en-US" sz="2500" dirty="0" smtClean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2229" y="365125"/>
            <a:ext cx="11684000" cy="107178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+mn-lt"/>
              </a:rPr>
              <a:t>Cloud Storage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01944" y="6284660"/>
            <a:ext cx="6327648" cy="365125"/>
          </a:xfrm>
        </p:spPr>
        <p:txBody>
          <a:bodyPr/>
          <a:lstStyle/>
          <a:p>
            <a:pPr algn="ctr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© Oxford University Press 2018. All rights reserved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08478" y="3179577"/>
            <a:ext cx="11684000" cy="1071789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Calibri" panose="020F0502020204030204" pitchFamily="34" charset="0"/>
              </a:rPr>
              <a:t>Thank You!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11107</Words>
  <Application>WPS Presentation</Application>
  <PresentationFormat>Custom</PresentationFormat>
  <Paragraphs>262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Candara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Chapter 4</vt:lpstr>
      <vt:lpstr>Learning Outcomes</vt:lpstr>
      <vt:lpstr>Introduction</vt:lpstr>
      <vt:lpstr>Cloud Service Models</vt:lpstr>
      <vt:lpstr>Software as a Service</vt:lpstr>
      <vt:lpstr>Software as a Service</vt:lpstr>
      <vt:lpstr>Importance of SaaS</vt:lpstr>
      <vt:lpstr>Platform as a Service</vt:lpstr>
      <vt:lpstr>Platform as a Service</vt:lpstr>
      <vt:lpstr>Platform as a Service</vt:lpstr>
      <vt:lpstr>Infrastructure as a Service</vt:lpstr>
      <vt:lpstr>Infrastructure as a Service</vt:lpstr>
      <vt:lpstr>Cloud Computing Sub Service Models</vt:lpstr>
      <vt:lpstr>Cloud Deployment Models</vt:lpstr>
      <vt:lpstr>Public Clouds</vt:lpstr>
      <vt:lpstr>Private Clouds</vt:lpstr>
      <vt:lpstr>Community Clouds</vt:lpstr>
      <vt:lpstr>Hybrid Clouds</vt:lpstr>
      <vt:lpstr>Alternative Deployment Models</vt:lpstr>
      <vt:lpstr>CloudStack</vt:lpstr>
      <vt:lpstr>PowerPoint 演示文稿</vt:lpstr>
      <vt:lpstr>Cloud Storage</vt:lpstr>
      <vt:lpstr>Cloud Storage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Chowdhury, Sayantan</dc:creator>
  <cp:lastModifiedBy>KIIT01</cp:lastModifiedBy>
  <cp:revision>85</cp:revision>
  <dcterms:created xsi:type="dcterms:W3CDTF">2018-06-14T06:27:00Z</dcterms:created>
  <dcterms:modified xsi:type="dcterms:W3CDTF">2023-01-23T02:49:10Z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76191DA954994680B531B16CD56C59D1</vt:lpwstr>
  </property>
  <property fmtid="{D5CDD505-2E9C-101B-9397-08002B2CF9AE}" pid="3" name="KSOProductBuildVer">
    <vt:lpwstr>1033-11.2.0.11440</vt:lpwstr>
  </property>
</Properties>
</file>