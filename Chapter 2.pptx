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3"/>
    <p:sldId id="260" r:id="rId4"/>
    <p:sldId id="257" r:id="rId5"/>
    <p:sldId id="258" r:id="rId6"/>
    <p:sldId id="275" r:id="rId7"/>
    <p:sldId id="303" r:id="rId8"/>
    <p:sldId id="259" r:id="rId9"/>
    <p:sldId id="329" r:id="rId10"/>
    <p:sldId id="330" r:id="rId11"/>
    <p:sldId id="331" r:id="rId12"/>
    <p:sldId id="261" r:id="rId13"/>
    <p:sldId id="333" r:id="rId14"/>
    <p:sldId id="291" r:id="rId15"/>
    <p:sldId id="281" r:id="rId16"/>
    <p:sldId id="318" r:id="rId17"/>
    <p:sldId id="293" r:id="rId18"/>
    <p:sldId id="263" r:id="rId19"/>
    <p:sldId id="286" r:id="rId20"/>
    <p:sldId id="265" r:id="rId21"/>
    <p:sldId id="289" r:id="rId22"/>
    <p:sldId id="290" r:id="rId23"/>
    <p:sldId id="287" r:id="rId24"/>
    <p:sldId id="288" r:id="rId25"/>
    <p:sldId id="335" r:id="rId26"/>
    <p:sldId id="28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66EA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91" autoAdjust="0"/>
    <p:restoredTop sz="94660"/>
  </p:normalViewPr>
  <p:slideViewPr>
    <p:cSldViewPr snapToGrid="0">
      <p:cViewPr varScale="1">
        <p:scale>
          <a:sx n="77" d="100"/>
          <a:sy n="77" d="100"/>
        </p:scale>
        <p:origin x="-114" y="-5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notesMaster" Target="notesMasters/notesMaster1.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DA5E15-EA7C-4AE6-A7FE-6EE8949B26F4}"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3C74D-DBCC-462F-80C9-23B653553D81}"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83C74D-DBCC-462F-80C9-23B653553D81}"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3C95271-EAF6-4654-82A8-BE1747C4483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2229" y="365125"/>
            <a:ext cx="11684000" cy="1071789"/>
          </a:xfrm>
        </p:spPr>
        <p:txBody>
          <a:bodyPr/>
          <a:lstStyle>
            <a:lvl1pPr>
              <a:defRPr b="1">
                <a:solidFill>
                  <a:schemeClr val="bg1"/>
                </a:solidFill>
                <a:latin typeface="Candara" panose="020E0502030303020204" pitchFamily="34" charset="0"/>
              </a:defRPr>
            </a:lvl1pPr>
          </a:lstStyle>
          <a:p>
            <a:r>
              <a:rPr lang="en-US" dirty="0" smtClean="0"/>
              <a:t>Topic: </a:t>
            </a:r>
            <a:endParaRPr lang="en-US" dirty="0"/>
          </a:p>
        </p:txBody>
      </p:sp>
      <p:sp>
        <p:nvSpPr>
          <p:cNvPr id="3" name="Content Placeholder 2"/>
          <p:cNvSpPr>
            <a:spLocks noGrp="1"/>
          </p:cNvSpPr>
          <p:nvPr>
            <p:ph idx="1"/>
          </p:nvPr>
        </p:nvSpPr>
        <p:spPr>
          <a:xfrm>
            <a:off x="232229" y="1553029"/>
            <a:ext cx="11684000" cy="4623934"/>
          </a:xfrm>
        </p:spPr>
        <p:txBody>
          <a:bodyPr/>
          <a:lstStyle>
            <a:lvl1pPr>
              <a:defRPr>
                <a:solidFill>
                  <a:schemeClr val="tx1">
                    <a:lumMod val="85000"/>
                    <a:lumOff val="15000"/>
                  </a:schemeClr>
                </a:solidFill>
                <a:latin typeface="Candara" panose="020E0502030303020204" pitchFamily="34" charset="0"/>
              </a:defRPr>
            </a:lvl1pPr>
            <a:lvl2pPr>
              <a:defRPr>
                <a:solidFill>
                  <a:schemeClr val="tx1">
                    <a:lumMod val="85000"/>
                    <a:lumOff val="15000"/>
                  </a:schemeClr>
                </a:solidFill>
                <a:latin typeface="Candara" panose="020E0502030303020204" pitchFamily="34" charset="0"/>
              </a:defRPr>
            </a:lvl2pPr>
            <a:lvl3pPr>
              <a:defRPr>
                <a:solidFill>
                  <a:schemeClr val="tx1">
                    <a:lumMod val="85000"/>
                    <a:lumOff val="15000"/>
                  </a:schemeClr>
                </a:solidFill>
                <a:latin typeface="Candara" panose="020E0502030303020204" pitchFamily="34" charset="0"/>
              </a:defRPr>
            </a:lvl3pPr>
            <a:lvl4pPr>
              <a:defRPr>
                <a:solidFill>
                  <a:schemeClr val="tx1">
                    <a:lumMod val="85000"/>
                    <a:lumOff val="15000"/>
                  </a:schemeClr>
                </a:solidFill>
                <a:latin typeface="Candara" panose="020E0502030303020204" pitchFamily="34" charset="0"/>
              </a:defRPr>
            </a:lvl4pPr>
            <a:lvl5pPr>
              <a:defRPr>
                <a:solidFill>
                  <a:schemeClr val="tx1">
                    <a:lumMod val="85000"/>
                    <a:lumOff val="15000"/>
                  </a:schemeClr>
                </a:solidFill>
                <a:latin typeface="Candara" panose="020E0502030303020204" pitchFamily="34" charset="0"/>
              </a:defRPr>
            </a:lvl5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4" name="Date Placeholder 3"/>
          <p:cNvSpPr>
            <a:spLocks noGrp="1"/>
          </p:cNvSpPr>
          <p:nvPr>
            <p:ph type="dt" sz="half" idx="10"/>
          </p:nvPr>
        </p:nvSpPr>
        <p:spPr/>
        <p:txBody>
          <a:bodyPr/>
          <a:lstStyle/>
          <a:p>
            <a:fld id="{C3C95271-EAF6-4654-82A8-BE1747C4483D}" type="datetimeFigureOut">
              <a:rPr lang="en-US" smtClean="0"/>
            </a:fld>
            <a:endParaRPr lang="en-US"/>
          </a:p>
        </p:txBody>
      </p:sp>
      <p:sp>
        <p:nvSpPr>
          <p:cNvPr id="5" name="Footer Placeholder 4"/>
          <p:cNvSpPr>
            <a:spLocks noGrp="1"/>
          </p:cNvSpPr>
          <p:nvPr>
            <p:ph type="ftr" sz="quarter" idx="11"/>
          </p:nvPr>
        </p:nvSpPr>
        <p:spPr/>
        <p:txBody>
          <a:bodyPr/>
          <a:lstStyle>
            <a:lvl1pPr>
              <a:defRPr>
                <a:solidFill>
                  <a:schemeClr val="tx1">
                    <a:lumMod val="85000"/>
                    <a:lumOff val="15000"/>
                  </a:schemeClr>
                </a:solidFill>
              </a:defRPr>
            </a:lvl1pPr>
          </a:lstStyle>
          <a:p>
            <a:r>
              <a:rPr lang="en-US" dirty="0" smtClean="0"/>
              <a:t>© Oxford University Press India. All rights reserved.</a:t>
            </a:r>
            <a:endParaRPr lang="en-US" dirty="0"/>
          </a:p>
        </p:txBody>
      </p:sp>
      <p:sp>
        <p:nvSpPr>
          <p:cNvPr id="6" name="Slide Number Placeholder 5"/>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1709738"/>
            <a:ext cx="10515600" cy="2852737"/>
          </a:xfrm>
        </p:spPr>
        <p:txBody>
          <a:bodyPr anchor="b"/>
          <a:lstStyle>
            <a:lvl1pPr>
              <a:defRPr sz="6000" baseline="0"/>
            </a:lvl1pPr>
          </a:lstStyle>
          <a:p>
            <a:r>
              <a:rPr lang="en-US" dirty="0" smtClean="0"/>
              <a:t>Chapter name</a:t>
            </a:r>
            <a:endParaRPr lang="en-US" dirty="0"/>
          </a:p>
        </p:txBody>
      </p:sp>
      <p:sp>
        <p:nvSpPr>
          <p:cNvPr id="3" name="Text Placeholder 2"/>
          <p:cNvSpPr>
            <a:spLocks noGrp="1"/>
          </p:cNvSpPr>
          <p:nvPr>
            <p:ph type="body" idx="1" hasCustomPrompt="1"/>
          </p:nvPr>
        </p:nvSpPr>
        <p:spPr>
          <a:xfrm>
            <a:off x="831850" y="4589463"/>
            <a:ext cx="10515600" cy="1500187"/>
          </a:xfrm>
        </p:spPr>
        <p:txBody>
          <a:bodyPr>
            <a:normAutofit/>
          </a:bodyPr>
          <a:lstStyle>
            <a:lvl1pPr marL="0" indent="0">
              <a:buNone/>
              <a:defRPr sz="3600" baseline="0">
                <a:solidFill>
                  <a:schemeClr val="bg2">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smtClean="0"/>
              <a:t>Chapter no</a:t>
            </a:r>
            <a:endParaRPr lang="en-US" dirty="0" smtClean="0"/>
          </a:p>
        </p:txBody>
      </p:sp>
      <p:sp>
        <p:nvSpPr>
          <p:cNvPr id="4" name="Date Placeholder 3"/>
          <p:cNvSpPr>
            <a:spLocks noGrp="1"/>
          </p:cNvSpPr>
          <p:nvPr>
            <p:ph type="dt" sz="half" idx="10"/>
          </p:nvPr>
        </p:nvSpPr>
        <p:spPr/>
        <p:txBody>
          <a:bodyPr/>
          <a:lstStyle/>
          <a:p>
            <a:fld id="{C3C95271-EAF6-4654-82A8-BE1747C4483D}" type="datetimeFigureOut">
              <a:rPr lang="en-US" smtClean="0"/>
            </a:fld>
            <a:endParaRPr lang="en-US"/>
          </a:p>
        </p:txBody>
      </p:sp>
      <p:sp>
        <p:nvSpPr>
          <p:cNvPr id="5" name="Footer Placeholder 4"/>
          <p:cNvSpPr>
            <a:spLocks noGrp="1"/>
          </p:cNvSpPr>
          <p:nvPr>
            <p:ph type="ftr" sz="quarter" idx="11"/>
          </p:nvPr>
        </p:nvSpPr>
        <p:spPr/>
        <p:txBody>
          <a:bodyPr/>
          <a:lstStyle>
            <a:lvl1pPr>
              <a:defRPr>
                <a:solidFill>
                  <a:schemeClr val="bg2">
                    <a:lumMod val="50000"/>
                  </a:schemeClr>
                </a:solidFill>
              </a:defRPr>
            </a:lvl1pPr>
          </a:lstStyle>
          <a:p>
            <a:r>
              <a:rPr lang="en-US" dirty="0" smtClean="0"/>
              <a:t>© Oxford University Press India. All rights reserved.</a:t>
            </a:r>
            <a:endParaRPr lang="en-US" dirty="0"/>
          </a:p>
        </p:txBody>
      </p:sp>
      <p:sp>
        <p:nvSpPr>
          <p:cNvPr id="6" name="Slide Number Placeholder 5"/>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C3C95271-EAF6-4654-82A8-BE1747C4483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C3C95271-EAF6-4654-82A8-BE1747C4483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3C95271-EAF6-4654-82A8-BE1747C4483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C95271-EAF6-4654-82A8-BE1747C4483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68F581-6023-4562-B0C8-C7FA9B9410A5}" type="slidenum">
              <a:rPr lang="en-US" smtClean="0"/>
            </a:fld>
            <a:endParaRPr lang="en-US"/>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49597" y="890117"/>
            <a:ext cx="3604203" cy="4801691"/>
          </a:xfrm>
          <a:prstGeom prst="rect">
            <a:avLst/>
          </a:prstGeom>
          <a:ln w="3175">
            <a:solidFill>
              <a:schemeClr val="bg1">
                <a:lumMod val="75000"/>
              </a:schemeClr>
            </a:solidFill>
          </a:ln>
          <a:effectLst>
            <a:outerShdw blurRad="50800" dist="38100" dir="2700000" algn="tl" rotWithShape="0">
              <a:prstClr val="black">
                <a:alpha val="40000"/>
              </a:prstClr>
            </a:outerShdw>
          </a:effectLst>
        </p:spPr>
      </p:pic>
      <p:sp>
        <p:nvSpPr>
          <p:cNvPr id="6" name="TextBox 5"/>
          <p:cNvSpPr txBox="1"/>
          <p:nvPr userDrawn="1"/>
        </p:nvSpPr>
        <p:spPr>
          <a:xfrm>
            <a:off x="1524000" y="2191658"/>
            <a:ext cx="5602514" cy="3693319"/>
          </a:xfrm>
          <a:prstGeom prst="rect">
            <a:avLst/>
          </a:prstGeom>
          <a:noFill/>
        </p:spPr>
        <p:txBody>
          <a:bodyPr wrap="square" rtlCol="0">
            <a:spAutoFit/>
          </a:bodyPr>
          <a:lstStyle/>
          <a:p>
            <a:pPr algn="r"/>
            <a:r>
              <a:rPr lang="en-US" sz="7200" b="1" dirty="0" smtClean="0">
                <a:solidFill>
                  <a:schemeClr val="bg1"/>
                </a:solidFill>
                <a:latin typeface="Candara" panose="020E0502030303020204" pitchFamily="34" charset="0"/>
              </a:rPr>
              <a:t>CLOUD COMPUTING</a:t>
            </a:r>
            <a:endParaRPr lang="en-US" sz="7200" b="1" dirty="0" smtClean="0">
              <a:solidFill>
                <a:schemeClr val="bg1"/>
              </a:solidFill>
              <a:latin typeface="Candara" panose="020E0502030303020204" pitchFamily="34" charset="0"/>
            </a:endParaRPr>
          </a:p>
          <a:p>
            <a:endParaRPr lang="en-US" dirty="0" smtClean="0"/>
          </a:p>
          <a:p>
            <a:pPr algn="ctr"/>
            <a:r>
              <a:rPr lang="en-US" b="1" dirty="0" err="1" smtClean="0">
                <a:solidFill>
                  <a:schemeClr val="tx1">
                    <a:lumMod val="85000"/>
                    <a:lumOff val="15000"/>
                  </a:schemeClr>
                </a:solidFill>
              </a:rPr>
              <a:t>Shailendra</a:t>
            </a:r>
            <a:r>
              <a:rPr lang="en-US" b="1" dirty="0" smtClean="0">
                <a:solidFill>
                  <a:schemeClr val="tx1">
                    <a:lumMod val="85000"/>
                    <a:lumOff val="15000"/>
                  </a:schemeClr>
                </a:solidFill>
              </a:rPr>
              <a:t> Singh</a:t>
            </a:r>
            <a:endParaRPr lang="en-US" b="1" dirty="0" smtClean="0">
              <a:solidFill>
                <a:schemeClr val="tx1">
                  <a:lumMod val="85000"/>
                  <a:lumOff val="15000"/>
                </a:schemeClr>
              </a:solidFill>
            </a:endParaRPr>
          </a:p>
          <a:p>
            <a:pPr algn="ctr"/>
            <a:r>
              <a:rPr lang="en-US" b="1" dirty="0" smtClean="0">
                <a:solidFill>
                  <a:schemeClr val="tx1">
                    <a:lumMod val="85000"/>
                    <a:lumOff val="15000"/>
                  </a:schemeClr>
                </a:solidFill>
              </a:rPr>
              <a:t>Professor</a:t>
            </a:r>
            <a:endParaRPr lang="en-US" b="1" dirty="0" smtClean="0">
              <a:solidFill>
                <a:schemeClr val="tx1">
                  <a:lumMod val="85000"/>
                  <a:lumOff val="15000"/>
                </a:schemeClr>
              </a:solidFill>
            </a:endParaRPr>
          </a:p>
          <a:p>
            <a:pPr algn="ctr"/>
            <a:r>
              <a:rPr lang="en-US" b="1" dirty="0" smtClean="0">
                <a:solidFill>
                  <a:schemeClr val="tx1">
                    <a:lumMod val="85000"/>
                    <a:lumOff val="15000"/>
                  </a:schemeClr>
                </a:solidFill>
              </a:rPr>
              <a:t>Department of Computer Science &amp; Engineering</a:t>
            </a:r>
            <a:endParaRPr lang="en-US" b="1" dirty="0" smtClean="0">
              <a:solidFill>
                <a:schemeClr val="tx1">
                  <a:lumMod val="85000"/>
                  <a:lumOff val="15000"/>
                </a:schemeClr>
              </a:solidFill>
            </a:endParaRPr>
          </a:p>
          <a:p>
            <a:pPr algn="ctr"/>
            <a:r>
              <a:rPr lang="en-US" b="1" dirty="0" smtClean="0">
                <a:solidFill>
                  <a:schemeClr val="tx1">
                    <a:lumMod val="85000"/>
                    <a:lumOff val="15000"/>
                  </a:schemeClr>
                </a:solidFill>
              </a:rPr>
              <a:t>NITTTR, Bhopal</a:t>
            </a:r>
            <a:endParaRPr lang="en-US" b="1" dirty="0">
              <a:solidFill>
                <a:schemeClr val="tx1">
                  <a:lumMod val="85000"/>
                  <a:lumOff val="15000"/>
                </a:schemeClr>
              </a:solidFill>
            </a:endParaRPr>
          </a:p>
        </p:txBody>
      </p:sp>
      <p:cxnSp>
        <p:nvCxnSpPr>
          <p:cNvPr id="8" name="Straight Connector 7"/>
          <p:cNvCxnSpPr/>
          <p:nvPr userDrawn="1"/>
        </p:nvCxnSpPr>
        <p:spPr>
          <a:xfrm>
            <a:off x="2046514" y="4455887"/>
            <a:ext cx="5442857"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stretch>
            <a:fillRect/>
          </a:stretch>
        </p:blipFill>
        <p:spPr>
          <a:xfrm>
            <a:off x="612850" y="352793"/>
            <a:ext cx="2054530" cy="107298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C3C95271-EAF6-4654-82A8-BE1747C4483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C3C95271-EAF6-4654-82A8-BE1747C4483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C3C95271-EAF6-4654-82A8-BE1747C4483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C3C95271-EAF6-4654-82A8-BE1747C4483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68F581-6023-4562-B0C8-C7FA9B9410A5}"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4000">
              <a:srgbClr val="A1AED2"/>
            </a:gs>
            <a:gs pos="0">
              <a:srgbClr val="566EAE"/>
            </a:gs>
            <a:gs pos="100000">
              <a:srgbClr val="FFFFFF"/>
            </a:gs>
          </a:gsLst>
          <a:lin ang="78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C95271-EAF6-4654-82A8-BE1747C4483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50000"/>
                  </a:schemeClr>
                </a:solidFill>
              </a:defRPr>
            </a:lvl1pPr>
          </a:lstStyle>
          <a:p>
            <a:r>
              <a:rPr lang="en-US" dirty="0" smtClean="0"/>
              <a:t>© Oxford University Press India. All rights reserved.</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68F581-6023-4562-B0C8-C7FA9B9410A5}"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png"/><Relationship Id="rId2" Type="http://schemas.microsoft.com/office/2007/relationships/media" Target="file:///C:\Users\KIIT01\Desktop\Cloud%20Comupting\Videos\How%20Cloud%20Computing%20Became%20a%20Big%20Tech%20Battleground%20_%20WSJ.mp4" TargetMode="External"/><Relationship Id="rId1" Type="http://schemas.openxmlformats.org/officeDocument/2006/relationships/video" Target="file:///C:\Users\KIIT01\Desktop\Cloud%20Comupting\Videos\How%20Cloud%20Computing%20Became%20a%20Big%20Tech%20Battleground%20_%20WSJ.mp4"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Calibri" panose="020F0502020204030204" pitchFamily="34" charset="0"/>
              </a:rPr>
              <a:t>Chapter 2</a:t>
            </a:r>
            <a:endParaRPr lang="en-US" b="1" dirty="0">
              <a:latin typeface="Calibri" panose="020F0502020204030204" pitchFamily="34" charset="0"/>
            </a:endParaRPr>
          </a:p>
        </p:txBody>
      </p:sp>
      <p:sp>
        <p:nvSpPr>
          <p:cNvPr id="3" name="Text Placeholder 2"/>
          <p:cNvSpPr>
            <a:spLocks noGrp="1"/>
          </p:cNvSpPr>
          <p:nvPr>
            <p:ph type="body" idx="1"/>
          </p:nvPr>
        </p:nvSpPr>
        <p:spPr/>
        <p:txBody>
          <a:bodyPr/>
          <a:lstStyle/>
          <a:p>
            <a:r>
              <a:rPr lang="en-US" b="1" dirty="0" smtClean="0">
                <a:solidFill>
                  <a:schemeClr val="tx1"/>
                </a:solidFill>
                <a:latin typeface="Calibri" panose="020F0502020204030204" pitchFamily="34" charset="0"/>
              </a:rPr>
              <a:t>Factors that Affect Cloud Computing</a:t>
            </a:r>
            <a:endParaRPr lang="en-US" b="1" dirty="0">
              <a:solidFill>
                <a:schemeClr val="tx1"/>
              </a:solidFill>
              <a:latin typeface="Calibri" panose="020F0502020204030204" pitchFamily="34" charset="0"/>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78000">
              <a:srgbClr val="A1AED2"/>
            </a:gs>
            <a:gs pos="0">
              <a:srgbClr val="566EAE"/>
            </a:gs>
            <a:gs pos="100000">
              <a:srgbClr val="FFFFFF"/>
            </a:gs>
          </a:gsLst>
          <a:lin ang="7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Learning Outcomes</a:t>
            </a:r>
            <a:endParaRPr lang="en-US" dirty="0">
              <a:solidFill>
                <a:schemeClr val="tx1"/>
              </a:solidFill>
              <a:latin typeface="Calibri" panose="020F0502020204030204" pitchFamily="34" charset="0"/>
            </a:endParaRPr>
          </a:p>
        </p:txBody>
      </p:sp>
      <p:sp>
        <p:nvSpPr>
          <p:cNvPr id="3" name="Content Placeholder 2"/>
          <p:cNvSpPr>
            <a:spLocks noGrp="1"/>
          </p:cNvSpPr>
          <p:nvPr>
            <p:ph idx="1"/>
          </p:nvPr>
        </p:nvSpPr>
        <p:spPr/>
        <p:txBody>
          <a:bodyPr>
            <a:normAutofit/>
          </a:bodyPr>
          <a:lstStyle/>
          <a:p>
            <a:endParaRPr lang="en-US" b="1" dirty="0" smtClean="0">
              <a:solidFill>
                <a:srgbClr val="FFFF00"/>
              </a:solidFill>
              <a:latin typeface="Calibri" panose="020F0502020204030204" pitchFamily="34" charset="0"/>
            </a:endParaRPr>
          </a:p>
          <a:p>
            <a:pPr marL="0" indent="0">
              <a:buNone/>
            </a:pPr>
            <a:r>
              <a:rPr lang="en-US" b="1" dirty="0" smtClean="0">
                <a:solidFill>
                  <a:srgbClr val="FFFF00"/>
                </a:solidFill>
                <a:latin typeface="Calibri" panose="020F0502020204030204" pitchFamily="34" charset="0"/>
              </a:rPr>
              <a:t>At </a:t>
            </a:r>
            <a:r>
              <a:rPr lang="en-US" b="1" dirty="0">
                <a:solidFill>
                  <a:srgbClr val="FFFF00"/>
                </a:solidFill>
                <a:latin typeface="Calibri" panose="020F0502020204030204" pitchFamily="34" charset="0"/>
              </a:rPr>
              <a:t>the end of the session you will be able to:</a:t>
            </a:r>
            <a:r>
              <a:rPr lang="en-US" dirty="0">
                <a:solidFill>
                  <a:schemeClr val="tx1"/>
                </a:solidFill>
                <a:latin typeface="Calibri" panose="020F0502020204030204" pitchFamily="34" charset="0"/>
              </a:rPr>
              <a:t> </a:t>
            </a:r>
            <a:endParaRPr lang="en-US" dirty="0">
              <a:solidFill>
                <a:schemeClr val="tx1"/>
              </a:solidFill>
              <a:latin typeface="Calibri" panose="020F0502020204030204" pitchFamily="34" charset="0"/>
            </a:endParaRPr>
          </a:p>
          <a:p>
            <a:r>
              <a:rPr lang="en-US" dirty="0" smtClean="0">
                <a:latin typeface="Calibri" panose="020F0502020204030204" pitchFamily="34" charset="0"/>
              </a:rPr>
              <a:t> Understand </a:t>
            </a:r>
            <a:r>
              <a:rPr lang="en-US" dirty="0">
                <a:latin typeface="Calibri" panose="020F0502020204030204" pitchFamily="34" charset="0"/>
              </a:rPr>
              <a:t>cloud data center requirements</a:t>
            </a:r>
            <a:endParaRPr lang="en-US" dirty="0">
              <a:latin typeface="Calibri" panose="020F0502020204030204" pitchFamily="34" charset="0"/>
            </a:endParaRPr>
          </a:p>
          <a:p>
            <a:r>
              <a:rPr lang="en-US" dirty="0">
                <a:latin typeface="Calibri" panose="020F0502020204030204" pitchFamily="34" charset="0"/>
              </a:rPr>
              <a:t> </a:t>
            </a:r>
            <a:r>
              <a:rPr lang="en-US" dirty="0" smtClean="0">
                <a:latin typeface="Calibri" panose="020F0502020204030204" pitchFamily="34" charset="0"/>
              </a:rPr>
              <a:t>Describe </a:t>
            </a:r>
            <a:r>
              <a:rPr lang="en-US" dirty="0">
                <a:latin typeface="Calibri" panose="020F0502020204030204" pitchFamily="34" charset="0"/>
              </a:rPr>
              <a:t>architectural, technological, and </a:t>
            </a:r>
            <a:r>
              <a:rPr lang="en-US" dirty="0" smtClean="0">
                <a:latin typeface="Calibri" panose="020F0502020204030204" pitchFamily="34" charset="0"/>
              </a:rPr>
              <a:t>operational influences </a:t>
            </a:r>
            <a:r>
              <a:rPr lang="en-US" dirty="0">
                <a:latin typeface="Calibri" panose="020F0502020204030204" pitchFamily="34" charset="0"/>
              </a:rPr>
              <a:t>on cloud </a:t>
            </a:r>
            <a:endParaRPr lang="en-US" dirty="0" smtClean="0">
              <a:latin typeface="Calibri" panose="020F0502020204030204" pitchFamily="34" charset="0"/>
            </a:endParaRPr>
          </a:p>
          <a:p>
            <a:pPr marL="0" indent="0">
              <a:buNone/>
            </a:pPr>
            <a:r>
              <a:rPr lang="en-US" dirty="0">
                <a:latin typeface="Calibri" panose="020F0502020204030204" pitchFamily="34" charset="0"/>
              </a:rPr>
              <a:t> </a:t>
            </a:r>
            <a:r>
              <a:rPr lang="en-US" dirty="0" smtClean="0">
                <a:latin typeface="Calibri" panose="020F0502020204030204" pitchFamily="34" charset="0"/>
              </a:rPr>
              <a:t>   computing</a:t>
            </a:r>
            <a:endParaRPr lang="en-US" dirty="0">
              <a:latin typeface="Calibri" panose="020F0502020204030204" pitchFamily="34" charset="0"/>
            </a:endParaRPr>
          </a:p>
          <a:p>
            <a:r>
              <a:rPr lang="en-US" dirty="0">
                <a:latin typeface="Calibri" panose="020F0502020204030204" pitchFamily="34" charset="0"/>
              </a:rPr>
              <a:t> </a:t>
            </a:r>
            <a:r>
              <a:rPr lang="en-US" dirty="0" smtClean="0">
                <a:latin typeface="Calibri" panose="020F0502020204030204" pitchFamily="34" charset="0"/>
              </a:rPr>
              <a:t>Enlist </a:t>
            </a:r>
            <a:r>
              <a:rPr lang="en-US" dirty="0">
                <a:latin typeface="Calibri" panose="020F0502020204030204" pitchFamily="34" charset="0"/>
              </a:rPr>
              <a:t>issues in scalability of cloud architecture </a:t>
            </a:r>
            <a:r>
              <a:rPr lang="en-US" dirty="0" smtClean="0">
                <a:latin typeface="Calibri" panose="020F0502020204030204" pitchFamily="34" charset="0"/>
              </a:rPr>
              <a:t>and applications</a:t>
            </a:r>
            <a:endParaRPr lang="en-US" dirty="0" smtClean="0">
              <a:latin typeface="Calibri" panose="020F0502020204030204" pitchFamily="34" charset="0"/>
            </a:endParaRPr>
          </a:p>
          <a:p>
            <a:r>
              <a:rPr lang="en-US" dirty="0">
                <a:latin typeface="Calibri" panose="020F0502020204030204" pitchFamily="34" charset="0"/>
              </a:rPr>
              <a:t> </a:t>
            </a:r>
            <a:r>
              <a:rPr lang="en-US" dirty="0" smtClean="0">
                <a:latin typeface="Calibri" panose="020F0502020204030204" pitchFamily="34" charset="0"/>
              </a:rPr>
              <a:t>Understand </a:t>
            </a:r>
            <a:r>
              <a:rPr lang="en-US" dirty="0">
                <a:latin typeface="Calibri" panose="020F0502020204030204" pitchFamily="34" charset="0"/>
              </a:rPr>
              <a:t>influences of cloud on various businesses</a:t>
            </a:r>
            <a:endParaRPr lang="en-US" dirty="0">
              <a:latin typeface="Calibri" panose="020F0502020204030204" pitchFamily="34" charset="0"/>
            </a:endParaRPr>
          </a:p>
          <a:p>
            <a:r>
              <a:rPr lang="en-US" dirty="0">
                <a:latin typeface="Calibri" panose="020F0502020204030204" pitchFamily="34" charset="0"/>
              </a:rPr>
              <a:t> </a:t>
            </a:r>
            <a:r>
              <a:rPr lang="en-US" dirty="0" smtClean="0">
                <a:latin typeface="Calibri" panose="020F0502020204030204" pitchFamily="34" charset="0"/>
              </a:rPr>
              <a:t>Define </a:t>
            </a:r>
            <a:r>
              <a:rPr lang="en-US" dirty="0">
                <a:latin typeface="Calibri" panose="020F0502020204030204" pitchFamily="34" charset="0"/>
              </a:rPr>
              <a:t>autonomic computing</a:t>
            </a:r>
            <a:endParaRPr lang="en-US" dirty="0">
              <a:latin typeface="Calibri" panose="020F0502020204030204" pitchFamily="34" charset="0"/>
            </a:endParaRPr>
          </a:p>
          <a:p>
            <a:r>
              <a:rPr lang="en-US" dirty="0">
                <a:latin typeface="Calibri" panose="020F0502020204030204" pitchFamily="34" charset="0"/>
              </a:rPr>
              <a:t> </a:t>
            </a:r>
            <a:r>
              <a:rPr lang="en-US" dirty="0" smtClean="0">
                <a:latin typeface="Calibri" panose="020F0502020204030204" pitchFamily="34" charset="0"/>
              </a:rPr>
              <a:t>Explain </a:t>
            </a:r>
            <a:r>
              <a:rPr lang="en-US" dirty="0">
                <a:latin typeface="Calibri" panose="020F0502020204030204" pitchFamily="34" charset="0"/>
              </a:rPr>
              <a:t>IT service management</a:t>
            </a:r>
            <a:endParaRPr lang="en-US" dirty="0">
              <a:solidFill>
                <a:schemeClr val="tx1"/>
              </a:solidFill>
              <a:latin typeface="Calibri" panose="020F0502020204030204" pitchFamily="34" charset="0"/>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smtClean="0">
              <a:latin typeface="Calibri" panose="020F0502020204030204" pitchFamily="34" charset="0"/>
            </a:endParaRPr>
          </a:p>
          <a:p>
            <a:r>
              <a:rPr lang="en-US" dirty="0" smtClean="0">
                <a:latin typeface="Calibri" panose="020F0502020204030204" pitchFamily="34" charset="0"/>
              </a:rPr>
              <a:t>Cloud </a:t>
            </a:r>
            <a:r>
              <a:rPr lang="en-US" dirty="0">
                <a:latin typeface="Calibri" panose="020F0502020204030204" pitchFamily="34" charset="0"/>
              </a:rPr>
              <a:t>computing is a technology which utilizes the Internet and central isolated servers in </a:t>
            </a:r>
            <a:r>
              <a:rPr lang="en-US" dirty="0" smtClean="0">
                <a:latin typeface="Calibri" panose="020F0502020204030204" pitchFamily="34" charset="0"/>
              </a:rPr>
              <a:t>order to </a:t>
            </a:r>
            <a:r>
              <a:rPr lang="en-US" dirty="0">
                <a:latin typeface="Calibri" panose="020F0502020204030204" pitchFamily="34" charset="0"/>
              </a:rPr>
              <a:t>sustain applications and data</a:t>
            </a:r>
            <a:r>
              <a:rPr lang="en-US" dirty="0" smtClean="0">
                <a:latin typeface="Calibri" panose="020F0502020204030204" pitchFamily="34" charset="0"/>
              </a:rPr>
              <a:t>.</a:t>
            </a:r>
            <a:endParaRPr lang="en-US" dirty="0" smtClean="0">
              <a:latin typeface="Calibri" panose="020F0502020204030204" pitchFamily="34" charset="0"/>
            </a:endParaRPr>
          </a:p>
          <a:p>
            <a:r>
              <a:rPr lang="en-US" dirty="0" smtClean="0">
                <a:latin typeface="Calibri" panose="020F0502020204030204" pitchFamily="34" charset="0"/>
              </a:rPr>
              <a:t>This </a:t>
            </a:r>
            <a:r>
              <a:rPr lang="en-US" dirty="0">
                <a:latin typeface="Calibri" panose="020F0502020204030204" pitchFamily="34" charset="0"/>
              </a:rPr>
              <a:t>technology permits much more proficient computing by consolidating </a:t>
            </a:r>
            <a:r>
              <a:rPr lang="en-US" dirty="0" smtClean="0">
                <a:latin typeface="Calibri" panose="020F0502020204030204" pitchFamily="34" charset="0"/>
              </a:rPr>
              <a:t>bandwidth, processing</a:t>
            </a:r>
            <a:r>
              <a:rPr lang="en-US" dirty="0">
                <a:latin typeface="Calibri" panose="020F0502020204030204" pitchFamily="34" charset="0"/>
              </a:rPr>
              <a:t>, and storage memory</a:t>
            </a:r>
            <a:r>
              <a:rPr lang="en-US" dirty="0" smtClean="0">
                <a:latin typeface="Calibri" panose="020F0502020204030204" pitchFamily="34" charset="0"/>
              </a:rPr>
              <a:t>.</a:t>
            </a:r>
            <a:endParaRPr lang="en-US" dirty="0" smtClean="0">
              <a:latin typeface="Calibri" panose="020F0502020204030204" pitchFamily="34" charset="0"/>
            </a:endParaRPr>
          </a:p>
          <a:p>
            <a:r>
              <a:rPr lang="en-US" dirty="0" smtClean="0">
                <a:latin typeface="Calibri" panose="020F0502020204030204" pitchFamily="34" charset="0"/>
              </a:rPr>
              <a:t>Cloud </a:t>
            </a:r>
            <a:r>
              <a:rPr lang="en-US" dirty="0">
                <a:latin typeface="Calibri" panose="020F0502020204030204" pitchFamily="34" charset="0"/>
              </a:rPr>
              <a:t>offers robust memory administration, thus there is no </a:t>
            </a:r>
            <a:r>
              <a:rPr lang="en-US" dirty="0" smtClean="0">
                <a:latin typeface="Calibri" panose="020F0502020204030204" pitchFamily="34" charset="0"/>
              </a:rPr>
              <a:t>necessity to </a:t>
            </a:r>
            <a:r>
              <a:rPr lang="en-US" dirty="0">
                <a:latin typeface="Calibri" panose="020F0502020204030204" pitchFamily="34" charset="0"/>
              </a:rPr>
              <a:t>sustain memory on a personal system.</a:t>
            </a:r>
            <a:endParaRPr lang="en-US" dirty="0">
              <a:latin typeface="Calibri" panose="020F0502020204030204" pitchFamily="34" charset="0"/>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Calibri" panose="020F0502020204030204" pitchFamily="34" charset="0"/>
              </a:rPr>
              <a:t>Introduction</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endParaRPr lang="en-US" dirty="0" smtClean="0">
              <a:latin typeface="Calibri" panose="020F0502020204030204" pitchFamily="34" charset="0"/>
            </a:endParaRPr>
          </a:p>
          <a:p>
            <a:pPr marL="0" indent="0">
              <a:buNone/>
            </a:pPr>
            <a:r>
              <a:rPr lang="en-US" b="1" dirty="0" smtClean="0">
                <a:solidFill>
                  <a:srgbClr val="FFFF00"/>
                </a:solidFill>
                <a:latin typeface="Calibri" panose="020F0502020204030204" pitchFamily="34" charset="0"/>
              </a:rPr>
              <a:t>A </a:t>
            </a:r>
            <a:r>
              <a:rPr lang="en-US" b="1" dirty="0">
                <a:solidFill>
                  <a:srgbClr val="FFFF00"/>
                </a:solidFill>
                <a:latin typeface="Calibri" panose="020F0502020204030204" pitchFamily="34" charset="0"/>
              </a:rPr>
              <a:t>data center comprises the </a:t>
            </a:r>
            <a:r>
              <a:rPr lang="en-US" b="1" dirty="0" smtClean="0">
                <a:solidFill>
                  <a:srgbClr val="FFFF00"/>
                </a:solidFill>
                <a:latin typeface="Calibri" panose="020F0502020204030204" pitchFamily="34" charset="0"/>
              </a:rPr>
              <a:t>following areas</a:t>
            </a:r>
            <a:r>
              <a:rPr lang="en-US" b="1" dirty="0">
                <a:solidFill>
                  <a:srgbClr val="FFFF00"/>
                </a:solidFill>
                <a:latin typeface="Calibri" panose="020F0502020204030204" pitchFamily="34" charset="0"/>
              </a:rPr>
              <a:t>:</a:t>
            </a:r>
            <a:endParaRPr lang="en-US" b="1" dirty="0">
              <a:solidFill>
                <a:srgbClr val="FFFF00"/>
              </a:solidFill>
              <a:latin typeface="Calibri" panose="020F0502020204030204" pitchFamily="34" charset="0"/>
            </a:endParaRPr>
          </a:p>
          <a:p>
            <a:r>
              <a:rPr lang="en-US" dirty="0" smtClean="0">
                <a:latin typeface="Calibri" panose="020F0502020204030204" pitchFamily="34" charset="0"/>
              </a:rPr>
              <a:t>The </a:t>
            </a:r>
            <a:r>
              <a:rPr lang="en-US" dirty="0">
                <a:latin typeface="Calibri" panose="020F0502020204030204" pitchFamily="34" charset="0"/>
              </a:rPr>
              <a:t>first distribution area consists of various network equipment such as switches, routers, </a:t>
            </a:r>
            <a:r>
              <a:rPr lang="en-US" dirty="0" smtClean="0">
                <a:latin typeface="Calibri" panose="020F0502020204030204" pitchFamily="34" charset="0"/>
              </a:rPr>
              <a:t>multiplexers, and </a:t>
            </a:r>
            <a:r>
              <a:rPr lang="en-US" dirty="0">
                <a:latin typeface="Calibri" panose="020F0502020204030204" pitchFamily="34" charset="0"/>
              </a:rPr>
              <a:t>firewalls.</a:t>
            </a:r>
            <a:endParaRPr lang="en-US" dirty="0">
              <a:latin typeface="Calibri" panose="020F0502020204030204" pitchFamily="34" charset="0"/>
            </a:endParaRPr>
          </a:p>
          <a:p>
            <a:r>
              <a:rPr lang="en-US" dirty="0" smtClean="0">
                <a:latin typeface="Calibri" panose="020F0502020204030204" pitchFamily="34" charset="0"/>
              </a:rPr>
              <a:t>The </a:t>
            </a:r>
            <a:r>
              <a:rPr lang="en-US" dirty="0">
                <a:latin typeface="Calibri" panose="020F0502020204030204" pitchFamily="34" charset="0"/>
              </a:rPr>
              <a:t>second distribution area consists of network, storage, etc.</a:t>
            </a:r>
            <a:endParaRPr lang="en-US" dirty="0">
              <a:latin typeface="Calibri" panose="020F0502020204030204" pitchFamily="34" charset="0"/>
            </a:endParaRPr>
          </a:p>
          <a:p>
            <a:r>
              <a:rPr lang="en-US" dirty="0" smtClean="0">
                <a:latin typeface="Calibri" panose="020F0502020204030204" pitchFamily="34" charset="0"/>
              </a:rPr>
              <a:t>The </a:t>
            </a:r>
            <a:r>
              <a:rPr lang="en-US" dirty="0">
                <a:latin typeface="Calibri" panose="020F0502020204030204" pitchFamily="34" charset="0"/>
              </a:rPr>
              <a:t>third area is that place where the actual rack cabinet is kept for computing and storage.</a:t>
            </a:r>
            <a:endParaRPr lang="en-US" dirty="0" smtClean="0">
              <a:latin typeface="Calibri" panose="020F0502020204030204" pitchFamily="34" charset="0"/>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Calibri" panose="020F0502020204030204" pitchFamily="34" charset="0"/>
              </a:rPr>
              <a:t>Cloud Data Center Requirements</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US"/>
              <a:t>Traditional Data Center Vs </a:t>
            </a:r>
            <a:r>
              <a:rPr lang="en-US">
                <a:sym typeface="+mn-ea"/>
              </a:rPr>
              <a:t>Cloud Data Center  </a:t>
            </a:r>
            <a:endParaRPr lang="en-US"/>
          </a:p>
        </p:txBody>
      </p:sp>
      <p:pic>
        <p:nvPicPr>
          <p:cNvPr id="4" name="Content Placeholder 3"/>
          <p:cNvPicPr>
            <a:picLocks noChangeAspect="1"/>
          </p:cNvPicPr>
          <p:nvPr>
            <p:ph idx="1"/>
          </p:nvPr>
        </p:nvPicPr>
        <p:blipFill>
          <a:blip r:embed="rId1"/>
          <a:stretch>
            <a:fillRect/>
          </a:stretch>
        </p:blipFill>
        <p:spPr>
          <a:xfrm>
            <a:off x="1781810" y="1644015"/>
            <a:ext cx="8585200" cy="49104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a:solidFill>
                  <a:srgbClr val="FFFF00"/>
                </a:solidFill>
                <a:latin typeface="Calibri" panose="020F0502020204030204" pitchFamily="34" charset="0"/>
              </a:rPr>
              <a:t>Cloud computing has been backed by architectural growth</a:t>
            </a:r>
            <a:r>
              <a:rPr lang="en-US" b="1" dirty="0" smtClean="0">
                <a:solidFill>
                  <a:srgbClr val="FFFF00"/>
                </a:solidFill>
                <a:latin typeface="Calibri" panose="020F0502020204030204" pitchFamily="34" charset="0"/>
              </a:rPr>
              <a:t>. They are: </a:t>
            </a:r>
            <a:endParaRPr lang="en-US" b="1" dirty="0" smtClean="0">
              <a:solidFill>
                <a:srgbClr val="FFFF00"/>
              </a:solidFill>
              <a:latin typeface="Calibri" panose="020F0502020204030204" pitchFamily="34" charset="0"/>
            </a:endParaRPr>
          </a:p>
          <a:p>
            <a:r>
              <a:rPr lang="en-US" dirty="0">
                <a:latin typeface="Calibri" panose="020F0502020204030204" pitchFamily="34" charset="0"/>
              </a:rPr>
              <a:t>High-performance Computing</a:t>
            </a:r>
            <a:endParaRPr lang="en-US" dirty="0">
              <a:latin typeface="Calibri" panose="020F0502020204030204" pitchFamily="34" charset="0"/>
            </a:endParaRPr>
          </a:p>
          <a:p>
            <a:r>
              <a:rPr lang="en-US" dirty="0">
                <a:latin typeface="Calibri" panose="020F0502020204030204" pitchFamily="34" charset="0"/>
              </a:rPr>
              <a:t>Utility and Enterprise Grid Computing</a:t>
            </a:r>
            <a:endParaRPr lang="en-US" dirty="0">
              <a:latin typeface="Calibri" panose="020F0502020204030204" pitchFamily="34" charset="0"/>
            </a:endParaRPr>
          </a:p>
          <a:p>
            <a:r>
              <a:rPr lang="en-US" dirty="0">
                <a:latin typeface="Calibri" panose="020F0502020204030204" pitchFamily="34" charset="0"/>
              </a:rPr>
              <a:t>Autonomic Computing</a:t>
            </a:r>
            <a:endParaRPr lang="en-US" dirty="0">
              <a:latin typeface="Calibri" panose="020F0502020204030204" pitchFamily="34" charset="0"/>
            </a:endParaRPr>
          </a:p>
          <a:p>
            <a:r>
              <a:rPr lang="en-US" dirty="0">
                <a:latin typeface="Calibri" panose="020F0502020204030204" pitchFamily="34" charset="0"/>
              </a:rPr>
              <a:t>Server Consolidation</a:t>
            </a:r>
            <a:endParaRPr lang="en-US" dirty="0">
              <a:latin typeface="Calibri" panose="020F0502020204030204" pitchFamily="34" charset="0"/>
            </a:endParaRPr>
          </a:p>
          <a:p>
            <a:r>
              <a:rPr lang="en-US" dirty="0">
                <a:latin typeface="Calibri" panose="020F0502020204030204" pitchFamily="34" charset="0"/>
              </a:rPr>
              <a:t>Horizontal Scaling</a:t>
            </a:r>
            <a:endParaRPr lang="en-US" dirty="0">
              <a:latin typeface="Calibri" panose="020F0502020204030204" pitchFamily="34" charset="0"/>
            </a:endParaRPr>
          </a:p>
          <a:p>
            <a:r>
              <a:rPr lang="en-US" dirty="0">
                <a:latin typeface="Calibri" panose="020F0502020204030204" pitchFamily="34" charset="0"/>
              </a:rPr>
              <a:t>Web Services</a:t>
            </a:r>
            <a:endParaRPr lang="en-US" dirty="0">
              <a:latin typeface="Calibri" panose="020F0502020204030204" pitchFamily="34" charset="0"/>
            </a:endParaRPr>
          </a:p>
          <a:p>
            <a:r>
              <a:rPr lang="en-US" dirty="0">
                <a:latin typeface="Calibri" panose="020F0502020204030204" pitchFamily="34" charset="0"/>
              </a:rPr>
              <a:t>High-scalability Architecture</a:t>
            </a:r>
            <a:endParaRPr lang="en-US" dirty="0">
              <a:latin typeface="Calibri" panose="020F0502020204030204" pitchFamily="34" charset="0"/>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solidFill>
                  <a:schemeClr val="tx1"/>
                </a:solidFill>
                <a:latin typeface="Calibri" panose="020F0502020204030204" pitchFamily="34" charset="0"/>
                <a:cs typeface="Calibri" panose="020F0502020204030204" pitchFamily="34" charset="0"/>
              </a:rPr>
              <a:t>© Oxford University Press 2018. All rights reserved</a:t>
            </a:r>
            <a:endParaRPr lang="en-US" sz="1200" dirty="0">
              <a:solidFill>
                <a:schemeClr val="tx1"/>
              </a:solidFill>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Calibri" panose="020F0502020204030204" pitchFamily="34" charset="0"/>
              </a:rPr>
              <a:t>Architectural Influences of Cloud Computing</a:t>
            </a:r>
            <a:endParaRPr lang="en-US" dirty="0">
              <a:solidFill>
                <a:schemeClr val="tx1"/>
              </a:solidFill>
              <a:latin typeface="Calibri" panose="020F0502020204030204" pitchFamily="34" charset="0"/>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64915" y="2524312"/>
            <a:ext cx="5267325" cy="3495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HPC</a:t>
            </a:r>
            <a:endParaRPr lang="en-US"/>
          </a:p>
        </p:txBody>
      </p:sp>
      <p:pic>
        <p:nvPicPr>
          <p:cNvPr id="100" name="Picture 99"/>
          <p:cNvPicPr/>
          <p:nvPr/>
        </p:nvPicPr>
        <p:blipFill>
          <a:blip r:embed="rId1"/>
          <a:stretch>
            <a:fillRect/>
          </a:stretch>
        </p:blipFill>
        <p:spPr>
          <a:xfrm>
            <a:off x="952500" y="1173480"/>
            <a:ext cx="10287000" cy="528574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US"/>
              <a:t>Grid Computing</a:t>
            </a:r>
            <a:endParaRPr lang="en-US"/>
          </a:p>
        </p:txBody>
      </p:sp>
      <p:pic>
        <p:nvPicPr>
          <p:cNvPr id="4" name="Content Placeholder 3"/>
          <p:cNvPicPr>
            <a:picLocks noChangeAspect="1"/>
          </p:cNvPicPr>
          <p:nvPr>
            <p:ph idx="1"/>
          </p:nvPr>
        </p:nvPicPr>
        <p:blipFill>
          <a:blip r:embed="rId1"/>
          <a:stretch>
            <a:fillRect/>
          </a:stretch>
        </p:blipFill>
        <p:spPr>
          <a:xfrm>
            <a:off x="765810" y="1553210"/>
            <a:ext cx="10617200" cy="46240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Autonomic Computing</a:t>
            </a:r>
            <a:endParaRPr lang="en-US"/>
          </a:p>
        </p:txBody>
      </p:sp>
      <p:sp>
        <p:nvSpPr>
          <p:cNvPr id="3" name="Content Placeholder 2"/>
          <p:cNvSpPr>
            <a:spLocks noGrp="1"/>
          </p:cNvSpPr>
          <p:nvPr>
            <p:ph sz="half" idx="1"/>
          </p:nvPr>
        </p:nvSpPr>
        <p:spPr/>
        <p:txBody>
          <a:bodyPr/>
          <a:p>
            <a:pPr marL="0" indent="0" algn="just">
              <a:buNone/>
            </a:pPr>
            <a:r>
              <a:rPr lang="en-US"/>
              <a:t>Autonomic Computing is a vision initiated by IBM in 2001 to build a large scale distributed system without any human interaction. </a:t>
            </a:r>
            <a:endParaRPr lang="en-US"/>
          </a:p>
          <a:p>
            <a:pPr marL="0" indent="0" algn="just">
              <a:buNone/>
            </a:pPr>
            <a:r>
              <a:rPr lang="en-US"/>
              <a:t>It was developed to beat the complications of computer systems management and improve self- management for the computer systems.</a:t>
            </a:r>
            <a:endParaRPr lang="en-US"/>
          </a:p>
        </p:txBody>
      </p:sp>
      <p:pic>
        <p:nvPicPr>
          <p:cNvPr id="4" name="Content Placeholder 3"/>
          <p:cNvPicPr>
            <a:picLocks noChangeAspect="1"/>
          </p:cNvPicPr>
          <p:nvPr>
            <p:ph sz="half" idx="2"/>
          </p:nvPr>
        </p:nvPicPr>
        <p:blipFill>
          <a:blip r:embed="rId1"/>
          <a:stretch>
            <a:fillRect/>
          </a:stretch>
        </p:blipFill>
        <p:spPr>
          <a:xfrm>
            <a:off x="6928485" y="1038225"/>
            <a:ext cx="4531995" cy="55708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Calibri" panose="020F0502020204030204" pitchFamily="34" charset="0"/>
              </a:rPr>
              <a:t>Horizontal and Vertical Scaling</a:t>
            </a:r>
            <a:endParaRPr lang="en-US" dirty="0">
              <a:solidFill>
                <a:schemeClr val="tx1"/>
              </a:solidFill>
              <a:latin typeface="Calibri" panose="020F0502020204030204" pitchFamily="34" charset="0"/>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08166" y="2344884"/>
            <a:ext cx="9132125" cy="34502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122458" y="1560407"/>
            <a:ext cx="11598487" cy="523220"/>
          </a:xfrm>
          <a:prstGeom prst="rect">
            <a:avLst/>
          </a:prstGeom>
        </p:spPr>
        <p:txBody>
          <a:bodyPr wrap="square">
            <a:spAutoFit/>
          </a:bodyPr>
          <a:lstStyle/>
          <a:p>
            <a:r>
              <a:rPr lang="en-US" sz="2800" dirty="0" smtClean="0">
                <a:latin typeface="Calibri" panose="020F0502020204030204" pitchFamily="34" charset="0"/>
              </a:rPr>
              <a:t> Differences </a:t>
            </a:r>
            <a:r>
              <a:rPr lang="en-US" sz="2800" dirty="0">
                <a:latin typeface="Calibri" panose="020F0502020204030204" pitchFamily="34" charset="0"/>
              </a:rPr>
              <a:t>between horizontal scaling and vertical </a:t>
            </a:r>
            <a:r>
              <a:rPr lang="en-US" sz="2800" dirty="0" smtClean="0">
                <a:latin typeface="Calibri" panose="020F0502020204030204" pitchFamily="34" charset="0"/>
              </a:rPr>
              <a:t>scaling:</a:t>
            </a:r>
            <a:endParaRPr lang="en-US" sz="2800" dirty="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Server Consolidation</a:t>
            </a:r>
            <a:endParaRPr lang="en-US"/>
          </a:p>
        </p:txBody>
      </p:sp>
      <p:sp>
        <p:nvSpPr>
          <p:cNvPr id="5" name="Text Box 4"/>
          <p:cNvSpPr txBox="1"/>
          <p:nvPr/>
        </p:nvSpPr>
        <p:spPr>
          <a:xfrm>
            <a:off x="384810" y="1537970"/>
            <a:ext cx="5029835" cy="4523105"/>
          </a:xfrm>
          <a:prstGeom prst="rect">
            <a:avLst/>
          </a:prstGeom>
          <a:noFill/>
        </p:spPr>
        <p:txBody>
          <a:bodyPr wrap="square" rtlCol="0" anchor="t">
            <a:spAutoFit/>
          </a:bodyPr>
          <a:p>
            <a:pPr algn="just"/>
            <a:r>
              <a:rPr lang="en-US" sz="3200"/>
              <a:t>Server consolidation is the process of migrating network services and applications from multiple computers to a singular computer. This consolidation can include multiple physical computers to multiple virtual computers on one host computer.</a:t>
            </a:r>
            <a:endParaRPr lang="en-US" sz="3200"/>
          </a:p>
        </p:txBody>
      </p:sp>
      <p:pic>
        <p:nvPicPr>
          <p:cNvPr id="7" name="Content Placeholder 6"/>
          <p:cNvPicPr>
            <a:picLocks noChangeAspect="1"/>
          </p:cNvPicPr>
          <p:nvPr>
            <p:ph idx="1"/>
          </p:nvPr>
        </p:nvPicPr>
        <p:blipFill>
          <a:blip r:embed="rId1"/>
          <a:stretch>
            <a:fillRect/>
          </a:stretch>
        </p:blipFill>
        <p:spPr>
          <a:xfrm>
            <a:off x="5509895" y="1487805"/>
            <a:ext cx="6496050" cy="46240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solidFill>
            <a:schemeClr val="bg1"/>
          </a:solidFill>
        </p:spPr>
        <p:txBody>
          <a:bodyPr/>
          <a:lstStyle/>
          <a:p>
            <a:pPr algn="ctr"/>
            <a:r>
              <a:rPr lang="en-US" dirty="0" smtClean="0">
                <a:solidFill>
                  <a:schemeClr val="tx1"/>
                </a:solidFill>
                <a:latin typeface="Calibri" panose="020F0502020204030204" pitchFamily="34" charset="0"/>
              </a:rPr>
              <a:t>Horizontal and Vertical Scaling</a:t>
            </a:r>
            <a:endParaRPr lang="en-US" dirty="0">
              <a:solidFill>
                <a:schemeClr val="tx1"/>
              </a:solidFill>
              <a:latin typeface="Calibri" panose="020F0502020204030204" pitchFamily="34" charset="0"/>
            </a:endParaRPr>
          </a:p>
        </p:txBody>
      </p:sp>
      <p:pic>
        <p:nvPicPr>
          <p:cNvPr id="30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2410" y="1809115"/>
            <a:ext cx="6035040" cy="41744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Content Placeholder 1"/>
          <p:cNvPicPr>
            <a:picLocks noChangeAspect="1"/>
          </p:cNvPicPr>
          <p:nvPr>
            <p:ph idx="1"/>
          </p:nvPr>
        </p:nvPicPr>
        <p:blipFill>
          <a:blip r:embed="rId2"/>
          <a:stretch>
            <a:fillRect/>
          </a:stretch>
        </p:blipFill>
        <p:spPr>
          <a:xfrm>
            <a:off x="6266815" y="1809115"/>
            <a:ext cx="5649595" cy="4174490"/>
          </a:xfrm>
          <a:prstGeom prst="rect">
            <a:avLst/>
          </a:prstGeom>
        </p:spPr>
      </p:pic>
      <p:sp>
        <p:nvSpPr>
          <p:cNvPr id="3" name="Text Box 2"/>
          <p:cNvSpPr txBox="1"/>
          <p:nvPr/>
        </p:nvSpPr>
        <p:spPr>
          <a:xfrm>
            <a:off x="8760460" y="2430780"/>
            <a:ext cx="2938780" cy="645160"/>
          </a:xfrm>
          <a:prstGeom prst="rect">
            <a:avLst/>
          </a:prstGeom>
          <a:noFill/>
        </p:spPr>
        <p:txBody>
          <a:bodyPr wrap="square" rtlCol="0" anchor="t">
            <a:spAutoFit/>
          </a:bodyPr>
          <a:p>
            <a:r>
              <a:rPr lang="en-US"/>
              <a:t>Cassandra, MongoDB, Google Cloud Spanner</a:t>
            </a:r>
            <a:endParaRPr lang="en-US"/>
          </a:p>
        </p:txBody>
      </p:sp>
      <p:sp>
        <p:nvSpPr>
          <p:cNvPr id="6" name="Text Box 5"/>
          <p:cNvSpPr txBox="1"/>
          <p:nvPr/>
        </p:nvSpPr>
        <p:spPr>
          <a:xfrm>
            <a:off x="6658610" y="5615305"/>
            <a:ext cx="2540000" cy="368300"/>
          </a:xfrm>
          <a:prstGeom prst="rect">
            <a:avLst/>
          </a:prstGeom>
          <a:noFill/>
        </p:spPr>
        <p:txBody>
          <a:bodyPr wrap="square" rtlCol="0" anchor="t">
            <a:spAutoFit/>
          </a:bodyPr>
          <a:p>
            <a:r>
              <a:rPr lang="en-US"/>
              <a:t>MySQL, Amazon RDS</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smtClean="0">
              <a:latin typeface="Calibri" panose="020F0502020204030204" pitchFamily="34" charset="0"/>
            </a:endParaRPr>
          </a:p>
          <a:p>
            <a:r>
              <a:rPr lang="en-US" dirty="0" smtClean="0">
                <a:latin typeface="Calibri" panose="020F0502020204030204" pitchFamily="34" charset="0"/>
              </a:rPr>
              <a:t>Lack </a:t>
            </a:r>
            <a:r>
              <a:rPr lang="en-US" dirty="0">
                <a:latin typeface="Calibri" panose="020F0502020204030204" pitchFamily="34" charset="0"/>
              </a:rPr>
              <a:t>of </a:t>
            </a:r>
            <a:r>
              <a:rPr lang="en-US" dirty="0" smtClean="0">
                <a:latin typeface="Calibri" panose="020F0502020204030204" pitchFamily="34" charset="0"/>
              </a:rPr>
              <a:t>standardization</a:t>
            </a:r>
            <a:endParaRPr lang="en-US" dirty="0" smtClean="0">
              <a:latin typeface="Calibri" panose="020F0502020204030204" pitchFamily="34" charset="0"/>
            </a:endParaRPr>
          </a:p>
          <a:p>
            <a:r>
              <a:rPr lang="en-US" dirty="0">
                <a:latin typeface="Calibri" panose="020F0502020204030204" pitchFamily="34" charset="0"/>
              </a:rPr>
              <a:t>Lack of extra programming </a:t>
            </a:r>
            <a:r>
              <a:rPr lang="en-US" dirty="0" smtClean="0">
                <a:latin typeface="Calibri" panose="020F0502020204030204" pitchFamily="34" charset="0"/>
              </a:rPr>
              <a:t>support</a:t>
            </a:r>
            <a:endParaRPr lang="en-US" dirty="0" smtClean="0">
              <a:latin typeface="Calibri" panose="020F0502020204030204" pitchFamily="34" charset="0"/>
            </a:endParaRPr>
          </a:p>
          <a:p>
            <a:r>
              <a:rPr lang="en-US" dirty="0">
                <a:latin typeface="Calibri" panose="020F0502020204030204" pitchFamily="34" charset="0"/>
              </a:rPr>
              <a:t>Debugging and development </a:t>
            </a:r>
            <a:r>
              <a:rPr lang="en-US" dirty="0" smtClean="0">
                <a:latin typeface="Calibri" panose="020F0502020204030204" pitchFamily="34" charset="0"/>
              </a:rPr>
              <a:t>kits</a:t>
            </a:r>
            <a:endParaRPr lang="en-US" dirty="0" smtClean="0">
              <a:latin typeface="Calibri" panose="020F0502020204030204" pitchFamily="34" charset="0"/>
            </a:endParaRPr>
          </a:p>
          <a:p>
            <a:r>
              <a:rPr lang="en-US" dirty="0">
                <a:latin typeface="Calibri" panose="020F0502020204030204" pitchFamily="34" charset="0"/>
              </a:rPr>
              <a:t>Metrics and best practices</a:t>
            </a:r>
            <a:endParaRPr lang="en-US" dirty="0" smtClean="0">
              <a:latin typeface="Calibri" panose="020F0502020204030204" pitchFamily="34" charset="0"/>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Autofit/>
          </a:bodyPr>
          <a:lstStyle/>
          <a:p>
            <a:pPr algn="ctr"/>
            <a:r>
              <a:rPr lang="en-US" sz="3600" dirty="0">
                <a:solidFill>
                  <a:schemeClr val="tx1"/>
                </a:solidFill>
                <a:latin typeface="Calibri" panose="020F0502020204030204" pitchFamily="34" charset="0"/>
              </a:rPr>
              <a:t>Challenges faced by an Application Developer in Developing Cloud Applications</a:t>
            </a:r>
            <a:endParaRPr lang="en-US" sz="3600"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US"/>
              <a:t>Cloud computing standards</a:t>
            </a:r>
            <a:endParaRPr lang="en-US"/>
          </a:p>
        </p:txBody>
      </p:sp>
      <p:pic>
        <p:nvPicPr>
          <p:cNvPr id="4" name="Content Placeholder 3"/>
          <p:cNvPicPr>
            <a:picLocks noChangeAspect="1"/>
          </p:cNvPicPr>
          <p:nvPr>
            <p:ph idx="1"/>
          </p:nvPr>
        </p:nvPicPr>
        <p:blipFill>
          <a:blip r:embed="rId1"/>
          <a:stretch>
            <a:fillRect/>
          </a:stretch>
        </p:blipFill>
        <p:spPr>
          <a:xfrm>
            <a:off x="989965" y="1692275"/>
            <a:ext cx="10546080" cy="49580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buFont typeface="Wingdings" panose="05000000000000000000" pitchFamily="2" charset="2"/>
              <a:buChar char="Ø"/>
            </a:pPr>
            <a:endParaRPr lang="en-US" dirty="0" smtClean="0">
              <a:latin typeface="+mn-lt"/>
            </a:endParaRPr>
          </a:p>
          <a:p>
            <a:pPr>
              <a:buFont typeface="Wingdings" panose="05000000000000000000" pitchFamily="2" charset="2"/>
              <a:buChar char="Ø"/>
            </a:pPr>
            <a:r>
              <a:rPr lang="en-US" dirty="0" smtClean="0">
                <a:latin typeface="+mn-lt"/>
              </a:rPr>
              <a:t>The </a:t>
            </a:r>
            <a:r>
              <a:rPr lang="en-US" dirty="0">
                <a:latin typeface="+mn-lt"/>
              </a:rPr>
              <a:t>design patterns include</a:t>
            </a:r>
            <a:r>
              <a:rPr lang="en-US" dirty="0" smtClean="0">
                <a:latin typeface="+mn-lt"/>
              </a:rPr>
              <a:t>:</a:t>
            </a:r>
            <a:endParaRPr lang="en-US" dirty="0" smtClean="0">
              <a:latin typeface="+mn-lt"/>
            </a:endParaRPr>
          </a:p>
          <a:p>
            <a:r>
              <a:rPr lang="en-US" b="1" dirty="0" smtClean="0">
                <a:latin typeface="+mn-lt"/>
              </a:rPr>
              <a:t>Scalability</a:t>
            </a:r>
            <a:endParaRPr lang="en-US" b="1" dirty="0" smtClean="0">
              <a:latin typeface="+mn-lt"/>
            </a:endParaRPr>
          </a:p>
          <a:p>
            <a:r>
              <a:rPr lang="en-US" b="1" dirty="0" smtClean="0">
                <a:latin typeface="+mn-lt"/>
              </a:rPr>
              <a:t>Availability</a:t>
            </a:r>
            <a:endParaRPr lang="en-US" b="1" dirty="0" smtClean="0">
              <a:latin typeface="+mn-lt"/>
            </a:endParaRPr>
          </a:p>
          <a:p>
            <a:r>
              <a:rPr lang="en-US" b="1" dirty="0" smtClean="0">
                <a:latin typeface="+mn-lt"/>
              </a:rPr>
              <a:t>Multi</a:t>
            </a:r>
            <a:r>
              <a:rPr lang="en-US" b="1" i="1" dirty="0" smtClean="0">
                <a:latin typeface="+mn-lt"/>
              </a:rPr>
              <a:t>-</a:t>
            </a:r>
            <a:r>
              <a:rPr lang="en-US" b="1" dirty="0" smtClean="0">
                <a:latin typeface="+mn-lt"/>
              </a:rPr>
              <a:t>Tenacity</a:t>
            </a:r>
            <a:endParaRPr lang="en-US" b="1" dirty="0" smtClean="0">
              <a:latin typeface="+mn-lt"/>
            </a:endParaRPr>
          </a:p>
          <a:p>
            <a:r>
              <a:rPr lang="en-US" b="1" dirty="0">
                <a:latin typeface="+mn-lt"/>
              </a:rPr>
              <a:t>High </a:t>
            </a:r>
            <a:r>
              <a:rPr lang="en-US" b="1" dirty="0" smtClean="0">
                <a:latin typeface="+mn-lt"/>
              </a:rPr>
              <a:t>Performance</a:t>
            </a:r>
            <a:endParaRPr lang="en-US" b="1" dirty="0" smtClean="0">
              <a:latin typeface="+mn-lt"/>
            </a:endParaRPr>
          </a:p>
          <a:p>
            <a:r>
              <a:rPr lang="en-US" b="1" dirty="0">
                <a:latin typeface="+mn-lt"/>
              </a:rPr>
              <a:t>Rapid Elasticity</a:t>
            </a:r>
            <a:endParaRPr lang="en-US" dirty="0">
              <a:latin typeface="+mn-lt"/>
            </a:endParaRPr>
          </a:p>
        </p:txBody>
      </p:sp>
      <p:sp>
        <p:nvSpPr>
          <p:cNvPr id="4" name="Footer Placeholder 3"/>
          <p:cNvSpPr>
            <a:spLocks noGrp="1"/>
          </p:cNvSpPr>
          <p:nvPr>
            <p:ph type="ftr" sz="quarter" idx="11"/>
          </p:nvPr>
        </p:nvSpPr>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solidFill>
            <a:schemeClr val="bg1"/>
          </a:solidFill>
        </p:spPr>
        <p:txBody>
          <a:bodyPr>
            <a:normAutofit fontScale="90000"/>
          </a:bodyPr>
          <a:lstStyle/>
          <a:p>
            <a:pPr algn="ctr"/>
            <a:r>
              <a:rPr lang="en-US" dirty="0">
                <a:solidFill>
                  <a:schemeClr val="tx1"/>
                </a:solidFill>
                <a:latin typeface="+mn-lt"/>
              </a:rPr>
              <a:t>Design Patterns for Key Issues of Cloud Application Development</a:t>
            </a:r>
            <a:endParaRPr lang="en-US" dirty="0">
              <a:solidFill>
                <a:schemeClr val="tx1"/>
              </a:solidFill>
              <a:latin typeface="+mn-lt"/>
            </a:endParaRPr>
          </a:p>
        </p:txBody>
      </p:sp>
      <p:pic>
        <p:nvPicPr>
          <p:cNvPr id="2" name="Content Placeholder 1"/>
          <p:cNvPicPr>
            <a:picLocks noChangeAspect="1"/>
          </p:cNvPicPr>
          <p:nvPr>
            <p:ph sz="half" idx="2"/>
          </p:nvPr>
        </p:nvPicPr>
        <p:blipFill>
          <a:blip r:embed="rId1"/>
          <a:stretch>
            <a:fillRect/>
          </a:stretch>
        </p:blipFill>
        <p:spPr>
          <a:xfrm>
            <a:off x="6172200" y="2543810"/>
            <a:ext cx="5181600" cy="291465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9"/>
            <a:ext cx="11684000" cy="4800270"/>
          </a:xfrm>
        </p:spPr>
        <p:txBody>
          <a:bodyPr>
            <a:normAutofit/>
          </a:bodyPr>
          <a:lstStyle/>
          <a:p>
            <a:endParaRPr lang="en-US" dirty="0" smtClean="0">
              <a:latin typeface="Calibri" panose="020F0502020204030204" pitchFamily="34" charset="0"/>
            </a:endParaRPr>
          </a:p>
          <a:p>
            <a:r>
              <a:rPr lang="en-US" dirty="0" smtClean="0">
                <a:latin typeface="Calibri" panose="020F0502020204030204" pitchFamily="34" charset="0"/>
              </a:rPr>
              <a:t>Universal Connectivity</a:t>
            </a:r>
            <a:endParaRPr lang="en-US" dirty="0" smtClean="0">
              <a:latin typeface="Calibri" panose="020F0502020204030204" pitchFamily="34" charset="0"/>
            </a:endParaRPr>
          </a:p>
          <a:p>
            <a:r>
              <a:rPr lang="en-US" dirty="0" smtClean="0">
                <a:latin typeface="Calibri" panose="020F0502020204030204" pitchFamily="34" charset="0"/>
              </a:rPr>
              <a:t>Commoditization</a:t>
            </a:r>
            <a:endParaRPr lang="en-US" dirty="0" smtClean="0">
              <a:latin typeface="Calibri" panose="020F0502020204030204" pitchFamily="34" charset="0"/>
            </a:endParaRPr>
          </a:p>
          <a:p>
            <a:r>
              <a:rPr lang="en-US" dirty="0">
                <a:latin typeface="Calibri" panose="020F0502020204030204" pitchFamily="34" charset="0"/>
              </a:rPr>
              <a:t>Open-source </a:t>
            </a:r>
            <a:r>
              <a:rPr lang="en-US" dirty="0" smtClean="0">
                <a:latin typeface="Calibri" panose="020F0502020204030204" pitchFamily="34" charset="0"/>
              </a:rPr>
              <a:t>Software</a:t>
            </a:r>
            <a:endParaRPr lang="en-US" dirty="0" smtClean="0">
              <a:latin typeface="Calibri" panose="020F0502020204030204" pitchFamily="34" charset="0"/>
            </a:endParaRPr>
          </a:p>
          <a:p>
            <a:r>
              <a:rPr lang="en-US" dirty="0" smtClean="0">
                <a:latin typeface="Calibri" panose="020F0502020204030204" pitchFamily="34" charset="0"/>
              </a:rPr>
              <a:t>Virtualization</a:t>
            </a:r>
            <a:endParaRPr lang="en-US" dirty="0" smtClean="0">
              <a:latin typeface="Calibri" panose="020F0502020204030204" pitchFamily="34" charset="0"/>
            </a:endParaRPr>
          </a:p>
          <a:p>
            <a:pPr marL="0" indent="0">
              <a:buNone/>
            </a:pPr>
            <a:endParaRPr lang="en-US" dirty="0">
              <a:latin typeface="Calibri" panose="020F0502020204030204" pitchFamily="34" charset="0"/>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Calibri" panose="020F0502020204030204" pitchFamily="34" charset="0"/>
              </a:rPr>
              <a:t>Technological Influences of Cloud Computing</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9"/>
            <a:ext cx="11684000" cy="4800270"/>
          </a:xfrm>
        </p:spPr>
        <p:txBody>
          <a:bodyPr>
            <a:normAutofit/>
          </a:bodyPr>
          <a:lstStyle/>
          <a:p>
            <a:endParaRPr lang="en-US" dirty="0" smtClean="0">
              <a:latin typeface="Calibri" panose="020F0502020204030204" pitchFamily="34" charset="0"/>
            </a:endParaRPr>
          </a:p>
          <a:p>
            <a:r>
              <a:rPr lang="en-US" dirty="0" smtClean="0">
                <a:latin typeface="Calibri" panose="020F0502020204030204" pitchFamily="34" charset="0"/>
              </a:rPr>
              <a:t>Consolidation</a:t>
            </a:r>
            <a:endParaRPr lang="en-US" dirty="0" smtClean="0">
              <a:latin typeface="Calibri" panose="020F0502020204030204" pitchFamily="34" charset="0"/>
            </a:endParaRPr>
          </a:p>
          <a:p>
            <a:r>
              <a:rPr lang="en-US" dirty="0" smtClean="0">
                <a:latin typeface="Calibri" panose="020F0502020204030204" pitchFamily="34" charset="0"/>
              </a:rPr>
              <a:t>Outsourcing</a:t>
            </a:r>
            <a:endParaRPr lang="en-US" dirty="0" smtClean="0">
              <a:latin typeface="Calibri" panose="020F0502020204030204" pitchFamily="34" charset="0"/>
            </a:endParaRPr>
          </a:p>
          <a:p>
            <a:r>
              <a:rPr lang="en-US" dirty="0">
                <a:latin typeface="Calibri" panose="020F0502020204030204" pitchFamily="34" charset="0"/>
              </a:rPr>
              <a:t>Information Technology Service </a:t>
            </a:r>
            <a:r>
              <a:rPr lang="en-US" dirty="0" smtClean="0">
                <a:latin typeface="Calibri" panose="020F0502020204030204" pitchFamily="34" charset="0"/>
              </a:rPr>
              <a:t>Management</a:t>
            </a:r>
            <a:endParaRPr lang="en-US" dirty="0" smtClean="0">
              <a:latin typeface="Calibri" panose="020F0502020204030204" pitchFamily="34" charset="0"/>
            </a:endParaRPr>
          </a:p>
          <a:p>
            <a:r>
              <a:rPr lang="en-US" dirty="0">
                <a:latin typeface="Calibri" panose="020F0502020204030204" pitchFamily="34" charset="0"/>
              </a:rPr>
              <a:t>Automation</a:t>
            </a:r>
            <a:endParaRPr lang="en-US" dirty="0">
              <a:latin typeface="Calibri" panose="020F0502020204030204" pitchFamily="34" charset="0"/>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lstStyle/>
          <a:p>
            <a:pPr algn="ctr"/>
            <a:r>
              <a:rPr lang="en-US" dirty="0" smtClean="0">
                <a:solidFill>
                  <a:schemeClr val="tx1"/>
                </a:solidFill>
                <a:latin typeface="Calibri" panose="020F0502020204030204" pitchFamily="34" charset="0"/>
              </a:rPr>
              <a:t>Operational Influences of Cloud Computing</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8"/>
            <a:ext cx="11684000" cy="5168405"/>
          </a:xfrm>
        </p:spPr>
        <p:txBody>
          <a:bodyPr>
            <a:normAutofit/>
          </a:bodyPr>
          <a:lstStyle/>
          <a:p>
            <a:pPr>
              <a:buFont typeface="Wingdings" panose="05000000000000000000" pitchFamily="2" charset="2"/>
              <a:buChar char="Ø"/>
            </a:pPr>
            <a:r>
              <a:rPr lang="en-US" dirty="0">
                <a:latin typeface="+mn-lt"/>
              </a:rPr>
              <a:t>Cloud computing with various advantages and tools affect many companies’ </a:t>
            </a:r>
            <a:endParaRPr lang="en-US" dirty="0" smtClean="0">
              <a:latin typeface="+mn-lt"/>
            </a:endParaRPr>
          </a:p>
          <a:p>
            <a:pPr marL="0" indent="0">
              <a:buNone/>
            </a:pPr>
            <a:r>
              <a:rPr lang="en-US" dirty="0">
                <a:latin typeface="+mn-lt"/>
              </a:rPr>
              <a:t> </a:t>
            </a:r>
            <a:r>
              <a:rPr lang="en-US" dirty="0" smtClean="0">
                <a:latin typeface="+mn-lt"/>
              </a:rPr>
              <a:t>   working style and is discussed in detail in the following parameters: </a:t>
            </a:r>
            <a:endParaRPr lang="en-US" dirty="0" smtClean="0">
              <a:latin typeface="+mn-lt"/>
            </a:endParaRPr>
          </a:p>
          <a:p>
            <a:r>
              <a:rPr lang="en-US" b="1" dirty="0">
                <a:latin typeface="+mn-lt"/>
              </a:rPr>
              <a:t>Business Alignment</a:t>
            </a:r>
            <a:endParaRPr lang="en-US" b="1" dirty="0">
              <a:latin typeface="+mn-lt"/>
            </a:endParaRPr>
          </a:p>
          <a:p>
            <a:r>
              <a:rPr lang="en-US" b="1" dirty="0" smtClean="0">
                <a:latin typeface="+mn-lt"/>
              </a:rPr>
              <a:t>Governance</a:t>
            </a:r>
            <a:endParaRPr lang="en-US" b="1"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rmAutofit fontScale="90000"/>
          </a:bodyPr>
          <a:lstStyle/>
          <a:p>
            <a:pPr algn="ctr"/>
            <a:r>
              <a:rPr lang="en-US" dirty="0" smtClean="0">
                <a:solidFill>
                  <a:schemeClr val="tx1"/>
                </a:solidFill>
                <a:latin typeface="Calibri" panose="020F0502020204030204" pitchFamily="34" charset="0"/>
              </a:rPr>
              <a:t>Influence of Cloud Computing on Business Companies</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8"/>
            <a:ext cx="11684000" cy="5168405"/>
          </a:xfrm>
        </p:spPr>
        <p:txBody>
          <a:bodyPr>
            <a:normAutofit/>
          </a:bodyPr>
          <a:lstStyle/>
          <a:p>
            <a:pPr marL="0" indent="0">
              <a:buNone/>
            </a:pPr>
            <a:r>
              <a:rPr lang="en-US" b="1" dirty="0" smtClean="0">
                <a:solidFill>
                  <a:srgbClr val="FFFF00"/>
                </a:solidFill>
                <a:latin typeface="+mn-lt"/>
              </a:rPr>
              <a:t>Business Alignment</a:t>
            </a:r>
            <a:endParaRPr lang="en-US" b="1" dirty="0" smtClean="0">
              <a:solidFill>
                <a:srgbClr val="FFFF00"/>
              </a:solidFill>
              <a:latin typeface="+mn-lt"/>
            </a:endParaRPr>
          </a:p>
          <a:p>
            <a:pPr marL="0" indent="0">
              <a:buNone/>
            </a:pPr>
            <a:r>
              <a:rPr lang="en-US" dirty="0" smtClean="0">
                <a:latin typeface="+mn-lt"/>
              </a:rPr>
              <a:t>A business alliance of all IT self-service applications, particularly console applications and enterprise intelligence, is vital for sustaining information quality, and is significant in the modern world of IT self service. The concentration of the IT team of a corporation transfers from running hardware assets and data center functions to handling the following responsibilities:</a:t>
            </a:r>
            <a:endParaRPr lang="en-US" b="1" dirty="0" smtClean="0">
              <a:latin typeface="+mn-lt"/>
            </a:endParaRPr>
          </a:p>
          <a:p>
            <a:pPr marL="0" indent="0">
              <a:buNone/>
            </a:pPr>
            <a:r>
              <a:rPr lang="en-US" dirty="0" smtClean="0">
                <a:latin typeface="+mn-lt"/>
              </a:rPr>
              <a:t>1.Recognizing </a:t>
            </a:r>
            <a:r>
              <a:rPr lang="en-US" dirty="0">
                <a:latin typeface="+mn-lt"/>
              </a:rPr>
              <a:t>enterprise policies, functioning metrics, drivers, market </a:t>
            </a:r>
            <a:endParaRPr lang="en-US" dirty="0" smtClean="0">
              <a:latin typeface="+mn-lt"/>
            </a:endParaRPr>
          </a:p>
          <a:p>
            <a:pPr marL="0" indent="0">
              <a:buNone/>
            </a:pPr>
            <a:r>
              <a:rPr lang="en-US" dirty="0">
                <a:latin typeface="+mn-lt"/>
              </a:rPr>
              <a:t> </a:t>
            </a:r>
            <a:r>
              <a:rPr lang="en-US" dirty="0" smtClean="0">
                <a:latin typeface="+mn-lt"/>
              </a:rPr>
              <a:t>  dynamics</a:t>
            </a:r>
            <a:r>
              <a:rPr lang="en-US" dirty="0">
                <a:latin typeface="+mn-lt"/>
              </a:rPr>
              <a:t>, purposes, </a:t>
            </a:r>
            <a:r>
              <a:rPr lang="en-US" dirty="0" smtClean="0">
                <a:latin typeface="+mn-lt"/>
              </a:rPr>
              <a:t>and many </a:t>
            </a:r>
            <a:r>
              <a:rPr lang="en-US" dirty="0">
                <a:latin typeface="+mn-lt"/>
              </a:rPr>
              <a:t>more</a:t>
            </a:r>
            <a:endParaRPr lang="en-US" dirty="0">
              <a:latin typeface="+mn-lt"/>
            </a:endParaRPr>
          </a:p>
          <a:p>
            <a:pPr marL="0" indent="0">
              <a:buNone/>
            </a:pPr>
            <a:r>
              <a:rPr lang="en-US" dirty="0" smtClean="0">
                <a:latin typeface="+mn-lt"/>
              </a:rPr>
              <a:t>2.Classifying </a:t>
            </a:r>
            <a:r>
              <a:rPr lang="en-US" dirty="0">
                <a:latin typeface="+mn-lt"/>
              </a:rPr>
              <a:t>trade definitions (business unit, department-level, etc.) and trade </a:t>
            </a:r>
            <a:endParaRPr lang="en-US" dirty="0" smtClean="0">
              <a:latin typeface="+mn-lt"/>
            </a:endParaRPr>
          </a:p>
          <a:p>
            <a:pPr marL="0" indent="0">
              <a:buNone/>
            </a:pPr>
            <a:r>
              <a:rPr lang="en-US" dirty="0">
                <a:latin typeface="+mn-lt"/>
              </a:rPr>
              <a:t> </a:t>
            </a:r>
            <a:r>
              <a:rPr lang="en-US" dirty="0" smtClean="0">
                <a:latin typeface="+mn-lt"/>
              </a:rPr>
              <a:t>   regulations</a:t>
            </a:r>
            <a:endParaRPr lang="en-US"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rmAutofit fontScale="90000"/>
          </a:bodyPr>
          <a:lstStyle/>
          <a:p>
            <a:pPr algn="ctr"/>
            <a:r>
              <a:rPr lang="en-US" dirty="0" smtClean="0">
                <a:solidFill>
                  <a:schemeClr val="tx1"/>
                </a:solidFill>
                <a:latin typeface="Calibri" panose="020F0502020204030204" pitchFamily="34" charset="0"/>
              </a:rPr>
              <a:t>Influence of Cloud Computing on Business Companies</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8"/>
            <a:ext cx="11684000" cy="5168405"/>
          </a:xfrm>
        </p:spPr>
        <p:txBody>
          <a:bodyPr>
            <a:normAutofit/>
          </a:bodyPr>
          <a:lstStyle/>
          <a:p>
            <a:pPr marL="0" indent="0">
              <a:buNone/>
            </a:pPr>
            <a:r>
              <a:rPr lang="en-US" dirty="0" smtClean="0">
                <a:latin typeface="+mn-lt"/>
              </a:rPr>
              <a:t>3</a:t>
            </a:r>
            <a:r>
              <a:rPr lang="en-US" dirty="0">
                <a:latin typeface="+mn-lt"/>
              </a:rPr>
              <a:t>. Forming a value-added information collection which links to the purposes </a:t>
            </a:r>
            <a:r>
              <a:rPr lang="en-US" dirty="0" smtClean="0">
                <a:latin typeface="+mn-lt"/>
              </a:rPr>
              <a:t>  </a:t>
            </a:r>
            <a:endParaRPr lang="en-US" dirty="0" smtClean="0">
              <a:latin typeface="+mn-lt"/>
            </a:endParaRPr>
          </a:p>
          <a:p>
            <a:pPr marL="0" indent="0">
              <a:buNone/>
            </a:pPr>
            <a:r>
              <a:rPr lang="en-US" dirty="0">
                <a:latin typeface="+mn-lt"/>
              </a:rPr>
              <a:t> </a:t>
            </a:r>
            <a:r>
              <a:rPr lang="en-US" dirty="0" smtClean="0">
                <a:latin typeface="+mn-lt"/>
              </a:rPr>
              <a:t>    and </a:t>
            </a:r>
            <a:r>
              <a:rPr lang="en-US" dirty="0">
                <a:latin typeface="+mn-lt"/>
              </a:rPr>
              <a:t>aims of a </a:t>
            </a:r>
            <a:r>
              <a:rPr lang="en-US" dirty="0" smtClean="0">
                <a:latin typeface="+mn-lt"/>
              </a:rPr>
              <a:t>corporation</a:t>
            </a:r>
            <a:endParaRPr lang="en-US" dirty="0">
              <a:latin typeface="+mn-lt"/>
            </a:endParaRPr>
          </a:p>
          <a:p>
            <a:pPr marL="0" indent="0">
              <a:buNone/>
            </a:pPr>
            <a:r>
              <a:rPr lang="en-US" dirty="0">
                <a:latin typeface="+mn-lt"/>
              </a:rPr>
              <a:t>4. Assessing and predicting the realistic advantage of cloud computing </a:t>
            </a:r>
            <a:endParaRPr lang="en-US" dirty="0" smtClean="0">
              <a:latin typeface="+mn-lt"/>
            </a:endParaRPr>
          </a:p>
          <a:p>
            <a:pPr marL="0" indent="0">
              <a:buNone/>
            </a:pPr>
            <a:r>
              <a:rPr lang="en-US" dirty="0">
                <a:latin typeface="+mn-lt"/>
              </a:rPr>
              <a:t> </a:t>
            </a:r>
            <a:r>
              <a:rPr lang="en-US" dirty="0" smtClean="0">
                <a:latin typeface="+mn-lt"/>
              </a:rPr>
              <a:t>   applications</a:t>
            </a:r>
            <a:endParaRPr lang="en-US" dirty="0">
              <a:latin typeface="+mn-lt"/>
            </a:endParaRPr>
          </a:p>
          <a:p>
            <a:pPr marL="0" indent="0">
              <a:buNone/>
            </a:pPr>
            <a:r>
              <a:rPr lang="en-US" dirty="0">
                <a:latin typeface="+mn-lt"/>
              </a:rPr>
              <a:t>5. Recognizing modern challenges of risk administration in on-demand IT </a:t>
            </a:r>
            <a:r>
              <a:rPr lang="en-US" dirty="0" smtClean="0">
                <a:latin typeface="+mn-lt"/>
              </a:rPr>
              <a:t>self-</a:t>
            </a:r>
            <a:endParaRPr lang="en-US" dirty="0" smtClean="0">
              <a:latin typeface="+mn-lt"/>
            </a:endParaRPr>
          </a:p>
          <a:p>
            <a:pPr marL="0" indent="0">
              <a:buNone/>
            </a:pPr>
            <a:r>
              <a:rPr lang="en-US" dirty="0">
                <a:latin typeface="+mn-lt"/>
              </a:rPr>
              <a:t> </a:t>
            </a:r>
            <a:r>
              <a:rPr lang="en-US" dirty="0" smtClean="0">
                <a:latin typeface="+mn-lt"/>
              </a:rPr>
              <a:t>   service</a:t>
            </a:r>
            <a:endParaRPr lang="en-US"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rmAutofit fontScale="90000"/>
          </a:bodyPr>
          <a:lstStyle/>
          <a:p>
            <a:pPr algn="ctr"/>
            <a:r>
              <a:rPr lang="en-US" dirty="0" smtClean="0">
                <a:solidFill>
                  <a:schemeClr val="tx1"/>
                </a:solidFill>
                <a:latin typeface="Calibri" panose="020F0502020204030204" pitchFamily="34" charset="0"/>
              </a:rPr>
              <a:t>Influence of Cloud Computing on Business Companies</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8"/>
            <a:ext cx="11684000" cy="5168405"/>
          </a:xfrm>
        </p:spPr>
        <p:txBody>
          <a:bodyPr>
            <a:normAutofit/>
          </a:bodyPr>
          <a:lstStyle/>
          <a:p>
            <a:pPr marL="0" indent="0">
              <a:buNone/>
            </a:pPr>
            <a:r>
              <a:rPr lang="en-US" b="1" dirty="0" smtClean="0">
                <a:solidFill>
                  <a:srgbClr val="FFFF00"/>
                </a:solidFill>
                <a:latin typeface="+mn-lt"/>
              </a:rPr>
              <a:t>Governance</a:t>
            </a:r>
            <a:endParaRPr lang="en-US" b="1" dirty="0" smtClean="0">
              <a:solidFill>
                <a:srgbClr val="FFFF00"/>
              </a:solidFill>
              <a:latin typeface="+mn-lt"/>
            </a:endParaRPr>
          </a:p>
          <a:p>
            <a:pPr marL="0" indent="0">
              <a:buNone/>
            </a:pPr>
            <a:r>
              <a:rPr lang="en-US" dirty="0">
                <a:latin typeface="+mn-lt"/>
              </a:rPr>
              <a:t>The following points are important to know </a:t>
            </a:r>
            <a:r>
              <a:rPr lang="en-US" dirty="0" smtClean="0">
                <a:latin typeface="+mn-lt"/>
              </a:rPr>
              <a:t>how cloud </a:t>
            </a:r>
            <a:r>
              <a:rPr lang="en-US" dirty="0">
                <a:latin typeface="+mn-lt"/>
              </a:rPr>
              <a:t>computing affects control and governance on data stored, when you are a cloud user</a:t>
            </a:r>
            <a:r>
              <a:rPr lang="en-US" dirty="0" smtClean="0">
                <a:latin typeface="+mn-lt"/>
              </a:rPr>
              <a:t>:</a:t>
            </a:r>
            <a:endParaRPr lang="en-US" dirty="0" smtClean="0">
              <a:latin typeface="+mn-lt"/>
            </a:endParaRPr>
          </a:p>
          <a:p>
            <a:pPr marL="514350" indent="-514350">
              <a:buFont typeface="+mj-lt"/>
              <a:buAutoNum type="arabicPeriod"/>
            </a:pPr>
            <a:r>
              <a:rPr lang="en-US" dirty="0" smtClean="0">
                <a:latin typeface="+mn-lt"/>
              </a:rPr>
              <a:t>Process </a:t>
            </a:r>
            <a:r>
              <a:rPr lang="en-US" dirty="0">
                <a:latin typeface="+mn-lt"/>
              </a:rPr>
              <a:t>controls and process observation</a:t>
            </a:r>
            <a:endParaRPr lang="en-US" dirty="0">
              <a:latin typeface="+mn-lt"/>
            </a:endParaRPr>
          </a:p>
          <a:p>
            <a:pPr marL="514350" indent="-514350">
              <a:buFont typeface="+mj-lt"/>
              <a:buAutoNum type="arabicPeriod"/>
            </a:pPr>
            <a:r>
              <a:rPr lang="en-US" dirty="0" smtClean="0">
                <a:latin typeface="+mn-lt"/>
              </a:rPr>
              <a:t>Content </a:t>
            </a:r>
            <a:r>
              <a:rPr lang="en-US" dirty="0">
                <a:latin typeface="+mn-lt"/>
              </a:rPr>
              <a:t>secrecy and safety</a:t>
            </a:r>
            <a:endParaRPr lang="en-US" dirty="0">
              <a:latin typeface="+mn-lt"/>
            </a:endParaRPr>
          </a:p>
          <a:p>
            <a:pPr marL="514350" indent="-514350">
              <a:buFont typeface="+mj-lt"/>
              <a:buAutoNum type="arabicPeriod"/>
            </a:pPr>
            <a:r>
              <a:rPr lang="en-US" dirty="0" smtClean="0">
                <a:latin typeface="+mn-lt"/>
              </a:rPr>
              <a:t>Content </a:t>
            </a:r>
            <a:r>
              <a:rPr lang="en-US" dirty="0">
                <a:latin typeface="+mn-lt"/>
              </a:rPr>
              <a:t>consistency and master data management</a:t>
            </a:r>
            <a:endParaRPr lang="en-US" dirty="0">
              <a:latin typeface="+mn-lt"/>
            </a:endParaRPr>
          </a:p>
          <a:p>
            <a:pPr marL="514350" indent="-514350">
              <a:buFont typeface="+mj-lt"/>
              <a:buAutoNum type="arabicPeriod"/>
            </a:pPr>
            <a:r>
              <a:rPr lang="en-US" dirty="0" smtClean="0">
                <a:latin typeface="+mn-lt"/>
              </a:rPr>
              <a:t>Cloud </a:t>
            </a:r>
            <a:r>
              <a:rPr lang="en-US" dirty="0">
                <a:latin typeface="+mn-lt"/>
              </a:rPr>
              <a:t>computing capability maturity model (CMM)</a:t>
            </a:r>
            <a:endParaRPr lang="en-US" dirty="0">
              <a:latin typeface="+mn-lt"/>
            </a:endParaRPr>
          </a:p>
          <a:p>
            <a:pPr marL="514350" indent="-514350">
              <a:buFont typeface="+mj-lt"/>
              <a:buAutoNum type="arabicPeriod"/>
            </a:pPr>
            <a:r>
              <a:rPr lang="en-US" dirty="0" smtClean="0">
                <a:latin typeface="+mn-lt"/>
              </a:rPr>
              <a:t>Incorporating </a:t>
            </a:r>
            <a:r>
              <a:rPr lang="en-US" dirty="0">
                <a:latin typeface="+mn-lt"/>
              </a:rPr>
              <a:t>and running rising cloud computing IT models—SaaS, IaaS, and </a:t>
            </a:r>
            <a:r>
              <a:rPr lang="en-US" dirty="0" smtClean="0">
                <a:latin typeface="+mn-lt"/>
              </a:rPr>
              <a:t>PaaS</a:t>
            </a:r>
            <a:endParaRPr lang="en-US" b="1"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rmAutofit fontScale="90000"/>
          </a:bodyPr>
          <a:lstStyle/>
          <a:p>
            <a:pPr algn="ctr"/>
            <a:r>
              <a:rPr lang="en-US" dirty="0" smtClean="0">
                <a:solidFill>
                  <a:schemeClr val="tx1"/>
                </a:solidFill>
                <a:latin typeface="Calibri" panose="020F0502020204030204" pitchFamily="34" charset="0"/>
              </a:rPr>
              <a:t>Influence of Cloud Computing on Business Companies</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229" y="1553028"/>
            <a:ext cx="11684000" cy="5168405"/>
          </a:xfrm>
        </p:spPr>
        <p:txBody>
          <a:bodyPr>
            <a:normAutofit/>
          </a:bodyPr>
          <a:lstStyle/>
          <a:p>
            <a:pPr>
              <a:buFont typeface="Wingdings" panose="05000000000000000000" pitchFamily="2" charset="2"/>
              <a:buChar char="Ø"/>
            </a:pPr>
            <a:r>
              <a:rPr lang="en-US" dirty="0" smtClean="0">
                <a:latin typeface="+mn-lt"/>
              </a:rPr>
              <a:t>The </a:t>
            </a:r>
            <a:r>
              <a:rPr lang="en-US" dirty="0">
                <a:latin typeface="+mn-lt"/>
              </a:rPr>
              <a:t>cloud maturity module comprises 60 abilities which encapsulate the finest practices. Such </a:t>
            </a:r>
            <a:r>
              <a:rPr lang="en-US" dirty="0" smtClean="0">
                <a:latin typeface="+mn-lt"/>
              </a:rPr>
              <a:t>abilities offer </a:t>
            </a:r>
            <a:r>
              <a:rPr lang="en-US" dirty="0">
                <a:latin typeface="+mn-lt"/>
              </a:rPr>
              <a:t>the feature mandatory to actually assess and direct the development of cloud proposals. There </a:t>
            </a:r>
            <a:r>
              <a:rPr lang="en-US" dirty="0" smtClean="0">
                <a:latin typeface="+mn-lt"/>
              </a:rPr>
              <a:t>are six spheres </a:t>
            </a:r>
            <a:r>
              <a:rPr lang="en-US" dirty="0">
                <a:latin typeface="+mn-lt"/>
              </a:rPr>
              <a:t>in the maturity model</a:t>
            </a:r>
            <a:r>
              <a:rPr lang="en-US" dirty="0" smtClean="0">
                <a:latin typeface="+mn-lt"/>
              </a:rPr>
              <a:t>:</a:t>
            </a:r>
            <a:endParaRPr lang="en-US" dirty="0" smtClean="0">
              <a:latin typeface="+mn-lt"/>
            </a:endParaRPr>
          </a:p>
          <a:p>
            <a:r>
              <a:rPr lang="en-US" b="1" dirty="0">
                <a:latin typeface="+mn-lt"/>
              </a:rPr>
              <a:t>Business and </a:t>
            </a:r>
            <a:r>
              <a:rPr lang="en-US" b="1" dirty="0" smtClean="0">
                <a:latin typeface="+mn-lt"/>
              </a:rPr>
              <a:t>strategy</a:t>
            </a:r>
            <a:endParaRPr lang="en-US" b="1" dirty="0" smtClean="0">
              <a:latin typeface="+mn-lt"/>
            </a:endParaRPr>
          </a:p>
          <a:p>
            <a:r>
              <a:rPr lang="en-US" b="1" dirty="0" smtClean="0">
                <a:latin typeface="+mn-lt"/>
              </a:rPr>
              <a:t>Architecture</a:t>
            </a:r>
            <a:endParaRPr lang="en-US" b="1" dirty="0" smtClean="0">
              <a:latin typeface="+mn-lt"/>
            </a:endParaRPr>
          </a:p>
          <a:p>
            <a:r>
              <a:rPr lang="en-US" b="1" dirty="0" smtClean="0">
                <a:latin typeface="+mn-lt"/>
              </a:rPr>
              <a:t>Infrastructure</a:t>
            </a:r>
            <a:endParaRPr lang="en-US" b="1" dirty="0" smtClean="0">
              <a:latin typeface="+mn-lt"/>
            </a:endParaRPr>
          </a:p>
          <a:p>
            <a:r>
              <a:rPr lang="en-US" b="1" dirty="0" smtClean="0">
                <a:latin typeface="+mn-lt"/>
              </a:rPr>
              <a:t>Information</a:t>
            </a:r>
            <a:endParaRPr lang="en-US" b="1" dirty="0" smtClean="0">
              <a:latin typeface="+mn-lt"/>
            </a:endParaRPr>
          </a:p>
          <a:p>
            <a:r>
              <a:rPr lang="en-US" b="1" dirty="0">
                <a:latin typeface="+mn-lt"/>
              </a:rPr>
              <a:t>Projects, portfolios, and </a:t>
            </a:r>
            <a:r>
              <a:rPr lang="en-US" b="1" dirty="0" smtClean="0">
                <a:latin typeface="+mn-lt"/>
              </a:rPr>
              <a:t>services</a:t>
            </a:r>
            <a:endParaRPr lang="en-US" b="1" dirty="0" smtClean="0">
              <a:latin typeface="+mn-lt"/>
            </a:endParaRPr>
          </a:p>
          <a:p>
            <a:r>
              <a:rPr lang="en-US" b="1" dirty="0">
                <a:latin typeface="+mn-lt"/>
              </a:rPr>
              <a:t>Operations, administration, and management</a:t>
            </a:r>
            <a:endParaRPr lang="en-US" dirty="0">
              <a:latin typeface="+mn-lt"/>
            </a:endParaRPr>
          </a:p>
        </p:txBody>
      </p:sp>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32229" y="365125"/>
            <a:ext cx="11684000" cy="1071789"/>
          </a:xfrm>
          <a:solidFill>
            <a:schemeClr val="bg1"/>
          </a:solidFill>
        </p:spPr>
        <p:txBody>
          <a:bodyPr>
            <a:normAutofit fontScale="90000"/>
          </a:bodyPr>
          <a:lstStyle/>
          <a:p>
            <a:pPr algn="ctr"/>
            <a:r>
              <a:rPr lang="en-US" dirty="0" smtClean="0">
                <a:solidFill>
                  <a:schemeClr val="tx1"/>
                </a:solidFill>
                <a:latin typeface="Calibri" panose="020F0502020204030204" pitchFamily="34" charset="0"/>
              </a:rPr>
              <a:t>Influence of Cloud Computing on Business Companies</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Video</a:t>
            </a:r>
            <a:endParaRPr lang="en-US"/>
          </a:p>
        </p:txBody>
      </p:sp>
      <p:pic>
        <p:nvPicPr>
          <p:cNvPr id="4" name="How Cloud Computing Became a Big Tech Battleground _ WSJ">
            <a:hlinkClick r:id="" action="ppaction://media"/>
          </p:cNvPr>
          <p:cNvPicPr/>
          <p:nvPr>
            <p:ph idx="1"/>
            <a:videoFile r:link="rId1"/>
            <p:extLst>
              <p:ext uri="{DAA4B4D4-6D71-4841-9C94-3DE7FCFB9230}">
                <p14:media xmlns:p14="http://schemas.microsoft.com/office/powerpoint/2010/main" r:link="rId2"/>
              </p:ext>
            </p:extLst>
          </p:nvPr>
        </p:nvPicPr>
        <p:blipFill>
          <a:blip r:embed="rId3"/>
          <a:stretch>
            <a:fillRect/>
          </a:stretch>
        </p:blipFill>
        <p:spPr>
          <a:xfrm>
            <a:off x="2010229" y="1578996"/>
            <a:ext cx="8128000" cy="457200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201944" y="6284660"/>
            <a:ext cx="6327648" cy="365125"/>
          </a:xfrm>
        </p:spPr>
        <p:txBody>
          <a:bodyPr/>
          <a:lstStyle/>
          <a:p>
            <a:pPr algn="ctr"/>
            <a:r>
              <a:rPr lang="en-US" sz="1200" dirty="0">
                <a:latin typeface="Calibri" panose="020F0502020204030204" pitchFamily="34" charset="0"/>
                <a:cs typeface="Calibri" panose="020F0502020204030204" pitchFamily="34" charset="0"/>
              </a:rPr>
              <a:t>© Oxford University Press 2018. All rights reserved</a:t>
            </a:r>
            <a:endParaRPr lang="en-US" sz="1200"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208478" y="3179577"/>
            <a:ext cx="11684000" cy="1071789"/>
          </a:xfrm>
          <a:solidFill>
            <a:schemeClr val="bg1"/>
          </a:solidFill>
        </p:spPr>
        <p:txBody>
          <a:bodyPr>
            <a:normAutofit/>
          </a:bodyPr>
          <a:lstStyle/>
          <a:p>
            <a:pPr algn="ctr"/>
            <a:r>
              <a:rPr lang="en-US" dirty="0" smtClean="0">
                <a:solidFill>
                  <a:schemeClr val="tx1"/>
                </a:solidFill>
                <a:latin typeface="Calibri" panose="020F0502020204030204" pitchFamily="34" charset="0"/>
              </a:rPr>
              <a:t>Thank You!</a:t>
            </a:r>
            <a:endParaRPr lang="en-US" dirty="0">
              <a:solidFill>
                <a:schemeClr val="tx1"/>
              </a:solidFill>
              <a:latin typeface="Calibri" panose="020F050202020403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5803</Words>
  <Application>WPS Presentation</Application>
  <PresentationFormat>Custom</PresentationFormat>
  <Paragraphs>182</Paragraphs>
  <Slides>25</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25</vt:i4>
      </vt:variant>
    </vt:vector>
  </HeadingPairs>
  <TitlesOfParts>
    <vt:vector size="34" baseType="lpstr">
      <vt:lpstr>Arial</vt:lpstr>
      <vt:lpstr>SimSun</vt:lpstr>
      <vt:lpstr>Wingdings</vt:lpstr>
      <vt:lpstr>Candara</vt:lpstr>
      <vt:lpstr>Calibri</vt:lpstr>
      <vt:lpstr>Microsoft YaHei</vt:lpstr>
      <vt:lpstr>Arial Unicode MS</vt:lpstr>
      <vt:lpstr>Calibri Light</vt:lpstr>
      <vt:lpstr>Office Theme</vt:lpstr>
      <vt:lpstr>PowerPoint 演示文稿</vt:lpstr>
      <vt:lpstr>Chapter 2</vt:lpstr>
      <vt:lpstr>Learning Outcomes</vt:lpstr>
      <vt:lpstr>Introduction</vt:lpstr>
      <vt:lpstr>Cloud Data Center Requirements</vt:lpstr>
      <vt:lpstr>Traditional Data Center Vs Cloud Data Center  </vt:lpstr>
      <vt:lpstr>Architectural Influences of Cloud Computing</vt:lpstr>
      <vt:lpstr>PowerPoint 演示文稿</vt:lpstr>
      <vt:lpstr>PowerPoint 演示文稿</vt:lpstr>
      <vt:lpstr>PowerPoint 演示文稿</vt:lpstr>
      <vt:lpstr>Horizontal and Vertical Scaling</vt:lpstr>
      <vt:lpstr>PowerPoint 演示文稿</vt:lpstr>
      <vt:lpstr>Horizontal and Vertical Scaling</vt:lpstr>
      <vt:lpstr>Challenges faced by an Application Developer in Developing Cloud Applications</vt:lpstr>
      <vt:lpstr>Cloud computing standards</vt:lpstr>
      <vt:lpstr>Design Patterns for Key Issues of Cloud Application Development</vt:lpstr>
      <vt:lpstr>Technological Influences of Cloud Computing</vt:lpstr>
      <vt:lpstr>Operational Influences of Cloud Computing</vt:lpstr>
      <vt:lpstr>Influence of Cloud Computing on Business Companies</vt:lpstr>
      <vt:lpstr>Influence of Cloud Computing on Business Companies</vt:lpstr>
      <vt:lpstr>Influence of Cloud Computing on Business Companies</vt:lpstr>
      <vt:lpstr>Influence of Cloud Computing on Business Companies</vt:lpstr>
      <vt:lpstr>Influence of Cloud Computing on Business Companies</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Chowdhury, Sayantan</dc:creator>
  <cp:lastModifiedBy>KIIT01</cp:lastModifiedBy>
  <cp:revision>62</cp:revision>
  <dcterms:created xsi:type="dcterms:W3CDTF">2018-06-14T06:27:00Z</dcterms:created>
  <dcterms:modified xsi:type="dcterms:W3CDTF">2023-01-16T03:00:15Z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6F00D1E90060482E9D8373C62824F782</vt:lpwstr>
  </property>
  <property fmtid="{D5CDD505-2E9C-101B-9397-08002B2CF9AE}" pid="3" name="KSOProductBuildVer">
    <vt:lpwstr>1033-11.2.0.11440</vt:lpwstr>
  </property>
</Properties>
</file>