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0" r:id="rId3"/>
    <p:sldId id="257" r:id="rId4"/>
    <p:sldId id="342" r:id="rId5"/>
    <p:sldId id="343" r:id="rId6"/>
    <p:sldId id="344" r:id="rId7"/>
    <p:sldId id="345" r:id="rId8"/>
    <p:sldId id="346" r:id="rId9"/>
    <p:sldId id="347" r:id="rId10"/>
    <p:sldId id="348" r:id="rId11"/>
    <p:sldId id="349" r:id="rId12"/>
    <p:sldId id="350" r:id="rId13"/>
    <p:sldId id="351" r:id="rId14"/>
    <p:sldId id="352" r:id="rId15"/>
    <p:sldId id="353" r:id="rId16"/>
    <p:sldId id="354" r:id="rId17"/>
    <p:sldId id="28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6EA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91" autoAdjust="0"/>
    <p:restoredTop sz="94660"/>
  </p:normalViewPr>
  <p:slideViewPr>
    <p:cSldViewPr snapToGrid="0">
      <p:cViewPr varScale="1">
        <p:scale>
          <a:sx n="77" d="100"/>
          <a:sy n="77" d="100"/>
        </p:scale>
        <p:origin x="-114" y="-5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A5E15-EA7C-4AE6-A7FE-6EE8949B26F4}" type="datetimeFigureOut">
              <a:rPr lang="en-US" smtClean="0"/>
              <a:t>8/30/2018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3C74D-DBCC-462F-80C9-23B653553D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34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3C74D-DBCC-462F-80C9-23B653553D81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314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8/30/2018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875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2229" y="365125"/>
            <a:ext cx="11684000" cy="1071789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Candara" panose="020E0502030303020204" pitchFamily="34" charset="0"/>
              </a:defRPr>
            </a:lvl1pPr>
          </a:lstStyle>
          <a:p>
            <a:r>
              <a:rPr lang="en-US" dirty="0" smtClean="0"/>
              <a:t>Topic: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229" y="1553029"/>
            <a:ext cx="11684000" cy="4623934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Candara" panose="020E0502030303020204" pitchFamily="34" charset="0"/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Candara" panose="020E0502030303020204" pitchFamily="34" charset="0"/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Candara" panose="020E0502030303020204" pitchFamily="34" charset="0"/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Candara" panose="020E0502030303020204" pitchFamily="34" charset="0"/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Candara" panose="020E050203030302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8/30/2018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 smtClean="0"/>
              <a:t>© Oxford University Press India.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620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aseline="0"/>
            </a:lvl1pPr>
          </a:lstStyle>
          <a:p>
            <a:r>
              <a:rPr lang="en-US" dirty="0" smtClean="0"/>
              <a:t>Chapter name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360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Chapter no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8/30/2018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 smtClean="0"/>
              <a:t>© Oxford University Press India.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076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8/30/2018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286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8/30/2018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293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8/30/2018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181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8/30/2018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9597" y="890117"/>
            <a:ext cx="3604203" cy="4801691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/>
          <p:cNvSpPr txBox="1"/>
          <p:nvPr userDrawn="1"/>
        </p:nvSpPr>
        <p:spPr>
          <a:xfrm>
            <a:off x="1524000" y="2191658"/>
            <a:ext cx="560251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1" dirty="0" smtClean="0">
                <a:solidFill>
                  <a:schemeClr val="bg1"/>
                </a:solidFill>
                <a:latin typeface="Candara" panose="020E0502030303020204" pitchFamily="34" charset="0"/>
              </a:rPr>
              <a:t>CLOUD COMPUTING</a:t>
            </a:r>
          </a:p>
          <a:p>
            <a:pPr algn="ctr"/>
            <a:r>
              <a:rPr lang="en-US" b="1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Shailendra</a:t>
            </a:r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Singh</a:t>
            </a:r>
          </a:p>
          <a:p>
            <a:pPr algn="ctr"/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Professor</a:t>
            </a:r>
          </a:p>
          <a:p>
            <a:pPr algn="ctr"/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Department of Computer Science &amp; Engineering</a:t>
            </a:r>
          </a:p>
          <a:p>
            <a:pPr algn="ctr"/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NITTTR</a:t>
            </a:r>
            <a:r>
              <a:rPr lang="en-US" b="1" baseline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 Bhopal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046514" y="4455887"/>
            <a:ext cx="5442857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850" y="352793"/>
            <a:ext cx="2054530" cy="107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919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8/30/2018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243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8/30/2018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697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8/30/2018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49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  <a:t>8/30/2018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518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4000">
              <a:srgbClr val="A1AED2"/>
            </a:gs>
            <a:gs pos="0">
              <a:srgbClr val="566EAE"/>
            </a:gs>
            <a:gs pos="100000">
              <a:srgbClr val="FFFFFF"/>
            </a:gs>
          </a:gsLst>
          <a:lin ang="7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C95271-EAF6-4654-82A8-BE1747C4483D}" type="datetimeFigureOut">
              <a:rPr lang="en-US" smtClean="0"/>
              <a:t>8/30/2018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 smtClean="0"/>
              <a:t>© Oxford University Press India.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68F581-6023-4562-B0C8-C7FA9B9410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186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612580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Calibri" panose="020F0502020204030204" pitchFamily="34" charset="0"/>
              </a:rPr>
              <a:t>Chapter 7</a:t>
            </a:r>
            <a:endParaRPr lang="en-US" b="1" dirty="0">
              <a:latin typeface="Calibri" panose="020F0502020204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Calibri" panose="020F0502020204030204" pitchFamily="34" charset="0"/>
              </a:rPr>
              <a:t>Virtualization Technology (</a:t>
            </a:r>
            <a:r>
              <a:rPr lang="en-US" b="1" smtClean="0">
                <a:solidFill>
                  <a:schemeClr val="tx1"/>
                </a:solidFill>
                <a:latin typeface="Calibri" panose="020F0502020204030204" pitchFamily="34" charset="0"/>
              </a:rPr>
              <a:t>At Network)</a:t>
            </a:r>
            <a:endParaRPr lang="en-US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526315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8000">
              <a:srgbClr val="A1AED2"/>
            </a:gs>
            <a:gs pos="0">
              <a:srgbClr val="566EAE"/>
            </a:gs>
            <a:gs pos="100000">
              <a:srgbClr val="FFFFFF"/>
            </a:gs>
          </a:gsLst>
          <a:lin ang="7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Learning Outcomes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 C</a:t>
            </a:r>
            <a:r>
              <a:rPr lang="en-US" dirty="0" smtClean="0">
                <a:latin typeface="+mn-lt"/>
              </a:rPr>
              <a:t>omprehend </a:t>
            </a:r>
            <a:r>
              <a:rPr lang="en-US" dirty="0">
                <a:latin typeface="+mn-lt"/>
              </a:rPr>
              <a:t>network virtualization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List </a:t>
            </a:r>
            <a:r>
              <a:rPr lang="en-US" dirty="0">
                <a:latin typeface="+mn-lt"/>
              </a:rPr>
              <a:t>the benefits of network virtualization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Explain </a:t>
            </a:r>
            <a:r>
              <a:rPr lang="en-US" dirty="0">
                <a:latin typeface="+mn-lt"/>
              </a:rPr>
              <a:t>the benefits of virtualization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Describe </a:t>
            </a:r>
            <a:r>
              <a:rPr lang="en-US" dirty="0">
                <a:latin typeface="+mn-lt"/>
              </a:rPr>
              <a:t>various network components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Understand </a:t>
            </a:r>
            <a:r>
              <a:rPr lang="en-US" dirty="0">
                <a:latin typeface="+mn-lt"/>
              </a:rPr>
              <a:t>traffic management techniques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Understand </a:t>
            </a:r>
            <a:r>
              <a:rPr lang="en-US" dirty="0">
                <a:latin typeface="+mn-lt"/>
              </a:rPr>
              <a:t>virtual machine migration services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4208338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Exploring Network Virtualization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" y="1553029"/>
            <a:ext cx="11833102" cy="462393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In network virtualization, multiple virtual networks run with the help of a</a:t>
            </a:r>
          </a:p>
          <a:p>
            <a:pPr marL="0" indent="0">
              <a:buNone/>
            </a:pPr>
            <a:r>
              <a:rPr lang="en-US" dirty="0" smtClean="0">
                <a:latin typeface="+mn-lt"/>
              </a:rPr>
              <a:t>    physical </a:t>
            </a:r>
            <a:r>
              <a:rPr lang="en-US" dirty="0">
                <a:latin typeface="+mn-lt"/>
              </a:rPr>
              <a:t>network as shown in Fig. 7.1</a:t>
            </a:r>
            <a:r>
              <a:rPr lang="en-US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Network virtualization comprises </a:t>
            </a:r>
            <a:r>
              <a:rPr lang="en-US" dirty="0" smtClean="0">
                <a:latin typeface="+mn-lt"/>
              </a:rPr>
              <a:t>rationally</a:t>
            </a:r>
          </a:p>
          <a:p>
            <a:pPr marL="0" indent="0">
              <a:buNone/>
            </a:pPr>
            <a:r>
              <a:rPr lang="en-US" dirty="0" smtClean="0">
                <a:latin typeface="+mn-lt"/>
              </a:rPr>
              <a:t>   grouping </a:t>
            </a:r>
            <a:r>
              <a:rPr lang="en-US" dirty="0">
                <a:latin typeface="+mn-lt"/>
              </a:rPr>
              <a:t>and segmenting physical </a:t>
            </a:r>
            <a:r>
              <a:rPr lang="en-US" dirty="0" smtClean="0">
                <a:latin typeface="+mn-lt"/>
              </a:rPr>
              <a:t>network</a:t>
            </a:r>
          </a:p>
          <a:p>
            <a:pPr marL="0" indent="0">
              <a:buNone/>
            </a:pPr>
            <a:r>
              <a:rPr lang="en-US" dirty="0" smtClean="0">
                <a:latin typeface="+mn-lt"/>
              </a:rPr>
              <a:t>   (</a:t>
            </a:r>
            <a:r>
              <a:rPr lang="en-US" dirty="0">
                <a:latin typeface="+mn-lt"/>
              </a:rPr>
              <a:t>s) </a:t>
            </a:r>
            <a:r>
              <a:rPr lang="en-US" dirty="0" smtClean="0">
                <a:latin typeface="+mn-lt"/>
              </a:rPr>
              <a:t>into distinct </a:t>
            </a:r>
            <a:r>
              <a:rPr lang="en-US" dirty="0">
                <a:latin typeface="+mn-lt"/>
              </a:rPr>
              <a:t>rational units known </a:t>
            </a:r>
            <a:r>
              <a:rPr lang="en-US" dirty="0" smtClean="0">
                <a:latin typeface="+mn-lt"/>
              </a:rPr>
              <a:t>as</a:t>
            </a:r>
          </a:p>
          <a:p>
            <a:pPr marL="0" indent="0">
              <a:buNone/>
            </a:pPr>
            <a:r>
              <a:rPr lang="en-US" dirty="0" smtClean="0">
                <a:latin typeface="+mn-lt"/>
              </a:rPr>
              <a:t>   ‘</a:t>
            </a:r>
            <a:r>
              <a:rPr lang="en-US" dirty="0">
                <a:latin typeface="+mn-lt"/>
              </a:rPr>
              <a:t>virtual network(s)’ and forming them </a:t>
            </a:r>
            <a:r>
              <a:rPr lang="en-US" dirty="0" smtClean="0">
                <a:latin typeface="+mn-lt"/>
              </a:rPr>
              <a:t> to act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  </a:t>
            </a:r>
            <a:r>
              <a:rPr lang="en-US" dirty="0">
                <a:latin typeface="+mn-lt"/>
              </a:rPr>
              <a:t>as one or multiple </a:t>
            </a:r>
            <a:r>
              <a:rPr lang="en-US" dirty="0" smtClean="0">
                <a:latin typeface="+mn-lt"/>
              </a:rPr>
              <a:t>separate network(s</a:t>
            </a:r>
            <a:r>
              <a:rPr lang="en-US" dirty="0">
                <a:latin typeface="+mn-lt"/>
              </a:rPr>
              <a:t>). </a:t>
            </a: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It </a:t>
            </a:r>
            <a:r>
              <a:rPr lang="en-US" dirty="0">
                <a:latin typeface="+mn-lt"/>
              </a:rPr>
              <a:t>permits multiple </a:t>
            </a:r>
            <a:r>
              <a:rPr lang="en-US" dirty="0" smtClean="0">
                <a:latin typeface="+mn-lt"/>
              </a:rPr>
              <a:t>virtual </a:t>
            </a:r>
            <a:r>
              <a:rPr lang="en-US" dirty="0">
                <a:latin typeface="+mn-lt"/>
              </a:rPr>
              <a:t>networks to 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  share </a:t>
            </a:r>
            <a:r>
              <a:rPr lang="en-US" dirty="0">
                <a:latin typeface="+mn-lt"/>
              </a:rPr>
              <a:t>network resources.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3944" y="2012560"/>
            <a:ext cx="4902962" cy="4186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0400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Exploring Network Virtualization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" y="1553029"/>
            <a:ext cx="11833102" cy="462393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In virtual data center (VDC), network virtualization comprises virtualization of both VM and </a:t>
            </a:r>
            <a:r>
              <a:rPr lang="en-US" dirty="0" smtClean="0">
                <a:latin typeface="+mn-lt"/>
              </a:rPr>
              <a:t>physical networks.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The physical network may consist of network routers, hubs, switches, repeaters, adapters, </a:t>
            </a:r>
            <a:r>
              <a:rPr lang="en-US" dirty="0" smtClean="0">
                <a:latin typeface="+mn-lt"/>
              </a:rPr>
              <a:t>and bridges.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A VM network exists within a physical server</a:t>
            </a:r>
            <a:r>
              <a:rPr lang="en-US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A computer on which a hypervisor runs one or more virtual machines is called a host machine, </a:t>
            </a:r>
            <a:r>
              <a:rPr lang="en-US" dirty="0" smtClean="0">
                <a:latin typeface="+mn-lt"/>
              </a:rPr>
              <a:t>and each </a:t>
            </a:r>
            <a:r>
              <a:rPr lang="en-US" dirty="0">
                <a:latin typeface="+mn-lt"/>
              </a:rPr>
              <a:t>virtual machine is called a guest machine</a:t>
            </a:r>
            <a:r>
              <a:rPr lang="en-US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Network virtualization permits a manager to construct multiple virtual networks in the data </a:t>
            </a:r>
            <a:r>
              <a:rPr lang="en-US" dirty="0" smtClean="0">
                <a:latin typeface="+mn-lt"/>
              </a:rPr>
              <a:t>center (DC).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A virtual network offers alignment of all the nodes which belong to a similar </a:t>
            </a:r>
            <a:r>
              <a:rPr lang="en-US" dirty="0" smtClean="0">
                <a:latin typeface="+mn-lt"/>
              </a:rPr>
              <a:t>working unit </a:t>
            </a:r>
            <a:r>
              <a:rPr lang="en-US" dirty="0">
                <a:latin typeface="+mn-lt"/>
              </a:rPr>
              <a:t>in an enterprise.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162107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Benefits of Network Virtualization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" y="1553029"/>
            <a:ext cx="11833102" cy="462393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tx1"/>
                </a:solidFill>
                <a:latin typeface="+mn-lt"/>
              </a:rPr>
              <a:t>Reduction </a:t>
            </a:r>
            <a:r>
              <a:rPr lang="en-US" sz="3200" dirty="0">
                <a:solidFill>
                  <a:schemeClr val="tx1"/>
                </a:solidFill>
                <a:latin typeface="+mn-lt"/>
              </a:rPr>
              <a:t>of hardware </a:t>
            </a:r>
            <a:r>
              <a:rPr lang="en-US" sz="3200" dirty="0" smtClean="0">
                <a:solidFill>
                  <a:schemeClr val="tx1"/>
                </a:solidFill>
                <a:latin typeface="+mn-lt"/>
              </a:rPr>
              <a:t>expense</a:t>
            </a:r>
            <a:endParaRPr lang="en-US" sz="3200" dirty="0">
              <a:solidFill>
                <a:schemeClr val="tx1"/>
              </a:solidFill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tx1"/>
                </a:solidFill>
                <a:latin typeface="+mn-lt"/>
              </a:rPr>
              <a:t> Energy expenses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tx1"/>
                </a:solidFill>
                <a:latin typeface="+mn-lt"/>
              </a:rPr>
              <a:t> Recoverability</a:t>
            </a:r>
            <a:endParaRPr lang="en-US" sz="3200" dirty="0">
              <a:solidFill>
                <a:schemeClr val="tx1"/>
              </a:solidFill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tx1"/>
                </a:solidFill>
                <a:latin typeface="+mn-lt"/>
              </a:rPr>
              <a:t> Disaster recuperation</a:t>
            </a:r>
            <a:endParaRPr lang="en-US" sz="3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945748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Features of Network Components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" y="1553029"/>
            <a:ext cx="11833102" cy="4623934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dirty="0" smtClean="0">
              <a:solidFill>
                <a:schemeClr val="tx1"/>
              </a:solidFill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tx1"/>
                </a:solidFill>
                <a:latin typeface="+mn-lt"/>
              </a:rPr>
              <a:t>Virtual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Switches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tx1"/>
                </a:solidFill>
                <a:latin typeface="+mn-lt"/>
              </a:rPr>
              <a:t> Virtual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LAN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tx1"/>
                </a:solidFill>
                <a:latin typeface="+mn-lt"/>
              </a:rPr>
              <a:t>Virtual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Switches: </a:t>
            </a:r>
            <a:endParaRPr lang="en-US" b="1" dirty="0" smtClean="0">
              <a:solidFill>
                <a:schemeClr val="tx1"/>
              </a:solidFill>
              <a:latin typeface="+mn-lt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+mn-lt"/>
              </a:rPr>
              <a:t>Virtual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switches act as an interface between virtual ethernet and the physical ethernet. Virtual switches develop VM network and support the ethernet protocol as shown in Fig. 7.2.</a:t>
            </a:r>
          </a:p>
          <a:p>
            <a:r>
              <a:rPr lang="en-US" dirty="0">
                <a:solidFill>
                  <a:schemeClr val="tx1"/>
                </a:solidFill>
                <a:latin typeface="+mn-lt"/>
              </a:rPr>
              <a:t>They manage storage, administration, and VM migration traffic to and from the hypervisor kernel.</a:t>
            </a:r>
          </a:p>
          <a:p>
            <a:r>
              <a:rPr lang="en-US" dirty="0">
                <a:solidFill>
                  <a:schemeClr val="tx1"/>
                </a:solidFill>
                <a:latin typeface="+mn-lt"/>
              </a:rPr>
              <a:t>A virtual switch can have multiple port groups.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20466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Features of Network Components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" y="1553029"/>
            <a:ext cx="11833102" cy="4623934"/>
          </a:xfrm>
        </p:spPr>
        <p:txBody>
          <a:bodyPr>
            <a:noAutofit/>
          </a:bodyPr>
          <a:lstStyle/>
          <a:p>
            <a:endParaRPr lang="en-US" dirty="0" smtClean="0">
              <a:latin typeface="+mn-lt"/>
            </a:endParaRPr>
          </a:p>
          <a:p>
            <a:r>
              <a:rPr lang="en-US" dirty="0" smtClean="0">
                <a:latin typeface="+mn-lt"/>
              </a:rPr>
              <a:t>The </a:t>
            </a:r>
            <a:r>
              <a:rPr lang="en-US" dirty="0">
                <a:latin typeface="+mn-lt"/>
              </a:rPr>
              <a:t>IBM system Networking Distributed Virtual 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 Switch </a:t>
            </a:r>
            <a:r>
              <a:rPr lang="en-US" dirty="0">
                <a:latin typeface="+mn-lt"/>
              </a:rPr>
              <a:t>5000V is a superior, </a:t>
            </a:r>
            <a:r>
              <a:rPr lang="en-US" dirty="0" smtClean="0">
                <a:latin typeface="+mn-lt"/>
              </a:rPr>
              <a:t>feature rich distributed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 </a:t>
            </a:r>
            <a:r>
              <a:rPr lang="en-US" dirty="0">
                <a:latin typeface="+mn-lt"/>
              </a:rPr>
              <a:t>virtual switch for VMware environments along 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 with </a:t>
            </a:r>
            <a:r>
              <a:rPr lang="en-US" dirty="0">
                <a:latin typeface="+mn-lt"/>
              </a:rPr>
              <a:t>policy-based VM associatively. </a:t>
            </a:r>
            <a:r>
              <a:rPr lang="en-US" dirty="0" smtClean="0">
                <a:latin typeface="+mn-lt"/>
              </a:rPr>
              <a:t>The IBM 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 Distributed </a:t>
            </a:r>
            <a:r>
              <a:rPr lang="en-US" dirty="0">
                <a:latin typeface="+mn-lt"/>
              </a:rPr>
              <a:t>Virtual Switch (DVS) 5000V allows 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 network </a:t>
            </a:r>
            <a:r>
              <a:rPr lang="en-US" dirty="0">
                <a:latin typeface="+mn-lt"/>
              </a:rPr>
              <a:t>managers accustomed with IBM </a:t>
            </a:r>
            <a:r>
              <a:rPr lang="en-US" dirty="0" smtClean="0">
                <a:latin typeface="+mn-lt"/>
              </a:rPr>
              <a:t>System.</a:t>
            </a:r>
            <a:endParaRPr lang="en-US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0278" y="1787607"/>
            <a:ext cx="3200400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7220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Features of Network Components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" y="1553029"/>
            <a:ext cx="11833102" cy="4623934"/>
          </a:xfrm>
        </p:spPr>
        <p:txBody>
          <a:bodyPr>
            <a:noAutofit/>
          </a:bodyPr>
          <a:lstStyle/>
          <a:p>
            <a:endParaRPr lang="en-US" sz="2600" dirty="0" smtClean="0">
              <a:latin typeface="+mn-lt"/>
            </a:endParaRPr>
          </a:p>
          <a:p>
            <a:r>
              <a:rPr lang="en-US" sz="2600" dirty="0" smtClean="0">
                <a:latin typeface="+mn-lt"/>
              </a:rPr>
              <a:t>Virtual LAN allows one </a:t>
            </a:r>
            <a:r>
              <a:rPr lang="en-US" sz="2600" dirty="0">
                <a:latin typeface="+mn-lt"/>
              </a:rPr>
              <a:t>to have separate LANs among ports on the same </a:t>
            </a:r>
            <a:r>
              <a:rPr lang="en-US" sz="2600" dirty="0" smtClean="0">
                <a:latin typeface="+mn-lt"/>
              </a:rPr>
              <a:t>switch.</a:t>
            </a:r>
          </a:p>
          <a:p>
            <a:r>
              <a:rPr lang="en-US" sz="2600" dirty="0" smtClean="0">
                <a:latin typeface="+mn-lt"/>
              </a:rPr>
              <a:t>VLAN </a:t>
            </a:r>
            <a:r>
              <a:rPr lang="en-US" sz="2600" dirty="0">
                <a:latin typeface="+mn-lt"/>
              </a:rPr>
              <a:t>trunking allows traffic from multiple VLANs to traverse a single network connection</a:t>
            </a:r>
            <a:r>
              <a:rPr lang="en-US" sz="2600" dirty="0" smtClean="0">
                <a:latin typeface="+mn-lt"/>
              </a:rPr>
              <a:t>.</a:t>
            </a:r>
          </a:p>
          <a:p>
            <a:r>
              <a:rPr lang="en-US" sz="2600" dirty="0">
                <a:latin typeface="+mn-lt"/>
              </a:rPr>
              <a:t>VLAN membership can be defined in several ways</a:t>
            </a:r>
            <a:r>
              <a:rPr lang="en-US" sz="2600" dirty="0" smtClean="0">
                <a:latin typeface="+mn-lt"/>
              </a:rPr>
              <a:t>:</a:t>
            </a:r>
          </a:p>
          <a:p>
            <a:pPr marL="0" indent="0">
              <a:buNone/>
            </a:pPr>
            <a:r>
              <a:rPr lang="en-US" sz="2600" dirty="0">
                <a:latin typeface="+mn-lt"/>
              </a:rPr>
              <a:t>(a) Port-based</a:t>
            </a:r>
          </a:p>
          <a:p>
            <a:pPr marL="0" indent="0">
              <a:buNone/>
            </a:pPr>
            <a:r>
              <a:rPr lang="en-US" sz="2600" dirty="0">
                <a:latin typeface="+mn-lt"/>
              </a:rPr>
              <a:t>(b) Protocol-based</a:t>
            </a:r>
          </a:p>
          <a:p>
            <a:pPr marL="0" indent="0">
              <a:buNone/>
            </a:pPr>
            <a:r>
              <a:rPr lang="en-US" sz="2600" dirty="0">
                <a:latin typeface="+mn-lt"/>
              </a:rPr>
              <a:t>(c) MAC-layer grouping</a:t>
            </a:r>
          </a:p>
          <a:p>
            <a:pPr marL="0" indent="0">
              <a:buNone/>
            </a:pPr>
            <a:r>
              <a:rPr lang="en-US" sz="2600" dirty="0">
                <a:latin typeface="+mn-lt"/>
              </a:rPr>
              <a:t>(d) Network-layer grouping</a:t>
            </a:r>
          </a:p>
          <a:p>
            <a:pPr marL="0" indent="0">
              <a:buNone/>
            </a:pPr>
            <a:r>
              <a:rPr lang="en-US" sz="2600" dirty="0">
                <a:latin typeface="+mn-lt"/>
              </a:rPr>
              <a:t>(e) Multicast grouping</a:t>
            </a:r>
          </a:p>
          <a:p>
            <a:pPr marL="0" indent="0">
              <a:buNone/>
            </a:pPr>
            <a:r>
              <a:rPr lang="en-US" sz="2600" dirty="0">
                <a:latin typeface="+mn-lt"/>
              </a:rPr>
              <a:t>(f) Policy grouping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3958" y="2475820"/>
            <a:ext cx="4120739" cy="3818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6386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Traffic Management and its Techniques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" y="1087395"/>
            <a:ext cx="11833102" cy="508956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+mn-lt"/>
              </a:rPr>
              <a:t>Resource </a:t>
            </a:r>
            <a:r>
              <a:rPr lang="en-US" dirty="0">
                <a:latin typeface="+mn-lt"/>
              </a:rPr>
              <a:t>management of various resource instances between various users in a cloud computing </a:t>
            </a:r>
            <a:r>
              <a:rPr lang="en-US" dirty="0" smtClean="0">
                <a:latin typeface="+mn-lt"/>
              </a:rPr>
              <a:t>environment as </a:t>
            </a:r>
            <a:r>
              <a:rPr lang="en-US" dirty="0">
                <a:latin typeface="+mn-lt"/>
              </a:rPr>
              <a:t>per user requirement is called traffic management</a:t>
            </a:r>
            <a:r>
              <a:rPr lang="en-US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Cloud computing is generally based </a:t>
            </a:r>
            <a:r>
              <a:rPr lang="en-US" dirty="0" smtClean="0">
                <a:latin typeface="+mn-lt"/>
              </a:rPr>
              <a:t>on adaptive </a:t>
            </a:r>
            <a:r>
              <a:rPr lang="en-US" dirty="0">
                <a:latin typeface="+mn-lt"/>
              </a:rPr>
              <a:t>traffic management and control </a:t>
            </a:r>
            <a:r>
              <a:rPr lang="en-US" dirty="0" smtClean="0">
                <a:latin typeface="+mn-lt"/>
              </a:rPr>
              <a:t>techniques.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In VDC, network managers have a </a:t>
            </a:r>
            <a:r>
              <a:rPr lang="en-US" dirty="0" smtClean="0">
                <a:latin typeface="+mn-lt"/>
              </a:rPr>
              <a:t>suitable policy </a:t>
            </a:r>
            <a:r>
              <a:rPr lang="en-US" dirty="0">
                <a:latin typeface="+mn-lt"/>
              </a:rPr>
              <a:t>for allocation of network traffic across network connections and VMs</a:t>
            </a:r>
            <a:r>
              <a:rPr lang="en-US" dirty="0" smtClean="0">
                <a:latin typeface="+mn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Load balancing is one of the key matters in cloud computing</a:t>
            </a:r>
            <a:r>
              <a:rPr lang="en-US" dirty="0" smtClean="0">
                <a:latin typeface="+mn-lt"/>
              </a:rPr>
              <a:t>. It </a:t>
            </a:r>
            <a:r>
              <a:rPr lang="en-US" dirty="0">
                <a:latin typeface="+mn-lt"/>
              </a:rPr>
              <a:t>is a procedure which allocates the extra dynamic regional </a:t>
            </a:r>
            <a:r>
              <a:rPr lang="en-US" dirty="0" smtClean="0">
                <a:latin typeface="+mn-lt"/>
              </a:rPr>
              <a:t>workload consistently </a:t>
            </a:r>
            <a:r>
              <a:rPr lang="en-US" dirty="0">
                <a:latin typeface="+mn-lt"/>
              </a:rPr>
              <a:t>across all the nodes. It </a:t>
            </a:r>
            <a:r>
              <a:rPr lang="en-US" dirty="0" smtClean="0">
                <a:latin typeface="+mn-lt"/>
              </a:rPr>
              <a:t>also assists </a:t>
            </a:r>
            <a:r>
              <a:rPr lang="en-US" dirty="0">
                <a:latin typeface="+mn-lt"/>
              </a:rPr>
              <a:t>in facilitating scalability, executing fail-over, and minimizing the response period </a:t>
            </a:r>
            <a:r>
              <a:rPr lang="en-US" dirty="0" smtClean="0">
                <a:latin typeface="+mn-lt"/>
              </a:rPr>
              <a:t>preventing blockage </a:t>
            </a:r>
            <a:r>
              <a:rPr lang="en-US" dirty="0">
                <a:latin typeface="+mn-lt"/>
              </a:rPr>
              <a:t>and over-provisioning, and many more.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807621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Traffic Management and its Techniques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" y="1553029"/>
            <a:ext cx="11833102" cy="462393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FFFF00"/>
                </a:solidFill>
                <a:latin typeface="+mn-lt"/>
              </a:rPr>
              <a:t>The </a:t>
            </a:r>
            <a:r>
              <a:rPr lang="en-US" b="1" dirty="0">
                <a:solidFill>
                  <a:srgbClr val="FFFF00"/>
                </a:solidFill>
                <a:latin typeface="+mn-lt"/>
              </a:rPr>
              <a:t>network governing skills are as follows</a:t>
            </a:r>
            <a:r>
              <a:rPr lang="en-US" b="1" dirty="0" smtClean="0">
                <a:solidFill>
                  <a:srgbClr val="FFFF00"/>
                </a:solidFill>
                <a:latin typeface="+mn-lt"/>
              </a:rPr>
              <a:t>:</a:t>
            </a:r>
            <a:endParaRPr lang="en-US" b="1" dirty="0">
              <a:solidFill>
                <a:srgbClr val="FFFF00"/>
              </a:solidFill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1. Technique 1: Balancing client workload—hardware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2. Technique 2: Balancing client workload—software</a:t>
            </a:r>
          </a:p>
          <a:p>
            <a:pPr marL="0" indent="0">
              <a:buNone/>
            </a:pPr>
            <a:r>
              <a:rPr lang="fr-FR" dirty="0">
                <a:latin typeface="+mn-lt"/>
              </a:rPr>
              <a:t>3. Technique 3: Storm control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4. Technique 4: NIC teaming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5. Technique 5: Limit and share</a:t>
            </a:r>
          </a:p>
          <a:p>
            <a:pPr marL="0" indent="0">
              <a:buNone/>
            </a:pPr>
            <a:r>
              <a:rPr lang="fr-FR" dirty="0">
                <a:latin typeface="+mn-lt"/>
              </a:rPr>
              <a:t>6. Technique 6: Traffic </a:t>
            </a:r>
            <a:r>
              <a:rPr lang="fr-FR" dirty="0" smtClean="0">
                <a:latin typeface="+mn-lt"/>
              </a:rPr>
              <a:t>shapping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293118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Load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Balancing in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" y="1553029"/>
            <a:ext cx="11833102" cy="46239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00"/>
                </a:solidFill>
                <a:latin typeface="+mn-lt"/>
              </a:rPr>
              <a:t>Load balancing that is presently prevalent in clouds is as follows</a:t>
            </a:r>
            <a:r>
              <a:rPr lang="en-US" sz="3000" b="1" dirty="0" smtClean="0">
                <a:solidFill>
                  <a:srgbClr val="FFFF00"/>
                </a:solidFill>
                <a:latin typeface="+mn-lt"/>
              </a:rPr>
              <a:t>:</a:t>
            </a:r>
          </a:p>
          <a:p>
            <a:r>
              <a:rPr lang="en-US" sz="2600" dirty="0">
                <a:latin typeface="+mn-lt"/>
              </a:rPr>
              <a:t>Decentralized content alert load </a:t>
            </a:r>
            <a:r>
              <a:rPr lang="en-US" sz="2600" dirty="0" smtClean="0">
                <a:latin typeface="+mn-lt"/>
              </a:rPr>
              <a:t>balancing</a:t>
            </a:r>
          </a:p>
          <a:p>
            <a:r>
              <a:rPr lang="en-US" sz="2600" dirty="0">
                <a:latin typeface="+mn-lt"/>
              </a:rPr>
              <a:t>Server-based load balancing for Internet allocated </a:t>
            </a:r>
            <a:r>
              <a:rPr lang="en-US" sz="2600" dirty="0" smtClean="0">
                <a:latin typeface="+mn-lt"/>
              </a:rPr>
              <a:t>services</a:t>
            </a:r>
          </a:p>
          <a:p>
            <a:r>
              <a:rPr lang="en-US" sz="2600" dirty="0" smtClean="0">
                <a:latin typeface="+mn-lt"/>
              </a:rPr>
              <a:t>Join–Idle–Queue</a:t>
            </a:r>
          </a:p>
          <a:p>
            <a:r>
              <a:rPr lang="en-US" sz="2600" dirty="0">
                <a:latin typeface="+mn-lt"/>
              </a:rPr>
              <a:t>A lock-free multiprocessing for load balancing (LB</a:t>
            </a:r>
            <a:r>
              <a:rPr lang="en-US" sz="2600" dirty="0" smtClean="0">
                <a:latin typeface="+mn-lt"/>
              </a:rPr>
              <a:t>)</a:t>
            </a:r>
          </a:p>
          <a:p>
            <a:r>
              <a:rPr lang="en-US" sz="2600" dirty="0">
                <a:latin typeface="+mn-lt"/>
              </a:rPr>
              <a:t>Scheduling scheme on load balancing of virtual machine </a:t>
            </a:r>
            <a:r>
              <a:rPr lang="en-US" sz="2600" dirty="0" smtClean="0">
                <a:latin typeface="+mn-lt"/>
              </a:rPr>
              <a:t>resources</a:t>
            </a:r>
          </a:p>
          <a:p>
            <a:r>
              <a:rPr lang="en-US" sz="2600" dirty="0">
                <a:latin typeface="+mn-lt"/>
              </a:rPr>
              <a:t>Central load balancing policy for virtual machines (CLBVM</a:t>
            </a:r>
            <a:r>
              <a:rPr lang="en-US" sz="2600" dirty="0" smtClean="0">
                <a:latin typeface="+mn-lt"/>
              </a:rPr>
              <a:t>)</a:t>
            </a:r>
          </a:p>
          <a:p>
            <a:r>
              <a:rPr lang="en-US" sz="2600" dirty="0">
                <a:latin typeface="+mn-lt"/>
              </a:rPr>
              <a:t>Load balancing scheme for virtual storage (LBVS</a:t>
            </a:r>
            <a:r>
              <a:rPr lang="en-US" sz="2600" dirty="0" smtClean="0">
                <a:latin typeface="+mn-lt"/>
              </a:rPr>
              <a:t>)</a:t>
            </a:r>
          </a:p>
          <a:p>
            <a:r>
              <a:rPr lang="en-US" sz="2600" dirty="0">
                <a:latin typeface="+mn-lt"/>
              </a:rPr>
              <a:t>Task scheduling algorithm based on load </a:t>
            </a:r>
            <a:r>
              <a:rPr lang="en-US" sz="2600" dirty="0" smtClean="0">
                <a:latin typeface="+mn-lt"/>
              </a:rPr>
              <a:t>balancing</a:t>
            </a:r>
          </a:p>
          <a:p>
            <a:r>
              <a:rPr lang="en-US" sz="2600" dirty="0"/>
              <a:t>Honeybee foraging behaviour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6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91220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smtClean="0">
                <a:solidFill>
                  <a:schemeClr val="tx1"/>
                </a:solidFill>
                <a:latin typeface="+mn-lt"/>
              </a:rPr>
              <a:t>Load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Balancing in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" y="1553029"/>
            <a:ext cx="11833102" cy="4623934"/>
          </a:xfrm>
        </p:spPr>
        <p:txBody>
          <a:bodyPr>
            <a:noAutofit/>
          </a:bodyPr>
          <a:lstStyle/>
          <a:p>
            <a:r>
              <a:rPr lang="en-US" sz="2600" dirty="0" smtClean="0">
                <a:latin typeface="+mn-lt"/>
              </a:rPr>
              <a:t>Biased </a:t>
            </a:r>
            <a:r>
              <a:rPr lang="en-US" sz="2600" dirty="0">
                <a:latin typeface="+mn-lt"/>
              </a:rPr>
              <a:t>random </a:t>
            </a:r>
            <a:r>
              <a:rPr lang="en-US" sz="2600" dirty="0" smtClean="0">
                <a:latin typeface="+mn-lt"/>
              </a:rPr>
              <a:t>sampling</a:t>
            </a:r>
          </a:p>
          <a:p>
            <a:r>
              <a:rPr lang="en-US" sz="2600" dirty="0">
                <a:latin typeface="+mn-lt"/>
              </a:rPr>
              <a:t>Active </a:t>
            </a:r>
            <a:r>
              <a:rPr lang="en-US" sz="2600" dirty="0" smtClean="0">
                <a:latin typeface="+mn-lt"/>
              </a:rPr>
              <a:t>clustering</a:t>
            </a:r>
          </a:p>
          <a:p>
            <a:r>
              <a:rPr lang="en-US" sz="2600" dirty="0">
                <a:latin typeface="+mn-lt"/>
              </a:rPr>
              <a:t>Load balancing procedure based on ant colony and complex network theory (ACCLB</a:t>
            </a:r>
            <a:r>
              <a:rPr lang="en-US" sz="2600" dirty="0" smtClean="0">
                <a:latin typeface="+mn-lt"/>
              </a:rPr>
              <a:t>)</a:t>
            </a:r>
          </a:p>
          <a:p>
            <a:r>
              <a:rPr lang="en-US" sz="2600" dirty="0">
                <a:latin typeface="+mn-lt"/>
              </a:rPr>
              <a:t>Two-phase load balancing </a:t>
            </a:r>
            <a:r>
              <a:rPr lang="en-US" sz="2600" dirty="0" smtClean="0">
                <a:latin typeface="+mn-lt"/>
              </a:rPr>
              <a:t>algorithm</a:t>
            </a:r>
          </a:p>
          <a:p>
            <a:r>
              <a:rPr lang="en-US" sz="2600" dirty="0" smtClean="0">
                <a:latin typeface="+mn-lt"/>
              </a:rPr>
              <a:t>Event-driven</a:t>
            </a:r>
          </a:p>
          <a:p>
            <a:r>
              <a:rPr lang="en-US" sz="2600" dirty="0" smtClean="0">
                <a:latin typeface="+mn-lt"/>
              </a:rPr>
              <a:t>Carton</a:t>
            </a:r>
          </a:p>
          <a:p>
            <a:r>
              <a:rPr lang="en-US" sz="2600" dirty="0">
                <a:latin typeface="+mn-lt"/>
              </a:rPr>
              <a:t>Compare and </a:t>
            </a:r>
            <a:r>
              <a:rPr lang="en-US" sz="2600" dirty="0" smtClean="0">
                <a:latin typeface="+mn-lt"/>
              </a:rPr>
              <a:t>balance</a:t>
            </a:r>
          </a:p>
          <a:p>
            <a:r>
              <a:rPr lang="en-US" sz="2600" dirty="0">
                <a:latin typeface="+mn-lt"/>
              </a:rPr>
              <a:t>Overheads </a:t>
            </a:r>
            <a:r>
              <a:rPr lang="en-US" sz="2600" dirty="0" smtClean="0">
                <a:latin typeface="+mn-lt"/>
              </a:rPr>
              <a:t>associated</a:t>
            </a:r>
          </a:p>
          <a:p>
            <a:r>
              <a:rPr lang="en-US" sz="2600" dirty="0" smtClean="0">
                <a:latin typeface="+mn-lt"/>
              </a:rPr>
              <a:t>Throughput</a:t>
            </a:r>
          </a:p>
          <a:p>
            <a:r>
              <a:rPr lang="en-US" sz="2600" dirty="0">
                <a:latin typeface="+mn-lt"/>
              </a:rPr>
              <a:t>VectorDot</a:t>
            </a:r>
            <a:endParaRPr lang="en-US" sz="2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750965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Virtual Machine Migration Services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" y="1553029"/>
            <a:ext cx="11833102" cy="462393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+mn-lt"/>
              </a:rPr>
              <a:t> VM </a:t>
            </a:r>
            <a:r>
              <a:rPr lang="en-US" sz="2400" dirty="0">
                <a:latin typeface="+mn-lt"/>
              </a:rPr>
              <a:t>migration is one of the vital strategies in the field of physical machine virtualization that </a:t>
            </a:r>
            <a:endParaRPr lang="en-US" sz="2400" dirty="0" smtClean="0">
              <a:latin typeface="+mn-lt"/>
            </a:endParaRPr>
          </a:p>
          <a:p>
            <a:pPr marL="0" indent="0">
              <a:buNone/>
            </a:pPr>
            <a:r>
              <a:rPr lang="en-US" sz="2400" dirty="0">
                <a:latin typeface="+mn-lt"/>
              </a:rPr>
              <a:t> </a:t>
            </a:r>
            <a:r>
              <a:rPr lang="en-US" sz="2400" dirty="0" smtClean="0">
                <a:latin typeface="+mn-lt"/>
              </a:rPr>
              <a:t>    permits applications </a:t>
            </a:r>
            <a:r>
              <a:rPr lang="en-US" sz="2400" dirty="0">
                <a:latin typeface="+mn-lt"/>
              </a:rPr>
              <a:t>to be clearly moved with their implementation settings across physical </a:t>
            </a:r>
            <a:endParaRPr lang="en-US" sz="2400" dirty="0" smtClean="0">
              <a:latin typeface="+mn-lt"/>
            </a:endParaRPr>
          </a:p>
          <a:p>
            <a:pPr marL="0" indent="0">
              <a:buNone/>
            </a:pPr>
            <a:r>
              <a:rPr lang="en-US" sz="2400" dirty="0">
                <a:latin typeface="+mn-lt"/>
              </a:rPr>
              <a:t> </a:t>
            </a:r>
            <a:r>
              <a:rPr lang="en-US" sz="2400" dirty="0" smtClean="0">
                <a:latin typeface="+mn-lt"/>
              </a:rPr>
              <a:t>    machines.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+mn-lt"/>
              </a:rPr>
              <a:t>  Virtual machine </a:t>
            </a:r>
            <a:r>
              <a:rPr lang="en-US" sz="2400" dirty="0">
                <a:latin typeface="+mn-lt"/>
              </a:rPr>
              <a:t>migration is required for server consolidation (power saving), resource </a:t>
            </a:r>
            <a:endParaRPr lang="en-US" sz="2400" dirty="0" smtClean="0">
              <a:latin typeface="+mn-lt"/>
            </a:endParaRPr>
          </a:p>
          <a:p>
            <a:pPr marL="0" indent="0">
              <a:buNone/>
            </a:pPr>
            <a:r>
              <a:rPr lang="en-US" sz="2400" dirty="0">
                <a:latin typeface="+mn-lt"/>
              </a:rPr>
              <a:t> </a:t>
            </a:r>
            <a:r>
              <a:rPr lang="en-US" sz="2400" dirty="0" smtClean="0">
                <a:latin typeface="+mn-lt"/>
              </a:rPr>
              <a:t>     scheduling</a:t>
            </a:r>
            <a:r>
              <a:rPr lang="en-US" sz="2400" dirty="0">
                <a:latin typeface="+mn-lt"/>
              </a:rPr>
              <a:t>, and </a:t>
            </a:r>
            <a:r>
              <a:rPr lang="en-US" sz="2400" dirty="0" smtClean="0">
                <a:latin typeface="+mn-lt"/>
              </a:rPr>
              <a:t>load balancing</a:t>
            </a:r>
            <a:r>
              <a:rPr lang="en-US" sz="2400" dirty="0">
                <a:latin typeface="+mn-lt"/>
              </a:rPr>
              <a:t>. For successful migration, interruption and migration time </a:t>
            </a:r>
            <a:endParaRPr lang="en-US" sz="2400" dirty="0" smtClean="0">
              <a:latin typeface="+mn-lt"/>
            </a:endParaRPr>
          </a:p>
          <a:p>
            <a:pPr marL="0" indent="0">
              <a:buNone/>
            </a:pPr>
            <a:r>
              <a:rPr lang="en-US" sz="2400" dirty="0">
                <a:latin typeface="+mn-lt"/>
              </a:rPr>
              <a:t> </a:t>
            </a:r>
            <a:r>
              <a:rPr lang="en-US" sz="2400" dirty="0" smtClean="0">
                <a:latin typeface="+mn-lt"/>
              </a:rPr>
              <a:t>     should </a:t>
            </a:r>
            <a:r>
              <a:rPr lang="en-US" sz="2400" dirty="0">
                <a:latin typeface="+mn-lt"/>
              </a:rPr>
              <a:t>be </a:t>
            </a:r>
            <a:r>
              <a:rPr lang="en-US" sz="2400" dirty="0" smtClean="0">
                <a:latin typeface="+mn-lt"/>
              </a:rPr>
              <a:t>minimized.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+mn-lt"/>
              </a:rPr>
              <a:t> The </a:t>
            </a:r>
            <a:r>
              <a:rPr lang="en-US" sz="2400" dirty="0">
                <a:latin typeface="+mn-lt"/>
              </a:rPr>
              <a:t>various virtual machine migration methods are </a:t>
            </a:r>
            <a:r>
              <a:rPr lang="en-US" sz="2400" dirty="0" smtClean="0">
                <a:latin typeface="+mn-lt"/>
              </a:rPr>
              <a:t>:</a:t>
            </a:r>
          </a:p>
          <a:p>
            <a:pPr lvl="3"/>
            <a:r>
              <a:rPr lang="en-US" sz="2200" dirty="0">
                <a:latin typeface="+mn-lt"/>
              </a:rPr>
              <a:t>Fault Tolerant </a:t>
            </a:r>
            <a:r>
              <a:rPr lang="en-US" sz="2200" dirty="0" smtClean="0">
                <a:latin typeface="+mn-lt"/>
              </a:rPr>
              <a:t>Migration</a:t>
            </a:r>
          </a:p>
          <a:p>
            <a:pPr lvl="3"/>
            <a:r>
              <a:rPr lang="en-US" sz="2200" dirty="0">
                <a:latin typeface="+mn-lt"/>
              </a:rPr>
              <a:t>Load Balancing </a:t>
            </a:r>
            <a:r>
              <a:rPr lang="en-US" sz="2200" dirty="0" smtClean="0">
                <a:latin typeface="+mn-lt"/>
              </a:rPr>
              <a:t>Migration</a:t>
            </a:r>
          </a:p>
          <a:p>
            <a:pPr lvl="3"/>
            <a:r>
              <a:rPr lang="en-US" sz="2200" dirty="0">
                <a:latin typeface="+mn-lt"/>
              </a:rPr>
              <a:t>Energy Efficient </a:t>
            </a:r>
            <a:r>
              <a:rPr lang="en-US" sz="2200" dirty="0" smtClean="0">
                <a:latin typeface="+mn-lt"/>
              </a:rPr>
              <a:t>Migration</a:t>
            </a:r>
          </a:p>
          <a:p>
            <a:pPr lvl="5">
              <a:buFont typeface="Wingdings" panose="05000000000000000000" pitchFamily="2" charset="2"/>
              <a:buChar char="ü"/>
            </a:pPr>
            <a:r>
              <a:rPr lang="en-US" sz="2200" dirty="0">
                <a:latin typeface="+mn-lt"/>
              </a:rPr>
              <a:t> </a:t>
            </a:r>
            <a:r>
              <a:rPr lang="en-US" sz="1600" dirty="0" smtClean="0">
                <a:latin typeface="+mn-lt"/>
              </a:rPr>
              <a:t>Pre-copy-based migration</a:t>
            </a:r>
          </a:p>
          <a:p>
            <a:pPr lvl="5">
              <a:buFont typeface="Wingdings" panose="05000000000000000000" pitchFamily="2" charset="2"/>
              <a:buChar char="ü"/>
            </a:pPr>
            <a:r>
              <a:rPr lang="en-US" sz="1600" dirty="0" smtClean="0">
                <a:latin typeface="+mn-lt"/>
              </a:rPr>
              <a:t> Post-copy-based </a:t>
            </a:r>
            <a:r>
              <a:rPr lang="en-US" sz="1600" dirty="0">
                <a:latin typeface="+mn-lt"/>
              </a:rPr>
              <a:t>migration</a:t>
            </a:r>
          </a:p>
          <a:p>
            <a:pPr marL="1371600" lvl="3" indent="0">
              <a:buNone/>
            </a:pPr>
            <a:endParaRPr lang="en-US" sz="2000" dirty="0">
              <a:latin typeface="+mn-lt"/>
            </a:endParaRPr>
          </a:p>
          <a:p>
            <a:pPr marL="1371600" lvl="3" indent="0">
              <a:buNone/>
            </a:pPr>
            <a:r>
              <a:rPr lang="en-US" sz="2400" dirty="0" smtClean="0">
                <a:latin typeface="+mn-lt"/>
              </a:rPr>
              <a:t>                             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379662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849689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Virtual Machine Migration Services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" y="1553029"/>
            <a:ext cx="11833102" cy="462393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600" b="1" i="1" dirty="0">
                <a:latin typeface="+mn-lt"/>
              </a:rPr>
              <a:t>Post-copy-based </a:t>
            </a:r>
            <a:r>
              <a:rPr lang="en-US" sz="2600" b="1" i="1" dirty="0" smtClean="0">
                <a:latin typeface="+mn-lt"/>
              </a:rPr>
              <a:t>migration</a:t>
            </a:r>
          </a:p>
          <a:p>
            <a:pPr marL="0" indent="0">
              <a:buNone/>
            </a:pPr>
            <a:r>
              <a:rPr lang="en-US" sz="2600" b="1" dirty="0" smtClean="0">
                <a:solidFill>
                  <a:srgbClr val="FFFF00"/>
                </a:solidFill>
                <a:latin typeface="+mn-lt"/>
              </a:rPr>
              <a:t>     The </a:t>
            </a:r>
            <a:r>
              <a:rPr lang="en-US" sz="2600" b="1" dirty="0">
                <a:solidFill>
                  <a:srgbClr val="FFFF00"/>
                </a:solidFill>
                <a:latin typeface="+mn-lt"/>
              </a:rPr>
              <a:t>steps included in the post-copy technique are as follows</a:t>
            </a:r>
            <a:r>
              <a:rPr lang="en-US" sz="2600" b="1" dirty="0" smtClean="0">
                <a:solidFill>
                  <a:srgbClr val="FFFF00"/>
                </a:solidFill>
                <a:latin typeface="+mn-lt"/>
              </a:rPr>
              <a:t>:</a:t>
            </a:r>
          </a:p>
          <a:p>
            <a:pPr marL="0" indent="0">
              <a:buNone/>
            </a:pPr>
            <a:r>
              <a:rPr lang="en-US" sz="2600" dirty="0">
                <a:latin typeface="+mn-lt"/>
              </a:rPr>
              <a:t>1. </a:t>
            </a:r>
            <a:r>
              <a:rPr lang="en-US" sz="2600" dirty="0" smtClean="0">
                <a:latin typeface="+mn-lt"/>
              </a:rPr>
              <a:t> The </a:t>
            </a:r>
            <a:r>
              <a:rPr lang="en-US" sz="2600" dirty="0">
                <a:latin typeface="+mn-lt"/>
              </a:rPr>
              <a:t>virtual machine is on the source machine.</a:t>
            </a:r>
          </a:p>
          <a:p>
            <a:pPr marL="0" indent="0">
              <a:buNone/>
            </a:pPr>
            <a:r>
              <a:rPr lang="en-US" sz="2600" dirty="0">
                <a:latin typeface="+mn-lt"/>
              </a:rPr>
              <a:t>2. </a:t>
            </a:r>
            <a:r>
              <a:rPr lang="en-US" sz="2600" dirty="0" smtClean="0">
                <a:latin typeface="+mn-lt"/>
              </a:rPr>
              <a:t> The </a:t>
            </a:r>
            <a:r>
              <a:rPr lang="en-US" sz="2600" dirty="0">
                <a:latin typeface="+mn-lt"/>
              </a:rPr>
              <a:t>execution state of the virtual machine is </a:t>
            </a:r>
            <a:endParaRPr lang="en-US" sz="2600" dirty="0" smtClean="0">
              <a:latin typeface="+mn-lt"/>
            </a:endParaRPr>
          </a:p>
          <a:p>
            <a:pPr marL="0" indent="0">
              <a:buNone/>
            </a:pPr>
            <a:r>
              <a:rPr lang="en-US" sz="2600" dirty="0">
                <a:latin typeface="+mn-lt"/>
              </a:rPr>
              <a:t> </a:t>
            </a:r>
            <a:r>
              <a:rPr lang="en-US" sz="2600" dirty="0" smtClean="0">
                <a:latin typeface="+mn-lt"/>
              </a:rPr>
              <a:t>     transferred </a:t>
            </a:r>
            <a:r>
              <a:rPr lang="en-US" sz="2600" dirty="0">
                <a:latin typeface="+mn-lt"/>
              </a:rPr>
              <a:t>before memory is transferred </a:t>
            </a:r>
            <a:endParaRPr lang="en-US" sz="2600" dirty="0" smtClean="0">
              <a:latin typeface="+mn-lt"/>
            </a:endParaRPr>
          </a:p>
          <a:p>
            <a:pPr marL="0" indent="0">
              <a:buNone/>
            </a:pPr>
            <a:r>
              <a:rPr lang="en-US" sz="2600" dirty="0">
                <a:latin typeface="+mn-lt"/>
              </a:rPr>
              <a:t> </a:t>
            </a:r>
            <a:r>
              <a:rPr lang="en-US" sz="2600" dirty="0" smtClean="0">
                <a:latin typeface="+mn-lt"/>
              </a:rPr>
              <a:t>     and </a:t>
            </a:r>
            <a:r>
              <a:rPr lang="en-US" sz="2600" dirty="0">
                <a:latin typeface="+mn-lt"/>
              </a:rPr>
              <a:t>if </a:t>
            </a:r>
            <a:r>
              <a:rPr lang="en-US" sz="2600" dirty="0" smtClean="0">
                <a:latin typeface="+mn-lt"/>
              </a:rPr>
              <a:t>the page </a:t>
            </a:r>
            <a:r>
              <a:rPr lang="en-US" sz="2600" dirty="0">
                <a:latin typeface="+mn-lt"/>
              </a:rPr>
              <a:t>generates page fault then the </a:t>
            </a:r>
            <a:endParaRPr lang="en-US" sz="2600" dirty="0" smtClean="0">
              <a:latin typeface="+mn-lt"/>
            </a:endParaRPr>
          </a:p>
          <a:p>
            <a:pPr marL="0" indent="0">
              <a:buNone/>
            </a:pPr>
            <a:r>
              <a:rPr lang="en-US" sz="2600" dirty="0">
                <a:latin typeface="+mn-lt"/>
              </a:rPr>
              <a:t> </a:t>
            </a:r>
            <a:r>
              <a:rPr lang="en-US" sz="2600" dirty="0" smtClean="0">
                <a:latin typeface="+mn-lt"/>
              </a:rPr>
              <a:t>     requested </a:t>
            </a:r>
            <a:r>
              <a:rPr lang="en-US" sz="2600" dirty="0">
                <a:latin typeface="+mn-lt"/>
              </a:rPr>
              <a:t>page is transferred.</a:t>
            </a:r>
          </a:p>
          <a:p>
            <a:pPr marL="0" indent="0">
              <a:buNone/>
            </a:pPr>
            <a:r>
              <a:rPr lang="en-US" sz="2600" dirty="0">
                <a:latin typeface="+mn-lt"/>
              </a:rPr>
              <a:t>3. </a:t>
            </a:r>
            <a:r>
              <a:rPr lang="en-US" sz="2600" dirty="0" smtClean="0">
                <a:latin typeface="+mn-lt"/>
              </a:rPr>
              <a:t> The </a:t>
            </a:r>
            <a:r>
              <a:rPr lang="en-US" sz="2600" dirty="0">
                <a:latin typeface="+mn-lt"/>
              </a:rPr>
              <a:t>virtual machine is activated on the target </a:t>
            </a:r>
            <a:endParaRPr lang="en-US" sz="2600" dirty="0" smtClean="0">
              <a:latin typeface="+mn-lt"/>
            </a:endParaRPr>
          </a:p>
          <a:p>
            <a:pPr marL="0" indent="0">
              <a:buNone/>
            </a:pPr>
            <a:r>
              <a:rPr lang="en-US" sz="2600" dirty="0">
                <a:latin typeface="+mn-lt"/>
              </a:rPr>
              <a:t> </a:t>
            </a:r>
            <a:r>
              <a:rPr lang="en-US" sz="2600" dirty="0" smtClean="0">
                <a:latin typeface="+mn-lt"/>
              </a:rPr>
              <a:t>     machine</a:t>
            </a:r>
            <a:r>
              <a:rPr lang="en-US" sz="2600" dirty="0">
                <a:latin typeface="+mn-lt"/>
              </a:rPr>
              <a:t>, later.</a:t>
            </a:r>
            <a:endParaRPr lang="en-US" sz="2600" dirty="0" smtClean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6714" y="2716915"/>
            <a:ext cx="4762500" cy="332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7933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Virtual Machine Migration Services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" y="1553029"/>
            <a:ext cx="11833102" cy="462393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600" b="1" i="1" dirty="0" smtClean="0">
                <a:latin typeface="+mn-lt"/>
              </a:rPr>
              <a:t>Pre-copy-based migration</a:t>
            </a:r>
          </a:p>
          <a:p>
            <a:r>
              <a:rPr lang="en-US" sz="2600" dirty="0" smtClean="0">
                <a:latin typeface="+mn-lt"/>
              </a:rPr>
              <a:t>Pre-copy </a:t>
            </a:r>
            <a:r>
              <a:rPr lang="en-US" sz="2600" dirty="0">
                <a:latin typeface="+mn-lt"/>
              </a:rPr>
              <a:t>technique is usually employed for live migration. In the </a:t>
            </a:r>
            <a:r>
              <a:rPr lang="en-US" sz="2600" dirty="0" smtClean="0">
                <a:latin typeface="+mn-lt"/>
              </a:rPr>
              <a:t>beginning, it </a:t>
            </a:r>
            <a:r>
              <a:rPr lang="en-US" sz="2600" dirty="0">
                <a:latin typeface="+mn-lt"/>
              </a:rPr>
              <a:t>shifts each of the memory pages to the target machine. Then, iteratively, copies of pages </a:t>
            </a:r>
            <a:r>
              <a:rPr lang="en-US" sz="2600" dirty="0" smtClean="0">
                <a:latin typeface="+mn-lt"/>
              </a:rPr>
              <a:t>are altered </a:t>
            </a:r>
            <a:r>
              <a:rPr lang="en-US" sz="2600" dirty="0">
                <a:latin typeface="+mn-lt"/>
              </a:rPr>
              <a:t>in the last round as shown in Fig. 7.8.</a:t>
            </a:r>
            <a:r>
              <a:rPr lang="en-US" sz="2600" dirty="0" smtClean="0">
                <a:latin typeface="+mn-lt"/>
              </a:rPr>
              <a:t>1.</a:t>
            </a:r>
          </a:p>
          <a:p>
            <a:pPr marL="0" indent="0">
              <a:buNone/>
            </a:pPr>
            <a:r>
              <a:rPr lang="en-US" sz="2600" dirty="0">
                <a:latin typeface="+mn-lt"/>
              </a:rPr>
              <a:t>  </a:t>
            </a:r>
            <a:r>
              <a:rPr lang="en-US" sz="2600" dirty="0" smtClean="0">
                <a:latin typeface="+mn-lt"/>
              </a:rPr>
              <a:t> </a:t>
            </a:r>
            <a:r>
              <a:rPr lang="en-US" sz="2600" b="1" dirty="0" smtClean="0">
                <a:solidFill>
                  <a:srgbClr val="FFFF00"/>
                </a:solidFill>
                <a:latin typeface="+mn-lt"/>
              </a:rPr>
              <a:t>The </a:t>
            </a:r>
            <a:r>
              <a:rPr lang="en-US" sz="2600" b="1" dirty="0">
                <a:solidFill>
                  <a:srgbClr val="FFFF00"/>
                </a:solidFill>
                <a:latin typeface="+mn-lt"/>
              </a:rPr>
              <a:t>steps </a:t>
            </a:r>
            <a:r>
              <a:rPr lang="en-US" sz="2600" b="1" dirty="0" smtClean="0">
                <a:solidFill>
                  <a:srgbClr val="FFFF00"/>
                </a:solidFill>
                <a:latin typeface="+mn-lt"/>
              </a:rPr>
              <a:t>included  in pre-copy </a:t>
            </a:r>
            <a:r>
              <a:rPr lang="en-US" sz="2600" b="1" dirty="0">
                <a:solidFill>
                  <a:srgbClr val="FFFF00"/>
                </a:solidFill>
                <a:latin typeface="+mn-lt"/>
              </a:rPr>
              <a:t>migration are as </a:t>
            </a:r>
            <a:endParaRPr lang="en-US" sz="2600" b="1" dirty="0" smtClean="0">
              <a:solidFill>
                <a:srgbClr val="FFFF00"/>
              </a:solidFill>
              <a:latin typeface="+mn-lt"/>
            </a:endParaRPr>
          </a:p>
          <a:p>
            <a:pPr marL="0" indent="0">
              <a:buNone/>
            </a:pPr>
            <a:r>
              <a:rPr lang="en-US" sz="2600" b="1" dirty="0">
                <a:solidFill>
                  <a:srgbClr val="FFFF00"/>
                </a:solidFill>
                <a:latin typeface="+mn-lt"/>
              </a:rPr>
              <a:t> </a:t>
            </a:r>
            <a:r>
              <a:rPr lang="en-US" sz="2600" b="1" dirty="0" smtClean="0">
                <a:solidFill>
                  <a:srgbClr val="FFFF00"/>
                </a:solidFill>
                <a:latin typeface="+mn-lt"/>
              </a:rPr>
              <a:t>  follows</a:t>
            </a:r>
            <a:r>
              <a:rPr lang="en-US" sz="2600" b="1" dirty="0">
                <a:solidFill>
                  <a:srgbClr val="FFFF00"/>
                </a:solidFill>
                <a:latin typeface="+mn-lt"/>
              </a:rPr>
              <a:t>:</a:t>
            </a:r>
          </a:p>
          <a:p>
            <a:pPr marL="0" indent="0">
              <a:buNone/>
            </a:pPr>
            <a:r>
              <a:rPr lang="en-US" sz="2600" dirty="0" smtClean="0">
                <a:latin typeface="+mn-lt"/>
              </a:rPr>
              <a:t>       1</a:t>
            </a:r>
            <a:r>
              <a:rPr lang="en-US" sz="2600" dirty="0">
                <a:latin typeface="+mn-lt"/>
              </a:rPr>
              <a:t>. Send all the memory pages to the target </a:t>
            </a:r>
            <a:endParaRPr lang="en-US" sz="2600" dirty="0" smtClean="0">
              <a:latin typeface="+mn-lt"/>
            </a:endParaRPr>
          </a:p>
          <a:p>
            <a:pPr marL="0" indent="0">
              <a:buNone/>
            </a:pPr>
            <a:r>
              <a:rPr lang="en-US" sz="2600" dirty="0">
                <a:latin typeface="+mn-lt"/>
              </a:rPr>
              <a:t> </a:t>
            </a:r>
            <a:r>
              <a:rPr lang="en-US" sz="2600" dirty="0" smtClean="0">
                <a:latin typeface="+mn-lt"/>
              </a:rPr>
              <a:t>      machine</a:t>
            </a:r>
            <a:endParaRPr lang="en-US" sz="2600" dirty="0">
              <a:latin typeface="+mn-lt"/>
            </a:endParaRPr>
          </a:p>
          <a:p>
            <a:pPr marL="0" indent="0">
              <a:buNone/>
            </a:pPr>
            <a:r>
              <a:rPr lang="en-US" sz="2600" dirty="0" smtClean="0">
                <a:latin typeface="+mn-lt"/>
              </a:rPr>
              <a:t>       2</a:t>
            </a:r>
            <a:r>
              <a:rPr lang="en-US" sz="2600" dirty="0">
                <a:latin typeface="+mn-lt"/>
              </a:rPr>
              <a:t>. Transfer the modified pages</a:t>
            </a:r>
          </a:p>
          <a:p>
            <a:pPr marL="0" indent="0">
              <a:buNone/>
            </a:pPr>
            <a:r>
              <a:rPr lang="en-US" sz="2600" dirty="0" smtClean="0">
                <a:latin typeface="+mn-lt"/>
              </a:rPr>
              <a:t>       3</a:t>
            </a:r>
            <a:r>
              <a:rPr lang="en-US" sz="2600" dirty="0">
                <a:latin typeface="+mn-lt"/>
              </a:rPr>
              <a:t>. Virtual machines activate the target machine</a:t>
            </a:r>
            <a:endParaRPr lang="en-US" sz="2600" dirty="0" smtClean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4733" y="2859293"/>
            <a:ext cx="4657725" cy="341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3752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08478" y="3179577"/>
            <a:ext cx="11684000" cy="1071789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Thank You!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752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2055</TotalTime>
  <Words>1148</Words>
  <Application>Microsoft Office PowerPoint</Application>
  <PresentationFormat>Custom</PresentationFormat>
  <Paragraphs>148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Chapter 7</vt:lpstr>
      <vt:lpstr>Learning Outcomes</vt:lpstr>
      <vt:lpstr>Exploring Network Virtualization</vt:lpstr>
      <vt:lpstr>Exploring Network Virtualization</vt:lpstr>
      <vt:lpstr>Benefits of Network Virtualization</vt:lpstr>
      <vt:lpstr>Features of Network Components</vt:lpstr>
      <vt:lpstr>Features of Network Components</vt:lpstr>
      <vt:lpstr>Features of Network Components</vt:lpstr>
      <vt:lpstr>Traffic Management and its Techniques</vt:lpstr>
      <vt:lpstr>Traffic Management and its Techniques</vt:lpstr>
      <vt:lpstr>Load Balancing in Cloud Computing</vt:lpstr>
      <vt:lpstr>Load Balancing in Cloud Computing</vt:lpstr>
      <vt:lpstr>Virtual Machine Migration Services</vt:lpstr>
      <vt:lpstr>Virtual Machine Migration Services</vt:lpstr>
      <vt:lpstr>Virtual Machine Migration Services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Chowdhury, Sayantan</dc:creator>
  <cp:lastModifiedBy>Dhawan, Neha</cp:lastModifiedBy>
  <cp:revision>139</cp:revision>
  <dcterms:created xsi:type="dcterms:W3CDTF">2018-06-14T06:27:15Z</dcterms:created>
  <dcterms:modified xsi:type="dcterms:W3CDTF">2018-08-30T11:24:37Z</dcterms:modified>
</cp:coreProperties>
</file>