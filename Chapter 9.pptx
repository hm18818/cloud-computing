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60" r:id="rId3"/>
    <p:sldId id="257" r:id="rId4"/>
    <p:sldId id="342" r:id="rId5"/>
    <p:sldId id="343" r:id="rId6"/>
    <p:sldId id="370" r:id="rId7"/>
    <p:sldId id="356" r:id="rId8"/>
    <p:sldId id="344" r:id="rId9"/>
    <p:sldId id="371" r:id="rId10"/>
    <p:sldId id="372" r:id="rId11"/>
    <p:sldId id="373" r:id="rId12"/>
    <p:sldId id="374" r:id="rId13"/>
    <p:sldId id="375" r:id="rId14"/>
    <p:sldId id="376" r:id="rId15"/>
    <p:sldId id="377" r:id="rId16"/>
    <p:sldId id="378" r:id="rId17"/>
    <p:sldId id="379" r:id="rId18"/>
    <p:sldId id="380" r:id="rId19"/>
    <p:sldId id="382" r:id="rId20"/>
    <p:sldId id="381" r:id="rId21"/>
    <p:sldId id="28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66EAE"/>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91" autoAdjust="0"/>
    <p:restoredTop sz="94660"/>
  </p:normalViewPr>
  <p:slideViewPr>
    <p:cSldViewPr snapToGrid="0">
      <p:cViewPr varScale="1">
        <p:scale>
          <a:sx n="77" d="100"/>
          <a:sy n="77" d="100"/>
        </p:scale>
        <p:origin x="-114" y="-57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0DA5E15-EA7C-4AE6-A7FE-6EE8949B26F4}" type="datetimeFigureOut">
              <a:rPr lang="en-US" smtClean="0"/>
              <a:t>8/30/2018</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A83C74D-DBCC-462F-80C9-23B653553D81}" type="slidenum">
              <a:rPr lang="en-US" smtClean="0"/>
              <a:t>‹#›</a:t>
            </a:fld>
            <a:endParaRPr lang="en-US" dirty="0"/>
          </a:p>
        </p:txBody>
      </p:sp>
    </p:spTree>
    <p:extLst>
      <p:ext uri="{BB962C8B-B14F-4D97-AF65-F5344CB8AC3E}">
        <p14:creationId xmlns:p14="http://schemas.microsoft.com/office/powerpoint/2010/main" val="3619347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A83C74D-DBCC-462F-80C9-23B653553D81}" type="slidenum">
              <a:rPr lang="en-US" smtClean="0"/>
              <a:t>21</a:t>
            </a:fld>
            <a:endParaRPr lang="en-US" dirty="0"/>
          </a:p>
        </p:txBody>
      </p:sp>
    </p:spTree>
    <p:extLst>
      <p:ext uri="{BB962C8B-B14F-4D97-AF65-F5344CB8AC3E}">
        <p14:creationId xmlns:p14="http://schemas.microsoft.com/office/powerpoint/2010/main" val="40703142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3C95271-EAF6-4654-82A8-BE1747C4483D}" type="datetimeFigureOut">
              <a:rPr lang="en-US" smtClean="0"/>
              <a:t>8/30/2018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668F581-6023-4562-B0C8-C7FA9B9410A5}" type="slidenum">
              <a:rPr lang="en-US" smtClean="0"/>
              <a:t>‹#›</a:t>
            </a:fld>
            <a:endParaRPr lang="en-US" dirty="0"/>
          </a:p>
        </p:txBody>
      </p:sp>
    </p:spTree>
    <p:extLst>
      <p:ext uri="{BB962C8B-B14F-4D97-AF65-F5344CB8AC3E}">
        <p14:creationId xmlns:p14="http://schemas.microsoft.com/office/powerpoint/2010/main" val="23988750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32229" y="365125"/>
            <a:ext cx="11684000" cy="1071789"/>
          </a:xfrm>
        </p:spPr>
        <p:txBody>
          <a:bodyPr/>
          <a:lstStyle>
            <a:lvl1pPr>
              <a:defRPr b="1">
                <a:solidFill>
                  <a:schemeClr val="bg1"/>
                </a:solidFill>
                <a:latin typeface="Candara" panose="020E0502030303020204" pitchFamily="34" charset="0"/>
              </a:defRPr>
            </a:lvl1pPr>
          </a:lstStyle>
          <a:p>
            <a:r>
              <a:rPr lang="en-US" dirty="0" smtClean="0"/>
              <a:t>Topic: </a:t>
            </a:r>
            <a:endParaRPr lang="en-US" dirty="0"/>
          </a:p>
        </p:txBody>
      </p:sp>
      <p:sp>
        <p:nvSpPr>
          <p:cNvPr id="3" name="Content Placeholder 2"/>
          <p:cNvSpPr>
            <a:spLocks noGrp="1"/>
          </p:cNvSpPr>
          <p:nvPr>
            <p:ph idx="1"/>
          </p:nvPr>
        </p:nvSpPr>
        <p:spPr>
          <a:xfrm>
            <a:off x="232229" y="1553029"/>
            <a:ext cx="11684000" cy="4623934"/>
          </a:xfrm>
        </p:spPr>
        <p:txBody>
          <a:bodyPr/>
          <a:lstStyle>
            <a:lvl1pPr>
              <a:defRPr>
                <a:solidFill>
                  <a:schemeClr val="tx1">
                    <a:lumMod val="85000"/>
                    <a:lumOff val="15000"/>
                  </a:schemeClr>
                </a:solidFill>
                <a:latin typeface="Candara" panose="020E0502030303020204" pitchFamily="34" charset="0"/>
              </a:defRPr>
            </a:lvl1pPr>
            <a:lvl2pPr>
              <a:defRPr>
                <a:solidFill>
                  <a:schemeClr val="tx1">
                    <a:lumMod val="85000"/>
                    <a:lumOff val="15000"/>
                  </a:schemeClr>
                </a:solidFill>
                <a:latin typeface="Candara" panose="020E0502030303020204" pitchFamily="34" charset="0"/>
              </a:defRPr>
            </a:lvl2pPr>
            <a:lvl3pPr>
              <a:defRPr>
                <a:solidFill>
                  <a:schemeClr val="tx1">
                    <a:lumMod val="85000"/>
                    <a:lumOff val="15000"/>
                  </a:schemeClr>
                </a:solidFill>
                <a:latin typeface="Candara" panose="020E0502030303020204" pitchFamily="34" charset="0"/>
              </a:defRPr>
            </a:lvl3pPr>
            <a:lvl4pPr>
              <a:defRPr>
                <a:solidFill>
                  <a:schemeClr val="tx1">
                    <a:lumMod val="85000"/>
                    <a:lumOff val="15000"/>
                  </a:schemeClr>
                </a:solidFill>
                <a:latin typeface="Candara" panose="020E0502030303020204" pitchFamily="34" charset="0"/>
              </a:defRPr>
            </a:lvl4pPr>
            <a:lvl5pPr>
              <a:defRPr>
                <a:solidFill>
                  <a:schemeClr val="tx1">
                    <a:lumMod val="85000"/>
                    <a:lumOff val="15000"/>
                  </a:schemeClr>
                </a:solidFill>
                <a:latin typeface="Candara" panose="020E050203030302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C3C95271-EAF6-4654-82A8-BE1747C4483D}" type="datetimeFigureOut">
              <a:rPr lang="en-US" smtClean="0"/>
              <a:t>8/30/2018</a:t>
            </a:fld>
            <a:endParaRPr lang="en-US" dirty="0"/>
          </a:p>
        </p:txBody>
      </p:sp>
      <p:sp>
        <p:nvSpPr>
          <p:cNvPr id="5" name="Footer Placeholder 4"/>
          <p:cNvSpPr>
            <a:spLocks noGrp="1"/>
          </p:cNvSpPr>
          <p:nvPr>
            <p:ph type="ftr" sz="quarter" idx="11"/>
          </p:nvPr>
        </p:nvSpPr>
        <p:spPr/>
        <p:txBody>
          <a:bodyPr/>
          <a:lstStyle>
            <a:lvl1pPr>
              <a:defRPr>
                <a:solidFill>
                  <a:schemeClr val="tx1">
                    <a:lumMod val="85000"/>
                    <a:lumOff val="15000"/>
                  </a:schemeClr>
                </a:solidFill>
              </a:defRPr>
            </a:lvl1pPr>
          </a:lstStyle>
          <a:p>
            <a:r>
              <a:rPr lang="en-US" dirty="0" smtClean="0"/>
              <a:t>© Oxford University Press India. All rights reserved.</a:t>
            </a:r>
            <a:endParaRPr lang="en-US" dirty="0"/>
          </a:p>
        </p:txBody>
      </p:sp>
      <p:sp>
        <p:nvSpPr>
          <p:cNvPr id="6" name="Slide Number Placeholder 5"/>
          <p:cNvSpPr>
            <a:spLocks noGrp="1"/>
          </p:cNvSpPr>
          <p:nvPr>
            <p:ph type="sldNum" sz="quarter" idx="12"/>
          </p:nvPr>
        </p:nvSpPr>
        <p:spPr/>
        <p:txBody>
          <a:bodyPr/>
          <a:lstStyle/>
          <a:p>
            <a:fld id="{F668F581-6023-4562-B0C8-C7FA9B9410A5}" type="slidenum">
              <a:rPr lang="en-US" smtClean="0"/>
              <a:t>‹#›</a:t>
            </a:fld>
            <a:endParaRPr lang="en-US" dirty="0"/>
          </a:p>
        </p:txBody>
      </p:sp>
    </p:spTree>
    <p:extLst>
      <p:ext uri="{BB962C8B-B14F-4D97-AF65-F5344CB8AC3E}">
        <p14:creationId xmlns:p14="http://schemas.microsoft.com/office/powerpoint/2010/main" val="4846208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1709738"/>
            <a:ext cx="10515600" cy="2852737"/>
          </a:xfrm>
        </p:spPr>
        <p:txBody>
          <a:bodyPr anchor="b"/>
          <a:lstStyle>
            <a:lvl1pPr>
              <a:defRPr sz="6000" baseline="0"/>
            </a:lvl1pPr>
          </a:lstStyle>
          <a:p>
            <a:r>
              <a:rPr lang="en-US" dirty="0" smtClean="0"/>
              <a:t>Chapter name</a:t>
            </a:r>
            <a:endParaRPr lang="en-US" dirty="0"/>
          </a:p>
        </p:txBody>
      </p:sp>
      <p:sp>
        <p:nvSpPr>
          <p:cNvPr id="3" name="Text Placeholder 2"/>
          <p:cNvSpPr>
            <a:spLocks noGrp="1"/>
          </p:cNvSpPr>
          <p:nvPr>
            <p:ph type="body" idx="1" hasCustomPrompt="1"/>
          </p:nvPr>
        </p:nvSpPr>
        <p:spPr>
          <a:xfrm>
            <a:off x="831850" y="4589463"/>
            <a:ext cx="10515600" cy="1500187"/>
          </a:xfrm>
        </p:spPr>
        <p:txBody>
          <a:bodyPr>
            <a:normAutofit/>
          </a:bodyPr>
          <a:lstStyle>
            <a:lvl1pPr marL="0" indent="0">
              <a:buNone/>
              <a:defRPr sz="3600" baseline="0">
                <a:solidFill>
                  <a:schemeClr val="bg2">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smtClean="0"/>
              <a:t>Chapter no</a:t>
            </a:r>
          </a:p>
        </p:txBody>
      </p:sp>
      <p:sp>
        <p:nvSpPr>
          <p:cNvPr id="4" name="Date Placeholder 3"/>
          <p:cNvSpPr>
            <a:spLocks noGrp="1"/>
          </p:cNvSpPr>
          <p:nvPr>
            <p:ph type="dt" sz="half" idx="10"/>
          </p:nvPr>
        </p:nvSpPr>
        <p:spPr/>
        <p:txBody>
          <a:bodyPr/>
          <a:lstStyle/>
          <a:p>
            <a:fld id="{C3C95271-EAF6-4654-82A8-BE1747C4483D}" type="datetimeFigureOut">
              <a:rPr lang="en-US" smtClean="0"/>
              <a:t>8/30/2018</a:t>
            </a:fld>
            <a:endParaRPr lang="en-US" dirty="0"/>
          </a:p>
        </p:txBody>
      </p:sp>
      <p:sp>
        <p:nvSpPr>
          <p:cNvPr id="5" name="Footer Placeholder 4"/>
          <p:cNvSpPr>
            <a:spLocks noGrp="1"/>
          </p:cNvSpPr>
          <p:nvPr>
            <p:ph type="ftr" sz="quarter" idx="11"/>
          </p:nvPr>
        </p:nvSpPr>
        <p:spPr/>
        <p:txBody>
          <a:bodyPr/>
          <a:lstStyle>
            <a:lvl1pPr>
              <a:defRPr>
                <a:solidFill>
                  <a:schemeClr val="bg2">
                    <a:lumMod val="50000"/>
                  </a:schemeClr>
                </a:solidFill>
              </a:defRPr>
            </a:lvl1pPr>
          </a:lstStyle>
          <a:p>
            <a:r>
              <a:rPr lang="en-US" dirty="0" smtClean="0"/>
              <a:t>© Oxford University Press India. All rights reserved.</a:t>
            </a:r>
            <a:endParaRPr lang="en-US" dirty="0"/>
          </a:p>
        </p:txBody>
      </p:sp>
      <p:sp>
        <p:nvSpPr>
          <p:cNvPr id="6" name="Slide Number Placeholder 5"/>
          <p:cNvSpPr>
            <a:spLocks noGrp="1"/>
          </p:cNvSpPr>
          <p:nvPr>
            <p:ph type="sldNum" sz="quarter" idx="12"/>
          </p:nvPr>
        </p:nvSpPr>
        <p:spPr/>
        <p:txBody>
          <a:bodyPr/>
          <a:lstStyle/>
          <a:p>
            <a:fld id="{F668F581-6023-4562-B0C8-C7FA9B9410A5}" type="slidenum">
              <a:rPr lang="en-US" smtClean="0"/>
              <a:t>‹#›</a:t>
            </a:fld>
            <a:endParaRPr lang="en-US" dirty="0"/>
          </a:p>
        </p:txBody>
      </p:sp>
    </p:spTree>
    <p:extLst>
      <p:ext uri="{BB962C8B-B14F-4D97-AF65-F5344CB8AC3E}">
        <p14:creationId xmlns:p14="http://schemas.microsoft.com/office/powerpoint/2010/main" val="21110762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3C95271-EAF6-4654-82A8-BE1747C4483D}" type="datetimeFigureOut">
              <a:rPr lang="en-US" smtClean="0"/>
              <a:t>8/30/2018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668F581-6023-4562-B0C8-C7FA9B9410A5}" type="slidenum">
              <a:rPr lang="en-US" smtClean="0"/>
              <a:t>‹#›</a:t>
            </a:fld>
            <a:endParaRPr lang="en-US" dirty="0"/>
          </a:p>
        </p:txBody>
      </p:sp>
    </p:spTree>
    <p:extLst>
      <p:ext uri="{BB962C8B-B14F-4D97-AF65-F5344CB8AC3E}">
        <p14:creationId xmlns:p14="http://schemas.microsoft.com/office/powerpoint/2010/main" val="42092868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3C95271-EAF6-4654-82A8-BE1747C4483D}" type="datetimeFigureOut">
              <a:rPr lang="en-US" smtClean="0"/>
              <a:t>8/30/2018</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F668F581-6023-4562-B0C8-C7FA9B9410A5}" type="slidenum">
              <a:rPr lang="en-US" smtClean="0"/>
              <a:t>‹#›</a:t>
            </a:fld>
            <a:endParaRPr lang="en-US" dirty="0"/>
          </a:p>
        </p:txBody>
      </p:sp>
    </p:spTree>
    <p:extLst>
      <p:ext uri="{BB962C8B-B14F-4D97-AF65-F5344CB8AC3E}">
        <p14:creationId xmlns:p14="http://schemas.microsoft.com/office/powerpoint/2010/main" val="1438293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3C95271-EAF6-4654-82A8-BE1747C4483D}" type="datetimeFigureOut">
              <a:rPr lang="en-US" smtClean="0"/>
              <a:t>8/30/2018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F668F581-6023-4562-B0C8-C7FA9B9410A5}" type="slidenum">
              <a:rPr lang="en-US" smtClean="0"/>
              <a:t>‹#›</a:t>
            </a:fld>
            <a:endParaRPr lang="en-US" dirty="0"/>
          </a:p>
        </p:txBody>
      </p:sp>
    </p:spTree>
    <p:extLst>
      <p:ext uri="{BB962C8B-B14F-4D97-AF65-F5344CB8AC3E}">
        <p14:creationId xmlns:p14="http://schemas.microsoft.com/office/powerpoint/2010/main" val="4591819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C95271-EAF6-4654-82A8-BE1747C4483D}" type="datetimeFigureOut">
              <a:rPr lang="en-US" smtClean="0"/>
              <a:t>8/30/2018</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F668F581-6023-4562-B0C8-C7FA9B9410A5}" type="slidenum">
              <a:rPr lang="en-US" smtClean="0"/>
              <a:t>‹#›</a:t>
            </a:fld>
            <a:endParaRPr lang="en-US" dirty="0"/>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749597" y="890117"/>
            <a:ext cx="3604203" cy="4801691"/>
          </a:xfrm>
          <a:prstGeom prst="rect">
            <a:avLst/>
          </a:prstGeom>
          <a:ln w="3175">
            <a:solidFill>
              <a:schemeClr val="bg1">
                <a:lumMod val="75000"/>
              </a:schemeClr>
            </a:solidFill>
          </a:ln>
          <a:effectLst>
            <a:outerShdw blurRad="50800" dist="38100" dir="2700000" algn="tl" rotWithShape="0">
              <a:prstClr val="black">
                <a:alpha val="40000"/>
              </a:prstClr>
            </a:outerShdw>
          </a:effectLst>
        </p:spPr>
      </p:pic>
      <p:sp>
        <p:nvSpPr>
          <p:cNvPr id="6" name="TextBox 5"/>
          <p:cNvSpPr txBox="1"/>
          <p:nvPr userDrawn="1"/>
        </p:nvSpPr>
        <p:spPr>
          <a:xfrm>
            <a:off x="1524000" y="2191658"/>
            <a:ext cx="5602514" cy="3416320"/>
          </a:xfrm>
          <a:prstGeom prst="rect">
            <a:avLst/>
          </a:prstGeom>
          <a:noFill/>
        </p:spPr>
        <p:txBody>
          <a:bodyPr wrap="square" rtlCol="0">
            <a:spAutoFit/>
          </a:bodyPr>
          <a:lstStyle/>
          <a:p>
            <a:pPr algn="r"/>
            <a:r>
              <a:rPr lang="en-US" sz="7200" b="1" dirty="0" smtClean="0">
                <a:solidFill>
                  <a:schemeClr val="bg1"/>
                </a:solidFill>
                <a:latin typeface="Candara" panose="020E0502030303020204" pitchFamily="34" charset="0"/>
              </a:rPr>
              <a:t>CLOUD COMPUTING</a:t>
            </a:r>
          </a:p>
          <a:p>
            <a:pPr algn="ctr"/>
            <a:r>
              <a:rPr lang="en-US" b="1" dirty="0" err="1" smtClean="0">
                <a:solidFill>
                  <a:schemeClr val="tx1">
                    <a:lumMod val="85000"/>
                    <a:lumOff val="15000"/>
                  </a:schemeClr>
                </a:solidFill>
              </a:rPr>
              <a:t>Shailendra</a:t>
            </a:r>
            <a:r>
              <a:rPr lang="en-US" b="1" dirty="0" smtClean="0">
                <a:solidFill>
                  <a:schemeClr val="tx1">
                    <a:lumMod val="85000"/>
                    <a:lumOff val="15000"/>
                  </a:schemeClr>
                </a:solidFill>
              </a:rPr>
              <a:t> Singh</a:t>
            </a:r>
          </a:p>
          <a:p>
            <a:pPr algn="ctr"/>
            <a:r>
              <a:rPr lang="en-US" b="1" dirty="0" smtClean="0">
                <a:solidFill>
                  <a:schemeClr val="tx1">
                    <a:lumMod val="85000"/>
                    <a:lumOff val="15000"/>
                  </a:schemeClr>
                </a:solidFill>
              </a:rPr>
              <a:t>Professor</a:t>
            </a:r>
          </a:p>
          <a:p>
            <a:pPr algn="ctr"/>
            <a:r>
              <a:rPr lang="en-US" b="1" dirty="0" smtClean="0">
                <a:solidFill>
                  <a:schemeClr val="tx1">
                    <a:lumMod val="85000"/>
                    <a:lumOff val="15000"/>
                  </a:schemeClr>
                </a:solidFill>
              </a:rPr>
              <a:t>Department of Computer Science &amp; Engineering</a:t>
            </a:r>
          </a:p>
          <a:p>
            <a:pPr algn="ctr"/>
            <a:r>
              <a:rPr lang="en-US" b="1" dirty="0" smtClean="0">
                <a:solidFill>
                  <a:schemeClr val="tx1">
                    <a:lumMod val="85000"/>
                    <a:lumOff val="15000"/>
                  </a:schemeClr>
                </a:solidFill>
              </a:rPr>
              <a:t>NITTTR, Bhopal</a:t>
            </a:r>
          </a:p>
        </p:txBody>
      </p:sp>
      <p:cxnSp>
        <p:nvCxnSpPr>
          <p:cNvPr id="8" name="Straight Connector 7"/>
          <p:cNvCxnSpPr/>
          <p:nvPr userDrawn="1"/>
        </p:nvCxnSpPr>
        <p:spPr>
          <a:xfrm>
            <a:off x="2046514" y="4455887"/>
            <a:ext cx="5442857"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3"/>
          <a:stretch>
            <a:fillRect/>
          </a:stretch>
        </p:blipFill>
        <p:spPr>
          <a:xfrm>
            <a:off x="612850" y="352793"/>
            <a:ext cx="2054530" cy="1072989"/>
          </a:xfrm>
          <a:prstGeom prst="rect">
            <a:avLst/>
          </a:prstGeom>
        </p:spPr>
      </p:pic>
    </p:spTree>
    <p:extLst>
      <p:ext uri="{BB962C8B-B14F-4D97-AF65-F5344CB8AC3E}">
        <p14:creationId xmlns:p14="http://schemas.microsoft.com/office/powerpoint/2010/main" val="842919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3C95271-EAF6-4654-82A8-BE1747C4483D}" type="datetimeFigureOut">
              <a:rPr lang="en-US" smtClean="0"/>
              <a:t>8/30/2018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668F581-6023-4562-B0C8-C7FA9B9410A5}" type="slidenum">
              <a:rPr lang="en-US" smtClean="0"/>
              <a:t>‹#›</a:t>
            </a:fld>
            <a:endParaRPr lang="en-US" dirty="0"/>
          </a:p>
        </p:txBody>
      </p:sp>
    </p:spTree>
    <p:extLst>
      <p:ext uri="{BB962C8B-B14F-4D97-AF65-F5344CB8AC3E}">
        <p14:creationId xmlns:p14="http://schemas.microsoft.com/office/powerpoint/2010/main" val="40322436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3C95271-EAF6-4654-82A8-BE1747C4483D}" type="datetimeFigureOut">
              <a:rPr lang="en-US" smtClean="0"/>
              <a:t>8/30/2018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668F581-6023-4562-B0C8-C7FA9B9410A5}" type="slidenum">
              <a:rPr lang="en-US" smtClean="0"/>
              <a:t>‹#›</a:t>
            </a:fld>
            <a:endParaRPr lang="en-US" dirty="0"/>
          </a:p>
        </p:txBody>
      </p:sp>
    </p:spTree>
    <p:extLst>
      <p:ext uri="{BB962C8B-B14F-4D97-AF65-F5344CB8AC3E}">
        <p14:creationId xmlns:p14="http://schemas.microsoft.com/office/powerpoint/2010/main" val="28236971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3C95271-EAF6-4654-82A8-BE1747C4483D}" type="datetimeFigureOut">
              <a:rPr lang="en-US" smtClean="0"/>
              <a:t>8/30/2018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668F581-6023-4562-B0C8-C7FA9B9410A5}" type="slidenum">
              <a:rPr lang="en-US" smtClean="0"/>
              <a:t>‹#›</a:t>
            </a:fld>
            <a:endParaRPr lang="en-US" dirty="0"/>
          </a:p>
        </p:txBody>
      </p:sp>
    </p:spTree>
    <p:extLst>
      <p:ext uri="{BB962C8B-B14F-4D97-AF65-F5344CB8AC3E}">
        <p14:creationId xmlns:p14="http://schemas.microsoft.com/office/powerpoint/2010/main" val="3661496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3C95271-EAF6-4654-82A8-BE1747C4483D}" type="datetimeFigureOut">
              <a:rPr lang="en-US" smtClean="0"/>
              <a:t>8/30/2018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668F581-6023-4562-B0C8-C7FA9B9410A5}" type="slidenum">
              <a:rPr lang="en-US" smtClean="0"/>
              <a:t>‹#›</a:t>
            </a:fld>
            <a:endParaRPr lang="en-US" dirty="0"/>
          </a:p>
        </p:txBody>
      </p:sp>
    </p:spTree>
    <p:extLst>
      <p:ext uri="{BB962C8B-B14F-4D97-AF65-F5344CB8AC3E}">
        <p14:creationId xmlns:p14="http://schemas.microsoft.com/office/powerpoint/2010/main" val="32915180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64000">
              <a:srgbClr val="A1AED2"/>
            </a:gs>
            <a:gs pos="0">
              <a:srgbClr val="566EAE"/>
            </a:gs>
            <a:gs pos="100000">
              <a:srgbClr val="FFFFFF"/>
            </a:gs>
          </a:gsLst>
          <a:lin ang="78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C95271-EAF6-4654-82A8-BE1747C4483D}" type="datetimeFigureOut">
              <a:rPr lang="en-US" smtClean="0"/>
              <a:t>8/30/2018</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bg2">
                    <a:lumMod val="50000"/>
                  </a:schemeClr>
                </a:solidFill>
              </a:defRPr>
            </a:lvl1pPr>
          </a:lstStyle>
          <a:p>
            <a:r>
              <a:rPr lang="en-US" dirty="0" smtClean="0"/>
              <a:t>© Oxford University Press India. All rights reserved.</a:t>
            </a:r>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68F581-6023-4562-B0C8-C7FA9B9410A5}" type="slidenum">
              <a:rPr lang="en-US" smtClean="0"/>
              <a:t>‹#›</a:t>
            </a:fld>
            <a:endParaRPr lang="en-US" dirty="0"/>
          </a:p>
        </p:txBody>
      </p:sp>
    </p:spTree>
    <p:extLst>
      <p:ext uri="{BB962C8B-B14F-4D97-AF65-F5344CB8AC3E}">
        <p14:creationId xmlns:p14="http://schemas.microsoft.com/office/powerpoint/2010/main" val="13371860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p:cNvSpPr>
            <a:spLocks noGrp="1"/>
          </p:cNvSpPr>
          <p:nvPr>
            <p:ph type="ftr" sz="quarter" idx="11"/>
          </p:nvPr>
        </p:nvSpPr>
        <p:spPr>
          <a:xfrm>
            <a:off x="3201944" y="6284660"/>
            <a:ext cx="6327648" cy="365125"/>
          </a:xfrm>
        </p:spPr>
        <p:txBody>
          <a:bodyPr/>
          <a:lstStyle/>
          <a:p>
            <a:pPr algn="ctr"/>
            <a:r>
              <a:rPr lang="en-US" sz="1200" dirty="0">
                <a:solidFill>
                  <a:schemeClr val="tx1"/>
                </a:solidFill>
                <a:latin typeface="Calibri" panose="020F0502020204030204" pitchFamily="34" charset="0"/>
                <a:cs typeface="Calibri" panose="020F0502020204030204" pitchFamily="34" charset="0"/>
              </a:rPr>
              <a:t>© Oxford University Press 2018. All rights reserved</a:t>
            </a:r>
          </a:p>
        </p:txBody>
      </p:sp>
    </p:spTree>
    <p:extLst>
      <p:ext uri="{BB962C8B-B14F-4D97-AF65-F5344CB8AC3E}">
        <p14:creationId xmlns:p14="http://schemas.microsoft.com/office/powerpoint/2010/main" val="36125807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Calibri" panose="020F0502020204030204" pitchFamily="34" charset="0"/>
              </a:rPr>
              <a:t>Chapter 9</a:t>
            </a:r>
            <a:endParaRPr lang="en-US" b="1" dirty="0">
              <a:latin typeface="Calibri" panose="020F0502020204030204" pitchFamily="34" charset="0"/>
            </a:endParaRPr>
          </a:p>
        </p:txBody>
      </p:sp>
      <p:sp>
        <p:nvSpPr>
          <p:cNvPr id="3" name="Text Placeholder 2"/>
          <p:cNvSpPr>
            <a:spLocks noGrp="1"/>
          </p:cNvSpPr>
          <p:nvPr>
            <p:ph type="body" idx="1"/>
          </p:nvPr>
        </p:nvSpPr>
        <p:spPr>
          <a:xfrm>
            <a:off x="831850" y="4589463"/>
            <a:ext cx="11055350" cy="1500187"/>
          </a:xfrm>
        </p:spPr>
        <p:txBody>
          <a:bodyPr/>
          <a:lstStyle/>
          <a:p>
            <a:r>
              <a:rPr lang="en-US" b="1" dirty="0" smtClean="0">
                <a:solidFill>
                  <a:schemeClr val="tx1"/>
                </a:solidFill>
                <a:latin typeface="Calibri" panose="020F0502020204030204" pitchFamily="34" charset="0"/>
              </a:rPr>
              <a:t>Cloud Infrastructure Management and Migration</a:t>
            </a:r>
            <a:endParaRPr lang="en-US" b="1" dirty="0">
              <a:solidFill>
                <a:schemeClr val="tx1"/>
              </a:solidFill>
              <a:latin typeface="Calibri" panose="020F0502020204030204" pitchFamily="34" charset="0"/>
            </a:endParaRP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solidFill>
                  <a:schemeClr val="tx1"/>
                </a:solidFill>
                <a:latin typeface="Calibri" panose="020F0502020204030204" pitchFamily="34" charset="0"/>
                <a:cs typeface="Calibri" panose="020F0502020204030204" pitchFamily="34" charset="0"/>
              </a:rPr>
              <a:t>© Oxford University Press 2018. All rights reserved</a:t>
            </a:r>
          </a:p>
        </p:txBody>
      </p:sp>
    </p:spTree>
    <p:extLst>
      <p:ext uri="{BB962C8B-B14F-4D97-AF65-F5344CB8AC3E}">
        <p14:creationId xmlns:p14="http://schemas.microsoft.com/office/powerpoint/2010/main" val="252631559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78000">
              <a:srgbClr val="A1AED2"/>
            </a:gs>
            <a:gs pos="0">
              <a:srgbClr val="566EAE"/>
            </a:gs>
            <a:gs pos="100000">
              <a:srgbClr val="FFFFFF"/>
            </a:gs>
          </a:gsLst>
          <a:lin ang="780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solidFill>
        </p:spPr>
        <p:txBody>
          <a:bodyPr/>
          <a:lstStyle/>
          <a:p>
            <a:pPr algn="ctr"/>
            <a:r>
              <a:rPr lang="en-US" dirty="0" smtClean="0">
                <a:solidFill>
                  <a:schemeClr val="tx1"/>
                </a:solidFill>
                <a:latin typeface="Calibri" panose="020F0502020204030204" pitchFamily="34" charset="0"/>
              </a:rPr>
              <a:t>Learning Outcomes</a:t>
            </a:r>
            <a:endParaRPr lang="en-US" dirty="0">
              <a:solidFill>
                <a:schemeClr val="tx1"/>
              </a:solidFill>
              <a:latin typeface="Calibri" panose="020F0502020204030204" pitchFamily="34" charset="0"/>
            </a:endParaRPr>
          </a:p>
        </p:txBody>
      </p:sp>
      <p:sp>
        <p:nvSpPr>
          <p:cNvPr id="3" name="Content Placeholder 2"/>
          <p:cNvSpPr>
            <a:spLocks noGrp="1"/>
          </p:cNvSpPr>
          <p:nvPr>
            <p:ph idx="1"/>
          </p:nvPr>
        </p:nvSpPr>
        <p:spPr/>
        <p:txBody>
          <a:bodyPr>
            <a:normAutofit/>
          </a:bodyPr>
          <a:lstStyle/>
          <a:p>
            <a:pPr marL="0" indent="0">
              <a:buNone/>
            </a:pPr>
            <a:endParaRPr lang="en-US" dirty="0" smtClean="0">
              <a:latin typeface="+mn-lt"/>
            </a:endParaRPr>
          </a:p>
          <a:p>
            <a:r>
              <a:rPr lang="en-US" dirty="0" smtClean="0">
                <a:latin typeface="+mn-lt"/>
              </a:rPr>
              <a:t>Comprehend </a:t>
            </a:r>
            <a:r>
              <a:rPr lang="en-US" dirty="0">
                <a:latin typeface="+mn-lt"/>
              </a:rPr>
              <a:t>various service creation tools</a:t>
            </a:r>
          </a:p>
          <a:p>
            <a:r>
              <a:rPr lang="en-US" dirty="0">
                <a:latin typeface="+mn-lt"/>
              </a:rPr>
              <a:t> </a:t>
            </a:r>
            <a:r>
              <a:rPr lang="en-US" dirty="0" smtClean="0">
                <a:latin typeface="+mn-lt"/>
              </a:rPr>
              <a:t>Describe </a:t>
            </a:r>
            <a:r>
              <a:rPr lang="en-US" dirty="0">
                <a:latin typeface="+mn-lt"/>
              </a:rPr>
              <a:t>the web application programming interface</a:t>
            </a:r>
          </a:p>
          <a:p>
            <a:r>
              <a:rPr lang="en-US" dirty="0">
                <a:latin typeface="+mn-lt"/>
              </a:rPr>
              <a:t> </a:t>
            </a:r>
            <a:r>
              <a:rPr lang="en-US" dirty="0" smtClean="0">
                <a:latin typeface="+mn-lt"/>
              </a:rPr>
              <a:t>Describe </a:t>
            </a:r>
            <a:r>
              <a:rPr lang="en-US" dirty="0">
                <a:latin typeface="+mn-lt"/>
              </a:rPr>
              <a:t>the unified management software</a:t>
            </a:r>
          </a:p>
          <a:p>
            <a:r>
              <a:rPr lang="en-US" dirty="0">
                <a:latin typeface="+mn-lt"/>
              </a:rPr>
              <a:t> </a:t>
            </a:r>
            <a:r>
              <a:rPr lang="en-US" dirty="0" smtClean="0">
                <a:latin typeface="+mn-lt"/>
              </a:rPr>
              <a:t>Understand </a:t>
            </a:r>
            <a:r>
              <a:rPr lang="en-US" dirty="0">
                <a:latin typeface="+mn-lt"/>
              </a:rPr>
              <a:t>cloud service management</a:t>
            </a:r>
          </a:p>
          <a:p>
            <a:r>
              <a:rPr lang="en-US" dirty="0">
                <a:latin typeface="+mn-lt"/>
              </a:rPr>
              <a:t> </a:t>
            </a:r>
            <a:r>
              <a:rPr lang="en-US" dirty="0" smtClean="0">
                <a:latin typeface="+mn-lt"/>
              </a:rPr>
              <a:t>Describe </a:t>
            </a:r>
            <a:r>
              <a:rPr lang="en-US" dirty="0">
                <a:latin typeface="+mn-lt"/>
              </a:rPr>
              <a:t>the way to access cloud</a:t>
            </a:r>
          </a:p>
          <a:p>
            <a:r>
              <a:rPr lang="en-US" dirty="0">
                <a:latin typeface="+mn-lt"/>
              </a:rPr>
              <a:t> </a:t>
            </a:r>
            <a:r>
              <a:rPr lang="en-US" dirty="0" smtClean="0">
                <a:latin typeface="+mn-lt"/>
              </a:rPr>
              <a:t>Understand </a:t>
            </a:r>
            <a:r>
              <a:rPr lang="en-US" dirty="0">
                <a:latin typeface="+mn-lt"/>
              </a:rPr>
              <a:t>cloud migration</a:t>
            </a:r>
          </a:p>
          <a:p>
            <a:r>
              <a:rPr lang="en-US" dirty="0">
                <a:latin typeface="+mn-lt"/>
              </a:rPr>
              <a:t> </a:t>
            </a:r>
            <a:r>
              <a:rPr lang="en-US" dirty="0" smtClean="0">
                <a:latin typeface="+mn-lt"/>
              </a:rPr>
              <a:t>Describe </a:t>
            </a:r>
            <a:r>
              <a:rPr lang="en-US" dirty="0">
                <a:latin typeface="+mn-lt"/>
              </a:rPr>
              <a:t>banking on cloud</a:t>
            </a:r>
            <a:endParaRPr lang="en-US" dirty="0">
              <a:solidFill>
                <a:schemeClr val="tx1"/>
              </a:solidFill>
              <a:latin typeface="+mn-lt"/>
            </a:endParaRP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solidFill>
                  <a:schemeClr val="tx1"/>
                </a:solidFill>
                <a:latin typeface="Calibri" panose="020F0502020204030204" pitchFamily="34" charset="0"/>
                <a:cs typeface="Calibri" panose="020F0502020204030204" pitchFamily="34" charset="0"/>
              </a:rPr>
              <a:t>© Oxford University Press 2018. All rights reserved</a:t>
            </a:r>
          </a:p>
        </p:txBody>
      </p:sp>
    </p:spTree>
    <p:extLst>
      <p:ext uri="{BB962C8B-B14F-4D97-AF65-F5344CB8AC3E}">
        <p14:creationId xmlns:p14="http://schemas.microsoft.com/office/powerpoint/2010/main" val="420833891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solidFill>
        </p:spPr>
        <p:txBody>
          <a:bodyPr/>
          <a:lstStyle/>
          <a:p>
            <a:pPr algn="ctr"/>
            <a:r>
              <a:rPr lang="en-US" dirty="0" smtClean="0">
                <a:solidFill>
                  <a:schemeClr val="tx1"/>
                </a:solidFill>
                <a:latin typeface="Calibri" panose="020F0502020204030204" pitchFamily="34" charset="0"/>
              </a:rPr>
              <a:t>Introduction</a:t>
            </a:r>
            <a:endParaRPr lang="en-US" dirty="0">
              <a:solidFill>
                <a:schemeClr val="tx1"/>
              </a:solidFill>
              <a:latin typeface="Calibri" panose="020F0502020204030204" pitchFamily="34" charset="0"/>
            </a:endParaRPr>
          </a:p>
        </p:txBody>
      </p:sp>
      <p:sp>
        <p:nvSpPr>
          <p:cNvPr id="3" name="Content Placeholder 2"/>
          <p:cNvSpPr>
            <a:spLocks noGrp="1"/>
          </p:cNvSpPr>
          <p:nvPr>
            <p:ph idx="1"/>
          </p:nvPr>
        </p:nvSpPr>
        <p:spPr>
          <a:xfrm>
            <a:off x="83127" y="1553029"/>
            <a:ext cx="11833102" cy="4623934"/>
          </a:xfrm>
        </p:spPr>
        <p:txBody>
          <a:bodyPr>
            <a:normAutofit/>
          </a:bodyPr>
          <a:lstStyle/>
          <a:p>
            <a:endParaRPr lang="en-US" dirty="0" smtClean="0">
              <a:latin typeface="+mn-lt"/>
            </a:endParaRPr>
          </a:p>
          <a:p>
            <a:r>
              <a:rPr lang="en-US" dirty="0" smtClean="0">
                <a:latin typeface="+mn-lt"/>
              </a:rPr>
              <a:t>Virtualization </a:t>
            </a:r>
            <a:r>
              <a:rPr lang="en-US" dirty="0">
                <a:latin typeface="+mn-lt"/>
              </a:rPr>
              <a:t>is a key feature that supports cloud computing. </a:t>
            </a:r>
            <a:endParaRPr lang="en-US" dirty="0" smtClean="0">
              <a:latin typeface="+mn-lt"/>
            </a:endParaRPr>
          </a:p>
          <a:p>
            <a:r>
              <a:rPr lang="en-US" dirty="0" smtClean="0">
                <a:latin typeface="+mn-lt"/>
              </a:rPr>
              <a:t>A </a:t>
            </a:r>
            <a:r>
              <a:rPr lang="en-US" dirty="0">
                <a:latin typeface="+mn-lt"/>
              </a:rPr>
              <a:t>cloud with a more </a:t>
            </a:r>
            <a:r>
              <a:rPr lang="en-US" dirty="0" smtClean="0">
                <a:latin typeface="+mn-lt"/>
              </a:rPr>
              <a:t>virtualized infrastructure </a:t>
            </a:r>
            <a:r>
              <a:rPr lang="en-US" dirty="0">
                <a:latin typeface="+mn-lt"/>
              </a:rPr>
              <a:t>has higher resource utilization.</a:t>
            </a:r>
            <a:endParaRPr lang="en-US" dirty="0">
              <a:solidFill>
                <a:schemeClr val="tx1"/>
              </a:solidFill>
              <a:latin typeface="+mn-lt"/>
            </a:endParaRP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solidFill>
                  <a:schemeClr val="tx1"/>
                </a:solidFill>
                <a:latin typeface="Calibri" panose="020F0502020204030204" pitchFamily="34" charset="0"/>
                <a:cs typeface="Calibri" panose="020F0502020204030204" pitchFamily="34" charset="0"/>
              </a:rPr>
              <a:t>© Oxford University Press 2018. All rights reserved</a:t>
            </a:r>
          </a:p>
        </p:txBody>
      </p:sp>
    </p:spTree>
    <p:extLst>
      <p:ext uri="{BB962C8B-B14F-4D97-AF65-F5344CB8AC3E}">
        <p14:creationId xmlns:p14="http://schemas.microsoft.com/office/powerpoint/2010/main" val="35304005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solidFill>
        </p:spPr>
        <p:txBody>
          <a:bodyPr/>
          <a:lstStyle/>
          <a:p>
            <a:pPr algn="ctr"/>
            <a:r>
              <a:rPr lang="en-US" dirty="0" smtClean="0">
                <a:solidFill>
                  <a:schemeClr val="tx1"/>
                </a:solidFill>
                <a:latin typeface="+mn-lt"/>
              </a:rPr>
              <a:t>Administrating Clouds</a:t>
            </a:r>
            <a:endParaRPr lang="en-US" dirty="0">
              <a:solidFill>
                <a:schemeClr val="tx1"/>
              </a:solidFill>
              <a:latin typeface="+mn-lt"/>
            </a:endParaRPr>
          </a:p>
        </p:txBody>
      </p:sp>
      <p:sp>
        <p:nvSpPr>
          <p:cNvPr id="3" name="Content Placeholder 2"/>
          <p:cNvSpPr>
            <a:spLocks noGrp="1"/>
          </p:cNvSpPr>
          <p:nvPr>
            <p:ph idx="1"/>
          </p:nvPr>
        </p:nvSpPr>
        <p:spPr>
          <a:xfrm>
            <a:off x="83127" y="1553029"/>
            <a:ext cx="11934702" cy="4623934"/>
          </a:xfrm>
        </p:spPr>
        <p:txBody>
          <a:bodyPr>
            <a:noAutofit/>
          </a:bodyPr>
          <a:lstStyle/>
          <a:p>
            <a:pPr>
              <a:buFont typeface="Wingdings" panose="05000000000000000000" pitchFamily="2" charset="2"/>
              <a:buChar char="Ø"/>
            </a:pPr>
            <a:r>
              <a:rPr lang="en-US" dirty="0">
                <a:latin typeface="+mn-lt"/>
              </a:rPr>
              <a:t>Various suppliers possess products structured for cloud computing management, such as </a:t>
            </a:r>
            <a:r>
              <a:rPr lang="en-US" dirty="0" err="1" smtClean="0">
                <a:latin typeface="+mn-lt"/>
              </a:rPr>
              <a:t>OpenQRM</a:t>
            </a:r>
            <a:r>
              <a:rPr lang="en-US" dirty="0" smtClean="0">
                <a:latin typeface="+mn-lt"/>
              </a:rPr>
              <a:t>, Managed </a:t>
            </a:r>
            <a:r>
              <a:rPr lang="en-US" dirty="0">
                <a:latin typeface="+mn-lt"/>
              </a:rPr>
              <a:t>Methods, VMware, and Cloud Kick, together with established names such as CA, BMC, </a:t>
            </a:r>
            <a:r>
              <a:rPr lang="en-US" dirty="0" smtClean="0">
                <a:latin typeface="+mn-lt"/>
              </a:rPr>
              <a:t>IBM, Tivoli</a:t>
            </a:r>
            <a:r>
              <a:rPr lang="en-US" dirty="0">
                <a:latin typeface="+mn-lt"/>
              </a:rPr>
              <a:t>, and HP</a:t>
            </a:r>
            <a:r>
              <a:rPr lang="en-US" dirty="0" smtClean="0">
                <a:latin typeface="+mn-lt"/>
              </a:rPr>
              <a:t>.</a:t>
            </a:r>
          </a:p>
          <a:p>
            <a:pPr>
              <a:buFont typeface="Wingdings" panose="05000000000000000000" pitchFamily="2" charset="2"/>
              <a:buChar char="Ø"/>
            </a:pPr>
            <a:r>
              <a:rPr lang="en-US" dirty="0" smtClean="0">
                <a:solidFill>
                  <a:srgbClr val="FFFF00"/>
                </a:solidFill>
                <a:latin typeface="+mn-lt"/>
              </a:rPr>
              <a:t>The main </a:t>
            </a:r>
            <a:r>
              <a:rPr lang="en-US" dirty="0">
                <a:solidFill>
                  <a:srgbClr val="FFFF00"/>
                </a:solidFill>
                <a:latin typeface="+mn-lt"/>
              </a:rPr>
              <a:t>features are provided by the main cloud substructure managing products which are as follows</a:t>
            </a:r>
            <a:r>
              <a:rPr lang="en-US" dirty="0" smtClean="0">
                <a:solidFill>
                  <a:srgbClr val="FFFF00"/>
                </a:solidFill>
                <a:latin typeface="+mn-lt"/>
              </a:rPr>
              <a:t>:</a:t>
            </a:r>
          </a:p>
          <a:p>
            <a:pPr marL="514350" indent="-514350">
              <a:buFont typeface="+mj-lt"/>
              <a:buAutoNum type="arabicPeriod"/>
            </a:pPr>
            <a:r>
              <a:rPr lang="en-US" dirty="0" smtClean="0">
                <a:latin typeface="+mn-lt"/>
              </a:rPr>
              <a:t>Almost </a:t>
            </a:r>
            <a:r>
              <a:rPr lang="en-US" dirty="0">
                <a:latin typeface="+mn-lt"/>
              </a:rPr>
              <a:t>all of these assist in designing and furnishing new items and in  </a:t>
            </a:r>
            <a:r>
              <a:rPr lang="en-US" dirty="0" smtClean="0">
                <a:latin typeface="+mn-lt"/>
              </a:rPr>
              <a:t> eliminating </a:t>
            </a:r>
            <a:r>
              <a:rPr lang="en-US" dirty="0">
                <a:latin typeface="+mn-lt"/>
              </a:rPr>
              <a:t>useless items.</a:t>
            </a:r>
          </a:p>
          <a:p>
            <a:pPr marL="514350" indent="-514350">
              <a:buFont typeface="+mj-lt"/>
              <a:buAutoNum type="arabicPeriod"/>
            </a:pPr>
            <a:r>
              <a:rPr lang="en-US" dirty="0" smtClean="0">
                <a:latin typeface="+mn-lt"/>
              </a:rPr>
              <a:t>Almost </a:t>
            </a:r>
            <a:r>
              <a:rPr lang="en-US" dirty="0">
                <a:latin typeface="+mn-lt"/>
              </a:rPr>
              <a:t>all offer a common set of reports on status such as response time, used quota, uptime, etc.</a:t>
            </a:r>
          </a:p>
          <a:p>
            <a:pPr marL="514350" indent="-514350">
              <a:buFont typeface="+mj-lt"/>
              <a:buAutoNum type="arabicPeriod"/>
            </a:pPr>
            <a:r>
              <a:rPr lang="en-US" dirty="0" smtClean="0">
                <a:latin typeface="+mn-lt"/>
              </a:rPr>
              <a:t>Almost </a:t>
            </a:r>
            <a:r>
              <a:rPr lang="en-US" dirty="0">
                <a:latin typeface="+mn-lt"/>
              </a:rPr>
              <a:t>all of these assist distinct clouds forms (often stated as hybrid clouds).</a:t>
            </a:r>
            <a:endParaRPr lang="en-US" dirty="0">
              <a:solidFill>
                <a:schemeClr val="tx1"/>
              </a:solidFill>
              <a:latin typeface="+mn-lt"/>
            </a:endParaRP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solidFill>
                  <a:schemeClr val="tx1"/>
                </a:solidFill>
                <a:latin typeface="Calibri" panose="020F0502020204030204" pitchFamily="34" charset="0"/>
                <a:cs typeface="Calibri" panose="020F0502020204030204" pitchFamily="34" charset="0"/>
              </a:rPr>
              <a:t>© Oxford University Press 2018. All rights reserved</a:t>
            </a:r>
          </a:p>
        </p:txBody>
      </p:sp>
    </p:spTree>
    <p:extLst>
      <p:ext uri="{BB962C8B-B14F-4D97-AF65-F5344CB8AC3E}">
        <p14:creationId xmlns:p14="http://schemas.microsoft.com/office/powerpoint/2010/main" val="316210760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solidFill>
        </p:spPr>
        <p:txBody>
          <a:bodyPr/>
          <a:lstStyle/>
          <a:p>
            <a:pPr algn="ctr"/>
            <a:r>
              <a:rPr lang="en-US" dirty="0" smtClean="0">
                <a:solidFill>
                  <a:schemeClr val="tx1"/>
                </a:solidFill>
                <a:latin typeface="+mn-lt"/>
              </a:rPr>
              <a:t>Administrating Clouds</a:t>
            </a:r>
            <a:endParaRPr lang="en-US" dirty="0">
              <a:solidFill>
                <a:schemeClr val="tx1"/>
              </a:solidFill>
              <a:latin typeface="+mn-lt"/>
            </a:endParaRPr>
          </a:p>
        </p:txBody>
      </p:sp>
      <p:sp>
        <p:nvSpPr>
          <p:cNvPr id="3" name="Content Placeholder 2"/>
          <p:cNvSpPr>
            <a:spLocks noGrp="1"/>
          </p:cNvSpPr>
          <p:nvPr>
            <p:ph idx="1"/>
          </p:nvPr>
        </p:nvSpPr>
        <p:spPr>
          <a:xfrm>
            <a:off x="83127" y="1553029"/>
            <a:ext cx="11934702" cy="4623934"/>
          </a:xfrm>
        </p:spPr>
        <p:txBody>
          <a:bodyPr>
            <a:noAutofit/>
          </a:bodyPr>
          <a:lstStyle/>
          <a:p>
            <a:pPr>
              <a:buFont typeface="Wingdings" panose="05000000000000000000" pitchFamily="2" charset="2"/>
              <a:buChar char="Ø"/>
            </a:pPr>
            <a:endParaRPr lang="en-US" dirty="0" smtClean="0">
              <a:latin typeface="+mn-lt"/>
            </a:endParaRPr>
          </a:p>
          <a:p>
            <a:pPr>
              <a:buFont typeface="Wingdings" panose="05000000000000000000" pitchFamily="2" charset="2"/>
              <a:buChar char="Ø"/>
            </a:pPr>
            <a:r>
              <a:rPr lang="en-US" dirty="0" smtClean="0">
                <a:latin typeface="+mn-lt"/>
              </a:rPr>
              <a:t>Few </a:t>
            </a:r>
            <a:r>
              <a:rPr lang="en-US" dirty="0">
                <a:latin typeface="+mn-lt"/>
              </a:rPr>
              <a:t>suppliers </a:t>
            </a:r>
            <a:r>
              <a:rPr lang="en-US" dirty="0" smtClean="0">
                <a:latin typeface="+mn-lt"/>
              </a:rPr>
              <a:t>present comprehensive </a:t>
            </a:r>
            <a:r>
              <a:rPr lang="en-US" dirty="0">
                <a:latin typeface="+mn-lt"/>
              </a:rPr>
              <a:t>means in handling metrics and managing provisioning in hybrid </a:t>
            </a:r>
            <a:r>
              <a:rPr lang="en-US" dirty="0" smtClean="0">
                <a:latin typeface="+mn-lt"/>
              </a:rPr>
              <a:t>environments and they are </a:t>
            </a:r>
            <a:r>
              <a:rPr lang="en-US" dirty="0">
                <a:latin typeface="+mn-lt"/>
              </a:rPr>
              <a:t>Zeus, Morph, </a:t>
            </a:r>
            <a:r>
              <a:rPr lang="en-US" dirty="0" err="1">
                <a:latin typeface="+mn-lt"/>
              </a:rPr>
              <a:t>RightScale</a:t>
            </a:r>
            <a:r>
              <a:rPr lang="en-US" dirty="0">
                <a:latin typeface="+mn-lt"/>
              </a:rPr>
              <a:t> </a:t>
            </a:r>
            <a:r>
              <a:rPr lang="en-US" dirty="0" err="1">
                <a:latin typeface="+mn-lt"/>
              </a:rPr>
              <a:t>Kaavo</a:t>
            </a:r>
            <a:r>
              <a:rPr lang="en-US" dirty="0">
                <a:latin typeface="+mn-lt"/>
              </a:rPr>
              <a:t>, and </a:t>
            </a:r>
            <a:r>
              <a:rPr lang="en-US" dirty="0" err="1">
                <a:latin typeface="+mn-lt"/>
              </a:rPr>
              <a:t>Scalr</a:t>
            </a:r>
            <a:r>
              <a:rPr lang="en-US" dirty="0" smtClean="0">
                <a:latin typeface="+mn-lt"/>
              </a:rPr>
              <a:t>.</a:t>
            </a:r>
          </a:p>
          <a:p>
            <a:pPr>
              <a:buFont typeface="Wingdings" panose="05000000000000000000" pitchFamily="2" charset="2"/>
              <a:buChar char="Ø"/>
            </a:pPr>
            <a:r>
              <a:rPr lang="en-US" dirty="0">
                <a:latin typeface="+mn-lt"/>
              </a:rPr>
              <a:t>Cloud suppliers offer certain options to meet the first </a:t>
            </a:r>
            <a:r>
              <a:rPr lang="en-US" dirty="0" smtClean="0">
                <a:latin typeface="+mn-lt"/>
              </a:rPr>
              <a:t>and second </a:t>
            </a:r>
            <a:r>
              <a:rPr lang="en-US" dirty="0">
                <a:latin typeface="+mn-lt"/>
              </a:rPr>
              <a:t>standard, like </a:t>
            </a:r>
            <a:r>
              <a:rPr lang="en-US" dirty="0" err="1">
                <a:latin typeface="+mn-lt"/>
              </a:rPr>
              <a:t>CloudWatch</a:t>
            </a:r>
            <a:r>
              <a:rPr lang="en-US" dirty="0">
                <a:latin typeface="+mn-lt"/>
              </a:rPr>
              <a:t> by Web Services of Amazon</a:t>
            </a:r>
            <a:r>
              <a:rPr lang="en-US" dirty="0" smtClean="0">
                <a:latin typeface="+mn-lt"/>
              </a:rPr>
              <a:t>.</a:t>
            </a:r>
          </a:p>
          <a:p>
            <a:pPr>
              <a:buFont typeface="Wingdings" panose="05000000000000000000" pitchFamily="2" charset="2"/>
              <a:buChar char="Ø"/>
            </a:pPr>
            <a:r>
              <a:rPr lang="en-US" dirty="0">
                <a:latin typeface="+mn-lt"/>
              </a:rPr>
              <a:t>HP company Open View, also known as Operating Manager, can administer cloud-based servers, </a:t>
            </a:r>
            <a:r>
              <a:rPr lang="en-US" dirty="0" smtClean="0">
                <a:latin typeface="+mn-lt"/>
              </a:rPr>
              <a:t>but in </a:t>
            </a:r>
            <a:r>
              <a:rPr lang="en-US" dirty="0">
                <a:latin typeface="+mn-lt"/>
              </a:rPr>
              <a:t>the same way as administered by some other server</a:t>
            </a:r>
            <a:r>
              <a:rPr lang="en-US" dirty="0" smtClean="0">
                <a:latin typeface="+mn-lt"/>
              </a:rPr>
              <a:t>.</a:t>
            </a:r>
          </a:p>
          <a:p>
            <a:endParaRPr lang="en-US" dirty="0">
              <a:solidFill>
                <a:schemeClr val="tx1"/>
              </a:solidFill>
              <a:latin typeface="+mn-lt"/>
            </a:endParaRP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solidFill>
                  <a:schemeClr val="tx1"/>
                </a:solidFill>
                <a:latin typeface="Calibri" panose="020F0502020204030204" pitchFamily="34" charset="0"/>
                <a:cs typeface="Calibri" panose="020F0502020204030204" pitchFamily="34" charset="0"/>
              </a:rPr>
              <a:t>© Oxford University Press 2018. All rights reserved</a:t>
            </a:r>
          </a:p>
        </p:txBody>
      </p:sp>
    </p:spTree>
    <p:extLst>
      <p:ext uri="{BB962C8B-B14F-4D97-AF65-F5344CB8AC3E}">
        <p14:creationId xmlns:p14="http://schemas.microsoft.com/office/powerpoint/2010/main" val="373117898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solidFill>
        </p:spPr>
        <p:txBody>
          <a:bodyPr/>
          <a:lstStyle/>
          <a:p>
            <a:pPr algn="ctr"/>
            <a:r>
              <a:rPr lang="en-US" dirty="0" smtClean="0">
                <a:solidFill>
                  <a:schemeClr val="tx1"/>
                </a:solidFill>
                <a:latin typeface="Calibri" panose="020F0502020204030204" pitchFamily="34" charset="0"/>
              </a:rPr>
              <a:t>Cloud Management Products</a:t>
            </a:r>
            <a:endParaRPr lang="en-US" dirty="0">
              <a:solidFill>
                <a:schemeClr val="tx1"/>
              </a:solidFill>
              <a:latin typeface="Calibri" panose="020F0502020204030204" pitchFamily="34" charset="0"/>
            </a:endParaRPr>
          </a:p>
        </p:txBody>
      </p:sp>
      <p:sp>
        <p:nvSpPr>
          <p:cNvPr id="3" name="Content Placeholder 2"/>
          <p:cNvSpPr>
            <a:spLocks noGrp="1"/>
          </p:cNvSpPr>
          <p:nvPr>
            <p:ph idx="1"/>
          </p:nvPr>
        </p:nvSpPr>
        <p:spPr>
          <a:xfrm>
            <a:off x="83127" y="1553029"/>
            <a:ext cx="11833102" cy="4623934"/>
          </a:xfrm>
        </p:spPr>
        <p:txBody>
          <a:bodyPr>
            <a:noAutofit/>
          </a:bodyPr>
          <a:lstStyle/>
          <a:p>
            <a:pPr>
              <a:buFont typeface="Wingdings" panose="05000000000000000000" pitchFamily="2" charset="2"/>
              <a:buChar char="Ø"/>
            </a:pPr>
            <a:endParaRPr lang="en-US" dirty="0" smtClean="0">
              <a:latin typeface="+mn-lt"/>
            </a:endParaRPr>
          </a:p>
          <a:p>
            <a:pPr>
              <a:buFont typeface="Wingdings" panose="05000000000000000000" pitchFamily="2" charset="2"/>
              <a:buChar char="Ø"/>
            </a:pPr>
            <a:r>
              <a:rPr lang="en-US" dirty="0" smtClean="0">
                <a:solidFill>
                  <a:srgbClr val="FFFF00"/>
                </a:solidFill>
                <a:latin typeface="+mn-lt"/>
              </a:rPr>
              <a:t>The </a:t>
            </a:r>
            <a:r>
              <a:rPr lang="en-US" dirty="0">
                <a:solidFill>
                  <a:srgbClr val="FFFF00"/>
                </a:solidFill>
                <a:latin typeface="+mn-lt"/>
              </a:rPr>
              <a:t>framework of cloud infrastructure is made up of the following </a:t>
            </a:r>
            <a:r>
              <a:rPr lang="en-US" dirty="0" smtClean="0">
                <a:solidFill>
                  <a:srgbClr val="FFFF00"/>
                </a:solidFill>
                <a:latin typeface="+mn-lt"/>
              </a:rPr>
              <a:t>components: </a:t>
            </a:r>
          </a:p>
          <a:p>
            <a:r>
              <a:rPr lang="en-US" dirty="0">
                <a:latin typeface="+mn-lt"/>
              </a:rPr>
              <a:t>Physical </a:t>
            </a:r>
            <a:r>
              <a:rPr lang="en-US" dirty="0" smtClean="0">
                <a:latin typeface="+mn-lt"/>
              </a:rPr>
              <a:t>infrastructure</a:t>
            </a:r>
          </a:p>
          <a:p>
            <a:r>
              <a:rPr lang="en-US" dirty="0">
                <a:latin typeface="+mn-lt"/>
              </a:rPr>
              <a:t>Virtual </a:t>
            </a:r>
            <a:r>
              <a:rPr lang="en-US" dirty="0" smtClean="0">
                <a:latin typeface="+mn-lt"/>
              </a:rPr>
              <a:t>infrastructure</a:t>
            </a:r>
          </a:p>
          <a:p>
            <a:r>
              <a:rPr lang="en-US" dirty="0">
                <a:latin typeface="+mn-lt"/>
              </a:rPr>
              <a:t>Applications and platform </a:t>
            </a:r>
            <a:r>
              <a:rPr lang="en-US" dirty="0" smtClean="0">
                <a:latin typeface="+mn-lt"/>
              </a:rPr>
              <a:t>software</a:t>
            </a:r>
          </a:p>
          <a:p>
            <a:r>
              <a:rPr lang="en-US" dirty="0">
                <a:latin typeface="+mn-lt"/>
              </a:rPr>
              <a:t>Cloud infrastructure management and </a:t>
            </a:r>
            <a:endParaRPr lang="en-US" dirty="0" smtClean="0">
              <a:latin typeface="+mn-lt"/>
            </a:endParaRPr>
          </a:p>
          <a:p>
            <a:pPr marL="0" indent="0">
              <a:buNone/>
            </a:pPr>
            <a:r>
              <a:rPr lang="en-US" dirty="0">
                <a:latin typeface="+mn-lt"/>
              </a:rPr>
              <a:t> </a:t>
            </a:r>
            <a:r>
              <a:rPr lang="en-US" dirty="0" smtClean="0">
                <a:latin typeface="+mn-lt"/>
              </a:rPr>
              <a:t>  service </a:t>
            </a:r>
            <a:r>
              <a:rPr lang="en-US" dirty="0">
                <a:latin typeface="+mn-lt"/>
              </a:rPr>
              <a:t>creation tools</a:t>
            </a:r>
            <a:endParaRPr lang="en-US" dirty="0" smtClean="0">
              <a:latin typeface="+mn-lt"/>
            </a:endParaRP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solidFill>
                  <a:schemeClr val="tx1"/>
                </a:solidFill>
                <a:latin typeface="Calibri" panose="020F0502020204030204" pitchFamily="34" charset="0"/>
                <a:cs typeface="Calibri" panose="020F0502020204030204" pitchFamily="34" charset="0"/>
              </a:rPr>
              <a:t>© Oxford University Press 2018. All rights reserved</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54091" y="3112528"/>
            <a:ext cx="4500748" cy="25848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380771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solidFill>
        </p:spPr>
        <p:txBody>
          <a:bodyPr/>
          <a:lstStyle/>
          <a:p>
            <a:pPr algn="ctr"/>
            <a:r>
              <a:rPr lang="en-US" dirty="0" smtClean="0">
                <a:solidFill>
                  <a:schemeClr val="tx1"/>
                </a:solidFill>
                <a:latin typeface="Calibri" panose="020F0502020204030204" pitchFamily="34" charset="0"/>
              </a:rPr>
              <a:t>Unified Management Software</a:t>
            </a:r>
            <a:endParaRPr lang="en-US" dirty="0">
              <a:solidFill>
                <a:schemeClr val="tx1"/>
              </a:solidFill>
              <a:latin typeface="Calibri" panose="020F0502020204030204" pitchFamily="34" charset="0"/>
            </a:endParaRPr>
          </a:p>
        </p:txBody>
      </p:sp>
      <p:sp>
        <p:nvSpPr>
          <p:cNvPr id="3" name="Content Placeholder 2"/>
          <p:cNvSpPr>
            <a:spLocks noGrp="1"/>
          </p:cNvSpPr>
          <p:nvPr>
            <p:ph idx="1"/>
          </p:nvPr>
        </p:nvSpPr>
        <p:spPr>
          <a:xfrm>
            <a:off x="83127" y="1553029"/>
            <a:ext cx="11833102" cy="4623934"/>
          </a:xfrm>
        </p:spPr>
        <p:txBody>
          <a:bodyPr>
            <a:noAutofit/>
          </a:bodyPr>
          <a:lstStyle/>
          <a:p>
            <a:pPr>
              <a:buFont typeface="Wingdings" panose="05000000000000000000" pitchFamily="2" charset="2"/>
              <a:buChar char="Ø"/>
            </a:pPr>
            <a:endParaRPr lang="en-US" dirty="0" smtClean="0">
              <a:latin typeface="+mn-lt"/>
            </a:endParaRPr>
          </a:p>
          <a:p>
            <a:pPr>
              <a:buFont typeface="Wingdings" panose="05000000000000000000" pitchFamily="2" charset="2"/>
              <a:buChar char="Ø"/>
            </a:pPr>
            <a:r>
              <a:rPr lang="en-US" dirty="0" smtClean="0">
                <a:latin typeface="+mn-lt"/>
              </a:rPr>
              <a:t>Unified </a:t>
            </a:r>
            <a:r>
              <a:rPr lang="en-US" dirty="0">
                <a:latin typeface="+mn-lt"/>
              </a:rPr>
              <a:t>management software interrelates with all individual virtual infrastructure management </a:t>
            </a:r>
            <a:r>
              <a:rPr lang="en-US" dirty="0" smtClean="0">
                <a:latin typeface="+mn-lt"/>
              </a:rPr>
              <a:t>software and </a:t>
            </a:r>
            <a:r>
              <a:rPr lang="en-US" dirty="0">
                <a:latin typeface="+mn-lt"/>
              </a:rPr>
              <a:t>gathers data on the accessible virtual and physical infrastructure patterns, connectivity, </a:t>
            </a:r>
            <a:r>
              <a:rPr lang="en-US" dirty="0" smtClean="0">
                <a:latin typeface="+mn-lt"/>
              </a:rPr>
              <a:t>and consumption.</a:t>
            </a:r>
          </a:p>
          <a:p>
            <a:pPr>
              <a:buFont typeface="Wingdings" panose="05000000000000000000" pitchFamily="2" charset="2"/>
              <a:buChar char="Ø"/>
            </a:pPr>
            <a:r>
              <a:rPr lang="en-US" dirty="0">
                <a:latin typeface="+mn-lt"/>
              </a:rPr>
              <a:t>The vital purpose of unified management software is to generate cloud services</a:t>
            </a:r>
            <a:r>
              <a:rPr lang="en-US" dirty="0" smtClean="0">
                <a:latin typeface="+mn-lt"/>
              </a:rPr>
              <a:t>.</a:t>
            </a:r>
          </a:p>
          <a:p>
            <a:pPr>
              <a:buFont typeface="Wingdings" panose="05000000000000000000" pitchFamily="2" charset="2"/>
              <a:buChar char="Ø"/>
            </a:pPr>
            <a:r>
              <a:rPr lang="en-US" dirty="0">
                <a:latin typeface="+mn-lt"/>
              </a:rPr>
              <a:t>Unified management software assists in classifying cloud services. It permits a manager to roll all </a:t>
            </a:r>
            <a:r>
              <a:rPr lang="en-US" dirty="0" smtClean="0">
                <a:latin typeface="+mn-lt"/>
              </a:rPr>
              <a:t>the services </a:t>
            </a:r>
            <a:r>
              <a:rPr lang="en-US" dirty="0">
                <a:latin typeface="+mn-lt"/>
              </a:rPr>
              <a:t>together with their service traits</a:t>
            </a:r>
            <a:r>
              <a:rPr lang="en-US" dirty="0" smtClean="0">
                <a:latin typeface="+mn-lt"/>
              </a:rPr>
              <a:t>.</a:t>
            </a:r>
          </a:p>
          <a:p>
            <a:pPr>
              <a:buFont typeface="Wingdings" panose="05000000000000000000" pitchFamily="2" charset="2"/>
              <a:buChar char="Ø"/>
            </a:pPr>
            <a:r>
              <a:rPr lang="en-US" dirty="0">
                <a:latin typeface="+mn-lt"/>
              </a:rPr>
              <a:t>Unified management software facilitates generating a variety of cloud services along with varied </a:t>
            </a:r>
            <a:r>
              <a:rPr lang="en-US" dirty="0" smtClean="0">
                <a:latin typeface="+mn-lt"/>
              </a:rPr>
              <a:t>service traits</a:t>
            </a:r>
            <a:r>
              <a:rPr lang="en-US" dirty="0">
                <a:latin typeface="+mn-lt"/>
              </a:rPr>
              <a:t>.</a:t>
            </a:r>
            <a:endParaRPr lang="en-US" dirty="0">
              <a:solidFill>
                <a:schemeClr val="tx1"/>
              </a:solidFill>
              <a:latin typeface="+mn-lt"/>
            </a:endParaRP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solidFill>
                  <a:schemeClr val="tx1"/>
                </a:solidFill>
                <a:latin typeface="Calibri" panose="020F0502020204030204" pitchFamily="34" charset="0"/>
                <a:cs typeface="Calibri" panose="020F0502020204030204" pitchFamily="34" charset="0"/>
              </a:rPr>
              <a:t>© Oxford University Press 2018. All rights reserved</a:t>
            </a:r>
          </a:p>
        </p:txBody>
      </p:sp>
    </p:spTree>
    <p:extLst>
      <p:ext uri="{BB962C8B-B14F-4D97-AF65-F5344CB8AC3E}">
        <p14:creationId xmlns:p14="http://schemas.microsoft.com/office/powerpoint/2010/main" val="194574833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solidFill>
        </p:spPr>
        <p:txBody>
          <a:bodyPr/>
          <a:lstStyle/>
          <a:p>
            <a:pPr algn="ctr"/>
            <a:r>
              <a:rPr lang="en-US" dirty="0" smtClean="0">
                <a:solidFill>
                  <a:schemeClr val="tx1"/>
                </a:solidFill>
                <a:latin typeface="Calibri" panose="020F0502020204030204" pitchFamily="34" charset="0"/>
              </a:rPr>
              <a:t>Unified Management Software</a:t>
            </a:r>
            <a:endParaRPr lang="en-US" dirty="0">
              <a:solidFill>
                <a:schemeClr val="tx1"/>
              </a:solidFill>
              <a:latin typeface="Calibri" panose="020F0502020204030204" pitchFamily="34" charset="0"/>
            </a:endParaRPr>
          </a:p>
        </p:txBody>
      </p:sp>
      <p:sp>
        <p:nvSpPr>
          <p:cNvPr id="3" name="Content Placeholder 2"/>
          <p:cNvSpPr>
            <a:spLocks noGrp="1"/>
          </p:cNvSpPr>
          <p:nvPr>
            <p:ph idx="1"/>
          </p:nvPr>
        </p:nvSpPr>
        <p:spPr>
          <a:xfrm>
            <a:off x="83127" y="1553029"/>
            <a:ext cx="11833102" cy="4623934"/>
          </a:xfrm>
        </p:spPr>
        <p:txBody>
          <a:bodyPr>
            <a:noAutofit/>
          </a:bodyPr>
          <a:lstStyle/>
          <a:p>
            <a:pPr>
              <a:buFont typeface="Wingdings" panose="05000000000000000000" pitchFamily="2" charset="2"/>
              <a:buChar char="Ø"/>
            </a:pPr>
            <a:r>
              <a:rPr lang="en-US" dirty="0">
                <a:solidFill>
                  <a:srgbClr val="FFFF00"/>
                </a:solidFill>
                <a:latin typeface="+mn-lt"/>
              </a:rPr>
              <a:t>Unified management comprises the following:</a:t>
            </a:r>
          </a:p>
          <a:p>
            <a:r>
              <a:rPr lang="en-US" dirty="0" smtClean="0">
                <a:latin typeface="+mn-lt"/>
              </a:rPr>
              <a:t>Automation </a:t>
            </a:r>
            <a:r>
              <a:rPr lang="en-US" dirty="0">
                <a:latin typeface="+mn-lt"/>
              </a:rPr>
              <a:t>of IT sequence with incorporation into accessible IT systems’ management tactics</a:t>
            </a:r>
          </a:p>
          <a:p>
            <a:r>
              <a:rPr lang="en-US" dirty="0" smtClean="0">
                <a:latin typeface="+mn-lt"/>
              </a:rPr>
              <a:t>Self-service </a:t>
            </a:r>
            <a:r>
              <a:rPr lang="en-US" dirty="0">
                <a:latin typeface="+mn-lt"/>
              </a:rPr>
              <a:t>portal and service catalog for IT resources along with on-demand provisioning</a:t>
            </a:r>
          </a:p>
          <a:p>
            <a:r>
              <a:rPr lang="en-US" dirty="0" smtClean="0">
                <a:latin typeface="+mn-lt"/>
              </a:rPr>
              <a:t>On-demand </a:t>
            </a:r>
            <a:r>
              <a:rPr lang="en-US" dirty="0">
                <a:latin typeface="+mn-lt"/>
              </a:rPr>
              <a:t>provisioning offered along with self-service portal and service catalog for IT resources</a:t>
            </a:r>
          </a:p>
          <a:p>
            <a:r>
              <a:rPr lang="en-US" dirty="0" smtClean="0">
                <a:latin typeface="+mn-lt"/>
              </a:rPr>
              <a:t>Resource </a:t>
            </a:r>
            <a:r>
              <a:rPr lang="en-US" dirty="0">
                <a:latin typeface="+mn-lt"/>
              </a:rPr>
              <a:t>management for efficient operation of hardware infrastructure groups</a:t>
            </a:r>
          </a:p>
          <a:p>
            <a:r>
              <a:rPr lang="en-US" dirty="0" smtClean="0">
                <a:latin typeface="+mn-lt"/>
              </a:rPr>
              <a:t>Automatic </a:t>
            </a:r>
            <a:r>
              <a:rPr lang="en-US" dirty="0">
                <a:latin typeface="+mn-lt"/>
              </a:rPr>
              <a:t>workload for carrying effectual batch and event-driven project business </a:t>
            </a:r>
            <a:r>
              <a:rPr lang="en-US" dirty="0" smtClean="0">
                <a:latin typeface="+mn-lt"/>
              </a:rPr>
              <a:t>measures</a:t>
            </a:r>
            <a:endParaRPr lang="en-US" dirty="0">
              <a:latin typeface="+mn-lt"/>
            </a:endParaRP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solidFill>
                  <a:schemeClr val="tx1"/>
                </a:solidFill>
                <a:latin typeface="Calibri" panose="020F0502020204030204" pitchFamily="34" charset="0"/>
                <a:cs typeface="Calibri" panose="020F0502020204030204" pitchFamily="34" charset="0"/>
              </a:rPr>
              <a:t>© Oxford University Press 2018. All rights reserved</a:t>
            </a:r>
          </a:p>
        </p:txBody>
      </p:sp>
    </p:spTree>
    <p:extLst>
      <p:ext uri="{BB962C8B-B14F-4D97-AF65-F5344CB8AC3E}">
        <p14:creationId xmlns:p14="http://schemas.microsoft.com/office/powerpoint/2010/main" val="379741608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solidFill>
        </p:spPr>
        <p:txBody>
          <a:bodyPr/>
          <a:lstStyle/>
          <a:p>
            <a:pPr algn="ctr"/>
            <a:r>
              <a:rPr lang="en-US" dirty="0" smtClean="0">
                <a:solidFill>
                  <a:schemeClr val="tx1"/>
                </a:solidFill>
                <a:latin typeface="Calibri" panose="020F0502020204030204" pitchFamily="34" charset="0"/>
              </a:rPr>
              <a:t>Unified Management Software</a:t>
            </a:r>
            <a:endParaRPr lang="en-US" dirty="0">
              <a:solidFill>
                <a:schemeClr val="tx1"/>
              </a:solidFill>
              <a:latin typeface="Calibri" panose="020F0502020204030204" pitchFamily="34" charset="0"/>
            </a:endParaRPr>
          </a:p>
        </p:txBody>
      </p:sp>
      <p:sp>
        <p:nvSpPr>
          <p:cNvPr id="3" name="Content Placeholder 2"/>
          <p:cNvSpPr>
            <a:spLocks noGrp="1"/>
          </p:cNvSpPr>
          <p:nvPr>
            <p:ph idx="1"/>
          </p:nvPr>
        </p:nvSpPr>
        <p:spPr>
          <a:xfrm>
            <a:off x="83127" y="1553029"/>
            <a:ext cx="11833102" cy="4623934"/>
          </a:xfrm>
        </p:spPr>
        <p:txBody>
          <a:bodyPr>
            <a:noAutofit/>
          </a:bodyPr>
          <a:lstStyle/>
          <a:p>
            <a:endParaRPr lang="en-US" dirty="0" smtClean="0">
              <a:latin typeface="+mn-lt"/>
            </a:endParaRPr>
          </a:p>
          <a:p>
            <a:r>
              <a:rPr lang="en-US" dirty="0" smtClean="0">
                <a:latin typeface="+mn-lt"/>
              </a:rPr>
              <a:t>Automatic </a:t>
            </a:r>
            <a:r>
              <a:rPr lang="en-US" dirty="0">
                <a:latin typeface="+mn-lt"/>
              </a:rPr>
              <a:t>workload for carrying effectual batch and event-driven project business measures</a:t>
            </a:r>
          </a:p>
          <a:p>
            <a:r>
              <a:rPr lang="en-US" dirty="0" smtClean="0">
                <a:latin typeface="+mn-lt"/>
              </a:rPr>
              <a:t>Life </a:t>
            </a:r>
            <a:r>
              <a:rPr lang="en-US" dirty="0">
                <a:latin typeface="+mn-lt"/>
              </a:rPr>
              <a:t>cycle management from request to retirement</a:t>
            </a:r>
          </a:p>
          <a:p>
            <a:r>
              <a:rPr lang="en-US" dirty="0" smtClean="0">
                <a:latin typeface="+mn-lt"/>
              </a:rPr>
              <a:t>Strategy-based </a:t>
            </a:r>
            <a:r>
              <a:rPr lang="en-US" dirty="0">
                <a:latin typeface="+mn-lt"/>
              </a:rPr>
              <a:t>administration destined for improved handling and governance</a:t>
            </a:r>
          </a:p>
          <a:p>
            <a:r>
              <a:rPr lang="en-US" dirty="0" smtClean="0">
                <a:latin typeface="+mn-lt"/>
              </a:rPr>
              <a:t>Virtual </a:t>
            </a:r>
            <a:r>
              <a:rPr lang="en-US" dirty="0">
                <a:latin typeface="+mn-lt"/>
              </a:rPr>
              <a:t>and physical assets administration</a:t>
            </a:r>
          </a:p>
          <a:p>
            <a:r>
              <a:rPr lang="en-US" dirty="0" smtClean="0">
                <a:latin typeface="+mn-lt"/>
              </a:rPr>
              <a:t>Automatic </a:t>
            </a:r>
            <a:r>
              <a:rPr lang="en-US" dirty="0">
                <a:latin typeface="+mn-lt"/>
              </a:rPr>
              <a:t>network provisioning</a:t>
            </a:r>
          </a:p>
          <a:p>
            <a:r>
              <a:rPr lang="en-US" dirty="0" smtClean="0">
                <a:latin typeface="+mn-lt"/>
              </a:rPr>
              <a:t>Automation </a:t>
            </a:r>
            <a:r>
              <a:rPr lang="en-US" dirty="0">
                <a:latin typeface="+mn-lt"/>
              </a:rPr>
              <a:t>and setting up for huge data and business enterprise aptitude workloads</a:t>
            </a:r>
            <a:endParaRPr lang="en-US" dirty="0">
              <a:solidFill>
                <a:schemeClr val="tx1"/>
              </a:solidFill>
              <a:latin typeface="+mn-lt"/>
            </a:endParaRP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solidFill>
                  <a:schemeClr val="tx1"/>
                </a:solidFill>
                <a:latin typeface="Calibri" panose="020F0502020204030204" pitchFamily="34" charset="0"/>
                <a:cs typeface="Calibri" panose="020F0502020204030204" pitchFamily="34" charset="0"/>
              </a:rPr>
              <a:t>© Oxford University Press 2018. All rights reserved</a:t>
            </a:r>
          </a:p>
        </p:txBody>
      </p:sp>
    </p:spTree>
    <p:extLst>
      <p:ext uri="{BB962C8B-B14F-4D97-AF65-F5344CB8AC3E}">
        <p14:creationId xmlns:p14="http://schemas.microsoft.com/office/powerpoint/2010/main" val="48666454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solidFill>
        </p:spPr>
        <p:txBody>
          <a:bodyPr/>
          <a:lstStyle/>
          <a:p>
            <a:pPr algn="ctr"/>
            <a:r>
              <a:rPr lang="en-US" dirty="0" smtClean="0">
                <a:solidFill>
                  <a:schemeClr val="tx1"/>
                </a:solidFill>
                <a:latin typeface="Calibri" panose="020F0502020204030204" pitchFamily="34" charset="0"/>
              </a:rPr>
              <a:t>Unified Management Software</a:t>
            </a:r>
            <a:endParaRPr lang="en-US" dirty="0">
              <a:solidFill>
                <a:schemeClr val="tx1"/>
              </a:solidFill>
              <a:latin typeface="Calibri" panose="020F0502020204030204" pitchFamily="34" charset="0"/>
            </a:endParaRPr>
          </a:p>
        </p:txBody>
      </p:sp>
      <p:sp>
        <p:nvSpPr>
          <p:cNvPr id="3" name="Content Placeholder 2"/>
          <p:cNvSpPr>
            <a:spLocks noGrp="1"/>
          </p:cNvSpPr>
          <p:nvPr>
            <p:ph idx="1"/>
          </p:nvPr>
        </p:nvSpPr>
        <p:spPr>
          <a:xfrm>
            <a:off x="83127" y="1553029"/>
            <a:ext cx="11833102" cy="4623934"/>
          </a:xfrm>
        </p:spPr>
        <p:txBody>
          <a:bodyPr>
            <a:noAutofit/>
          </a:bodyPr>
          <a:lstStyle/>
          <a:p>
            <a:endParaRPr lang="en-US" dirty="0" smtClean="0">
              <a:latin typeface="+mn-lt"/>
            </a:endParaRPr>
          </a:p>
          <a:p>
            <a:r>
              <a:rPr lang="en-US" dirty="0" smtClean="0">
                <a:latin typeface="+mn-lt"/>
              </a:rPr>
              <a:t>Resource </a:t>
            </a:r>
            <a:r>
              <a:rPr lang="en-US" dirty="0">
                <a:latin typeface="+mn-lt"/>
              </a:rPr>
              <a:t>allocation comprises generating service cases and assigning resources from bundles </a:t>
            </a:r>
            <a:r>
              <a:rPr lang="en-US" dirty="0" smtClean="0">
                <a:latin typeface="+mn-lt"/>
              </a:rPr>
              <a:t>to service </a:t>
            </a:r>
            <a:r>
              <a:rPr lang="en-US" dirty="0">
                <a:latin typeface="+mn-lt"/>
              </a:rPr>
              <a:t>cases when customers ask for services. At the occasion of generating service cases, </a:t>
            </a:r>
            <a:r>
              <a:rPr lang="en-US" dirty="0" smtClean="0">
                <a:latin typeface="+mn-lt"/>
              </a:rPr>
              <a:t>VMs are </a:t>
            </a:r>
            <a:r>
              <a:rPr lang="en-US" dirty="0">
                <a:latin typeface="+mn-lt"/>
              </a:rPr>
              <a:t>built and incorporated with virtual volumes (virtual disks) and VLANs. Platform software </a:t>
            </a:r>
            <a:r>
              <a:rPr lang="en-US" dirty="0" smtClean="0">
                <a:latin typeface="+mn-lt"/>
              </a:rPr>
              <a:t>and application </a:t>
            </a:r>
            <a:r>
              <a:rPr lang="en-US" dirty="0">
                <a:latin typeface="+mn-lt"/>
              </a:rPr>
              <a:t>can be deployed on the VMs. The service cases get storage, network, and </a:t>
            </a:r>
            <a:r>
              <a:rPr lang="en-US" dirty="0" smtClean="0">
                <a:latin typeface="+mn-lt"/>
              </a:rPr>
              <a:t>compute capacity </a:t>
            </a:r>
            <a:r>
              <a:rPr lang="en-US" dirty="0">
                <a:latin typeface="+mn-lt"/>
              </a:rPr>
              <a:t>from suitable bundles. The allotment of aptitude and software deployment pursues </a:t>
            </a:r>
            <a:r>
              <a:rPr lang="en-US" dirty="0" smtClean="0">
                <a:latin typeface="+mn-lt"/>
              </a:rPr>
              <a:t>traits described </a:t>
            </a:r>
            <a:r>
              <a:rPr lang="en-US" dirty="0">
                <a:latin typeface="+mn-lt"/>
              </a:rPr>
              <a:t>for the service.</a:t>
            </a:r>
            <a:endParaRPr lang="en-US" dirty="0">
              <a:solidFill>
                <a:schemeClr val="tx1"/>
              </a:solidFill>
              <a:latin typeface="+mn-lt"/>
            </a:endParaRP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solidFill>
                  <a:schemeClr val="tx1"/>
                </a:solidFill>
                <a:latin typeface="Calibri" panose="020F0502020204030204" pitchFamily="34" charset="0"/>
                <a:cs typeface="Calibri" panose="020F0502020204030204" pitchFamily="34" charset="0"/>
              </a:rPr>
              <a:t>© Oxford University Press 2018. All rights reserved</a:t>
            </a:r>
          </a:p>
        </p:txBody>
      </p:sp>
    </p:spTree>
    <p:extLst>
      <p:ext uri="{BB962C8B-B14F-4D97-AF65-F5344CB8AC3E}">
        <p14:creationId xmlns:p14="http://schemas.microsoft.com/office/powerpoint/2010/main" val="65008107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solidFill>
        </p:spPr>
        <p:txBody>
          <a:bodyPr/>
          <a:lstStyle/>
          <a:p>
            <a:pPr algn="ctr"/>
            <a:r>
              <a:rPr lang="en-US" dirty="0" smtClean="0">
                <a:solidFill>
                  <a:schemeClr val="tx1"/>
                </a:solidFill>
                <a:latin typeface="Calibri" panose="020F0502020204030204" pitchFamily="34" charset="0"/>
              </a:rPr>
              <a:t>Processes in Cloud Service Management</a:t>
            </a:r>
            <a:endParaRPr lang="en-US" dirty="0">
              <a:solidFill>
                <a:schemeClr val="tx1"/>
              </a:solidFill>
              <a:latin typeface="Calibri" panose="020F0502020204030204" pitchFamily="34" charset="0"/>
            </a:endParaRPr>
          </a:p>
        </p:txBody>
      </p:sp>
      <p:sp>
        <p:nvSpPr>
          <p:cNvPr id="3" name="Content Placeholder 2"/>
          <p:cNvSpPr>
            <a:spLocks noGrp="1"/>
          </p:cNvSpPr>
          <p:nvPr>
            <p:ph idx="1"/>
          </p:nvPr>
        </p:nvSpPr>
        <p:spPr>
          <a:xfrm>
            <a:off x="83127" y="1553029"/>
            <a:ext cx="11833102" cy="4623934"/>
          </a:xfrm>
        </p:spPr>
        <p:txBody>
          <a:bodyPr>
            <a:noAutofit/>
          </a:bodyPr>
          <a:lstStyle/>
          <a:p>
            <a:pPr>
              <a:buFont typeface="Wingdings" panose="05000000000000000000" pitchFamily="2" charset="2"/>
              <a:buChar char="Ø"/>
            </a:pPr>
            <a:r>
              <a:rPr lang="en-US" sz="2600" dirty="0">
                <a:solidFill>
                  <a:srgbClr val="FFFF00"/>
                </a:solidFill>
                <a:latin typeface="+mn-lt"/>
              </a:rPr>
              <a:t>Cloud service management procedures perform in the environment to make certain all the </a:t>
            </a:r>
            <a:r>
              <a:rPr lang="en-US" sz="2600" dirty="0" smtClean="0">
                <a:solidFill>
                  <a:srgbClr val="FFFF00"/>
                </a:solidFill>
                <a:latin typeface="+mn-lt"/>
              </a:rPr>
              <a:t>service tasks </a:t>
            </a:r>
            <a:r>
              <a:rPr lang="en-US" sz="2600" dirty="0">
                <a:solidFill>
                  <a:srgbClr val="FFFF00"/>
                </a:solidFill>
                <a:latin typeface="+mn-lt"/>
              </a:rPr>
              <a:t>are carried out as committed</a:t>
            </a:r>
            <a:r>
              <a:rPr lang="en-US" sz="2600" dirty="0" smtClean="0">
                <a:solidFill>
                  <a:srgbClr val="FFFF00"/>
                </a:solidFill>
                <a:latin typeface="+mn-lt"/>
              </a:rPr>
              <a:t>. </a:t>
            </a:r>
            <a:r>
              <a:rPr lang="en-US" sz="2600" dirty="0">
                <a:solidFill>
                  <a:srgbClr val="FFFF00"/>
                </a:solidFill>
                <a:latin typeface="+mn-lt"/>
              </a:rPr>
              <a:t>Processes included in cloud service </a:t>
            </a:r>
            <a:r>
              <a:rPr lang="en-US" sz="2600" dirty="0" smtClean="0">
                <a:solidFill>
                  <a:srgbClr val="FFFF00"/>
                </a:solidFill>
                <a:latin typeface="+mn-lt"/>
              </a:rPr>
              <a:t>management are:</a:t>
            </a:r>
          </a:p>
          <a:p>
            <a:r>
              <a:rPr lang="en-US" sz="2200" dirty="0" smtClean="0">
                <a:latin typeface="+mn-lt"/>
              </a:rPr>
              <a:t>Service </a:t>
            </a:r>
            <a:r>
              <a:rPr lang="en-US" sz="2200" dirty="0">
                <a:latin typeface="+mn-lt"/>
              </a:rPr>
              <a:t>benefit and configuration administration</a:t>
            </a:r>
          </a:p>
          <a:p>
            <a:r>
              <a:rPr lang="en-US" sz="2200" dirty="0" smtClean="0">
                <a:latin typeface="+mn-lt"/>
              </a:rPr>
              <a:t>Capacity </a:t>
            </a:r>
            <a:r>
              <a:rPr lang="en-US" sz="2200" dirty="0">
                <a:latin typeface="+mn-lt"/>
              </a:rPr>
              <a:t>administration</a:t>
            </a:r>
          </a:p>
          <a:p>
            <a:r>
              <a:rPr lang="en-US" sz="2200" dirty="0" smtClean="0">
                <a:latin typeface="+mn-lt"/>
              </a:rPr>
              <a:t>Performance </a:t>
            </a:r>
            <a:r>
              <a:rPr lang="en-US" sz="2200" dirty="0">
                <a:latin typeface="+mn-lt"/>
              </a:rPr>
              <a:t>administration</a:t>
            </a:r>
          </a:p>
          <a:p>
            <a:r>
              <a:rPr lang="en-US" sz="2200" dirty="0" smtClean="0">
                <a:latin typeface="+mn-lt"/>
              </a:rPr>
              <a:t>Incident </a:t>
            </a:r>
            <a:r>
              <a:rPr lang="en-US" sz="2200" dirty="0">
                <a:latin typeface="+mn-lt"/>
              </a:rPr>
              <a:t>administration</a:t>
            </a:r>
          </a:p>
          <a:p>
            <a:r>
              <a:rPr lang="en-US" sz="2200" dirty="0" smtClean="0">
                <a:latin typeface="+mn-lt"/>
              </a:rPr>
              <a:t>Problem </a:t>
            </a:r>
            <a:r>
              <a:rPr lang="en-US" sz="2200" dirty="0">
                <a:latin typeface="+mn-lt"/>
              </a:rPr>
              <a:t>administration</a:t>
            </a:r>
          </a:p>
          <a:p>
            <a:r>
              <a:rPr lang="en-US" sz="2200" dirty="0" smtClean="0">
                <a:latin typeface="+mn-lt"/>
              </a:rPr>
              <a:t>Availability </a:t>
            </a:r>
            <a:r>
              <a:rPr lang="en-US" sz="2200" dirty="0">
                <a:latin typeface="+mn-lt"/>
              </a:rPr>
              <a:t>administration</a:t>
            </a:r>
          </a:p>
          <a:p>
            <a:r>
              <a:rPr lang="en-US" sz="2200" dirty="0" smtClean="0">
                <a:latin typeface="+mn-lt"/>
              </a:rPr>
              <a:t>Service </a:t>
            </a:r>
            <a:r>
              <a:rPr lang="en-US" sz="2200" dirty="0">
                <a:latin typeface="+mn-lt"/>
              </a:rPr>
              <a:t>catalog administration</a:t>
            </a:r>
          </a:p>
          <a:p>
            <a:r>
              <a:rPr lang="en-US" sz="2200" dirty="0" smtClean="0">
                <a:latin typeface="+mn-lt"/>
              </a:rPr>
              <a:t>Financial </a:t>
            </a:r>
            <a:r>
              <a:rPr lang="en-US" sz="2200" dirty="0">
                <a:latin typeface="+mn-lt"/>
              </a:rPr>
              <a:t>administration</a:t>
            </a:r>
          </a:p>
          <a:p>
            <a:r>
              <a:rPr lang="en-US" sz="2200" dirty="0" smtClean="0">
                <a:latin typeface="+mn-lt"/>
              </a:rPr>
              <a:t>Compliance </a:t>
            </a:r>
            <a:r>
              <a:rPr lang="en-US" sz="2200" dirty="0">
                <a:latin typeface="+mn-lt"/>
              </a:rPr>
              <a:t>administration</a:t>
            </a:r>
            <a:endParaRPr lang="en-US" sz="2200" dirty="0">
              <a:solidFill>
                <a:schemeClr val="tx1"/>
              </a:solidFill>
              <a:latin typeface="+mn-lt"/>
            </a:endParaRP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solidFill>
                  <a:schemeClr val="tx1"/>
                </a:solidFill>
                <a:latin typeface="Calibri" panose="020F0502020204030204" pitchFamily="34" charset="0"/>
                <a:cs typeface="Calibri" panose="020F0502020204030204" pitchFamily="34" charset="0"/>
              </a:rPr>
              <a:t>© Oxford University Press 2018. All rights reserved</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31429" y="2481942"/>
            <a:ext cx="5308203" cy="38030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8201146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solidFill>
        </p:spPr>
        <p:txBody>
          <a:bodyPr>
            <a:noAutofit/>
          </a:bodyPr>
          <a:lstStyle/>
          <a:p>
            <a:pPr algn="ctr"/>
            <a:r>
              <a:rPr lang="en-US" sz="3400" dirty="0" smtClean="0">
                <a:solidFill>
                  <a:schemeClr val="tx1"/>
                </a:solidFill>
                <a:latin typeface="+mn-lt"/>
              </a:rPr>
              <a:t>Differences between Traditional IT Services and </a:t>
            </a:r>
            <a:r>
              <a:rPr lang="en-US" sz="3400" dirty="0">
                <a:solidFill>
                  <a:schemeClr val="tx1"/>
                </a:solidFill>
                <a:latin typeface="+mn-lt"/>
              </a:rPr>
              <a:t>Cloud Services</a:t>
            </a: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solidFill>
                  <a:schemeClr val="tx1"/>
                </a:solidFill>
                <a:latin typeface="Calibri" panose="020F0502020204030204" pitchFamily="34" charset="0"/>
                <a:cs typeface="Calibri" panose="020F0502020204030204" pitchFamily="34" charset="0"/>
              </a:rPr>
              <a:t>© Oxford University Press 2018. All rights reserved</a:t>
            </a: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84325" y="1959429"/>
            <a:ext cx="8829675" cy="36338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2029940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solidFill>
        </p:spPr>
        <p:txBody>
          <a:bodyPr/>
          <a:lstStyle/>
          <a:p>
            <a:pPr algn="ctr"/>
            <a:r>
              <a:rPr lang="en-US" dirty="0" smtClean="0">
                <a:solidFill>
                  <a:schemeClr val="tx1"/>
                </a:solidFill>
                <a:latin typeface="Calibri" panose="020F0502020204030204" pitchFamily="34" charset="0"/>
              </a:rPr>
              <a:t>How to access the Cloud </a:t>
            </a:r>
            <a:endParaRPr lang="en-US" dirty="0">
              <a:solidFill>
                <a:schemeClr val="tx1"/>
              </a:solidFill>
              <a:latin typeface="Calibri" panose="020F0502020204030204" pitchFamily="34" charset="0"/>
            </a:endParaRPr>
          </a:p>
        </p:txBody>
      </p:sp>
      <p:sp>
        <p:nvSpPr>
          <p:cNvPr id="3" name="Content Placeholder 2"/>
          <p:cNvSpPr>
            <a:spLocks noGrp="1"/>
          </p:cNvSpPr>
          <p:nvPr>
            <p:ph idx="1"/>
          </p:nvPr>
        </p:nvSpPr>
        <p:spPr>
          <a:xfrm>
            <a:off x="83127" y="1553029"/>
            <a:ext cx="11833102" cy="4623934"/>
          </a:xfrm>
        </p:spPr>
        <p:txBody>
          <a:bodyPr>
            <a:noAutofit/>
          </a:bodyPr>
          <a:lstStyle/>
          <a:p>
            <a:pPr>
              <a:buFont typeface="Wingdings" panose="05000000000000000000" pitchFamily="2" charset="2"/>
              <a:buChar char="Ø"/>
            </a:pPr>
            <a:endParaRPr lang="en-US" dirty="0" smtClean="0">
              <a:latin typeface="+mn-lt"/>
            </a:endParaRPr>
          </a:p>
          <a:p>
            <a:pPr>
              <a:buFont typeface="Wingdings" panose="05000000000000000000" pitchFamily="2" charset="2"/>
              <a:buChar char="Ø"/>
            </a:pPr>
            <a:r>
              <a:rPr lang="en-US" dirty="0" smtClean="0">
                <a:latin typeface="+mn-lt"/>
              </a:rPr>
              <a:t>For </a:t>
            </a:r>
            <a:r>
              <a:rPr lang="en-US" dirty="0">
                <a:latin typeface="+mn-lt"/>
              </a:rPr>
              <a:t>accessing the cloud, an Internet connection is required</a:t>
            </a:r>
            <a:r>
              <a:rPr lang="en-US" dirty="0" smtClean="0">
                <a:latin typeface="+mn-lt"/>
              </a:rPr>
              <a:t>.</a:t>
            </a:r>
          </a:p>
          <a:p>
            <a:pPr>
              <a:buFont typeface="Wingdings" panose="05000000000000000000" pitchFamily="2" charset="2"/>
              <a:buChar char="Ø"/>
            </a:pPr>
            <a:r>
              <a:rPr lang="en-US" dirty="0">
                <a:latin typeface="+mn-lt"/>
              </a:rPr>
              <a:t>Every provider offers a certain function so that users can manage their </a:t>
            </a:r>
            <a:r>
              <a:rPr lang="en-US" dirty="0" smtClean="0">
                <a:latin typeface="+mn-lt"/>
              </a:rPr>
              <a:t>clouds  according </a:t>
            </a:r>
            <a:r>
              <a:rPr lang="en-US" dirty="0">
                <a:latin typeface="+mn-lt"/>
              </a:rPr>
              <a:t>to their form</a:t>
            </a:r>
            <a:r>
              <a:rPr lang="en-US" dirty="0" smtClean="0">
                <a:latin typeface="+mn-lt"/>
              </a:rPr>
              <a:t>.</a:t>
            </a:r>
          </a:p>
          <a:p>
            <a:pPr>
              <a:buFont typeface="Wingdings" panose="05000000000000000000" pitchFamily="2" charset="2"/>
              <a:buChar char="Ø"/>
            </a:pPr>
            <a:r>
              <a:rPr lang="en-US" dirty="0" smtClean="0">
                <a:latin typeface="+mn-lt"/>
              </a:rPr>
              <a:t>One </a:t>
            </a:r>
            <a:r>
              <a:rPr lang="en-US" dirty="0">
                <a:latin typeface="+mn-lt"/>
              </a:rPr>
              <a:t>can buy additional storage space at any time from </a:t>
            </a:r>
            <a:r>
              <a:rPr lang="en-US" dirty="0" smtClean="0">
                <a:latin typeface="+mn-lt"/>
              </a:rPr>
              <a:t>the respective </a:t>
            </a:r>
            <a:r>
              <a:rPr lang="en-US" dirty="0">
                <a:latin typeface="+mn-lt"/>
              </a:rPr>
              <a:t>cloud provider according to </a:t>
            </a:r>
            <a:r>
              <a:rPr lang="en-US" dirty="0" smtClean="0">
                <a:latin typeface="+mn-lt"/>
              </a:rPr>
              <a:t>technological requirements</a:t>
            </a:r>
            <a:r>
              <a:rPr lang="en-US" dirty="0">
                <a:latin typeface="+mn-lt"/>
              </a:rPr>
              <a:t>, thus </a:t>
            </a:r>
            <a:r>
              <a:rPr lang="en-US" dirty="0" smtClean="0">
                <a:latin typeface="+mn-lt"/>
              </a:rPr>
              <a:t>the cloud </a:t>
            </a:r>
            <a:r>
              <a:rPr lang="en-US" dirty="0">
                <a:latin typeface="+mn-lt"/>
              </a:rPr>
              <a:t>provider will offer services on a pay-as-you-use method</a:t>
            </a:r>
            <a:r>
              <a:rPr lang="en-US" dirty="0" smtClean="0">
                <a:latin typeface="+mn-lt"/>
              </a:rPr>
              <a:t>.</a:t>
            </a:r>
          </a:p>
          <a:p>
            <a:pPr>
              <a:buFont typeface="Wingdings" panose="05000000000000000000" pitchFamily="2" charset="2"/>
              <a:buChar char="Ø"/>
            </a:pPr>
            <a:r>
              <a:rPr lang="en-US" dirty="0" smtClean="0">
                <a:solidFill>
                  <a:schemeClr val="tx1"/>
                </a:solidFill>
                <a:latin typeface="+mn-lt"/>
              </a:rPr>
              <a:t>The tools required for accessing cloud services and tools are </a:t>
            </a:r>
            <a:r>
              <a:rPr lang="en-US" dirty="0" smtClean="0">
                <a:latin typeface="+mn-lt"/>
              </a:rPr>
              <a:t>Platforms, </a:t>
            </a:r>
            <a:r>
              <a:rPr lang="en-US" dirty="0">
                <a:latin typeface="+mn-lt"/>
              </a:rPr>
              <a:t>Web </a:t>
            </a:r>
            <a:r>
              <a:rPr lang="en-US" dirty="0" smtClean="0">
                <a:latin typeface="+mn-lt"/>
              </a:rPr>
              <a:t>Applications, </a:t>
            </a:r>
            <a:r>
              <a:rPr lang="en-US" dirty="0">
                <a:latin typeface="+mn-lt"/>
              </a:rPr>
              <a:t>Web Application Programming </a:t>
            </a:r>
            <a:r>
              <a:rPr lang="en-US" dirty="0" smtClean="0">
                <a:latin typeface="+mn-lt"/>
              </a:rPr>
              <a:t>Interface, </a:t>
            </a:r>
            <a:r>
              <a:rPr lang="en-US" dirty="0">
                <a:latin typeface="+mn-lt"/>
              </a:rPr>
              <a:t>Web </a:t>
            </a:r>
            <a:r>
              <a:rPr lang="en-US" dirty="0" smtClean="0">
                <a:latin typeface="+mn-lt"/>
              </a:rPr>
              <a:t>Browsers.</a:t>
            </a:r>
            <a:endParaRPr lang="en-US" dirty="0">
              <a:solidFill>
                <a:schemeClr val="tx1"/>
              </a:solidFill>
              <a:latin typeface="+mn-lt"/>
            </a:endParaRP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solidFill>
                  <a:schemeClr val="tx1"/>
                </a:solidFill>
                <a:latin typeface="Calibri" panose="020F0502020204030204" pitchFamily="34" charset="0"/>
                <a:cs typeface="Calibri" panose="020F0502020204030204" pitchFamily="34" charset="0"/>
              </a:rPr>
              <a:t>© Oxford University Press 2018. All rights reserved</a:t>
            </a:r>
          </a:p>
        </p:txBody>
      </p:sp>
    </p:spTree>
    <p:extLst>
      <p:ext uri="{BB962C8B-B14F-4D97-AF65-F5344CB8AC3E}">
        <p14:creationId xmlns:p14="http://schemas.microsoft.com/office/powerpoint/2010/main" val="199371037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solidFill>
        </p:spPr>
        <p:txBody>
          <a:bodyPr/>
          <a:lstStyle/>
          <a:p>
            <a:pPr algn="ctr"/>
            <a:r>
              <a:rPr lang="en-US" dirty="0" smtClean="0">
                <a:solidFill>
                  <a:schemeClr val="tx1"/>
                </a:solidFill>
                <a:latin typeface="Calibri" panose="020F0502020204030204" pitchFamily="34" charset="0"/>
              </a:rPr>
              <a:t>Migrating to Cloud</a:t>
            </a:r>
            <a:endParaRPr lang="en-US" dirty="0">
              <a:solidFill>
                <a:schemeClr val="tx1"/>
              </a:solidFill>
              <a:latin typeface="Calibri" panose="020F0502020204030204" pitchFamily="34" charset="0"/>
            </a:endParaRPr>
          </a:p>
        </p:txBody>
      </p:sp>
      <p:sp>
        <p:nvSpPr>
          <p:cNvPr id="3" name="Content Placeholder 2"/>
          <p:cNvSpPr>
            <a:spLocks noGrp="1"/>
          </p:cNvSpPr>
          <p:nvPr>
            <p:ph idx="1"/>
          </p:nvPr>
        </p:nvSpPr>
        <p:spPr>
          <a:xfrm>
            <a:off x="83127" y="1553029"/>
            <a:ext cx="11833102" cy="4623934"/>
          </a:xfrm>
        </p:spPr>
        <p:txBody>
          <a:bodyPr>
            <a:noAutofit/>
          </a:bodyPr>
          <a:lstStyle/>
          <a:p>
            <a:pPr>
              <a:buFont typeface="Wingdings" panose="05000000000000000000" pitchFamily="2" charset="2"/>
              <a:buChar char="Ø"/>
            </a:pPr>
            <a:endParaRPr lang="en-US" dirty="0" smtClean="0">
              <a:latin typeface="+mn-lt"/>
            </a:endParaRPr>
          </a:p>
          <a:p>
            <a:pPr>
              <a:buFont typeface="Wingdings" panose="05000000000000000000" pitchFamily="2" charset="2"/>
              <a:buChar char="Ø"/>
            </a:pPr>
            <a:r>
              <a:rPr lang="en-US" dirty="0" smtClean="0">
                <a:latin typeface="+mn-lt"/>
              </a:rPr>
              <a:t>A </a:t>
            </a:r>
            <a:r>
              <a:rPr lang="en-US" dirty="0">
                <a:latin typeface="+mn-lt"/>
              </a:rPr>
              <a:t>corporation's aim of migrating to the cloud must be a clear perceptive of what the cloud may and may not do it.</a:t>
            </a:r>
          </a:p>
          <a:p>
            <a:pPr>
              <a:buFont typeface="Wingdings" panose="05000000000000000000" pitchFamily="2" charset="2"/>
              <a:buChar char="Ø"/>
            </a:pPr>
            <a:r>
              <a:rPr lang="en-US" dirty="0">
                <a:latin typeface="+mn-lt"/>
              </a:rPr>
              <a:t>A well-formed cloud policy needs thorough deliberation of every cloud service kind, installation module and access alternative considered against specific application characteristics of the company</a:t>
            </a:r>
            <a:r>
              <a:rPr lang="en-US" dirty="0" smtClean="0">
                <a:latin typeface="+mn-lt"/>
              </a:rPr>
              <a:t>.</a:t>
            </a:r>
          </a:p>
          <a:p>
            <a:pPr>
              <a:buFont typeface="Wingdings" panose="05000000000000000000" pitchFamily="2" charset="2"/>
              <a:buChar char="Ø"/>
            </a:pPr>
            <a:r>
              <a:rPr lang="en-US" dirty="0">
                <a:latin typeface="+mn-lt"/>
              </a:rPr>
              <a:t>A full-grown immigration policy will be expected in various objects, but among these, three are the most vital—organizational customs, IT governance, and virtualization</a:t>
            </a:r>
            <a:r>
              <a:rPr lang="en-US" dirty="0" smtClean="0">
                <a:latin typeface="+mn-lt"/>
              </a:rPr>
              <a:t>.</a:t>
            </a:r>
          </a:p>
          <a:p>
            <a:pPr>
              <a:buFont typeface="Wingdings" panose="05000000000000000000" pitchFamily="2" charset="2"/>
              <a:buChar char="Ø"/>
            </a:pPr>
            <a:endParaRPr lang="en-US" dirty="0">
              <a:latin typeface="+mn-lt"/>
            </a:endParaRPr>
          </a:p>
          <a:p>
            <a:endParaRPr lang="en-US" dirty="0">
              <a:solidFill>
                <a:schemeClr val="tx1"/>
              </a:solidFill>
              <a:latin typeface="+mn-lt"/>
            </a:endParaRP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solidFill>
                  <a:schemeClr val="tx1"/>
                </a:solidFill>
                <a:latin typeface="Calibri" panose="020F0502020204030204" pitchFamily="34" charset="0"/>
                <a:cs typeface="Calibri" panose="020F0502020204030204" pitchFamily="34" charset="0"/>
              </a:rPr>
              <a:t>© Oxford University Press 2018. All rights reserved</a:t>
            </a:r>
          </a:p>
        </p:txBody>
      </p:sp>
    </p:spTree>
    <p:extLst>
      <p:ext uri="{BB962C8B-B14F-4D97-AF65-F5344CB8AC3E}">
        <p14:creationId xmlns:p14="http://schemas.microsoft.com/office/powerpoint/2010/main" val="277437450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solidFill>
        </p:spPr>
        <p:txBody>
          <a:bodyPr/>
          <a:lstStyle/>
          <a:p>
            <a:pPr algn="ctr"/>
            <a:r>
              <a:rPr lang="en-US" dirty="0" smtClean="0">
                <a:solidFill>
                  <a:schemeClr val="tx1"/>
                </a:solidFill>
                <a:latin typeface="Calibri" panose="020F0502020204030204" pitchFamily="34" charset="0"/>
              </a:rPr>
              <a:t>Advantages of Clouds</a:t>
            </a:r>
            <a:endParaRPr lang="en-US" dirty="0">
              <a:solidFill>
                <a:schemeClr val="tx1"/>
              </a:solidFill>
              <a:latin typeface="Calibri" panose="020F0502020204030204" pitchFamily="34" charset="0"/>
            </a:endParaRPr>
          </a:p>
        </p:txBody>
      </p:sp>
      <p:sp>
        <p:nvSpPr>
          <p:cNvPr id="3" name="Content Placeholder 2"/>
          <p:cNvSpPr>
            <a:spLocks noGrp="1"/>
          </p:cNvSpPr>
          <p:nvPr>
            <p:ph idx="1"/>
          </p:nvPr>
        </p:nvSpPr>
        <p:spPr>
          <a:xfrm>
            <a:off x="83127" y="1553029"/>
            <a:ext cx="11833102" cy="4623934"/>
          </a:xfrm>
        </p:spPr>
        <p:txBody>
          <a:bodyPr>
            <a:noAutofit/>
          </a:bodyPr>
          <a:lstStyle/>
          <a:p>
            <a:pPr>
              <a:buFont typeface="Wingdings" panose="05000000000000000000" pitchFamily="2" charset="2"/>
              <a:buChar char="Ø"/>
            </a:pPr>
            <a:endParaRPr lang="en-US" b="1" dirty="0" smtClean="0">
              <a:latin typeface="+mn-lt"/>
            </a:endParaRPr>
          </a:p>
          <a:p>
            <a:pPr>
              <a:buFont typeface="Wingdings" panose="05000000000000000000" pitchFamily="2" charset="2"/>
              <a:buChar char="Ø"/>
            </a:pPr>
            <a:r>
              <a:rPr lang="en-US" b="1" dirty="0" smtClean="0">
                <a:solidFill>
                  <a:srgbClr val="FFFF00"/>
                </a:solidFill>
                <a:latin typeface="+mn-lt"/>
              </a:rPr>
              <a:t>Scalable</a:t>
            </a:r>
            <a:r>
              <a:rPr lang="en-US" dirty="0" smtClean="0">
                <a:latin typeface="+mn-lt"/>
              </a:rPr>
              <a:t>—Nearly </a:t>
            </a:r>
            <a:r>
              <a:rPr lang="en-US" dirty="0">
                <a:latin typeface="+mn-lt"/>
              </a:rPr>
              <a:t>all cloud-computing services are payable as per a monthly charge. Therefore, </a:t>
            </a:r>
            <a:r>
              <a:rPr lang="en-US" dirty="0" smtClean="0">
                <a:latin typeface="+mn-lt"/>
              </a:rPr>
              <a:t>if your </a:t>
            </a:r>
            <a:r>
              <a:rPr lang="en-US" dirty="0">
                <a:latin typeface="+mn-lt"/>
              </a:rPr>
              <a:t>business expands, you may order additional server space.</a:t>
            </a:r>
          </a:p>
          <a:p>
            <a:pPr>
              <a:buFont typeface="Wingdings" panose="05000000000000000000" pitchFamily="2" charset="2"/>
              <a:buChar char="Ø"/>
            </a:pPr>
            <a:r>
              <a:rPr lang="en-US" b="1" dirty="0" smtClean="0">
                <a:solidFill>
                  <a:srgbClr val="FFFF00"/>
                </a:solidFill>
                <a:latin typeface="+mn-lt"/>
              </a:rPr>
              <a:t>Nearly </a:t>
            </a:r>
            <a:r>
              <a:rPr lang="en-US" b="1" dirty="0">
                <a:solidFill>
                  <a:srgbClr val="FFFF00"/>
                </a:solidFill>
                <a:latin typeface="+mn-lt"/>
              </a:rPr>
              <a:t>zero provisioning cost</a:t>
            </a:r>
            <a:r>
              <a:rPr lang="en-US" dirty="0">
                <a:latin typeface="+mn-lt"/>
              </a:rPr>
              <a:t>—Along with the cloud, you need not establish a server and </a:t>
            </a:r>
            <a:r>
              <a:rPr lang="en-US" dirty="0" smtClean="0">
                <a:latin typeface="+mn-lt"/>
              </a:rPr>
              <a:t>waste the </a:t>
            </a:r>
            <a:r>
              <a:rPr lang="en-US" dirty="0">
                <a:latin typeface="+mn-lt"/>
              </a:rPr>
              <a:t>man-hours it takes to get one, up and working.</a:t>
            </a:r>
          </a:p>
          <a:p>
            <a:pPr>
              <a:buFont typeface="Wingdings" panose="05000000000000000000" pitchFamily="2" charset="2"/>
              <a:buChar char="Ø"/>
            </a:pPr>
            <a:r>
              <a:rPr lang="en-US" b="1" dirty="0" smtClean="0">
                <a:solidFill>
                  <a:srgbClr val="FFFF00"/>
                </a:solidFill>
                <a:latin typeface="+mn-lt"/>
              </a:rPr>
              <a:t>Money </a:t>
            </a:r>
            <a:r>
              <a:rPr lang="en-US" b="1" dirty="0">
                <a:solidFill>
                  <a:srgbClr val="FFFF00"/>
                </a:solidFill>
                <a:latin typeface="+mn-lt"/>
              </a:rPr>
              <a:t>can be saved for other means</a:t>
            </a:r>
            <a:r>
              <a:rPr lang="en-US" dirty="0">
                <a:latin typeface="+mn-lt"/>
              </a:rPr>
              <a:t>—It lessens the expenses involved in setting up a </a:t>
            </a:r>
            <a:r>
              <a:rPr lang="en-US" dirty="0" smtClean="0">
                <a:latin typeface="+mn-lt"/>
              </a:rPr>
              <a:t>novel infrastructure</a:t>
            </a:r>
            <a:r>
              <a:rPr lang="en-US" dirty="0">
                <a:latin typeface="+mn-lt"/>
              </a:rPr>
              <a:t>.</a:t>
            </a:r>
          </a:p>
          <a:p>
            <a:pPr>
              <a:buFont typeface="Wingdings" panose="05000000000000000000" pitchFamily="2" charset="2"/>
              <a:buChar char="Ø"/>
            </a:pPr>
            <a:r>
              <a:rPr lang="en-US" b="1" dirty="0" smtClean="0">
                <a:solidFill>
                  <a:srgbClr val="FFFF00"/>
                </a:solidFill>
                <a:latin typeface="+mn-lt"/>
              </a:rPr>
              <a:t>Fewer </a:t>
            </a:r>
            <a:r>
              <a:rPr lang="en-US" b="1" dirty="0">
                <a:solidFill>
                  <a:srgbClr val="FFFF00"/>
                </a:solidFill>
                <a:latin typeface="+mn-lt"/>
              </a:rPr>
              <a:t>IT infrastructure staff to administer</a:t>
            </a:r>
            <a:r>
              <a:rPr lang="en-US" dirty="0">
                <a:latin typeface="+mn-lt"/>
              </a:rPr>
              <a:t>—Along with cloud computing, you need not employ </a:t>
            </a:r>
            <a:r>
              <a:rPr lang="en-US" dirty="0" smtClean="0">
                <a:latin typeface="+mn-lt"/>
              </a:rPr>
              <a:t>a technical </a:t>
            </a:r>
            <a:r>
              <a:rPr lang="en-US" dirty="0">
                <a:latin typeface="+mn-lt"/>
              </a:rPr>
              <a:t>group to administer and scrutinize the cloud.</a:t>
            </a:r>
          </a:p>
          <a:p>
            <a:endParaRPr lang="en-US" dirty="0">
              <a:solidFill>
                <a:schemeClr val="tx1"/>
              </a:solidFill>
              <a:latin typeface="+mn-lt"/>
            </a:endParaRP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solidFill>
                  <a:schemeClr val="tx1"/>
                </a:solidFill>
                <a:latin typeface="Calibri" panose="020F0502020204030204" pitchFamily="34" charset="0"/>
                <a:cs typeface="Calibri" panose="020F0502020204030204" pitchFamily="34" charset="0"/>
              </a:rPr>
              <a:t>© Oxford University Press 2018. All rights reserved</a:t>
            </a:r>
          </a:p>
        </p:txBody>
      </p:sp>
    </p:spTree>
    <p:extLst>
      <p:ext uri="{BB962C8B-B14F-4D97-AF65-F5344CB8AC3E}">
        <p14:creationId xmlns:p14="http://schemas.microsoft.com/office/powerpoint/2010/main" val="143414373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solidFill>
        </p:spPr>
        <p:txBody>
          <a:bodyPr/>
          <a:lstStyle/>
          <a:p>
            <a:pPr algn="ctr"/>
            <a:r>
              <a:rPr lang="en-US" dirty="0" smtClean="0">
                <a:solidFill>
                  <a:schemeClr val="tx1"/>
                </a:solidFill>
                <a:latin typeface="Calibri" panose="020F0502020204030204" pitchFamily="34" charset="0"/>
              </a:rPr>
              <a:t>Disadvantages of Clouds</a:t>
            </a:r>
            <a:endParaRPr lang="en-US" dirty="0">
              <a:solidFill>
                <a:schemeClr val="tx1"/>
              </a:solidFill>
              <a:latin typeface="Calibri" panose="020F0502020204030204" pitchFamily="34" charset="0"/>
            </a:endParaRPr>
          </a:p>
        </p:txBody>
      </p:sp>
      <p:sp>
        <p:nvSpPr>
          <p:cNvPr id="3" name="Content Placeholder 2"/>
          <p:cNvSpPr>
            <a:spLocks noGrp="1"/>
          </p:cNvSpPr>
          <p:nvPr>
            <p:ph idx="1"/>
          </p:nvPr>
        </p:nvSpPr>
        <p:spPr>
          <a:xfrm>
            <a:off x="83127" y="1553029"/>
            <a:ext cx="11833102" cy="4623934"/>
          </a:xfrm>
        </p:spPr>
        <p:txBody>
          <a:bodyPr>
            <a:noAutofit/>
          </a:bodyPr>
          <a:lstStyle/>
          <a:p>
            <a:pPr>
              <a:buFont typeface="Wingdings" panose="05000000000000000000" pitchFamily="2" charset="2"/>
              <a:buChar char="Ø"/>
            </a:pPr>
            <a:endParaRPr lang="en-US" b="1" dirty="0" smtClean="0">
              <a:latin typeface="+mn-lt"/>
            </a:endParaRPr>
          </a:p>
          <a:p>
            <a:pPr>
              <a:buFont typeface="Wingdings" panose="05000000000000000000" pitchFamily="2" charset="2"/>
              <a:buChar char="Ø"/>
            </a:pPr>
            <a:r>
              <a:rPr lang="en-US" b="1" dirty="0" smtClean="0">
                <a:solidFill>
                  <a:srgbClr val="FFFF00"/>
                </a:solidFill>
                <a:latin typeface="+mn-lt"/>
              </a:rPr>
              <a:t>Scarcity </a:t>
            </a:r>
            <a:r>
              <a:rPr lang="en-US" b="1" dirty="0">
                <a:solidFill>
                  <a:srgbClr val="FFFF00"/>
                </a:solidFill>
                <a:latin typeface="+mn-lt"/>
              </a:rPr>
              <a:t>of control</a:t>
            </a:r>
            <a:r>
              <a:rPr lang="en-US" dirty="0">
                <a:latin typeface="+mn-lt"/>
              </a:rPr>
              <a:t>—Servers might not be directly administrated by you, but even now you </a:t>
            </a:r>
            <a:r>
              <a:rPr lang="en-US" dirty="0" smtClean="0">
                <a:latin typeface="+mn-lt"/>
              </a:rPr>
              <a:t>are accountable </a:t>
            </a:r>
            <a:r>
              <a:rPr lang="en-US" dirty="0">
                <a:latin typeface="+mn-lt"/>
              </a:rPr>
              <a:t>for your data. Before deciding on a cloud service, you must inquire about the </a:t>
            </a:r>
            <a:r>
              <a:rPr lang="en-US" dirty="0" smtClean="0">
                <a:latin typeface="+mn-lt"/>
              </a:rPr>
              <a:t>backup system</a:t>
            </a:r>
            <a:r>
              <a:rPr lang="en-US" dirty="0">
                <a:latin typeface="+mn-lt"/>
              </a:rPr>
              <a:t>, safety, and upholding policies. Decide what happens to your data if the company </a:t>
            </a:r>
            <a:r>
              <a:rPr lang="en-US" dirty="0" smtClean="0">
                <a:latin typeface="+mn-lt"/>
              </a:rPr>
              <a:t>modifies hands </a:t>
            </a:r>
            <a:r>
              <a:rPr lang="en-US" dirty="0">
                <a:latin typeface="+mn-lt"/>
              </a:rPr>
              <a:t>or moves out of business, and understand that your company even possesses the </a:t>
            </a:r>
            <a:r>
              <a:rPr lang="en-US" dirty="0" smtClean="0">
                <a:latin typeface="+mn-lt"/>
              </a:rPr>
              <a:t>information and </a:t>
            </a:r>
            <a:r>
              <a:rPr lang="en-US" dirty="0">
                <a:latin typeface="+mn-lt"/>
              </a:rPr>
              <a:t>may get it from the cloud whenever you need it.</a:t>
            </a:r>
          </a:p>
          <a:p>
            <a:pPr>
              <a:buFont typeface="Wingdings" panose="05000000000000000000" pitchFamily="2" charset="2"/>
              <a:buChar char="Ø"/>
            </a:pPr>
            <a:r>
              <a:rPr lang="en-US" b="1" dirty="0" smtClean="0">
                <a:solidFill>
                  <a:srgbClr val="FFFF00"/>
                </a:solidFill>
                <a:latin typeface="+mn-lt"/>
              </a:rPr>
              <a:t>Integrating </a:t>
            </a:r>
            <a:r>
              <a:rPr lang="en-US" b="1" dirty="0">
                <a:solidFill>
                  <a:srgbClr val="FFFF00"/>
                </a:solidFill>
                <a:latin typeface="+mn-lt"/>
              </a:rPr>
              <a:t>systems</a:t>
            </a:r>
            <a:r>
              <a:rPr lang="en-US" dirty="0">
                <a:latin typeface="+mn-lt"/>
              </a:rPr>
              <a:t>—It is impossible for everybody to shift a corporation totally to the cloud </a:t>
            </a:r>
            <a:r>
              <a:rPr lang="en-US" dirty="0" smtClean="0">
                <a:latin typeface="+mn-lt"/>
              </a:rPr>
              <a:t>due to </a:t>
            </a:r>
            <a:r>
              <a:rPr lang="en-US" dirty="0">
                <a:latin typeface="+mn-lt"/>
              </a:rPr>
              <a:t>the systems it has constructed already</a:t>
            </a:r>
            <a:r>
              <a:rPr lang="en-US" dirty="0" smtClean="0">
                <a:latin typeface="+mn-lt"/>
              </a:rPr>
              <a:t>.</a:t>
            </a:r>
            <a:endParaRPr lang="en-US" dirty="0">
              <a:latin typeface="+mn-lt"/>
            </a:endParaRP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solidFill>
                  <a:schemeClr val="tx1"/>
                </a:solidFill>
                <a:latin typeface="Calibri" panose="020F0502020204030204" pitchFamily="34" charset="0"/>
                <a:cs typeface="Calibri" panose="020F0502020204030204" pitchFamily="34" charset="0"/>
              </a:rPr>
              <a:t>© Oxford University Press 2018. All rights reserved</a:t>
            </a:r>
          </a:p>
        </p:txBody>
      </p:sp>
    </p:spTree>
    <p:extLst>
      <p:ext uri="{BB962C8B-B14F-4D97-AF65-F5344CB8AC3E}">
        <p14:creationId xmlns:p14="http://schemas.microsoft.com/office/powerpoint/2010/main" val="210332003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solidFill>
        </p:spPr>
        <p:txBody>
          <a:bodyPr/>
          <a:lstStyle/>
          <a:p>
            <a:pPr algn="ctr"/>
            <a:r>
              <a:rPr lang="en-US" dirty="0" smtClean="0">
                <a:solidFill>
                  <a:schemeClr val="tx1"/>
                </a:solidFill>
                <a:latin typeface="Calibri" panose="020F0502020204030204" pitchFamily="34" charset="0"/>
              </a:rPr>
              <a:t>Disadvantages of Clouds</a:t>
            </a:r>
            <a:endParaRPr lang="en-US" dirty="0">
              <a:solidFill>
                <a:schemeClr val="tx1"/>
              </a:solidFill>
              <a:latin typeface="Calibri" panose="020F0502020204030204" pitchFamily="34" charset="0"/>
            </a:endParaRPr>
          </a:p>
        </p:txBody>
      </p:sp>
      <p:sp>
        <p:nvSpPr>
          <p:cNvPr id="3" name="Content Placeholder 2"/>
          <p:cNvSpPr>
            <a:spLocks noGrp="1"/>
          </p:cNvSpPr>
          <p:nvPr>
            <p:ph idx="1"/>
          </p:nvPr>
        </p:nvSpPr>
        <p:spPr>
          <a:xfrm>
            <a:off x="83127" y="1553029"/>
            <a:ext cx="11833102" cy="4623934"/>
          </a:xfrm>
        </p:spPr>
        <p:txBody>
          <a:bodyPr>
            <a:noAutofit/>
          </a:bodyPr>
          <a:lstStyle/>
          <a:p>
            <a:pPr>
              <a:buFont typeface="Wingdings" panose="05000000000000000000" pitchFamily="2" charset="2"/>
              <a:buChar char="Ø"/>
            </a:pPr>
            <a:endParaRPr lang="en-US" b="1" dirty="0" smtClean="0">
              <a:latin typeface="+mn-lt"/>
            </a:endParaRPr>
          </a:p>
          <a:p>
            <a:pPr>
              <a:buFont typeface="Wingdings" panose="05000000000000000000" pitchFamily="2" charset="2"/>
              <a:buChar char="Ø"/>
            </a:pPr>
            <a:r>
              <a:rPr lang="en-US" b="1" dirty="0" smtClean="0">
                <a:solidFill>
                  <a:srgbClr val="FFFF00"/>
                </a:solidFill>
                <a:latin typeface="+mn-lt"/>
              </a:rPr>
              <a:t>Speed</a:t>
            </a:r>
            <a:r>
              <a:rPr lang="en-US" dirty="0" smtClean="0">
                <a:latin typeface="+mn-lt"/>
              </a:rPr>
              <a:t>—Along </a:t>
            </a:r>
            <a:r>
              <a:rPr lang="en-US" dirty="0">
                <a:latin typeface="+mn-lt"/>
              </a:rPr>
              <a:t>with the data transfer speed, cloud-based services sometimes do not </a:t>
            </a:r>
            <a:r>
              <a:rPr lang="en-US" dirty="0" smtClean="0">
                <a:latin typeface="+mn-lt"/>
              </a:rPr>
              <a:t>communicate among </a:t>
            </a:r>
            <a:r>
              <a:rPr lang="en-US" dirty="0">
                <a:latin typeface="+mn-lt"/>
              </a:rPr>
              <a:t>themselves during low-speed connectivity.</a:t>
            </a:r>
          </a:p>
          <a:p>
            <a:pPr>
              <a:buFont typeface="Wingdings" panose="05000000000000000000" pitchFamily="2" charset="2"/>
              <a:buChar char="Ø"/>
            </a:pPr>
            <a:r>
              <a:rPr lang="en-US" b="1" dirty="0" smtClean="0">
                <a:solidFill>
                  <a:srgbClr val="FFFF00"/>
                </a:solidFill>
                <a:latin typeface="+mn-lt"/>
              </a:rPr>
              <a:t>Cost</a:t>
            </a:r>
            <a:r>
              <a:rPr lang="en-US" dirty="0" smtClean="0">
                <a:latin typeface="+mn-lt"/>
              </a:rPr>
              <a:t>—As </a:t>
            </a:r>
            <a:r>
              <a:rPr lang="en-US" dirty="0">
                <a:latin typeface="+mn-lt"/>
              </a:rPr>
              <a:t>there is no up-front assets’ investment associated with cloud services, the technology </a:t>
            </a:r>
            <a:r>
              <a:rPr lang="en-US" dirty="0" smtClean="0">
                <a:latin typeface="+mn-lt"/>
              </a:rPr>
              <a:t>is yet </a:t>
            </a:r>
            <a:r>
              <a:rPr lang="en-US" dirty="0">
                <a:latin typeface="+mn-lt"/>
              </a:rPr>
              <a:t>to have long-standing expenses’ investments. The expenses linked with downtime, </a:t>
            </a:r>
            <a:r>
              <a:rPr lang="en-US" dirty="0" smtClean="0">
                <a:latin typeface="+mn-lt"/>
              </a:rPr>
              <a:t>renewing of </a:t>
            </a:r>
            <a:r>
              <a:rPr lang="en-US" dirty="0">
                <a:latin typeface="+mn-lt"/>
              </a:rPr>
              <a:t>native computers to </a:t>
            </a:r>
            <a:r>
              <a:rPr lang="en-US" dirty="0" smtClean="0">
                <a:latin typeface="+mn-lt"/>
              </a:rPr>
              <a:t>access the </a:t>
            </a:r>
            <a:r>
              <a:rPr lang="en-US" dirty="0">
                <a:latin typeface="+mn-lt"/>
              </a:rPr>
              <a:t>system, and unavoidable unpredicted faults are all drawbacks </a:t>
            </a:r>
            <a:r>
              <a:rPr lang="en-US" dirty="0" smtClean="0">
                <a:latin typeface="+mn-lt"/>
              </a:rPr>
              <a:t>for drifting </a:t>
            </a:r>
            <a:r>
              <a:rPr lang="en-US" dirty="0">
                <a:latin typeface="+mn-lt"/>
              </a:rPr>
              <a:t>to the cloud.</a:t>
            </a:r>
            <a:endParaRPr lang="en-US" dirty="0">
              <a:solidFill>
                <a:schemeClr val="tx1"/>
              </a:solidFill>
              <a:latin typeface="+mn-lt"/>
            </a:endParaRP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solidFill>
                  <a:schemeClr val="tx1"/>
                </a:solidFill>
                <a:latin typeface="Calibri" panose="020F0502020204030204" pitchFamily="34" charset="0"/>
                <a:cs typeface="Calibri" panose="020F0502020204030204" pitchFamily="34" charset="0"/>
              </a:rPr>
              <a:t>© Oxford University Press 2018. All rights reserved</a:t>
            </a:r>
          </a:p>
        </p:txBody>
      </p:sp>
    </p:spTree>
    <p:extLst>
      <p:ext uri="{BB962C8B-B14F-4D97-AF65-F5344CB8AC3E}">
        <p14:creationId xmlns:p14="http://schemas.microsoft.com/office/powerpoint/2010/main" val="181311512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solidFill>
        </p:spPr>
        <p:txBody>
          <a:bodyPr/>
          <a:lstStyle/>
          <a:p>
            <a:pPr algn="ctr"/>
            <a:r>
              <a:rPr lang="en-US" dirty="0" smtClean="0">
                <a:solidFill>
                  <a:schemeClr val="tx1"/>
                </a:solidFill>
                <a:latin typeface="Calibri" panose="020F0502020204030204" pitchFamily="34" charset="0"/>
              </a:rPr>
              <a:t>Challenges in Migration to and from the Cloud</a:t>
            </a:r>
            <a:endParaRPr lang="en-US" dirty="0">
              <a:solidFill>
                <a:schemeClr val="tx1"/>
              </a:solidFill>
              <a:latin typeface="Calibri" panose="020F0502020204030204" pitchFamily="34" charset="0"/>
            </a:endParaRPr>
          </a:p>
        </p:txBody>
      </p:sp>
      <p:sp>
        <p:nvSpPr>
          <p:cNvPr id="3" name="Content Placeholder 2"/>
          <p:cNvSpPr>
            <a:spLocks noGrp="1"/>
          </p:cNvSpPr>
          <p:nvPr>
            <p:ph idx="1"/>
          </p:nvPr>
        </p:nvSpPr>
        <p:spPr>
          <a:xfrm>
            <a:off x="83127" y="1553029"/>
            <a:ext cx="11833102" cy="4623934"/>
          </a:xfrm>
        </p:spPr>
        <p:txBody>
          <a:bodyPr>
            <a:noAutofit/>
          </a:bodyPr>
          <a:lstStyle/>
          <a:p>
            <a:pPr>
              <a:buFont typeface="Wingdings" panose="05000000000000000000" pitchFamily="2" charset="2"/>
              <a:buChar char="Ø"/>
            </a:pPr>
            <a:endParaRPr lang="en-US" dirty="0" smtClean="0">
              <a:latin typeface="+mn-lt"/>
            </a:endParaRPr>
          </a:p>
          <a:p>
            <a:pPr>
              <a:buFont typeface="Wingdings" panose="05000000000000000000" pitchFamily="2" charset="2"/>
              <a:buChar char="Ø"/>
            </a:pPr>
            <a:r>
              <a:rPr lang="en-US" dirty="0" smtClean="0">
                <a:latin typeface="+mn-lt"/>
              </a:rPr>
              <a:t>Successful </a:t>
            </a:r>
            <a:r>
              <a:rPr lang="en-US" dirty="0">
                <a:latin typeface="+mn-lt"/>
              </a:rPr>
              <a:t>cloud migrations need adequate resources and time</a:t>
            </a:r>
            <a:r>
              <a:rPr lang="en-US" dirty="0" smtClean="0">
                <a:latin typeface="+mn-lt"/>
              </a:rPr>
              <a:t>.</a:t>
            </a:r>
          </a:p>
          <a:p>
            <a:pPr>
              <a:buFont typeface="Wingdings" panose="05000000000000000000" pitchFamily="2" charset="2"/>
              <a:buChar char="Ø"/>
            </a:pPr>
            <a:r>
              <a:rPr lang="en-US" dirty="0">
                <a:latin typeface="+mn-lt"/>
              </a:rPr>
              <a:t>The three main dealers—Google, </a:t>
            </a:r>
            <a:r>
              <a:rPr lang="en-US" dirty="0" smtClean="0">
                <a:latin typeface="+mn-lt"/>
              </a:rPr>
              <a:t>Microsoft, and </a:t>
            </a:r>
            <a:r>
              <a:rPr lang="en-US" dirty="0">
                <a:latin typeface="+mn-lt"/>
              </a:rPr>
              <a:t>Amazon,—control the cloud market, whereas most businesses use multiple dealers’ apps instead </a:t>
            </a:r>
            <a:r>
              <a:rPr lang="en-US" dirty="0" smtClean="0">
                <a:latin typeface="+mn-lt"/>
              </a:rPr>
              <a:t>of asking </a:t>
            </a:r>
            <a:r>
              <a:rPr lang="en-US" dirty="0">
                <a:latin typeface="+mn-lt"/>
              </a:rPr>
              <a:t>employees to follow one set of devices</a:t>
            </a:r>
            <a:r>
              <a:rPr lang="en-US" dirty="0" smtClean="0">
                <a:latin typeface="+mn-lt"/>
              </a:rPr>
              <a:t>.</a:t>
            </a:r>
          </a:p>
          <a:p>
            <a:pPr>
              <a:buFont typeface="Wingdings" panose="05000000000000000000" pitchFamily="2" charset="2"/>
              <a:buChar char="Ø"/>
            </a:pPr>
            <a:r>
              <a:rPr lang="en-US" dirty="0">
                <a:latin typeface="+mn-lt"/>
              </a:rPr>
              <a:t>With the lack of third-party support, controlling cloud apps might be a budget buster</a:t>
            </a:r>
            <a:r>
              <a:rPr lang="en-US" dirty="0" smtClean="0">
                <a:latin typeface="+mn-lt"/>
              </a:rPr>
              <a:t>.</a:t>
            </a:r>
          </a:p>
          <a:p>
            <a:pPr>
              <a:buFont typeface="Wingdings" panose="05000000000000000000" pitchFamily="2" charset="2"/>
              <a:buChar char="Ø"/>
            </a:pPr>
            <a:r>
              <a:rPr lang="en-US" dirty="0">
                <a:latin typeface="+mn-lt"/>
              </a:rPr>
              <a:t>Safety remains the biggest obstacle to cloud adoption</a:t>
            </a:r>
            <a:r>
              <a:rPr lang="en-US" dirty="0" smtClean="0">
                <a:latin typeface="+mn-lt"/>
              </a:rPr>
              <a:t>.</a:t>
            </a:r>
          </a:p>
          <a:p>
            <a:pPr>
              <a:buFont typeface="Wingdings" panose="05000000000000000000" pitchFamily="2" charset="2"/>
              <a:buChar char="Ø"/>
            </a:pPr>
            <a:r>
              <a:rPr lang="en-US" dirty="0">
                <a:latin typeface="+mn-lt"/>
              </a:rPr>
              <a:t>Although various businesses have made </a:t>
            </a:r>
            <a:r>
              <a:rPr lang="en-US" dirty="0" smtClean="0">
                <a:latin typeface="+mn-lt"/>
              </a:rPr>
              <a:t>the jump </a:t>
            </a:r>
            <a:r>
              <a:rPr lang="en-US" dirty="0">
                <a:latin typeface="+mn-lt"/>
              </a:rPr>
              <a:t>to the cloud, almost one quarter is still uncertain to migrate—mainly because of concerns </a:t>
            </a:r>
            <a:r>
              <a:rPr lang="en-US" dirty="0" smtClean="0">
                <a:latin typeface="+mn-lt"/>
              </a:rPr>
              <a:t>over safety</a:t>
            </a:r>
            <a:r>
              <a:rPr lang="en-US" dirty="0">
                <a:latin typeface="+mn-lt"/>
              </a:rPr>
              <a:t>.</a:t>
            </a:r>
            <a:endParaRPr lang="en-US" dirty="0">
              <a:solidFill>
                <a:schemeClr val="tx1"/>
              </a:solidFill>
              <a:latin typeface="+mn-lt"/>
            </a:endParaRP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solidFill>
                  <a:schemeClr val="tx1"/>
                </a:solidFill>
                <a:latin typeface="Calibri" panose="020F0502020204030204" pitchFamily="34" charset="0"/>
                <a:cs typeface="Calibri" panose="020F0502020204030204" pitchFamily="34" charset="0"/>
              </a:rPr>
              <a:t>© Oxford University Press 2018. All rights reserved</a:t>
            </a:r>
          </a:p>
        </p:txBody>
      </p:sp>
    </p:spTree>
    <p:extLst>
      <p:ext uri="{BB962C8B-B14F-4D97-AF65-F5344CB8AC3E}">
        <p14:creationId xmlns:p14="http://schemas.microsoft.com/office/powerpoint/2010/main" val="291172395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solidFill>
        </p:spPr>
        <p:txBody>
          <a:bodyPr/>
          <a:lstStyle/>
          <a:p>
            <a:pPr algn="ctr"/>
            <a:r>
              <a:rPr lang="en-US" dirty="0" smtClean="0">
                <a:solidFill>
                  <a:schemeClr val="tx1"/>
                </a:solidFill>
                <a:latin typeface="Calibri" panose="020F0502020204030204" pitchFamily="34" charset="0"/>
              </a:rPr>
              <a:t>Banking on Cloud Economics</a:t>
            </a:r>
            <a:endParaRPr lang="en-US" dirty="0">
              <a:solidFill>
                <a:schemeClr val="tx1"/>
              </a:solidFill>
              <a:latin typeface="Calibri" panose="020F0502020204030204" pitchFamily="34" charset="0"/>
            </a:endParaRPr>
          </a:p>
        </p:txBody>
      </p:sp>
      <p:sp>
        <p:nvSpPr>
          <p:cNvPr id="3" name="Content Placeholder 2"/>
          <p:cNvSpPr>
            <a:spLocks noGrp="1"/>
          </p:cNvSpPr>
          <p:nvPr>
            <p:ph idx="1"/>
          </p:nvPr>
        </p:nvSpPr>
        <p:spPr>
          <a:xfrm>
            <a:off x="83127" y="1553029"/>
            <a:ext cx="11833102" cy="4623934"/>
          </a:xfrm>
        </p:spPr>
        <p:txBody>
          <a:bodyPr>
            <a:noAutofit/>
          </a:bodyPr>
          <a:lstStyle/>
          <a:p>
            <a:pPr>
              <a:buFont typeface="Wingdings" panose="05000000000000000000" pitchFamily="2" charset="2"/>
              <a:buChar char="Ø"/>
            </a:pPr>
            <a:endParaRPr lang="en-US" dirty="0" smtClean="0">
              <a:latin typeface="+mn-lt"/>
            </a:endParaRPr>
          </a:p>
          <a:p>
            <a:pPr>
              <a:buFont typeface="Wingdings" panose="05000000000000000000" pitchFamily="2" charset="2"/>
              <a:buChar char="Ø"/>
            </a:pPr>
            <a:r>
              <a:rPr lang="en-US" dirty="0" smtClean="0">
                <a:latin typeface="+mn-lt"/>
              </a:rPr>
              <a:t>The </a:t>
            </a:r>
            <a:r>
              <a:rPr lang="en-US" dirty="0">
                <a:latin typeface="+mn-lt"/>
              </a:rPr>
              <a:t>cloud computing module is a modern conception of computation which offers a number </a:t>
            </a:r>
            <a:r>
              <a:rPr lang="en-US" dirty="0" smtClean="0">
                <a:latin typeface="+mn-lt"/>
              </a:rPr>
              <a:t>of advantages </a:t>
            </a:r>
            <a:r>
              <a:rPr lang="en-US" dirty="0">
                <a:latin typeface="+mn-lt"/>
              </a:rPr>
              <a:t>for its adopters, for example, that of the same physical infrastructure being easily shared </a:t>
            </a:r>
            <a:r>
              <a:rPr lang="en-US" dirty="0" smtClean="0">
                <a:latin typeface="+mn-lt"/>
              </a:rPr>
              <a:t>by many </a:t>
            </a:r>
            <a:r>
              <a:rPr lang="en-US" dirty="0">
                <a:latin typeface="+mn-lt"/>
              </a:rPr>
              <a:t>users with virtualized infrastructure</a:t>
            </a:r>
            <a:r>
              <a:rPr lang="en-US" dirty="0" smtClean="0">
                <a:latin typeface="+mn-lt"/>
              </a:rPr>
              <a:t>.</a:t>
            </a:r>
          </a:p>
          <a:p>
            <a:pPr>
              <a:buFont typeface="Wingdings" panose="05000000000000000000" pitchFamily="2" charset="2"/>
              <a:buChar char="Ø"/>
            </a:pPr>
            <a:r>
              <a:rPr lang="en-US" dirty="0">
                <a:latin typeface="+mn-lt"/>
              </a:rPr>
              <a:t>Such an online computing module has been broadly used </a:t>
            </a:r>
            <a:r>
              <a:rPr lang="en-US" dirty="0" smtClean="0">
                <a:latin typeface="+mn-lt"/>
              </a:rPr>
              <a:t>in the </a:t>
            </a:r>
            <a:r>
              <a:rPr lang="en-US" dirty="0">
                <a:latin typeface="+mn-lt"/>
              </a:rPr>
              <a:t>western world and </a:t>
            </a:r>
            <a:r>
              <a:rPr lang="en-US" dirty="0" smtClean="0">
                <a:latin typeface="+mn-lt"/>
              </a:rPr>
              <a:t>assumed to have some trade and financial effects.</a:t>
            </a:r>
          </a:p>
          <a:p>
            <a:r>
              <a:rPr lang="en-US" dirty="0">
                <a:latin typeface="+mn-lt"/>
              </a:rPr>
              <a:t>For predicting the effects of the cloud computing acceptance, various models are built. Several strategy executions comprise the support of the cloud computing adoption in banks and universities for comprehending the advantage of efficient usage and scalability of computing resources.</a:t>
            </a: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solidFill>
                  <a:schemeClr val="tx1"/>
                </a:solidFill>
                <a:latin typeface="Calibri" panose="020F0502020204030204" pitchFamily="34" charset="0"/>
                <a:cs typeface="Calibri" panose="020F0502020204030204" pitchFamily="34" charset="0"/>
              </a:rPr>
              <a:t>© Oxford University Press 2018. All rights reserved</a:t>
            </a:r>
          </a:p>
        </p:txBody>
      </p:sp>
    </p:spTree>
    <p:extLst>
      <p:ext uri="{BB962C8B-B14F-4D97-AF65-F5344CB8AC3E}">
        <p14:creationId xmlns:p14="http://schemas.microsoft.com/office/powerpoint/2010/main" val="343560128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3201944" y="6284660"/>
            <a:ext cx="6327648" cy="365125"/>
          </a:xfrm>
        </p:spPr>
        <p:txBody>
          <a:bodyPr/>
          <a:lstStyle/>
          <a:p>
            <a:pPr algn="ctr"/>
            <a:r>
              <a:rPr lang="en-US" sz="1200" dirty="0">
                <a:latin typeface="Calibri" panose="020F0502020204030204" pitchFamily="34" charset="0"/>
                <a:cs typeface="Calibri" panose="020F0502020204030204" pitchFamily="34" charset="0"/>
              </a:rPr>
              <a:t>© Oxford University Press 2018. All rights reserved</a:t>
            </a:r>
          </a:p>
        </p:txBody>
      </p:sp>
      <p:sp>
        <p:nvSpPr>
          <p:cNvPr id="5" name="Title 1"/>
          <p:cNvSpPr>
            <a:spLocks noGrp="1"/>
          </p:cNvSpPr>
          <p:nvPr>
            <p:ph type="title"/>
          </p:nvPr>
        </p:nvSpPr>
        <p:spPr>
          <a:xfrm>
            <a:off x="208478" y="3179577"/>
            <a:ext cx="11684000" cy="1071789"/>
          </a:xfrm>
          <a:solidFill>
            <a:schemeClr val="bg1"/>
          </a:solidFill>
        </p:spPr>
        <p:txBody>
          <a:bodyPr>
            <a:normAutofit/>
          </a:bodyPr>
          <a:lstStyle/>
          <a:p>
            <a:pPr algn="ctr"/>
            <a:r>
              <a:rPr lang="en-US" dirty="0" smtClean="0">
                <a:solidFill>
                  <a:schemeClr val="tx1"/>
                </a:solidFill>
                <a:latin typeface="Calibri" panose="020F0502020204030204" pitchFamily="34" charset="0"/>
              </a:rPr>
              <a:t>Thank You!</a:t>
            </a:r>
            <a:endParaRPr lang="en-US" dirty="0">
              <a:solidFill>
                <a:schemeClr val="tx1"/>
              </a:solidFill>
              <a:latin typeface="Calibri" panose="020F0502020204030204" pitchFamily="34" charset="0"/>
            </a:endParaRPr>
          </a:p>
        </p:txBody>
      </p:sp>
    </p:spTree>
    <p:extLst>
      <p:ext uri="{BB962C8B-B14F-4D97-AF65-F5344CB8AC3E}">
        <p14:creationId xmlns:p14="http://schemas.microsoft.com/office/powerpoint/2010/main" val="122875264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2937</TotalTime>
  <Words>1496</Words>
  <Application>Microsoft Office PowerPoint</Application>
  <PresentationFormat>Custom</PresentationFormat>
  <Paragraphs>130</Paragraphs>
  <Slides>21</Slides>
  <Notes>1</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PowerPoint Presentation</vt:lpstr>
      <vt:lpstr>Chapter 9</vt:lpstr>
      <vt:lpstr>Learning Outcomes</vt:lpstr>
      <vt:lpstr>Introduction</vt:lpstr>
      <vt:lpstr>Administrating Clouds</vt:lpstr>
      <vt:lpstr>Administrating Clouds</vt:lpstr>
      <vt:lpstr>Cloud Management Products</vt:lpstr>
      <vt:lpstr>Unified Management Software</vt:lpstr>
      <vt:lpstr>Unified Management Software</vt:lpstr>
      <vt:lpstr>Unified Management Software</vt:lpstr>
      <vt:lpstr>Unified Management Software</vt:lpstr>
      <vt:lpstr>Processes in Cloud Service Management</vt:lpstr>
      <vt:lpstr>Differences between Traditional IT Services and Cloud Services</vt:lpstr>
      <vt:lpstr>How to access the Cloud </vt:lpstr>
      <vt:lpstr>Migrating to Cloud</vt:lpstr>
      <vt:lpstr>Advantages of Clouds</vt:lpstr>
      <vt:lpstr>Disadvantages of Clouds</vt:lpstr>
      <vt:lpstr>Disadvantages of Clouds</vt:lpstr>
      <vt:lpstr>Challenges in Migration to and from the Cloud</vt:lpstr>
      <vt:lpstr>Banking on Cloud Economics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Chowdhury, Sayantan</dc:creator>
  <cp:lastModifiedBy>Dhawan, Neha</cp:lastModifiedBy>
  <cp:revision>172</cp:revision>
  <dcterms:created xsi:type="dcterms:W3CDTF">2018-06-14T06:27:15Z</dcterms:created>
  <dcterms:modified xsi:type="dcterms:W3CDTF">2018-08-30T11:27:46Z</dcterms:modified>
</cp:coreProperties>
</file>