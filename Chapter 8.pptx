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0" r:id="rId3"/>
    <p:sldId id="257" r:id="rId4"/>
    <p:sldId id="342" r:id="rId5"/>
    <p:sldId id="343" r:id="rId6"/>
    <p:sldId id="355" r:id="rId7"/>
    <p:sldId id="356" r:id="rId8"/>
    <p:sldId id="344" r:id="rId9"/>
    <p:sldId id="345" r:id="rId10"/>
    <p:sldId id="346" r:id="rId11"/>
    <p:sldId id="347" r:id="rId12"/>
    <p:sldId id="348" r:id="rId13"/>
    <p:sldId id="357" r:id="rId14"/>
    <p:sldId id="349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69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6EA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1" autoAdjust="0"/>
    <p:restoredTop sz="94660"/>
  </p:normalViewPr>
  <p:slideViewPr>
    <p:cSldViewPr snapToGrid="0">
      <p:cViewPr varScale="1">
        <p:scale>
          <a:sx n="77" d="100"/>
          <a:sy n="77" d="100"/>
        </p:scale>
        <p:origin x="-114" y="-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A5E15-EA7C-4AE6-A7FE-6EE8949B26F4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3C74D-DBCC-462F-80C9-23B653553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3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211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092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875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2229" y="365125"/>
            <a:ext cx="11684000" cy="1071789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dirty="0" smtClean="0"/>
              <a:t>Topic: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553029"/>
            <a:ext cx="11684000" cy="462393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2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aseline="0"/>
            </a:lvl1pPr>
          </a:lstStyle>
          <a:p>
            <a:r>
              <a:rPr lang="en-US" dirty="0" smtClean="0"/>
              <a:t>Chapter name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Chapter no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07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286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9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18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597" y="890117"/>
            <a:ext cx="3604203" cy="4801691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 userDrawn="1"/>
        </p:nvSpPr>
        <p:spPr>
          <a:xfrm>
            <a:off x="1524000" y="2191658"/>
            <a:ext cx="56025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1" dirty="0" smtClean="0">
                <a:solidFill>
                  <a:schemeClr val="bg1"/>
                </a:solidFill>
                <a:latin typeface="Candara" panose="020E0502030303020204" pitchFamily="34" charset="0"/>
              </a:rPr>
              <a:t>CLOUD COMPUTING</a:t>
            </a:r>
          </a:p>
          <a:p>
            <a:endParaRPr lang="en-US" dirty="0" smtClean="0"/>
          </a:p>
          <a:p>
            <a:pPr algn="ctr"/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Shailendra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Singh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Professor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Department of Computer Science &amp; Engineering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NITTTR</a:t>
            </a:r>
            <a:r>
              <a:rPr lang="en-US" b="1" baseline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Bhopal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046514" y="4455887"/>
            <a:ext cx="544285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850" y="352793"/>
            <a:ext cx="2054530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19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24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697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51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A1AED2"/>
            </a:gs>
            <a:gs pos="0">
              <a:srgbClr val="566EAE"/>
            </a:gs>
            <a:gs pos="100000">
              <a:srgbClr val="FFFFFF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8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12580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alibri" panose="020F0502020204030204" pitchFamily="34" charset="0"/>
              </a:rPr>
              <a:t>Chapter 8</a:t>
            </a:r>
            <a:endParaRPr lang="en-US" b="1" dirty="0"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1055350" cy="1500187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Virtualization Technology (At Desktop and Application)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2631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8000">
              <a:srgbClr val="A1AED2"/>
            </a:gs>
            <a:gs pos="0">
              <a:srgbClr val="566EAE"/>
            </a:gs>
            <a:gs pos="100000">
              <a:srgbClr val="FFFFFF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Learning Outcomes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>
              <a:latin typeface="+mn-lt"/>
            </a:endParaRPr>
          </a:p>
          <a:p>
            <a:r>
              <a:rPr lang="en-US" dirty="0" smtClean="0">
                <a:latin typeface="+mn-lt"/>
              </a:rPr>
              <a:t>Comprehend </a:t>
            </a:r>
            <a:r>
              <a:rPr lang="en-US" dirty="0">
                <a:latin typeface="+mn-lt"/>
              </a:rPr>
              <a:t>desktop virtualization</a:t>
            </a:r>
          </a:p>
          <a:p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Describe </a:t>
            </a:r>
            <a:r>
              <a:rPr lang="en-US" dirty="0">
                <a:latin typeface="+mn-lt"/>
              </a:rPr>
              <a:t>techniques used for desktop virtualization</a:t>
            </a:r>
          </a:p>
          <a:p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Illustrate </a:t>
            </a:r>
            <a:r>
              <a:rPr lang="en-US" dirty="0">
                <a:latin typeface="+mn-lt"/>
              </a:rPr>
              <a:t>remote desktop services</a:t>
            </a:r>
          </a:p>
          <a:p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Explain </a:t>
            </a:r>
            <a:r>
              <a:rPr lang="en-US" dirty="0">
                <a:latin typeface="+mn-lt"/>
              </a:rPr>
              <a:t>hardware virtual machine</a:t>
            </a:r>
          </a:p>
          <a:p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Understand </a:t>
            </a:r>
            <a:r>
              <a:rPr lang="en-US" dirty="0">
                <a:latin typeface="+mn-lt"/>
              </a:rPr>
              <a:t>infrastructure of desktop virtualization</a:t>
            </a:r>
          </a:p>
          <a:p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Describe </a:t>
            </a:r>
            <a:r>
              <a:rPr lang="en-US" dirty="0">
                <a:latin typeface="+mn-lt"/>
              </a:rPr>
              <a:t>components of desktop virtualization</a:t>
            </a:r>
          </a:p>
          <a:p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Describe </a:t>
            </a:r>
            <a:r>
              <a:rPr lang="en-US" dirty="0">
                <a:latin typeface="+mn-lt"/>
              </a:rPr>
              <a:t>machine imaging</a:t>
            </a:r>
          </a:p>
          <a:p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D</a:t>
            </a:r>
            <a:r>
              <a:rPr lang="fr-FR" dirty="0" err="1" smtClean="0">
                <a:latin typeface="+mn-lt"/>
              </a:rPr>
              <a:t>escribe</a:t>
            </a:r>
            <a:r>
              <a:rPr lang="fr-FR" dirty="0" smtClean="0">
                <a:latin typeface="+mn-lt"/>
              </a:rPr>
              <a:t> </a:t>
            </a:r>
            <a:r>
              <a:rPr lang="fr-FR" dirty="0">
                <a:latin typeface="+mn-lt"/>
              </a:rPr>
              <a:t>VM migration services management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20833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Introduction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Desktop </a:t>
            </a:r>
            <a:r>
              <a:rPr lang="en-US" dirty="0">
                <a:latin typeface="+mn-lt"/>
              </a:rPr>
              <a:t>virtualization is actually a type of illusion provided to the user using different techniques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It involves </a:t>
            </a:r>
            <a:r>
              <a:rPr lang="en-US" dirty="0">
                <a:latin typeface="+mn-lt"/>
              </a:rPr>
              <a:t>encapsulating and delivering either access to an entire information system environment or </a:t>
            </a:r>
            <a:r>
              <a:rPr lang="en-US" dirty="0" smtClean="0">
                <a:latin typeface="+mn-lt"/>
              </a:rPr>
              <a:t>the environment </a:t>
            </a:r>
            <a:r>
              <a:rPr lang="en-US" dirty="0">
                <a:latin typeface="+mn-lt"/>
              </a:rPr>
              <a:t>itself to a remote client device. 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For IT organizations, desktop administration is expensive, manual, and time-consuming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As </a:t>
            </a:r>
            <a:r>
              <a:rPr lang="en-US" dirty="0" smtClean="0">
                <a:latin typeface="+mn-lt"/>
              </a:rPr>
              <a:t>compared to </a:t>
            </a:r>
            <a:r>
              <a:rPr lang="en-US" dirty="0">
                <a:latin typeface="+mn-lt"/>
              </a:rPr>
              <a:t>desktop virtualization, server virtualization makes datacenters more quick and effective </a:t>
            </a:r>
            <a:r>
              <a:rPr lang="en-US" dirty="0" smtClean="0">
                <a:latin typeface="+mn-lt"/>
              </a:rPr>
              <a:t>by advanced </a:t>
            </a:r>
            <a:r>
              <a:rPr lang="en-US" dirty="0">
                <a:latin typeface="+mn-lt"/>
              </a:rPr>
              <a:t>levels of accessibility, quicker application delivery, and enhanced utilization.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53040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Desktop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Desktop </a:t>
            </a:r>
            <a:r>
              <a:rPr lang="en-US" dirty="0">
                <a:latin typeface="+mn-lt"/>
              </a:rPr>
              <a:t>virtualization is a type of software technology used to separate the desktop and its </a:t>
            </a:r>
            <a:r>
              <a:rPr lang="en-US" dirty="0" smtClean="0">
                <a:latin typeface="+mn-lt"/>
              </a:rPr>
              <a:t>connected application </a:t>
            </a:r>
            <a:r>
              <a:rPr lang="en-US" dirty="0">
                <a:latin typeface="+mn-lt"/>
              </a:rPr>
              <a:t>software from the physical device used by the client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Remote desktop </a:t>
            </a:r>
            <a:r>
              <a:rPr lang="en-US" dirty="0" smtClean="0">
                <a:latin typeface="+mn-lt"/>
              </a:rPr>
              <a:t>virtualization works </a:t>
            </a:r>
            <a:r>
              <a:rPr lang="en-US" dirty="0">
                <a:latin typeface="+mn-lt"/>
              </a:rPr>
              <a:t>in a manner similar to client–server model in which applications can be executed on any </a:t>
            </a:r>
            <a:r>
              <a:rPr lang="en-US" dirty="0" smtClean="0">
                <a:latin typeface="+mn-lt"/>
              </a:rPr>
              <a:t>remote desktop </a:t>
            </a:r>
            <a:r>
              <a:rPr lang="en-US" dirty="0">
                <a:latin typeface="+mn-lt"/>
              </a:rPr>
              <a:t>with different operating systems and with the help of the protocol of remote display, a user </a:t>
            </a:r>
            <a:r>
              <a:rPr lang="en-US" dirty="0" smtClean="0">
                <a:latin typeface="+mn-lt"/>
              </a:rPr>
              <a:t>can interact </a:t>
            </a:r>
            <a:r>
              <a:rPr lang="en-US" dirty="0">
                <a:latin typeface="+mn-lt"/>
              </a:rPr>
              <a:t>with the application as shown in Fig. 8.1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In a virtualized desktop, virtualization breaks the connection between hardware and the </a:t>
            </a:r>
            <a:r>
              <a:rPr lang="en-US" dirty="0" smtClean="0">
                <a:latin typeface="+mn-lt"/>
              </a:rPr>
              <a:t>elements facilitate </a:t>
            </a:r>
            <a:r>
              <a:rPr lang="en-US" dirty="0">
                <a:latin typeface="+mn-lt"/>
              </a:rPr>
              <a:t>the IT staff to alter, update, and organize these elements independently for greater </a:t>
            </a:r>
            <a:r>
              <a:rPr lang="en-US" dirty="0" smtClean="0">
                <a:latin typeface="+mn-lt"/>
              </a:rPr>
              <a:t>business quickness </a:t>
            </a:r>
            <a:r>
              <a:rPr lang="en-US" dirty="0">
                <a:latin typeface="+mn-lt"/>
              </a:rPr>
              <a:t>and improved response time.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16210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Desktop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2" y="2084924"/>
            <a:ext cx="7724775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411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Advantages of Desktop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Simpler </a:t>
            </a:r>
            <a:r>
              <a:rPr lang="en-US" dirty="0">
                <a:latin typeface="+mn-lt"/>
              </a:rPr>
              <a:t>provisioning of new desktops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Installation </a:t>
            </a:r>
            <a:r>
              <a:rPr lang="en-US" dirty="0">
                <a:latin typeface="+mn-lt"/>
              </a:rPr>
              <a:t>of new applications at cheap rates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Desktop </a:t>
            </a:r>
            <a:r>
              <a:rPr lang="en-US" dirty="0">
                <a:latin typeface="+mn-lt"/>
              </a:rPr>
              <a:t>image-management capabilities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Increased </a:t>
            </a:r>
            <a:r>
              <a:rPr lang="en-US" dirty="0">
                <a:latin typeface="+mn-lt"/>
              </a:rPr>
              <a:t>data security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Longer </a:t>
            </a:r>
            <a:r>
              <a:rPr lang="en-US" dirty="0">
                <a:latin typeface="+mn-lt"/>
              </a:rPr>
              <a:t>time given for customer desktop </a:t>
            </a:r>
            <a:r>
              <a:rPr lang="en-US" dirty="0" smtClean="0">
                <a:latin typeface="+mn-lt"/>
              </a:rPr>
              <a:t>infrastructure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Protected </a:t>
            </a:r>
            <a:r>
              <a:rPr lang="en-US" dirty="0">
                <a:latin typeface="+mn-lt"/>
              </a:rPr>
              <a:t>reserved access to a business’ desktop </a:t>
            </a:r>
            <a:r>
              <a:rPr lang="en-US" dirty="0" smtClean="0">
                <a:latin typeface="+mn-lt"/>
              </a:rPr>
              <a:t>settings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380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Advantages of Desktop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Facilitation </a:t>
            </a:r>
            <a:r>
              <a:rPr lang="en-US" dirty="0">
                <a:latin typeface="+mn-lt"/>
              </a:rPr>
              <a:t>of thin </a:t>
            </a:r>
            <a:r>
              <a:rPr lang="en-US" dirty="0" smtClean="0">
                <a:latin typeface="+mn-lt"/>
              </a:rPr>
              <a:t>clients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Improved security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Better business continuity and disaster </a:t>
            </a:r>
            <a:r>
              <a:rPr lang="en-US" dirty="0" smtClean="0">
                <a:latin typeface="+mn-lt"/>
              </a:rPr>
              <a:t>recovery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Abridged PC </a:t>
            </a:r>
            <a:r>
              <a:rPr lang="en-US" dirty="0" smtClean="0">
                <a:latin typeface="+mn-lt"/>
              </a:rPr>
              <a:t>repairs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Suppleness of </a:t>
            </a:r>
            <a:r>
              <a:rPr lang="en-US" dirty="0" smtClean="0">
                <a:latin typeface="+mn-lt"/>
              </a:rPr>
              <a:t>access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Improved deployment and management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4574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Features of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Desktop Virtualization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Reduction </a:t>
            </a:r>
            <a:r>
              <a:rPr lang="en-US" dirty="0">
                <a:latin typeface="+mn-lt"/>
              </a:rPr>
              <a:t>in cost of </a:t>
            </a:r>
            <a:r>
              <a:rPr lang="en-US" dirty="0" smtClean="0">
                <a:latin typeface="+mn-lt"/>
              </a:rPr>
              <a:t>desktops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Reduction in management cost of </a:t>
            </a:r>
            <a:r>
              <a:rPr lang="en-US" dirty="0" smtClean="0">
                <a:latin typeface="+mn-lt"/>
              </a:rPr>
              <a:t>desktop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Easy setting of </a:t>
            </a:r>
            <a:r>
              <a:rPr lang="en-US" dirty="0" smtClean="0">
                <a:latin typeface="+mn-lt"/>
              </a:rPr>
              <a:t>desktops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Reduced cost to refresh desktops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2046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Techniques used for Desktop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Virtualization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The </a:t>
            </a:r>
            <a:r>
              <a:rPr lang="en-US" dirty="0">
                <a:latin typeface="+mn-lt"/>
              </a:rPr>
              <a:t>two desktop virtualization techniques basically used for providing services </a:t>
            </a:r>
            <a:r>
              <a:rPr lang="en-US" dirty="0" smtClean="0">
                <a:latin typeface="+mn-lt"/>
              </a:rPr>
              <a:t>to users </a:t>
            </a:r>
            <a:r>
              <a:rPr lang="en-US" dirty="0">
                <a:latin typeface="+mn-lt"/>
              </a:rPr>
              <a:t>are as follows</a:t>
            </a:r>
            <a:r>
              <a:rPr lang="en-US" dirty="0" smtClean="0">
                <a:latin typeface="+mn-lt"/>
              </a:rPr>
              <a:t>: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• Remote desktop services (RDS)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• Virtual desktop infrastructure (VDI</a:t>
            </a:r>
            <a:r>
              <a:rPr lang="en-US" dirty="0" smtClean="0">
                <a:latin typeface="+mn-lt"/>
              </a:rPr>
              <a:t>)</a:t>
            </a:r>
          </a:p>
          <a:p>
            <a:pPr marL="0" indent="0">
              <a:buNone/>
            </a:pP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VDI and RDS are designed for providing services to users as per </a:t>
            </a:r>
            <a:r>
              <a:rPr lang="en-US" dirty="0" smtClean="0">
                <a:latin typeface="+mn-lt"/>
              </a:rPr>
              <a:t>their requirement</a:t>
            </a:r>
            <a:r>
              <a:rPr lang="en-US" dirty="0">
                <a:latin typeface="+mn-lt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10722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+mn-lt"/>
              </a:rPr>
              <a:t>D</a:t>
            </a:r>
            <a:r>
              <a:rPr lang="en-US" dirty="0" smtClean="0">
                <a:solidFill>
                  <a:schemeClr val="tx1"/>
                </a:solidFill>
                <a:latin typeface="+mn-lt"/>
              </a:rPr>
              <a:t>ifferences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between RDS and VDI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" y="1793632"/>
            <a:ext cx="10269415" cy="4173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638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Remote Desktop Services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Remote </a:t>
            </a:r>
            <a:r>
              <a:rPr lang="en-US" dirty="0">
                <a:latin typeface="+mn-lt"/>
              </a:rPr>
              <a:t>desktop services (RDS) is customarily called terminal services. It is a blanket term </a:t>
            </a:r>
            <a:r>
              <a:rPr lang="en-US" dirty="0" smtClean="0">
                <a:latin typeface="+mn-lt"/>
              </a:rPr>
              <a:t>for characteristics </a:t>
            </a:r>
            <a:r>
              <a:rPr lang="en-US" dirty="0">
                <a:latin typeface="+mn-lt"/>
              </a:rPr>
              <a:t>of Microsoft Windows server which permits consumers to distantly access </a:t>
            </a:r>
            <a:r>
              <a:rPr lang="en-US" dirty="0" smtClean="0">
                <a:latin typeface="+mn-lt"/>
              </a:rPr>
              <a:t>Windows applications </a:t>
            </a:r>
            <a:r>
              <a:rPr lang="en-US" dirty="0">
                <a:latin typeface="+mn-lt"/>
              </a:rPr>
              <a:t>and graphical desktops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advantages of </a:t>
            </a:r>
            <a:r>
              <a:rPr lang="en-US" dirty="0" smtClean="0">
                <a:latin typeface="+mn-lt"/>
              </a:rPr>
              <a:t>RDS are </a:t>
            </a:r>
            <a:r>
              <a:rPr lang="en-US" dirty="0">
                <a:latin typeface="+mn-lt"/>
              </a:rPr>
              <a:t>as follows</a:t>
            </a:r>
            <a:r>
              <a:rPr lang="en-US" dirty="0" smtClean="0">
                <a:latin typeface="+mn-lt"/>
              </a:rPr>
              <a:t>:</a:t>
            </a:r>
          </a:p>
          <a:p>
            <a:r>
              <a:rPr lang="en-US" dirty="0" smtClean="0">
                <a:latin typeface="+mn-lt"/>
              </a:rPr>
              <a:t>Data </a:t>
            </a:r>
            <a:r>
              <a:rPr lang="en-US" dirty="0">
                <a:latin typeface="+mn-lt"/>
              </a:rPr>
              <a:t>recovery in tragedy</a:t>
            </a:r>
          </a:p>
          <a:p>
            <a:r>
              <a:rPr lang="en-US" dirty="0" smtClean="0">
                <a:latin typeface="+mn-lt"/>
              </a:rPr>
              <a:t>Operation </a:t>
            </a:r>
            <a:r>
              <a:rPr lang="en-US" dirty="0">
                <a:latin typeface="+mn-lt"/>
              </a:rPr>
              <a:t>from anyplace</a:t>
            </a:r>
          </a:p>
          <a:p>
            <a:r>
              <a:rPr lang="en-US" dirty="0" smtClean="0">
                <a:latin typeface="+mn-lt"/>
              </a:rPr>
              <a:t>Economical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80762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Remote Desktop Services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The disadvantages </a:t>
            </a:r>
            <a:r>
              <a:rPr lang="en-US" dirty="0">
                <a:latin typeface="+mn-lt"/>
              </a:rPr>
              <a:t>of RDS are as </a:t>
            </a:r>
            <a:r>
              <a:rPr lang="en-US" dirty="0" smtClean="0">
                <a:latin typeface="+mn-lt"/>
              </a:rPr>
              <a:t>follows:</a:t>
            </a:r>
          </a:p>
          <a:p>
            <a:r>
              <a:rPr lang="en-US" dirty="0" smtClean="0">
                <a:latin typeface="+mn-lt"/>
              </a:rPr>
              <a:t>Requirement </a:t>
            </a:r>
            <a:r>
              <a:rPr lang="en-US" dirty="0">
                <a:latin typeface="+mn-lt"/>
              </a:rPr>
              <a:t>of powerful </a:t>
            </a:r>
            <a:r>
              <a:rPr lang="en-US" dirty="0" smtClean="0">
                <a:latin typeface="+mn-lt"/>
              </a:rPr>
              <a:t>RDS</a:t>
            </a:r>
          </a:p>
          <a:p>
            <a:r>
              <a:rPr lang="en-US" dirty="0">
                <a:latin typeface="+mn-lt"/>
              </a:rPr>
              <a:t>Requirement of RDS </a:t>
            </a:r>
            <a:r>
              <a:rPr lang="en-US" dirty="0" smtClean="0">
                <a:latin typeface="+mn-lt"/>
              </a:rPr>
              <a:t>monitoring</a:t>
            </a:r>
          </a:p>
          <a:p>
            <a:r>
              <a:rPr lang="en-US" dirty="0">
                <a:latin typeface="+mn-lt"/>
              </a:rPr>
              <a:t>Requirement of reliable </a:t>
            </a:r>
            <a:r>
              <a:rPr lang="en-US" dirty="0" smtClean="0">
                <a:latin typeface="+mn-lt"/>
              </a:rPr>
              <a:t>network</a:t>
            </a:r>
          </a:p>
          <a:p>
            <a:r>
              <a:rPr lang="en-US" dirty="0" smtClean="0">
                <a:latin typeface="+mn-lt"/>
              </a:rPr>
              <a:t>Requirement of right adjustment in network</a:t>
            </a:r>
          </a:p>
          <a:p>
            <a:r>
              <a:rPr lang="en-US" dirty="0" smtClean="0">
                <a:latin typeface="+mn-lt"/>
              </a:rPr>
              <a:t>Knowledgeable </a:t>
            </a:r>
            <a:r>
              <a:rPr lang="en-US" dirty="0">
                <a:latin typeface="+mn-lt"/>
              </a:rPr>
              <a:t>administrator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88179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Virtual Desktop 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Infrastructure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endParaRPr lang="en-US" dirty="0" smtClean="0">
              <a:latin typeface="+mn-lt"/>
            </a:endParaRPr>
          </a:p>
          <a:p>
            <a:r>
              <a:rPr lang="en-US" dirty="0" smtClean="0">
                <a:latin typeface="+mn-lt"/>
              </a:rPr>
              <a:t>Virtual </a:t>
            </a:r>
            <a:r>
              <a:rPr lang="en-US" dirty="0">
                <a:latin typeface="+mn-lt"/>
              </a:rPr>
              <a:t>desktop infrastructure (VDI) refers to the hosting of a desktop OS running in a VM on a </a:t>
            </a:r>
            <a:r>
              <a:rPr lang="en-US" dirty="0" smtClean="0">
                <a:latin typeface="+mn-lt"/>
              </a:rPr>
              <a:t>server in </a:t>
            </a:r>
            <a:r>
              <a:rPr lang="en-US" dirty="0">
                <a:latin typeface="+mn-lt"/>
              </a:rPr>
              <a:t>the virtual data center (VDC</a:t>
            </a:r>
            <a:r>
              <a:rPr lang="en-US" dirty="0" smtClean="0">
                <a:latin typeface="+mn-lt"/>
              </a:rPr>
              <a:t>).</a:t>
            </a:r>
          </a:p>
          <a:p>
            <a:r>
              <a:rPr lang="en-US" dirty="0">
                <a:latin typeface="+mn-lt"/>
              </a:rPr>
              <a:t>VDI allows a user to access a remote desktop environment from an endpoint device via a </a:t>
            </a:r>
            <a:r>
              <a:rPr lang="en-US" dirty="0" smtClean="0">
                <a:latin typeface="+mn-lt"/>
              </a:rPr>
              <a:t>remote desktop </a:t>
            </a:r>
            <a:r>
              <a:rPr lang="en-US" dirty="0">
                <a:latin typeface="+mn-lt"/>
              </a:rPr>
              <a:t>delivery protocol</a:t>
            </a:r>
            <a:r>
              <a:rPr lang="en-US" dirty="0" smtClean="0">
                <a:latin typeface="+mn-lt"/>
              </a:rPr>
              <a:t>.</a:t>
            </a:r>
          </a:p>
          <a:p>
            <a:r>
              <a:rPr lang="en-US" dirty="0">
                <a:latin typeface="+mn-lt"/>
              </a:rPr>
              <a:t>The VDI architecture consists of several components that work together to provide an </a:t>
            </a:r>
            <a:r>
              <a:rPr lang="en-US" dirty="0" smtClean="0">
                <a:latin typeface="+mn-lt"/>
              </a:rPr>
              <a:t>end-to-end solution</a:t>
            </a:r>
            <a:r>
              <a:rPr lang="en-US" dirty="0">
                <a:latin typeface="+mn-lt"/>
              </a:rPr>
              <a:t>.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29311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Virtual Desktop 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Infrastructure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04748"/>
            <a:ext cx="11833102" cy="462393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Advantages </a:t>
            </a:r>
            <a:r>
              <a:rPr lang="en-US" dirty="0">
                <a:latin typeface="+mn-lt"/>
              </a:rPr>
              <a:t>of </a:t>
            </a:r>
            <a:r>
              <a:rPr lang="en-US" dirty="0" smtClean="0">
                <a:latin typeface="+mn-lt"/>
              </a:rPr>
              <a:t>VDI are: </a:t>
            </a:r>
          </a:p>
          <a:p>
            <a:r>
              <a:rPr lang="en-US" dirty="0" smtClean="0">
                <a:latin typeface="+mn-lt"/>
              </a:rPr>
              <a:t>Low </a:t>
            </a:r>
            <a:r>
              <a:rPr lang="en-US" dirty="0">
                <a:latin typeface="+mn-lt"/>
              </a:rPr>
              <a:t>price in buying desktop computers</a:t>
            </a:r>
          </a:p>
          <a:p>
            <a:r>
              <a:rPr lang="en-US" dirty="0" smtClean="0">
                <a:latin typeface="+mn-lt"/>
              </a:rPr>
              <a:t>Centralized </a:t>
            </a:r>
            <a:r>
              <a:rPr lang="en-US" dirty="0">
                <a:latin typeface="+mn-lt"/>
              </a:rPr>
              <a:t>client operating system management</a:t>
            </a:r>
          </a:p>
          <a:p>
            <a:r>
              <a:rPr lang="en-US" dirty="0" smtClean="0">
                <a:latin typeface="+mn-lt"/>
              </a:rPr>
              <a:t>Swift </a:t>
            </a:r>
            <a:r>
              <a:rPr lang="en-US" dirty="0">
                <a:latin typeface="+mn-lt"/>
              </a:rPr>
              <a:t>client implementation</a:t>
            </a:r>
          </a:p>
          <a:p>
            <a:r>
              <a:rPr lang="en-US" dirty="0" smtClean="0">
                <a:latin typeface="+mn-lt"/>
              </a:rPr>
              <a:t>Reduction </a:t>
            </a:r>
            <a:r>
              <a:rPr lang="en-US" dirty="0">
                <a:latin typeface="+mn-lt"/>
              </a:rPr>
              <a:t>in the costs of desktop</a:t>
            </a:r>
          </a:p>
          <a:p>
            <a:r>
              <a:rPr lang="en-US" dirty="0" smtClean="0">
                <a:latin typeface="+mn-lt"/>
              </a:rPr>
              <a:t>Reduction </a:t>
            </a:r>
            <a:r>
              <a:rPr lang="en-US" dirty="0">
                <a:latin typeface="+mn-lt"/>
              </a:rPr>
              <a:t>in the cost of electricity</a:t>
            </a:r>
          </a:p>
          <a:p>
            <a:r>
              <a:rPr lang="en-US" dirty="0" smtClean="0">
                <a:latin typeface="+mn-lt"/>
              </a:rPr>
              <a:t>Enhanced </a:t>
            </a:r>
            <a:r>
              <a:rPr lang="en-US" dirty="0">
                <a:latin typeface="+mn-lt"/>
              </a:rPr>
              <a:t>security of data</a:t>
            </a:r>
          </a:p>
          <a:p>
            <a:r>
              <a:rPr lang="en-US" dirty="0" smtClean="0">
                <a:latin typeface="+mn-lt"/>
              </a:rPr>
              <a:t>Protected </a:t>
            </a:r>
            <a:r>
              <a:rPr lang="en-US" dirty="0">
                <a:latin typeface="+mn-lt"/>
              </a:rPr>
              <a:t>remote access</a:t>
            </a:r>
          </a:p>
          <a:p>
            <a:r>
              <a:rPr lang="fr-FR" dirty="0" smtClean="0">
                <a:latin typeface="+mn-lt"/>
              </a:rPr>
              <a:t>Lesser </a:t>
            </a:r>
            <a:r>
              <a:rPr lang="fr-FR" dirty="0">
                <a:latin typeface="+mn-lt"/>
              </a:rPr>
              <a:t>applications compatibility troubles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8858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Virtual Desktop 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Infrastructure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Disadvantages </a:t>
            </a:r>
            <a:r>
              <a:rPr lang="en-US" dirty="0">
                <a:latin typeface="+mn-lt"/>
              </a:rPr>
              <a:t>of </a:t>
            </a:r>
            <a:r>
              <a:rPr lang="en-US" dirty="0" smtClean="0">
                <a:latin typeface="+mn-lt"/>
              </a:rPr>
              <a:t>VDI are: </a:t>
            </a:r>
          </a:p>
          <a:p>
            <a:r>
              <a:rPr lang="en-US" dirty="0" smtClean="0">
                <a:latin typeface="+mn-lt"/>
              </a:rPr>
              <a:t>Printing </a:t>
            </a:r>
            <a:r>
              <a:rPr lang="en-US" dirty="0">
                <a:latin typeface="+mn-lt"/>
              </a:rPr>
              <a:t>normally involves third-party appends</a:t>
            </a:r>
          </a:p>
          <a:p>
            <a:r>
              <a:rPr lang="en-US" dirty="0" smtClean="0">
                <a:latin typeface="+mn-lt"/>
              </a:rPr>
              <a:t>Scanning </a:t>
            </a:r>
            <a:r>
              <a:rPr lang="en-US" dirty="0">
                <a:latin typeface="+mn-lt"/>
              </a:rPr>
              <a:t>is natively unsupported</a:t>
            </a:r>
          </a:p>
          <a:p>
            <a:r>
              <a:rPr lang="en-US" dirty="0" smtClean="0">
                <a:latin typeface="+mn-lt"/>
              </a:rPr>
              <a:t>Bi-directional </a:t>
            </a:r>
            <a:r>
              <a:rPr lang="en-US" dirty="0">
                <a:latin typeface="+mn-lt"/>
              </a:rPr>
              <a:t>audio is natively unsupported</a:t>
            </a:r>
          </a:p>
          <a:p>
            <a:r>
              <a:rPr lang="en-US" dirty="0" smtClean="0">
                <a:latin typeface="+mn-lt"/>
              </a:rPr>
              <a:t>Exhibit </a:t>
            </a:r>
            <a:r>
              <a:rPr lang="en-US" dirty="0">
                <a:latin typeface="+mn-lt"/>
              </a:rPr>
              <a:t>protocols are unsuitable for graphic design</a:t>
            </a:r>
          </a:p>
          <a:p>
            <a:r>
              <a:rPr lang="en-US" dirty="0" smtClean="0">
                <a:latin typeface="+mn-lt"/>
              </a:rPr>
              <a:t>Needs </a:t>
            </a:r>
            <a:r>
              <a:rPr lang="en-US" dirty="0">
                <a:latin typeface="+mn-lt"/>
              </a:rPr>
              <a:t>low-latency association between the virtual infrastructure and customer</a:t>
            </a:r>
          </a:p>
          <a:p>
            <a:r>
              <a:rPr lang="en-US" dirty="0" smtClean="0">
                <a:latin typeface="+mn-lt"/>
              </a:rPr>
              <a:t>Needs </a:t>
            </a:r>
            <a:r>
              <a:rPr lang="en-US" dirty="0">
                <a:latin typeface="+mn-lt"/>
              </a:rPr>
              <a:t>enterprise class server hardware and storage areas network for VMs permanently </a:t>
            </a:r>
            <a:r>
              <a:rPr lang="en-US" dirty="0" smtClean="0">
                <a:latin typeface="+mn-lt"/>
              </a:rPr>
              <a:t>delivered to </a:t>
            </a:r>
            <a:r>
              <a:rPr lang="en-US" dirty="0">
                <a:latin typeface="+mn-lt"/>
              </a:rPr>
              <a:t>particular users</a:t>
            </a:r>
          </a:p>
          <a:p>
            <a:r>
              <a:rPr lang="en-US" dirty="0" smtClean="0">
                <a:latin typeface="+mn-lt"/>
              </a:rPr>
              <a:t>Needs </a:t>
            </a:r>
            <a:r>
              <a:rPr lang="en-US" dirty="0">
                <a:latin typeface="+mn-lt"/>
              </a:rPr>
              <a:t>trained IT staff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54412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Components for Desktop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The </a:t>
            </a:r>
            <a:r>
              <a:rPr lang="en-US" dirty="0">
                <a:latin typeface="+mn-lt"/>
              </a:rPr>
              <a:t>VDI architecture consists of several components that work together to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provide </a:t>
            </a:r>
            <a:r>
              <a:rPr lang="en-US" dirty="0">
                <a:latin typeface="+mn-lt"/>
              </a:rPr>
              <a:t>an end-to-end </a:t>
            </a:r>
            <a:r>
              <a:rPr lang="en-US" dirty="0" smtClean="0">
                <a:latin typeface="+mn-lt"/>
              </a:rPr>
              <a:t>solution. The </a:t>
            </a:r>
            <a:r>
              <a:rPr lang="en-US" dirty="0">
                <a:latin typeface="+mn-lt"/>
              </a:rPr>
              <a:t>main components are</a:t>
            </a:r>
            <a:r>
              <a:rPr lang="en-US" dirty="0" smtClean="0">
                <a:latin typeface="+mn-lt"/>
              </a:rPr>
              <a:t>:</a:t>
            </a: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    • </a:t>
            </a:r>
            <a:r>
              <a:rPr lang="en-US" dirty="0">
                <a:latin typeface="+mn-lt"/>
              </a:rPr>
              <a:t>Endpoint devices</a:t>
            </a: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    • </a:t>
            </a:r>
            <a:r>
              <a:rPr lang="en-US" dirty="0">
                <a:latin typeface="+mn-lt"/>
              </a:rPr>
              <a:t>A connection broker</a:t>
            </a: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    • </a:t>
            </a:r>
            <a:r>
              <a:rPr lang="en-US" dirty="0">
                <a:latin typeface="+mn-lt"/>
              </a:rPr>
              <a:t>VM hosting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0815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Application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Application Virtualization technology </a:t>
            </a:r>
            <a:r>
              <a:rPr lang="en-US" dirty="0">
                <a:latin typeface="+mn-lt"/>
              </a:rPr>
              <a:t>offers skills </a:t>
            </a:r>
            <a:r>
              <a:rPr lang="en-US" dirty="0" smtClean="0">
                <a:latin typeface="+mn-lt"/>
              </a:rPr>
              <a:t>to install </a:t>
            </a:r>
            <a:r>
              <a:rPr lang="en-US" dirty="0">
                <a:latin typeface="+mn-lt"/>
              </a:rPr>
              <a:t>applications without altering or making any variation to the file system, underlying OS, or </a:t>
            </a:r>
            <a:r>
              <a:rPr lang="en-US" dirty="0" smtClean="0">
                <a:latin typeface="+mn-lt"/>
              </a:rPr>
              <a:t>registry of </a:t>
            </a:r>
            <a:r>
              <a:rPr lang="en-US" dirty="0">
                <a:latin typeface="+mn-lt"/>
              </a:rPr>
              <a:t>the computing platform in which they are installed as shown in Fig. 8.2.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137994"/>
            <a:ext cx="6400800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743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Application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Technology </a:t>
            </a:r>
            <a:r>
              <a:rPr lang="en-US" dirty="0">
                <a:latin typeface="+mn-lt"/>
              </a:rPr>
              <a:t>categories that fall under application virtualization include the following: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• </a:t>
            </a:r>
            <a:r>
              <a:rPr lang="en-US" b="1" dirty="0">
                <a:latin typeface="+mn-lt"/>
              </a:rPr>
              <a:t>Streaming of application</a:t>
            </a:r>
            <a:r>
              <a:rPr lang="en-US" dirty="0">
                <a:latin typeface="+mn-lt"/>
              </a:rPr>
              <a:t>: Before startup, rather than delivering the whole application, portions </a:t>
            </a:r>
            <a:r>
              <a:rPr lang="en-US" dirty="0" smtClean="0">
                <a:latin typeface="+mn-lt"/>
              </a:rPr>
              <a:t>of the </a:t>
            </a:r>
            <a:r>
              <a:rPr lang="en-US" dirty="0">
                <a:latin typeface="+mn-lt"/>
              </a:rPr>
              <a:t>application’s code, settings, and data are delivered according to their requirement</a:t>
            </a:r>
            <a:r>
              <a:rPr lang="en-US" dirty="0" smtClean="0">
                <a:latin typeface="+mn-lt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• </a:t>
            </a:r>
            <a:r>
              <a:rPr lang="en-US" b="1" dirty="0">
                <a:latin typeface="+mn-lt"/>
              </a:rPr>
              <a:t>VDI or desktop virtualization</a:t>
            </a:r>
            <a:r>
              <a:rPr lang="en-US" dirty="0">
                <a:latin typeface="+mn-lt"/>
              </a:rPr>
              <a:t>: The application is introduced in blade PC or VM which </a:t>
            </a:r>
            <a:r>
              <a:rPr lang="en-US" dirty="0" smtClean="0">
                <a:latin typeface="+mn-lt"/>
              </a:rPr>
              <a:t>also comprises </a:t>
            </a:r>
            <a:r>
              <a:rPr lang="en-US" dirty="0">
                <a:latin typeface="+mn-lt"/>
              </a:rPr>
              <a:t>the operating system (OS). This makes management of infrastructure and </a:t>
            </a:r>
            <a:r>
              <a:rPr lang="en-US" dirty="0" smtClean="0">
                <a:latin typeface="+mn-lt"/>
              </a:rPr>
              <a:t>formation of </a:t>
            </a:r>
            <a:r>
              <a:rPr lang="en-US" dirty="0">
                <a:latin typeface="+mn-lt"/>
              </a:rPr>
              <a:t>virtual desktops easy to grant access of virtual desktops. VDI may normally fill up the </a:t>
            </a:r>
            <a:r>
              <a:rPr lang="en-US" dirty="0" smtClean="0">
                <a:latin typeface="+mn-lt"/>
              </a:rPr>
              <a:t>gaps wherever </a:t>
            </a:r>
            <a:r>
              <a:rPr lang="en-US" dirty="0">
                <a:latin typeface="+mn-lt"/>
              </a:rPr>
              <a:t>applications’ streaming fails.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58575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Application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3000" b="1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b="1" dirty="0" smtClean="0">
                <a:latin typeface="+mn-lt"/>
              </a:rPr>
              <a:t>Advantages </a:t>
            </a:r>
            <a:r>
              <a:rPr lang="en-US" sz="3000" b="1" dirty="0">
                <a:latin typeface="+mn-lt"/>
              </a:rPr>
              <a:t>of Application </a:t>
            </a:r>
            <a:r>
              <a:rPr lang="en-US" sz="3000" b="1" dirty="0" smtClean="0">
                <a:latin typeface="+mn-lt"/>
              </a:rPr>
              <a:t>Virtualization</a:t>
            </a:r>
            <a:r>
              <a:rPr lang="en-US" b="1" dirty="0" smtClean="0">
                <a:latin typeface="+mn-lt"/>
              </a:rPr>
              <a:t>:</a:t>
            </a:r>
            <a:endParaRPr lang="en-US" b="1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Improved </a:t>
            </a:r>
            <a:r>
              <a:rPr lang="en-US" dirty="0">
                <a:latin typeface="+mn-lt"/>
              </a:rPr>
              <a:t>workload management</a:t>
            </a:r>
          </a:p>
          <a:p>
            <a:r>
              <a:rPr lang="en-US" dirty="0" smtClean="0">
                <a:latin typeface="+mn-lt"/>
              </a:rPr>
              <a:t>Reduced </a:t>
            </a:r>
            <a:r>
              <a:rPr lang="en-US" dirty="0">
                <a:latin typeface="+mn-lt"/>
              </a:rPr>
              <a:t>hardware cost</a:t>
            </a:r>
          </a:p>
          <a:p>
            <a:r>
              <a:rPr lang="en-US" dirty="0" smtClean="0">
                <a:latin typeface="+mn-lt"/>
              </a:rPr>
              <a:t>Increased </a:t>
            </a:r>
            <a:r>
              <a:rPr lang="en-US" dirty="0">
                <a:latin typeface="+mn-lt"/>
              </a:rPr>
              <a:t>flexibility for working remotely</a:t>
            </a:r>
          </a:p>
          <a:p>
            <a:r>
              <a:rPr lang="en-US" dirty="0" smtClean="0">
                <a:latin typeface="+mn-lt"/>
              </a:rPr>
              <a:t>Simplified </a:t>
            </a:r>
            <a:r>
              <a:rPr lang="en-US" dirty="0">
                <a:latin typeface="+mn-lt"/>
              </a:rPr>
              <a:t>application deployment: Applications are never installed on to an operating </a:t>
            </a:r>
            <a:r>
              <a:rPr lang="en-US" dirty="0" smtClean="0">
                <a:latin typeface="+mn-lt"/>
              </a:rPr>
              <a:t>System; hence </a:t>
            </a:r>
            <a:r>
              <a:rPr lang="en-US" dirty="0">
                <a:latin typeface="+mn-lt"/>
              </a:rPr>
              <a:t>the deployment of the applications is greatly simplified. Furthermore, complete removal </a:t>
            </a:r>
            <a:r>
              <a:rPr lang="en-US" dirty="0" smtClean="0">
                <a:latin typeface="+mn-lt"/>
              </a:rPr>
              <a:t>of all </a:t>
            </a:r>
            <a:r>
              <a:rPr lang="en-US" dirty="0">
                <a:latin typeface="+mn-lt"/>
              </a:rPr>
              <a:t>application bits from a PC during retirement is assured.</a:t>
            </a:r>
          </a:p>
          <a:p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43803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Application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endParaRPr lang="en-US" dirty="0" smtClean="0">
              <a:latin typeface="+mn-lt"/>
            </a:endParaRPr>
          </a:p>
          <a:p>
            <a:r>
              <a:rPr lang="en-US" dirty="0" smtClean="0">
                <a:latin typeface="+mn-lt"/>
              </a:rPr>
              <a:t>Simplified </a:t>
            </a:r>
            <a:r>
              <a:rPr lang="en-US" dirty="0">
                <a:latin typeface="+mn-lt"/>
              </a:rPr>
              <a:t>operating system image management: Since applications are completely different </a:t>
            </a:r>
            <a:r>
              <a:rPr lang="en-US" dirty="0" smtClean="0">
                <a:latin typeface="+mn-lt"/>
              </a:rPr>
              <a:t>from the </a:t>
            </a:r>
            <a:r>
              <a:rPr lang="en-US" dirty="0">
                <a:latin typeface="+mn-lt"/>
              </a:rPr>
              <a:t>OS, managing OS images is simpler, especially during OS patches and upgrades. It helps </a:t>
            </a:r>
            <a:r>
              <a:rPr lang="en-US" dirty="0" smtClean="0">
                <a:latin typeface="+mn-lt"/>
              </a:rPr>
              <a:t>to create </a:t>
            </a:r>
            <a:r>
              <a:rPr lang="en-US" dirty="0">
                <a:latin typeface="+mn-lt"/>
              </a:rPr>
              <a:t>a more dynamic desktop environment, in which the desktop is an aggregation of </a:t>
            </a:r>
            <a:r>
              <a:rPr lang="en-US" dirty="0" smtClean="0">
                <a:latin typeface="+mn-lt"/>
              </a:rPr>
              <a:t>separately managed</a:t>
            </a: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components</a:t>
            </a:r>
            <a:r>
              <a:rPr lang="en-US" dirty="0">
                <a:latin typeface="+mn-lt"/>
              </a:rPr>
              <a:t>.</a:t>
            </a:r>
          </a:p>
          <a:p>
            <a:r>
              <a:rPr lang="en-US" dirty="0" smtClean="0">
                <a:latin typeface="+mn-lt"/>
              </a:rPr>
              <a:t>Elimination </a:t>
            </a:r>
            <a:r>
              <a:rPr lang="en-US" dirty="0">
                <a:latin typeface="+mn-lt"/>
              </a:rPr>
              <a:t>of resource conflicts: Since each application has its own virtual OS resources, </a:t>
            </a:r>
            <a:r>
              <a:rPr lang="en-US" dirty="0" smtClean="0">
                <a:latin typeface="+mn-lt"/>
              </a:rPr>
              <a:t>resource and application conflict issues are eliminated.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13367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Application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3000" b="1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b="1" dirty="0" smtClean="0">
                <a:latin typeface="+mn-lt"/>
              </a:rPr>
              <a:t>Limitations </a:t>
            </a:r>
            <a:r>
              <a:rPr lang="en-US" sz="3000" b="1" dirty="0">
                <a:latin typeface="+mn-lt"/>
              </a:rPr>
              <a:t>of Application </a:t>
            </a:r>
            <a:r>
              <a:rPr lang="en-US" sz="3000" b="1" dirty="0" smtClean="0">
                <a:latin typeface="+mn-lt"/>
              </a:rPr>
              <a:t>Virtualization: </a:t>
            </a:r>
            <a:endParaRPr lang="en-US" sz="3000" b="1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All </a:t>
            </a:r>
            <a:r>
              <a:rPr lang="en-US" dirty="0">
                <a:latin typeface="+mn-lt"/>
              </a:rPr>
              <a:t>software cannot be virtualized. For example, applications that require a device driver or </a:t>
            </a:r>
            <a:r>
              <a:rPr lang="en-US" dirty="0" smtClean="0">
                <a:latin typeface="+mn-lt"/>
              </a:rPr>
              <a:t>16-bit applications </a:t>
            </a:r>
            <a:r>
              <a:rPr lang="en-US" dirty="0">
                <a:latin typeface="+mn-lt"/>
              </a:rPr>
              <a:t>that require shared memory space cannot be virtualized.</a:t>
            </a:r>
          </a:p>
          <a:p>
            <a:r>
              <a:rPr lang="en-US" dirty="0" smtClean="0">
                <a:latin typeface="+mn-lt"/>
              </a:rPr>
              <a:t>Some </a:t>
            </a:r>
            <a:r>
              <a:rPr lang="en-US" dirty="0">
                <a:latin typeface="+mn-lt"/>
              </a:rPr>
              <a:t>types of software cannot be virtualized, such as anti-virus packages and applications </a:t>
            </a:r>
            <a:r>
              <a:rPr lang="en-US" dirty="0" smtClean="0">
                <a:latin typeface="+mn-lt"/>
              </a:rPr>
              <a:t>that require </a:t>
            </a:r>
            <a:r>
              <a:rPr lang="en-US" dirty="0">
                <a:latin typeface="+mn-lt"/>
              </a:rPr>
              <a:t>heavy OS integration.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57844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Tools used for Application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The </a:t>
            </a:r>
            <a:r>
              <a:rPr lang="en-US" dirty="0">
                <a:latin typeface="+mn-lt"/>
              </a:rPr>
              <a:t>tools for application virtualization include</a:t>
            </a:r>
            <a:r>
              <a:rPr lang="en-US" b="1" dirty="0" smtClean="0">
                <a:latin typeface="+mn-lt"/>
              </a:rPr>
              <a:t>: </a:t>
            </a:r>
          </a:p>
          <a:p>
            <a:r>
              <a:rPr lang="en-US" dirty="0" smtClean="0">
                <a:latin typeface="+mn-lt"/>
              </a:rPr>
              <a:t>Microsoft </a:t>
            </a:r>
            <a:r>
              <a:rPr lang="en-US" dirty="0">
                <a:latin typeface="+mn-lt"/>
              </a:rPr>
              <a:t>Application Virtualization (App-V</a:t>
            </a:r>
            <a:r>
              <a:rPr lang="en-US" dirty="0" smtClean="0">
                <a:latin typeface="+mn-lt"/>
              </a:rPr>
              <a:t>)</a:t>
            </a:r>
          </a:p>
          <a:p>
            <a:r>
              <a:rPr lang="en-US" dirty="0">
                <a:latin typeface="+mn-lt"/>
              </a:rPr>
              <a:t>VMWare </a:t>
            </a:r>
            <a:r>
              <a:rPr lang="en-US" dirty="0" smtClean="0">
                <a:latin typeface="+mn-lt"/>
              </a:rPr>
              <a:t>ThinApp</a:t>
            </a:r>
          </a:p>
          <a:p>
            <a:r>
              <a:rPr lang="en-US" dirty="0">
                <a:latin typeface="+mn-lt"/>
              </a:rPr>
              <a:t>Flexera Software Supporting Application Virtualization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24114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Hardware Virtual Machine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H</a:t>
            </a:r>
            <a:r>
              <a:rPr lang="en-US" dirty="0" smtClean="0">
                <a:latin typeface="+mn-lt"/>
              </a:rPr>
              <a:t>ardware </a:t>
            </a:r>
            <a:r>
              <a:rPr lang="en-US" dirty="0">
                <a:latin typeface="+mn-lt"/>
              </a:rPr>
              <a:t>virtualization technique is used to </a:t>
            </a:r>
            <a:r>
              <a:rPr lang="en-US" dirty="0" smtClean="0">
                <a:latin typeface="+mn-lt"/>
              </a:rPr>
              <a:t>make a </a:t>
            </a:r>
            <a:r>
              <a:rPr lang="en-US" dirty="0">
                <a:latin typeface="+mn-lt"/>
              </a:rPr>
              <a:t>physical machine a virtual machine. </a:t>
            </a:r>
            <a:endParaRPr lang="en-US" dirty="0" smtClean="0">
              <a:latin typeface="+mn-lt"/>
            </a:endParaRPr>
          </a:p>
          <a:p>
            <a:r>
              <a:rPr lang="en-US" dirty="0">
                <a:latin typeface="+mn-lt"/>
              </a:rPr>
              <a:t>Hardware virtualization is a developing technology which can turn out to be foremost, </a:t>
            </a:r>
            <a:r>
              <a:rPr lang="en-US" dirty="0" smtClean="0">
                <a:latin typeface="+mn-lt"/>
              </a:rPr>
              <a:t>particularly for </a:t>
            </a:r>
            <a:r>
              <a:rPr lang="en-US" dirty="0">
                <a:latin typeface="+mn-lt"/>
              </a:rPr>
              <a:t>server platforms</a:t>
            </a:r>
            <a:r>
              <a:rPr lang="en-US" dirty="0" smtClean="0">
                <a:latin typeface="+mn-lt"/>
              </a:rPr>
              <a:t>.</a:t>
            </a:r>
          </a:p>
          <a:p>
            <a:r>
              <a:rPr lang="en-US" dirty="0">
                <a:latin typeface="+mn-lt"/>
              </a:rPr>
              <a:t>Virtual machines, along with hardware editions earlier than edition 8, may work on </a:t>
            </a:r>
            <a:r>
              <a:rPr lang="en-US" dirty="0" err="1">
                <a:latin typeface="+mn-lt"/>
              </a:rPr>
              <a:t>ESXi</a:t>
            </a:r>
            <a:r>
              <a:rPr lang="en-US" dirty="0">
                <a:latin typeface="+mn-lt"/>
              </a:rPr>
              <a:t> 5.0 hosts </a:t>
            </a:r>
            <a:r>
              <a:rPr lang="en-US" dirty="0" smtClean="0">
                <a:latin typeface="+mn-lt"/>
              </a:rPr>
              <a:t>but do </a:t>
            </a:r>
            <a:r>
              <a:rPr lang="en-US" dirty="0">
                <a:latin typeface="+mn-lt"/>
              </a:rPr>
              <a:t>not encompass all the facilities accessible in hardware edition 8</a:t>
            </a:r>
            <a:r>
              <a:rPr lang="en-US" dirty="0" smtClean="0">
                <a:latin typeface="+mn-lt"/>
              </a:rPr>
              <a:t>.</a:t>
            </a:r>
          </a:p>
          <a:p>
            <a:r>
              <a:rPr lang="en-US" dirty="0">
                <a:latin typeface="+mn-lt"/>
              </a:rPr>
              <a:t>A VM is described as a physical machine by software which has its individual array of virtual hardware on which an application and operating system may be overloaded.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094214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Porting Application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Porting </a:t>
            </a:r>
            <a:r>
              <a:rPr lang="en-US" dirty="0">
                <a:latin typeface="+mn-lt"/>
              </a:rPr>
              <a:t>is a method of making software adaptive to every situation for which it was not initially </a:t>
            </a:r>
            <a:r>
              <a:rPr lang="en-US" dirty="0" smtClean="0">
                <a:latin typeface="+mn-lt"/>
              </a:rPr>
              <a:t>written or </a:t>
            </a:r>
            <a:r>
              <a:rPr lang="en-US" dirty="0">
                <a:latin typeface="+mn-lt"/>
              </a:rPr>
              <a:t>planned to perform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It is also compatible with different hardware configurations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three </a:t>
            </a:r>
            <a:r>
              <a:rPr lang="en-US" dirty="0" smtClean="0">
                <a:latin typeface="+mn-lt"/>
              </a:rPr>
              <a:t>favored </a:t>
            </a:r>
            <a:r>
              <a:rPr lang="en-US" dirty="0">
                <a:latin typeface="+mn-lt"/>
              </a:rPr>
              <a:t>platforms are those from UNIX, Apple, and </a:t>
            </a:r>
            <a:r>
              <a:rPr lang="en-US" dirty="0" smtClean="0">
                <a:latin typeface="+mn-lt"/>
              </a:rPr>
              <a:t>Microsoft, making </a:t>
            </a:r>
            <a:r>
              <a:rPr lang="en-US" dirty="0">
                <a:latin typeface="+mn-lt"/>
              </a:rPr>
              <a:t>it simpler to build software that is transferable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Customer requirements and platforms are generally different from each other, but for availing </a:t>
            </a:r>
            <a:r>
              <a:rPr lang="en-US" dirty="0" smtClean="0">
                <a:latin typeface="+mn-lt"/>
              </a:rPr>
              <a:t>services of </a:t>
            </a:r>
            <a:r>
              <a:rPr lang="en-US" dirty="0">
                <a:latin typeface="+mn-lt"/>
              </a:rPr>
              <a:t>the cloud environment, customers have to interact with the cloud services provided by the </a:t>
            </a:r>
            <a:r>
              <a:rPr lang="en-US" dirty="0" smtClean="0">
                <a:latin typeface="+mn-lt"/>
              </a:rPr>
              <a:t>cloud providers</a:t>
            </a:r>
            <a:r>
              <a:rPr lang="en-US" dirty="0">
                <a:latin typeface="+mn-lt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851320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Virtual Machine Migration Services Management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Virtual </a:t>
            </a:r>
            <a:r>
              <a:rPr lang="en-US" dirty="0">
                <a:latin typeface="+mn-lt"/>
              </a:rPr>
              <a:t>machine migration is mostly done for dynamic resource administration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Its chief aims </a:t>
            </a:r>
            <a:r>
              <a:rPr lang="en-US" dirty="0" smtClean="0">
                <a:latin typeface="+mn-lt"/>
              </a:rPr>
              <a:t>are:</a:t>
            </a:r>
          </a:p>
          <a:p>
            <a:pPr lvl="1"/>
            <a:r>
              <a:rPr lang="en-US" sz="2800" dirty="0" smtClean="0">
                <a:latin typeface="+mn-lt"/>
              </a:rPr>
              <a:t>Load balancing</a:t>
            </a:r>
          </a:p>
          <a:p>
            <a:pPr lvl="1"/>
            <a:r>
              <a:rPr lang="en-US" sz="2800" dirty="0" smtClean="0">
                <a:latin typeface="+mn-lt"/>
              </a:rPr>
              <a:t>server consolidation</a:t>
            </a:r>
          </a:p>
          <a:p>
            <a:pPr lvl="1"/>
            <a:r>
              <a:rPr lang="en-US" sz="2800" dirty="0" smtClean="0">
                <a:latin typeface="+mn-lt"/>
              </a:rPr>
              <a:t>coldspot </a:t>
            </a:r>
            <a:r>
              <a:rPr lang="en-US" sz="2800" dirty="0">
                <a:latin typeface="+mn-lt"/>
              </a:rPr>
              <a:t>and hotspot mitigation.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49165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8478" y="3179577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Thank You!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75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2575</TotalTime>
  <Words>1515</Words>
  <Application>Microsoft Office PowerPoint</Application>
  <PresentationFormat>Custom</PresentationFormat>
  <Paragraphs>179</Paragraphs>
  <Slides>27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Chapter 8</vt:lpstr>
      <vt:lpstr>Learning Outcomes</vt:lpstr>
      <vt:lpstr>Introduction</vt:lpstr>
      <vt:lpstr>Desktop Virtualization</vt:lpstr>
      <vt:lpstr>Desktop Virtualization</vt:lpstr>
      <vt:lpstr>Advantages of Desktop Virtualization</vt:lpstr>
      <vt:lpstr>Advantages of Desktop Virtualization</vt:lpstr>
      <vt:lpstr>Features of Desktop Virtualization Drivers</vt:lpstr>
      <vt:lpstr>Techniques used for Desktop Virtualization </vt:lpstr>
      <vt:lpstr>Differences between RDS and VDI</vt:lpstr>
      <vt:lpstr>Remote Desktop Services </vt:lpstr>
      <vt:lpstr>Remote Desktop Services </vt:lpstr>
      <vt:lpstr>Virtual Desktop Infrastructure </vt:lpstr>
      <vt:lpstr>Virtual Desktop Infrastructure </vt:lpstr>
      <vt:lpstr>Virtual Desktop Infrastructure </vt:lpstr>
      <vt:lpstr>Components for Desktop Virtualization</vt:lpstr>
      <vt:lpstr>Application Virtualization</vt:lpstr>
      <vt:lpstr>Application Virtualization</vt:lpstr>
      <vt:lpstr>Application Virtualization</vt:lpstr>
      <vt:lpstr>Application Virtualization</vt:lpstr>
      <vt:lpstr>Application Virtualization</vt:lpstr>
      <vt:lpstr>Tools used for Application Virtualization</vt:lpstr>
      <vt:lpstr>Hardware Virtual Machine</vt:lpstr>
      <vt:lpstr>Porting Application</vt:lpstr>
      <vt:lpstr>Virtual Machine Migration Services Management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Chowdhury, Sayantan</dc:creator>
  <cp:lastModifiedBy>Dhawan, Neha</cp:lastModifiedBy>
  <cp:revision>159</cp:revision>
  <dcterms:created xsi:type="dcterms:W3CDTF">2018-06-14T06:27:15Z</dcterms:created>
  <dcterms:modified xsi:type="dcterms:W3CDTF">2018-08-30T11:25:50Z</dcterms:modified>
</cp:coreProperties>
</file>